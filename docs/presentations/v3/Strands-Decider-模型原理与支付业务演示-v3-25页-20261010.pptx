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本版基于34页v2重新编排为25页。模型基础精简，BERT仅一页，主体是决策过程与速度。截图和数据复用同日已经完成的真实采集，不发起新模型调用。</a:t>
            </a:r>
          </a:p>
          <a:p/>
          <a:p>
            <a:r>
              <a:t>来源与口径：</a:t>
            </a:r>
          </a:p>
          <a:p>
            <a:r>
              <a:t>官方博客：https://strandsagents.com/blog/introducing-strands-decider/</a:t>
            </a:r>
          </a:p>
          <a:p>
            <a:r>
              <a:t>模型：https://huggingface.co/StrandsAgents/strands-decider-2B-hobson-v19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固定输入：docs/results/benchmark-2026-10-10.json</a:t>
            </a:r>
          </a:p>
          <a:p>
            <a:r>
              <a:t>闭环：docs/presentations/v2/loop-observations.json</a:t>
            </a:r>
          </a:p>
          <a:p>
            <a:r>
              <a:t>截图：docs/presentations/v2/capture-manifest.json</a:t>
            </a:r>
          </a:p>
          <a:p>
            <a:r>
              <a:t>数据采集：2026-10-10 12:26 UTC 起，crypto10 / API 20261010-loop1。</a:t>
            </a:r>
          </a:p>
          <a:p>
            <a:r>
              <a:t>Decider：官方 v19 / SageMaker ml.g6.xlarge / L4；GPT：Bedrock us.openai.gpt-6.1-sol / reasoning low。</a:t>
            </a:r>
          </a:p>
          <a:p>
            <a:r>
              <a:t>累计决策耗时 = backend_total_ms 求和，包含服务通信与排队；不含人工/外部事件等待，非浏览器全程用时。</a:t>
            </a:r>
          </a:p>
          <a:p>
            <a:r>
              <a:t>所有资金与客户场景为模拟数据；客服回复由应用模板生成。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Decider面向有限候选的高频决策。候选名称和criteria由应用提供，并非模型临时发明。模型没有资金权限。</a:t>
            </a:r>
          </a:p>
          <a:p/>
          <a:p>
            <a:r>
              <a:t>来源与口径：</a:t>
            </a:r>
          </a:p>
          <a:p>
            <a:r>
              <a:t>官方博客：https://strandsagents.com/blog/introducing-strands-decider/</a:t>
            </a:r>
          </a:p>
          <a:p>
            <a:r>
              <a:t>模型：https://huggingface.co/StrandsAgents/strands-decider-2B-hobson-v19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固定输入：docs/results/benchmark-2026-10-10.json</a:t>
            </a:r>
          </a:p>
          <a:p>
            <a:r>
              <a:t>闭环：docs/presentations/v2/loop-observations.json</a:t>
            </a:r>
          </a:p>
          <a:p>
            <a:r>
              <a:t>截图：docs/presentations/v2/capture-manifest.json</a:t>
            </a:r>
          </a:p>
          <a:p>
            <a:r>
              <a:t>数据采集：2026-10-10 12:26 UTC 起，crypto10 / API 20261010-loop1。</a:t>
            </a:r>
          </a:p>
          <a:p>
            <a:r>
              <a:t>Decider：官方 v19 / SageMaker ml.g6.xlarge / L4；GPT：Bedrock us.openai.gpt-6.1-sol / reasoning low。</a:t>
            </a:r>
          </a:p>
          <a:p>
            <a:r>
              <a:t>累计决策耗时 = backend_total_ms 求和，包含服务通信与排队；不含人工/外部事件等待，非浏览器全程用时。</a:t>
            </a:r>
          </a:p>
          <a:p>
            <a:r>
              <a:t>所有资金与客户场景为模拟数据；客服回复由应用模板生成。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官方v19基于Qwen3.5-2B，配合LoRA和Pointer Head。答案位置与候选位置隐藏表示经投影、归一化和点积计算logits，按类型温度计算概率。GPT在本项目输出JSON，再由应用解析验证。两者都接受候选描述；GPT也可受限选择，不能泛化为必然输出长文。</a:t>
            </a:r>
          </a:p>
          <a:p/>
          <a:p>
            <a:r>
              <a:t>来源与口径：</a:t>
            </a:r>
          </a:p>
          <a:p>
            <a:r>
              <a:t>官方博客：https://strandsagents.com/blog/introducing-strands-decider/</a:t>
            </a:r>
          </a:p>
          <a:p>
            <a:r>
              <a:t>模型：https://huggingface.co/StrandsAgents/strands-decider-2B-hobson-v19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固定输入：docs/results/benchmark-2026-10-10.json</a:t>
            </a:r>
          </a:p>
          <a:p>
            <a:r>
              <a:t>闭环：docs/presentations/v2/loop-observations.json</a:t>
            </a:r>
          </a:p>
          <a:p>
            <a:r>
              <a:t>截图：docs/presentations/v2/capture-manifest.json</a:t>
            </a:r>
          </a:p>
          <a:p>
            <a:r>
              <a:t>数据采集：2026-10-10 12:26 UTC 起，crypto10 / API 20261010-loop1。</a:t>
            </a:r>
          </a:p>
          <a:p>
            <a:r>
              <a:t>Decider：官方 v19 / SageMaker ml.g6.xlarge / L4；GPT：Bedrock us.openai.gpt-6.1-sol / reasoning low。</a:t>
            </a:r>
          </a:p>
          <a:p>
            <a:r>
              <a:t>累计决策耗时 = backend_total_ms 求和，包含服务通信与排队；不含人工/外部事件等待，非浏览器全程用时。</a:t>
            </a:r>
          </a:p>
          <a:p>
            <a:r>
              <a:t>所有资金与客户场景为模拟数据；客服回复由应用模板生成。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这张图表示应用可观察的数据流，不是模型内部思维链。Decider概率与confidence不是业务正确概率，GPT的自然语言解释也不是执行凭据。应用独立核验前置条件，原始输出保留。</a:t>
            </a:r>
          </a:p>
          <a:p/>
          <a:p>
            <a:r>
              <a:t>来源与口径：</a:t>
            </a:r>
          </a:p>
          <a:p>
            <a:r>
              <a:t>官方博客：https://strandsagents.com/blog/introducing-strands-decider/</a:t>
            </a:r>
          </a:p>
          <a:p>
            <a:r>
              <a:t>模型：https://huggingface.co/StrandsAgents/strands-decider-2B-hobson-v19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固定输入：docs/results/benchmark-2026-10-10.json</a:t>
            </a:r>
          </a:p>
          <a:p>
            <a:r>
              <a:t>闭环：docs/presentations/v2/loop-observations.json</a:t>
            </a:r>
          </a:p>
          <a:p>
            <a:r>
              <a:t>截图：docs/presentations/v2/capture-manifest.json</a:t>
            </a:r>
          </a:p>
          <a:p>
            <a:r>
              <a:t>数据采集：2026-10-10 12:26 UTC 起，crypto10 / API 20261010-loop1。</a:t>
            </a:r>
          </a:p>
          <a:p>
            <a:r>
              <a:t>Decider：官方 v19 / SageMaker ml.g6.xlarge / L4；GPT：Bedrock us.openai.gpt-6.1-sol / reasoning low。</a:t>
            </a:r>
          </a:p>
          <a:p>
            <a:r>
              <a:t>累计决策耗时 = backend_total_ms 求和，包含服务通信与排队；不含人工/外部事件等待，非浏览器全程用时。</a:t>
            </a:r>
          </a:p>
          <a:p>
            <a:r>
              <a:t>所有资金与客户场景为模拟数据；客服回复由应用模板生成。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BERT仅在此页概念比较，未部署或测速。常见BERT+固定分类头需要领域标签与监督适配。基于BERT的NLI或文本对模型也能按动态候选评分，因此动态候选不是Decider独有。</a:t>
            </a:r>
          </a:p>
          <a:p/>
          <a:p>
            <a:r>
              <a:t>来源与口径：</a:t>
            </a:r>
          </a:p>
          <a:p>
            <a:r>
              <a:t>官方博客：https://strandsagents.com/blog/introducing-strands-decider/</a:t>
            </a:r>
          </a:p>
          <a:p>
            <a:r>
              <a:t>模型：https://huggingface.co/StrandsAgents/strands-decider-2B-hobson-v19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固定输入：docs/results/benchmark-2026-10-10.json</a:t>
            </a:r>
          </a:p>
          <a:p>
            <a:r>
              <a:t>闭环：docs/presentations/v2/loop-observations.json</a:t>
            </a:r>
          </a:p>
          <a:p>
            <a:r>
              <a:t>截图：docs/presentations/v2/capture-manifest.json</a:t>
            </a:r>
          </a:p>
          <a:p>
            <a:r>
              <a:t>数据采集：2026-10-10 12:26 UTC 起，crypto10 / API 20261010-loop1。</a:t>
            </a:r>
          </a:p>
          <a:p>
            <a:r>
              <a:t>Decider：官方 v19 / SageMaker ml.g6.xlarge / L4；GPT：Bedrock us.openai.gpt-6.1-sol / reasoning low。</a:t>
            </a:r>
          </a:p>
          <a:p>
            <a:r>
              <a:t>累计决策耗时 = backend_total_ms 求和，包含服务通信与排队；不含人工/外部事件等待，非浏览器全程用时。</a:t>
            </a:r>
          </a:p>
          <a:p>
            <a:r>
              <a:t>所有资金与客户场景为模拟数据；客服回复由应用模板生成。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CloudFront通过OAC访问私有S3，四项Block Public Access开启。API路径经VPC Origin到内网ALB再到ECS Fargate。后端直接调用SageMaker、Bedrock、DynamoDB。图中省略网络端点节点，认证是自建用户名密码而非Cognito。</a:t>
            </a:r>
          </a:p>
          <a:p/>
          <a:p>
            <a:r>
              <a:t>来源与口径：</a:t>
            </a:r>
          </a:p>
          <a:p>
            <a:r>
              <a:t>官方博客：https://strandsagents.com/blog/introducing-strands-decider/</a:t>
            </a:r>
          </a:p>
          <a:p>
            <a:r>
              <a:t>模型：https://huggingface.co/StrandsAgents/strands-decider-2B-hobson-v19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固定输入：docs/results/benchmark-2026-10-10.json</a:t>
            </a:r>
          </a:p>
          <a:p>
            <a:r>
              <a:t>闭环：docs/presentations/v2/loop-observations.json</a:t>
            </a:r>
          </a:p>
          <a:p>
            <a:r>
              <a:t>截图：docs/presentations/v2/capture-manifest.json</a:t>
            </a:r>
          </a:p>
          <a:p>
            <a:r>
              <a:t>数据采集：2026-10-10 12:26 UTC 起，crypto10 / API 20261010-loop1。</a:t>
            </a:r>
          </a:p>
          <a:p>
            <a:r>
              <a:t>Decider：官方 v19 / SageMaker ml.g6.xlarge / L4；GPT：Bedrock us.openai.gpt-6.1-sol / reasoning low。</a:t>
            </a:r>
          </a:p>
          <a:p>
            <a:r>
              <a:t>累计决策耗时 = backend_total_ms 求和，包含服务通信与排队；不含人工/外部事件等待，非浏览器全程用时。</a:t>
            </a:r>
          </a:p>
          <a:p>
            <a:r>
              <a:t>所有资金与客户场景为模拟数据；客服回复由应用模板生成。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四个固定案例覆盖129USDC未到账、100USDT订单少付0.20、250USDC退款和商户结算超时。五步都是模型选择候选，执行器决定实际状态。确认门槛12、SLA60分钟是演示参数。</a:t>
            </a:r>
          </a:p>
          <a:p/>
          <a:p>
            <a:r>
              <a:t>来源与口径：</a:t>
            </a:r>
          </a:p>
          <a:p>
            <a:r>
              <a:t>官方博客：https://strandsagents.com/blog/introducing-strands-decider/</a:t>
            </a:r>
          </a:p>
          <a:p>
            <a:r>
              <a:t>模型：https://huggingface.co/StrandsAgents/strands-decider-2B-hobson-v19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固定输入：docs/results/benchmark-2026-10-10.json</a:t>
            </a:r>
          </a:p>
          <a:p>
            <a:r>
              <a:t>闭环：docs/presentations/v2/loop-observations.json</a:t>
            </a:r>
          </a:p>
          <a:p>
            <a:r>
              <a:t>截图：docs/presentations/v2/capture-manifest.json</a:t>
            </a:r>
          </a:p>
          <a:p>
            <a:r>
              <a:t>数据采集：2026-10-10 12:26 UTC 起，crypto10 / API 20261010-loop1。</a:t>
            </a:r>
          </a:p>
          <a:p>
            <a:r>
              <a:t>Decider：官方 v19 / SageMaker ml.g6.xlarge / L4；GPT：Bedrock us.openai.gpt-6.1-sol / reasoning low。</a:t>
            </a:r>
          </a:p>
          <a:p>
            <a:r>
              <a:t>累计决策耗时 = backend_total_ms 求和，包含服务通信与排队；不含人工/外部事件等待，非浏览器全程用时。</a:t>
            </a:r>
          </a:p>
          <a:p>
            <a:r>
              <a:t>所有资金与客户场景为模拟数据；客服回复由应用模板生成。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固定模式每一步两模型同输入，并发请求；仅均成功且输入指纹一致的请求进入速度配对。闭环各侧独立推进，后续输入可能不同，因此只比较各自运行结果、决策数和累计耗时。每个时延包含通信排队。</a:t>
            </a:r>
          </a:p>
          <a:p/>
          <a:p>
            <a:r>
              <a:t>来源与口径：</a:t>
            </a:r>
          </a:p>
          <a:p>
            <a:r>
              <a:t>官方博客：https://strandsagents.com/blog/introducing-strands-decider/</a:t>
            </a:r>
          </a:p>
          <a:p>
            <a:r>
              <a:t>模型：https://huggingface.co/StrandsAgents/strands-decider-2B-hobson-v19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固定输入：docs/results/benchmark-2026-10-10.json</a:t>
            </a:r>
          </a:p>
          <a:p>
            <a:r>
              <a:t>闭环：docs/presentations/v2/loop-observations.json</a:t>
            </a:r>
          </a:p>
          <a:p>
            <a:r>
              <a:t>截图：docs/presentations/v2/capture-manifest.json</a:t>
            </a:r>
          </a:p>
          <a:p>
            <a:r>
              <a:t>数据采集：2026-10-10 12:26 UTC 起，crypto10 / API 20261010-loop1。</a:t>
            </a:r>
          </a:p>
          <a:p>
            <a:r>
              <a:t>Decider：官方 v19 / SageMaker ml.g6.xlarge / L4；GPT：Bedrock us.openai.gpt-6.1-sol / reasoning low。</a:t>
            </a:r>
          </a:p>
          <a:p>
            <a:r>
              <a:t>累计决策耗时 = backend_total_ms 求和，包含服务通信与排队；不含人工/外部事件等待，非浏览器全程用时。</a:t>
            </a:r>
          </a:p>
          <a:p>
            <a:r>
              <a:t>所有资金与客户场景为模拟数据；客服回复由应用模板生成。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这是v2采集的真实固定输入第1轮截图。Decider91.831ms，GPT1169.203ms。输入指纹一致，原始模型选择和实际执行分别展示。</a:t>
            </a:r>
          </a:p>
          <a:p/>
          <a:p>
            <a:r>
              <a:t>来源与口径：</a:t>
            </a:r>
          </a:p>
          <a:p>
            <a:r>
              <a:t>官方博客：https://strandsagents.com/blog/introducing-strands-decider/</a:t>
            </a:r>
          </a:p>
          <a:p>
            <a:r>
              <a:t>模型：https://huggingface.co/StrandsAgents/strands-decider-2B-hobson-v19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固定输入：docs/results/benchmark-2026-10-10.json</a:t>
            </a:r>
          </a:p>
          <a:p>
            <a:r>
              <a:t>闭环：docs/presentations/v2/loop-observations.json</a:t>
            </a:r>
          </a:p>
          <a:p>
            <a:r>
              <a:t>截图：docs/presentations/v2/capture-manifest.json</a:t>
            </a:r>
          </a:p>
          <a:p>
            <a:r>
              <a:t>数据采集：2026-10-10 12:26 UTC 起，crypto10 / API 20261010-loop1。</a:t>
            </a:r>
          </a:p>
          <a:p>
            <a:r>
              <a:t>Decider：官方 v19 / SageMaker ml.g6.xlarge / L4；GPT：Bedrock us.openai.gpt-6.1-sol / reasoning low。</a:t>
            </a:r>
          </a:p>
          <a:p>
            <a:r>
              <a:t>累计决策耗时 = backend_total_ms 求和，包含服务通信与排队；不含人工/外部事件等待，非浏览器全程用时。</a:t>
            </a:r>
          </a:p>
          <a:p>
            <a:r>
              <a:t>所有资金与客户场景为模拟数据；客服回复由应用模板生成。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表中为真实5个同输入配对请求。橙色行显示Decider等待人工审批，而GPT规则检查通过。后续动作是固定输入独立选择，不表示读取了上一行执行结果。</a:t>
            </a:r>
          </a:p>
          <a:p/>
          <a:p>
            <a:r>
              <a:t>来源与口径：</a:t>
            </a:r>
          </a:p>
          <a:p>
            <a:r>
              <a:t>官方博客：https://strandsagents.com/blog/introducing-strands-decider/</a:t>
            </a:r>
          </a:p>
          <a:p>
            <a:r>
              <a:t>模型：https://huggingface.co/StrandsAgents/strands-decider-2B-hobson-v19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固定输入：docs/results/benchmark-2026-10-10.json</a:t>
            </a:r>
          </a:p>
          <a:p>
            <a:r>
              <a:t>闭环：docs/presentations/v2/loop-observations.json</a:t>
            </a:r>
          </a:p>
          <a:p>
            <a:r>
              <a:t>截图：docs/presentations/v2/capture-manifest.json</a:t>
            </a:r>
          </a:p>
          <a:p>
            <a:r>
              <a:t>数据采集：2026-10-10 12:26 UTC 起，crypto10 / API 20261010-loop1。</a:t>
            </a:r>
          </a:p>
          <a:p>
            <a:r>
              <a:t>Decider：官方 v19 / SageMaker ml.g6.xlarge / L4；GPT：Bedrock us.openai.gpt-6.1-sol / reasoning low。</a:t>
            </a:r>
          </a:p>
          <a:p>
            <a:r>
              <a:t>累计决策耗时 = backend_total_ms 求和，包含服务通信与排队；不含人工/外部事件等待，非浏览器全程用时。</a:t>
            </a:r>
          </a:p>
          <a:p>
            <a:r>
              <a:t>所有资金与客户场景为模拟数据；客服回复由应用模板生成。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nding.approve的候选概率：risk_review0.162、verify_destination0.0678、await_approval0.5854、approved0.1849。Decider取最高项await_approval；GPT生成approved。参考来自开发者策略reference()。这些可见数据不能证明模型内部为什么偏好该项。</a:t>
            </a:r>
          </a:p>
          <a:p/>
          <a:p>
            <a:r>
              <a:t>来源与口径：</a:t>
            </a:r>
          </a:p>
          <a:p>
            <a:r>
              <a:t>官方博客：https://strandsagents.com/blog/introducing-strands-decider/</a:t>
            </a:r>
          </a:p>
          <a:p>
            <a:r>
              <a:t>模型：https://huggingface.co/StrandsAgents/strands-decider-2B-hobson-v19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固定输入：docs/results/benchmark-2026-10-10.json</a:t>
            </a:r>
          </a:p>
          <a:p>
            <a:r>
              <a:t>闭环：docs/presentations/v2/loop-observations.json</a:t>
            </a:r>
          </a:p>
          <a:p>
            <a:r>
              <a:t>截图：docs/presentations/v2/capture-manifest.json</a:t>
            </a:r>
          </a:p>
          <a:p>
            <a:r>
              <a:t>数据采集：2026-10-10 12:26 UTC 起，crypto10 / API 20261010-loop1。</a:t>
            </a:r>
          </a:p>
          <a:p>
            <a:r>
              <a:t>Decider：官方 v19 / SageMaker ml.g6.xlarge / L4；GPT：Bedrock us.openai.gpt-6.1-sol / reasoning low。</a:t>
            </a:r>
          </a:p>
          <a:p>
            <a:r>
              <a:t>累计决策耗时 = backend_total_ms 求和，包含服务通信与排队；不含人工/外部事件等待，非浏览器全程用时。</a:t>
            </a:r>
          </a:p>
          <a:p>
            <a:r>
              <a:t>所有资金与客户场景为模拟数据；客服回复由应用模板生成。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两个固定计划都处理5步，但此时没有资金账本且工单仍待跟进，因此不是业务完成。截图为原始fixed-final。客服回复为应用模板。</a:t>
            </a:r>
          </a:p>
          <a:p/>
          <a:p>
            <a:r>
              <a:t>来源与口径：</a:t>
            </a:r>
          </a:p>
          <a:p>
            <a:r>
              <a:t>官方博客：https://strandsagents.com/blog/introducing-strands-decider/</a:t>
            </a:r>
          </a:p>
          <a:p>
            <a:r>
              <a:t>模型：https://huggingface.co/StrandsAgents/strands-decider-2B-hobson-v19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固定输入：docs/results/benchmark-2026-10-10.json</a:t>
            </a:r>
          </a:p>
          <a:p>
            <a:r>
              <a:t>闭环：docs/presentations/v2/loop-observations.json</a:t>
            </a:r>
          </a:p>
          <a:p>
            <a:r>
              <a:t>截图：docs/presentations/v2/capture-manifest.json</a:t>
            </a:r>
          </a:p>
          <a:p>
            <a:r>
              <a:t>数据采集：2026-10-10 12:26 UTC 起，crypto10 / API 20261010-loop1。</a:t>
            </a:r>
          </a:p>
          <a:p>
            <a:r>
              <a:t>Decider：官方 v19 / SageMaker ml.g6.xlarge / L4；GPT：Bedrock us.openai.gpt-6.1-sol / reasoning low。</a:t>
            </a:r>
          </a:p>
          <a:p>
            <a:r>
              <a:t>累计决策耗时 = backend_total_ms 求和，包含服务通信与排队；不含人工/外部事件等待，非浏览器全程用时。</a:t>
            </a:r>
          </a:p>
          <a:p>
            <a:r>
              <a:t>所有资金与客户场景为模拟数据；客服回复由应用模板生成。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计入成功同输入配对的Decider1809.597ms、GPT22068.204ms，比值12.195093。均值95.242ms和1161.484ms。GPT另有一次ReadTimeoutError，失败不进入成功配对总时延，不能将该比值描述为全程用户体验或稳定性能保证。</a:t>
            </a:r>
          </a:p>
          <a:p/>
          <a:p>
            <a:r>
              <a:t>来源与口径：</a:t>
            </a:r>
          </a:p>
          <a:p>
            <a:r>
              <a:t>官方博客：https://strandsagents.com/blog/introducing-strands-decider/</a:t>
            </a:r>
          </a:p>
          <a:p>
            <a:r>
              <a:t>模型：https://huggingface.co/StrandsAgents/strands-decider-2B-hobson-v19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固定输入：docs/results/benchmark-2026-10-10.json</a:t>
            </a:r>
          </a:p>
          <a:p>
            <a:r>
              <a:t>闭环：docs/presentations/v2/loop-observations.json</a:t>
            </a:r>
          </a:p>
          <a:p>
            <a:r>
              <a:t>截图：docs/presentations/v2/capture-manifest.json</a:t>
            </a:r>
          </a:p>
          <a:p>
            <a:r>
              <a:t>数据采集：2026-10-10 12:26 UTC 起，crypto10 / API 20261010-loop1。</a:t>
            </a:r>
          </a:p>
          <a:p>
            <a:r>
              <a:t>Decider：官方 v19 / SageMaker ml.g6.xlarge / L4；GPT：Bedrock us.openai.gpt-6.1-sol / reasoning low。</a:t>
            </a:r>
          </a:p>
          <a:p>
            <a:r>
              <a:t>累计决策耗时 = backend_total_ms 求和，包含服务通信与排队；不含人工/外部事件等待，非浏览器全程用时。</a:t>
            </a:r>
          </a:p>
          <a:p>
            <a:r>
              <a:t>所有资金与客户场景为模拟数据；客服回复由应用模板生成。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按stage分别对paired=true的backend_total_ms取均值。客服、核验、审批、结案各4对，业务处置3对。没有跨不同请求数量比较累计值。</a:t>
            </a:r>
          </a:p>
          <a:p/>
          <a:p>
            <a:r>
              <a:t>来源与口径：</a:t>
            </a:r>
          </a:p>
          <a:p>
            <a:r>
              <a:t>官方博客：https://strandsagents.com/blog/introducing-strands-decider/</a:t>
            </a:r>
          </a:p>
          <a:p>
            <a:r>
              <a:t>模型：https://huggingface.co/StrandsAgents/strands-decider-2B-hobson-v19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固定输入：docs/results/benchmark-2026-10-10.json</a:t>
            </a:r>
          </a:p>
          <a:p>
            <a:r>
              <a:t>闭环：docs/presentations/v2/loop-observations.json</a:t>
            </a:r>
          </a:p>
          <a:p>
            <a:r>
              <a:t>截图：docs/presentations/v2/capture-manifest.json</a:t>
            </a:r>
          </a:p>
          <a:p>
            <a:r>
              <a:t>数据采集：2026-10-10 12:26 UTC 起，crypto10 / API 20261010-loop1。</a:t>
            </a:r>
          </a:p>
          <a:p>
            <a:r>
              <a:t>Decider：官方 v19 / SageMaker ml.g6.xlarge / L4；GPT：Bedrock us.openai.gpt-6.1-sol / reasoning low。</a:t>
            </a:r>
          </a:p>
          <a:p>
            <a:r>
              <a:t>累计决策耗时 = backend_total_ms 求和，包含服务通信与排队；不含人工/外部事件等待，非浏览器全程用时。</a:t>
            </a:r>
          </a:p>
          <a:p>
            <a:r>
              <a:t>所有资金与客户场景为模拟数据；客服回复由应用模板生成。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四场景分别是5、5、5、4组配对。图中每一对条形比较同一子集。结算Decider还有一个成功处置请求，但对应GPT超时，因此也排除该Decider请求，保证配对口径。</a:t>
            </a:r>
          </a:p>
          <a:p/>
          <a:p>
            <a:r>
              <a:t>来源与口径：</a:t>
            </a:r>
          </a:p>
          <a:p>
            <a:r>
              <a:t>官方博客：https://strandsagents.com/blog/introducing-strands-decider/</a:t>
            </a:r>
          </a:p>
          <a:p>
            <a:r>
              <a:t>模型：https://huggingface.co/StrandsAgents/strands-decider-2B-hobson-v19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固定输入：docs/results/benchmark-2026-10-10.json</a:t>
            </a:r>
          </a:p>
          <a:p>
            <a:r>
              <a:t>闭环：docs/presentations/v2/loop-observations.json</a:t>
            </a:r>
          </a:p>
          <a:p>
            <a:r>
              <a:t>截图：docs/presentations/v2/capture-manifest.json</a:t>
            </a:r>
          </a:p>
          <a:p>
            <a:r>
              <a:t>数据采集：2026-10-10 12:26 UTC 起，crypto10 / API 20261010-loop1。</a:t>
            </a:r>
          </a:p>
          <a:p>
            <a:r>
              <a:t>Decider：官方 v19 / SageMaker ml.g6.xlarge / L4；GPT：Bedrock us.openai.gpt-6.1-sol / reasoning low。</a:t>
            </a:r>
          </a:p>
          <a:p>
            <a:r>
              <a:t>累计决策耗时 = backend_total_ms 求和，包含服务通信与排队；不含人工/外部事件等待，非浏览器全程用时。</a:t>
            </a:r>
          </a:p>
          <a:p>
            <a:r>
              <a:t>所有资金与客户场景为模拟数据；客服回复由应用模板生成。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固定退款Decider在execute选择refund_payment，145.857ms，应用改为hold；GPT直接选择hold，1297.061ms。Decider还在close选择resolve，应用改为follow_up。此页截图为真实第4轮。</a:t>
            </a:r>
          </a:p>
          <a:p/>
          <a:p>
            <a:r>
              <a:t>来源与口径：</a:t>
            </a:r>
          </a:p>
          <a:p>
            <a:r>
              <a:t>官方博客：https://strandsagents.com/blog/introducing-strands-decider/</a:t>
            </a:r>
          </a:p>
          <a:p>
            <a:r>
              <a:t>模型：https://huggingface.co/StrandsAgents/strands-decider-2B-hobson-v19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固定输入：docs/results/benchmark-2026-10-10.json</a:t>
            </a:r>
          </a:p>
          <a:p>
            <a:r>
              <a:t>闭环：docs/presentations/v2/loop-observations.json</a:t>
            </a:r>
          </a:p>
          <a:p>
            <a:r>
              <a:t>截图：docs/presentations/v2/capture-manifest.json</a:t>
            </a:r>
          </a:p>
          <a:p>
            <a:r>
              <a:t>数据采集：2026-10-10 12:26 UTC 起，crypto10 / API 20261010-loop1。</a:t>
            </a:r>
          </a:p>
          <a:p>
            <a:r>
              <a:t>Decider：官方 v19 / SageMaker ml.g6.xlarge / L4；GPT：Bedrock us.openai.gpt-6.1-sol / reasoning low。</a:t>
            </a:r>
          </a:p>
          <a:p>
            <a:r>
              <a:t>累计决策耗时 = backend_total_ms 求和，包含服务通信与排队；不含人工/外部事件等待，非浏览器全程用时。</a:t>
            </a:r>
          </a:p>
          <a:p>
            <a:r>
              <a:t>所有资金与客户场景为模拟数据；客服回复由应用模板生成。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自主闭环每次只处理当前节点，读取实际执行反馈。条件不足等待模拟证据更新；无效动作可有限重判，同一节点连续两次无进展转人工，预算20次决策/32tick。两侧后续输入可能不同。</a:t>
            </a:r>
          </a:p>
          <a:p/>
          <a:p>
            <a:r>
              <a:t>来源与口径：</a:t>
            </a:r>
          </a:p>
          <a:p>
            <a:r>
              <a:t>官方博客：https://strandsagents.com/blog/introducing-strands-decider/</a:t>
            </a:r>
          </a:p>
          <a:p>
            <a:r>
              <a:t>模型：https://huggingface.co/StrandsAgents/strands-decider-2B-hobson-v19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固定输入：docs/results/benchmark-2026-10-10.json</a:t>
            </a:r>
          </a:p>
          <a:p>
            <a:r>
              <a:t>闭环：docs/presentations/v2/loop-observations.json</a:t>
            </a:r>
          </a:p>
          <a:p>
            <a:r>
              <a:t>截图：docs/presentations/v2/capture-manifest.json</a:t>
            </a:r>
          </a:p>
          <a:p>
            <a:r>
              <a:t>数据采集：2026-10-10 12:26 UTC 起，crypto10 / API 20261010-loop1。</a:t>
            </a:r>
          </a:p>
          <a:p>
            <a:r>
              <a:t>Decider：官方 v19 / SageMaker ml.g6.xlarge / L4；GPT：Bedrock us.openai.gpt-6.1-sol / reasoning low。</a:t>
            </a:r>
          </a:p>
          <a:p>
            <a:r>
              <a:t>累计决策耗时 = backend_total_ms 求和，包含服务通信与排队；不含人工/外部事件等待，非浏览器全程用时。</a:t>
            </a:r>
          </a:p>
          <a:p>
            <a:r>
              <a:t>所有资金与客户场景为模拟数据；客服回复由应用模板生成。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真实pending闭环每侧6次模型调用和1次确认事件。Decider第2次选择settlement_verified，执行后事实校验仍缺确认，因此等待事件，没有被该标签误判为业务成功。确认3变12后再核验到付款成功。</a:t>
            </a:r>
          </a:p>
          <a:p/>
          <a:p>
            <a:r>
              <a:t>来源与口径：</a:t>
            </a:r>
          </a:p>
          <a:p>
            <a:r>
              <a:t>官方博客：https://strandsagents.com/blog/introducing-strands-decider/</a:t>
            </a:r>
          </a:p>
          <a:p>
            <a:r>
              <a:t>模型：https://huggingface.co/StrandsAgents/strands-decider-2B-hobson-v19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固定输入：docs/results/benchmark-2026-10-10.json</a:t>
            </a:r>
          </a:p>
          <a:p>
            <a:r>
              <a:t>闭环：docs/presentations/v2/loop-observations.json</a:t>
            </a:r>
          </a:p>
          <a:p>
            <a:r>
              <a:t>截图：docs/presentations/v2/capture-manifest.json</a:t>
            </a:r>
          </a:p>
          <a:p>
            <a:r>
              <a:t>数据采集：2026-10-10 12:26 UTC 起，crypto10 / API 20261010-loop1。</a:t>
            </a:r>
          </a:p>
          <a:p>
            <a:r>
              <a:t>Decider：官方 v19 / SageMaker ml.g6.xlarge / L4；GPT：Bedrock us.openai.gpt-6.1-sol / reasoning low。</a:t>
            </a:r>
          </a:p>
          <a:p>
            <a:r>
              <a:t>累计决策耗时 = backend_total_ms 求和，包含服务通信与排队；不含人工/外部事件等待，非浏览器全程用时。</a:t>
            </a:r>
          </a:p>
          <a:p>
            <a:r>
              <a:t>所有资金与客户场景为模拟数据；客服回复由应用模板生成。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截图为pending-loop第2轮原始界面。为了投影可读，裁去轮次栏、模板回复与底部日志，保留输入、选择、实际执行与反馈；不改写结果。Decider90.031ms，GPT1193.33ms。</a:t>
            </a:r>
          </a:p>
          <a:p/>
          <a:p>
            <a:r>
              <a:t>来源与口径：</a:t>
            </a:r>
          </a:p>
          <a:p>
            <a:r>
              <a:t>官方博客：https://strandsagents.com/blog/introducing-strands-decider/</a:t>
            </a:r>
          </a:p>
          <a:p>
            <a:r>
              <a:t>模型：https://huggingface.co/StrandsAgents/strands-decider-2B-hobson-v19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固定输入：docs/results/benchmark-2026-10-10.json</a:t>
            </a:r>
          </a:p>
          <a:p>
            <a:r>
              <a:t>闭环：docs/presentations/v2/loop-observations.json</a:t>
            </a:r>
          </a:p>
          <a:p>
            <a:r>
              <a:t>截图：docs/presentations/v2/capture-manifest.json</a:t>
            </a:r>
          </a:p>
          <a:p>
            <a:r>
              <a:t>数据采集：2026-10-10 12:26 UTC 起，crypto10 / API 20261010-loop1。</a:t>
            </a:r>
          </a:p>
          <a:p>
            <a:r>
              <a:t>Decider：官方 v19 / SageMaker ml.g6.xlarge / L4；GPT：Bedrock us.openai.gpt-6.1-sol / reasoning low。</a:t>
            </a:r>
          </a:p>
          <a:p>
            <a:r>
              <a:t>累计决策耗时 = backend_total_ms 求和，包含服务通信与排队；不含人工/外部事件等待，非浏览器全程用时。</a:t>
            </a:r>
          </a:p>
          <a:p>
            <a:r>
              <a:t>所有资金与客户场景为模拟数据；客服回复由应用模板生成。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退款第3次Deciderapproved实际改verify_destination；第5次approved改await_approval；第7次approved才实际通过。GPT分别选择verify_destination、await_approval、approved。事件分别为模拟验证地址和模拟审批通过。中间第4、6次是重新核验到账。</a:t>
            </a:r>
          </a:p>
          <a:p/>
          <a:p>
            <a:r>
              <a:t>来源与口径：</a:t>
            </a:r>
          </a:p>
          <a:p>
            <a:r>
              <a:t>官方博客：https://strandsagents.com/blog/introducing-strands-decider/</a:t>
            </a:r>
          </a:p>
          <a:p>
            <a:r>
              <a:t>模型：https://huggingface.co/StrandsAgents/strands-decider-2B-hobson-v19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固定输入：docs/results/benchmark-2026-10-10.json</a:t>
            </a:r>
          </a:p>
          <a:p>
            <a:r>
              <a:t>闭环：docs/presentations/v2/loop-observations.json</a:t>
            </a:r>
          </a:p>
          <a:p>
            <a:r>
              <a:t>截图：docs/presentations/v2/capture-manifest.json</a:t>
            </a:r>
          </a:p>
          <a:p>
            <a:r>
              <a:t>数据采集：2026-10-10 12:26 UTC 起，crypto10 / API 20261010-loop1。</a:t>
            </a:r>
          </a:p>
          <a:p>
            <a:r>
              <a:t>Decider：官方 v19 / SageMaker ml.g6.xlarge / L4；GPT：Bedrock us.openai.gpt-6.1-sol / reasoning low。</a:t>
            </a:r>
          </a:p>
          <a:p>
            <a:r>
              <a:t>累计决策耗时 = backend_total_ms 求和，包含服务通信与排队；不含人工/外部事件等待，非浏览器全程用时。</a:t>
            </a:r>
          </a:p>
          <a:p>
            <a:r>
              <a:t>所有资金与客户场景为模拟数据；客服回复由应用模板生成。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图为同次真实refund-loop的累计耗时和最终结果截图。Decider9次决策897.332ms，GPT9次10541.95ms，各2次模拟事件。截图中用时为决策耗时，非全程用户耗时。</a:t>
            </a:r>
          </a:p>
          <a:p/>
          <a:p>
            <a:r>
              <a:t>来源与口径：</a:t>
            </a:r>
          </a:p>
          <a:p>
            <a:r>
              <a:t>官方博客：https://strandsagents.com/blog/introducing-strands-decider/</a:t>
            </a:r>
          </a:p>
          <a:p>
            <a:r>
              <a:t>模型：https://huggingface.co/StrandsAgents/strands-decider-2B-hobson-v19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固定输入：docs/results/benchmark-2026-10-10.json</a:t>
            </a:r>
          </a:p>
          <a:p>
            <a:r>
              <a:t>闭环：docs/presentations/v2/loop-observations.json</a:t>
            </a:r>
          </a:p>
          <a:p>
            <a:r>
              <a:t>截图：docs/presentations/v2/capture-manifest.json</a:t>
            </a:r>
          </a:p>
          <a:p>
            <a:r>
              <a:t>数据采集：2026-10-10 12:26 UTC 起，crypto10 / API 20261010-loop1。</a:t>
            </a:r>
          </a:p>
          <a:p>
            <a:r>
              <a:t>Decider：官方 v19 / SageMaker ml.g6.xlarge / L4；GPT：Bedrock us.openai.gpt-6.1-sol / reasoning low。</a:t>
            </a:r>
          </a:p>
          <a:p>
            <a:r>
              <a:t>累计决策耗时 = backend_total_ms 求和，包含服务通信与排队；不含人工/外部事件等待，非浏览器全程用时。</a:t>
            </a:r>
          </a:p>
          <a:p>
            <a:r>
              <a:t>所有资金与客户场景为模拟数据；客服回复由应用模板生成。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pending每侧6次决策、1事件，Decider570.140ms/GPT7268.536ms。refund每侧9次、2事件，Decider897.332ms/GPT10541.95ms。双方complete=true且fundsComplete=true。数值按观测JSON实时求和。</a:t>
            </a:r>
          </a:p>
          <a:p/>
          <a:p>
            <a:r>
              <a:t>来源与口径：</a:t>
            </a:r>
          </a:p>
          <a:p>
            <a:r>
              <a:t>官方博客：https://strandsagents.com/blog/introducing-strands-decider/</a:t>
            </a:r>
          </a:p>
          <a:p>
            <a:r>
              <a:t>模型：https://huggingface.co/StrandsAgents/strands-decider-2B-hobson-v19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固定输入：docs/results/benchmark-2026-10-10.json</a:t>
            </a:r>
          </a:p>
          <a:p>
            <a:r>
              <a:t>闭环：docs/presentations/v2/loop-observations.json</a:t>
            </a:r>
          </a:p>
          <a:p>
            <a:r>
              <a:t>截图：docs/presentations/v2/capture-manifest.json</a:t>
            </a:r>
          </a:p>
          <a:p>
            <a:r>
              <a:t>数据采集：2026-10-10 12:26 UTC 起，crypto10 / API 20261010-loop1。</a:t>
            </a:r>
          </a:p>
          <a:p>
            <a:r>
              <a:t>Decider：官方 v19 / SageMaker ml.g6.xlarge / L4；GPT：Bedrock us.openai.gpt-6.1-sol / reasoning low。</a:t>
            </a:r>
          </a:p>
          <a:p>
            <a:r>
              <a:t>累计决策耗时 = backend_total_ms 求和，包含服务通信与排队；不含人工/外部事件等待，非浏览器全程用时。</a:t>
            </a:r>
          </a:p>
          <a:p>
            <a:r>
              <a:t>所有资金与客户场景为模拟数据；客服回复由应用模板生成。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固定配对Decider13/19符合开发者参考、GPT19/19；不是准确率。20次尝试Decider返回20个有效选择，GPT19个，GPT结算处置ReadTimeoutError导致其方案不完整，未执行该侧沙盒。成功速度不能掩盖失败。</a:t>
            </a:r>
          </a:p>
          <a:p/>
          <a:p>
            <a:r>
              <a:t>来源与口径：</a:t>
            </a:r>
          </a:p>
          <a:p>
            <a:r>
              <a:t>官方博客：https://strandsagents.com/blog/introducing-strands-decider/</a:t>
            </a:r>
          </a:p>
          <a:p>
            <a:r>
              <a:t>模型：https://huggingface.co/StrandsAgents/strands-decider-2B-hobson-v19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固定输入：docs/results/benchmark-2026-10-10.json</a:t>
            </a:r>
          </a:p>
          <a:p>
            <a:r>
              <a:t>闭环：docs/presentations/v2/loop-observations.json</a:t>
            </a:r>
          </a:p>
          <a:p>
            <a:r>
              <a:t>截图：docs/presentations/v2/capture-manifest.json</a:t>
            </a:r>
          </a:p>
          <a:p>
            <a:r>
              <a:t>数据采集：2026-10-10 12:26 UTC 起，crypto10 / API 20261010-loop1。</a:t>
            </a:r>
          </a:p>
          <a:p>
            <a:r>
              <a:t>Decider：官方 v19 / SageMaker ml.g6.xlarge / L4；GPT：Bedrock us.openai.gpt-6.1-sol / reasoning low。</a:t>
            </a:r>
          </a:p>
          <a:p>
            <a:r>
              <a:t>累计决策耗时 = backend_total_ms 求和，包含服务通信与排队；不含人工/外部事件等待，非浏览器全程用时。</a:t>
            </a:r>
          </a:p>
          <a:p>
            <a:r>
              <a:t>所有资金与客户场景为模拟数据；客服回复由应用模板生成。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本页是面向未来的组合建议，不是本项目已实现的路由功能。高频受限选择可评估Decider；复杂语义或开放式内容可使用GPT；金额权限账本最终校验由确定性代码承担。低confidence可辅助分流但需要业务校准。</a:t>
            </a:r>
          </a:p>
          <a:p/>
          <a:p>
            <a:r>
              <a:t>来源与口径：</a:t>
            </a:r>
          </a:p>
          <a:p>
            <a:r>
              <a:t>官方博客：https://strandsagents.com/blog/introducing-strands-decider/</a:t>
            </a:r>
          </a:p>
          <a:p>
            <a:r>
              <a:t>模型：https://huggingface.co/StrandsAgents/strands-decider-2B-hobson-v19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固定输入：docs/results/benchmark-2026-10-10.json</a:t>
            </a:r>
          </a:p>
          <a:p>
            <a:r>
              <a:t>闭环：docs/presentations/v2/loop-observations.json</a:t>
            </a:r>
          </a:p>
          <a:p>
            <a:r>
              <a:t>截图：docs/presentations/v2/capture-manifest.json</a:t>
            </a:r>
          </a:p>
          <a:p>
            <a:r>
              <a:t>数据采集：2026-10-10 12:26 UTC 起，crypto10 / API 20261010-loop1。</a:t>
            </a:r>
          </a:p>
          <a:p>
            <a:r>
              <a:t>Decider：官方 v19 / SageMaker ml.g6.xlarge / L4；GPT：Bedrock us.openai.gpt-6.1-sol / reasoning low。</a:t>
            </a:r>
          </a:p>
          <a:p>
            <a:r>
              <a:t>累计决策耗时 = backend_total_ms 求和，包含服务通信与排队；不含人工/外部事件等待，非浏览器全程用时。</a:t>
            </a:r>
          </a:p>
          <a:p>
            <a:r>
              <a:t>所有资金与客户场景为模拟数据；客服回复由应用模板生成。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页版本结论：Decider在本次19组成功同输入配对中累计时延约为GPT的1/12.20，但原始选择和GPT有差异，也依赖相同执行保护。两组闭环双方均完成；执行反馈和证据是完成业务的必要组成。BERT未实测。所有来源见逐页讲稿。</a:t>
            </a:r>
          </a:p>
          <a:p/>
          <a:p>
            <a:r>
              <a:t>来源与口径：</a:t>
            </a:r>
          </a:p>
          <a:p>
            <a:r>
              <a:t>官方博客：https://strandsagents.com/blog/introducing-strands-decider/</a:t>
            </a:r>
          </a:p>
          <a:p>
            <a:r>
              <a:t>模型：https://huggingface.co/StrandsAgents/strands-decider-2B-hobson-v19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固定输入：docs/results/benchmark-2026-10-10.json</a:t>
            </a:r>
          </a:p>
          <a:p>
            <a:r>
              <a:t>闭环：docs/presentations/v2/loop-observations.json</a:t>
            </a:r>
          </a:p>
          <a:p>
            <a:r>
              <a:t>截图：docs/presentations/v2/capture-manifest.json</a:t>
            </a:r>
          </a:p>
          <a:p>
            <a:r>
              <a:t>数据采集：2026-10-10 12:26 UTC 起，crypto10 / API 20261010-loop1。</a:t>
            </a:r>
          </a:p>
          <a:p>
            <a:r>
              <a:t>Decider：官方 v19 / SageMaker ml.g6.xlarge / L4；GPT：Bedrock us.openai.gpt-6.1-sol / reasoning low。</a:t>
            </a:r>
          </a:p>
          <a:p>
            <a:r>
              <a:t>累计决策耗时 = backend_total_ms 求和，包含服务通信与排队；不含人工/外部事件等待，非浏览器全程用时。</a:t>
            </a:r>
          </a:p>
          <a:p>
            <a:r>
              <a:t>所有资金与客户场景为模拟数据；客服回复由应用模板生成。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6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17.png"/><Relationship Id="rId10" Type="http://schemas.openxmlformats.org/officeDocument/2006/relationships/image" Target="../media/image32.png"/><Relationship Id="rId11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3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7.png"/><Relationship Id="rId5" Type="http://schemas.openxmlformats.org/officeDocument/2006/relationships/image" Target="../media/image30.png"/><Relationship Id="rId6" Type="http://schemas.openxmlformats.org/officeDocument/2006/relationships/image" Target="../media/image3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32.png"/><Relationship Id="rId5" Type="http://schemas.openxmlformats.org/officeDocument/2006/relationships/image" Target="../media/image7.png"/><Relationship Id="rId6" Type="http://schemas.openxmlformats.org/officeDocument/2006/relationships/image" Target="../media/image13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42.png"/><Relationship Id="rId6" Type="http://schemas.openxmlformats.org/officeDocument/2006/relationships/image" Target="../media/image17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6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支付业务对比 / v3 · 25 页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86D7C6"/>
                </a:solidFill>
                <a:latin typeface="Noto Sans CJK SC"/>
                <a:ea typeface="Noto Sans CJK SC"/>
                <a:cs typeface="Noto Sans CJK SC"/>
              </a:rPr>
              <a:t>STRANDS DECIDER   /   支付业务对比 / v3 · 25 页</a:t>
            </a:r>
          </a:p>
        </p:txBody>
      </p:sp>
      <p:sp>
        <p:nvSpPr>
          <p:cNvPr id="3" name="TEXT: Strands Decider × GPT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Strands Decider × GPT</a:t>
            </a:r>
          </a:p>
        </p:txBody>
      </p:sp>
      <p:sp>
        <p:nvSpPr>
          <p:cNvPr id="4" name="TEXT: 从下一步选择，到执行反馈，再到业务结果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B8C9DB"/>
                </a:solidFill>
                <a:latin typeface="Noto Sans CJK SC"/>
                <a:ea typeface="Noto Sans CJK SC"/>
                <a:cs typeface="Noto Sans CJK SC"/>
              </a:rPr>
              <a:t>从下一步选择，到执行反馈，再到业务结果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377440"/>
            <a:ext cx="5193792" cy="1993392"/>
          </a:xfrm>
          <a:prstGeom prst="roundRect">
            <a:avLst>
              <a:gd name="adj" fmla="val 13000"/>
            </a:avLst>
          </a:prstGeom>
          <a:solidFill>
            <a:srgbClr val="1D354C"/>
          </a:solidFill>
          <a:ln w="10160">
            <a:solidFill>
              <a:srgbClr val="3651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list-filte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2660904"/>
            <a:ext cx="548640" cy="548640"/>
          </a:xfrm>
          <a:prstGeom prst="rect">
            <a:avLst/>
          </a:prstGeom>
        </p:spPr>
      </p:pic>
      <p:sp>
        <p:nvSpPr>
          <p:cNvPr id="7" name="TEXT: Decider"/>
          <p:cNvSpPr txBox="1"/>
          <p:nvPr/>
        </p:nvSpPr>
        <p:spPr>
          <a:xfrm>
            <a:off x="1591056" y="2670048"/>
            <a:ext cx="384048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8" name="TEXT: 对候选动作直接评分"/>
          <p:cNvSpPr txBox="1"/>
          <p:nvPr/>
        </p:nvSpPr>
        <p:spPr>
          <a:xfrm>
            <a:off x="859536" y="3685032"/>
            <a:ext cx="4572000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86D7C6"/>
                </a:solidFill>
                <a:latin typeface="Noto Sans CJK SC"/>
                <a:ea typeface="Noto Sans CJK SC"/>
                <a:cs typeface="Noto Sans CJK SC"/>
              </a:rPr>
              <a:t>对候选动作直接评分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377440"/>
            <a:ext cx="5193792" cy="1993392"/>
          </a:xfrm>
          <a:prstGeom prst="roundRect">
            <a:avLst>
              <a:gd name="adj" fmla="val 13000"/>
            </a:avLst>
          </a:prstGeom>
          <a:solidFill>
            <a:srgbClr val="1D354C"/>
          </a:solidFill>
          <a:ln w="10160">
            <a:solidFill>
              <a:srgbClr val="3651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CON: Lucide code-xml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2660904"/>
            <a:ext cx="548640" cy="548640"/>
          </a:xfrm>
          <a:prstGeom prst="rect">
            <a:avLst/>
          </a:prstGeom>
        </p:spPr>
      </p:pic>
      <p:sp>
        <p:nvSpPr>
          <p:cNvPr id="11" name="TEXT: GPT-6.1 Sol"/>
          <p:cNvSpPr txBox="1"/>
          <p:nvPr/>
        </p:nvSpPr>
        <p:spPr>
          <a:xfrm>
            <a:off x="7397496" y="2670048"/>
            <a:ext cx="384048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GPT-6.1 Sol</a:t>
            </a:r>
          </a:p>
        </p:txBody>
      </p:sp>
      <p:sp>
        <p:nvSpPr>
          <p:cNvPr id="12" name="TEXT: 生成结构化动作选择"/>
          <p:cNvSpPr txBox="1"/>
          <p:nvPr/>
        </p:nvSpPr>
        <p:spPr>
          <a:xfrm>
            <a:off x="6665976" y="3685032"/>
            <a:ext cx="4572000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A6B9FF"/>
                </a:solidFill>
                <a:latin typeface="Noto Sans CJK SC"/>
                <a:ea typeface="Noto Sans CJK SC"/>
                <a:cs typeface="Noto Sans CJK SC"/>
              </a:rPr>
              <a:t>生成结构化动作选择</a:t>
            </a:r>
          </a:p>
        </p:txBody>
      </p:sp>
      <p:sp>
        <p:nvSpPr>
          <p:cNvPr id="13" name="TEXT: VS"/>
          <p:cNvSpPr txBox="1"/>
          <p:nvPr/>
        </p:nvSpPr>
        <p:spPr>
          <a:xfrm>
            <a:off x="5760720" y="3017520"/>
            <a:ext cx="603504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B8C9DB"/>
                </a:solidFill>
                <a:latin typeface="Noto Sans CJK SC"/>
                <a:ea typeface="Noto Sans CJK SC"/>
                <a:cs typeface="Noto Sans CJK SC"/>
              </a:rPr>
              <a:t>VS</a:t>
            </a:r>
          </a:p>
        </p:txBody>
      </p:sp>
      <p:pic>
        <p:nvPicPr>
          <p:cNvPr id="14" name="ICON: Lucide rout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5093208"/>
            <a:ext cx="347472" cy="347472"/>
          </a:xfrm>
          <a:prstGeom prst="rect">
            <a:avLst/>
          </a:prstGeom>
        </p:spPr>
      </p:pic>
      <p:sp>
        <p:nvSpPr>
          <p:cNvPr id="15" name="TEXT: 如何选择"/>
          <p:cNvSpPr txBox="1"/>
          <p:nvPr/>
        </p:nvSpPr>
        <p:spPr>
          <a:xfrm>
            <a:off x="1527048" y="5093208"/>
            <a:ext cx="18288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如何选择</a:t>
            </a:r>
          </a:p>
        </p:txBody>
      </p:sp>
      <p:pic>
        <p:nvPicPr>
          <p:cNvPr id="16" name="ICON: Lucide timer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5093208"/>
            <a:ext cx="347472" cy="347472"/>
          </a:xfrm>
          <a:prstGeom prst="rect">
            <a:avLst/>
          </a:prstGeom>
        </p:spPr>
      </p:pic>
      <p:sp>
        <p:nvSpPr>
          <p:cNvPr id="17" name="TEXT: 决策多快"/>
          <p:cNvSpPr txBox="1"/>
          <p:nvPr/>
        </p:nvSpPr>
        <p:spPr>
          <a:xfrm>
            <a:off x="5321808" y="5093208"/>
            <a:ext cx="18288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决策多快</a:t>
            </a:r>
          </a:p>
        </p:txBody>
      </p:sp>
      <p:pic>
        <p:nvPicPr>
          <p:cNvPr id="18" name="ICON: Lucide circle-check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7072" y="5093208"/>
            <a:ext cx="347472" cy="347472"/>
          </a:xfrm>
          <a:prstGeom prst="rect">
            <a:avLst/>
          </a:prstGeom>
        </p:spPr>
      </p:pic>
      <p:sp>
        <p:nvSpPr>
          <p:cNvPr id="19" name="TEXT: 是否完成"/>
          <p:cNvSpPr txBox="1"/>
          <p:nvPr/>
        </p:nvSpPr>
        <p:spPr>
          <a:xfrm>
            <a:off x="9098280" y="5093208"/>
            <a:ext cx="18288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是否完成</a:t>
            </a:r>
          </a:p>
        </p:txBody>
      </p:sp>
      <p:sp>
        <p:nvSpPr>
          <p:cNvPr id="20" name="TEXT: 2026.10.10 真实模型采集 · 加密支付模拟业务 · 原版与 v2 保留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B8C9DB"/>
                </a:solidFill>
                <a:latin typeface="Noto Sans CJK SC"/>
                <a:ea typeface="Noto Sans CJK SC"/>
                <a:cs typeface="Noto Sans CJK SC"/>
              </a:rPr>
              <a:t>2026.10.10 真实模型采集 · 加密支付模拟业务 · 原版与 v2 保留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3651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: DECIDER × GPT  /  支付业务演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8CA6BF"/>
                </a:solidFill>
                <a:latin typeface="Noto Sans CJK SC"/>
                <a:ea typeface="Noto Sans CJK SC"/>
                <a:cs typeface="Noto Sans CJK SC"/>
              </a:rPr>
              <a:t>DECIDER × GPT  /  支付业务演示</a:t>
            </a:r>
          </a:p>
        </p:txBody>
      </p:sp>
      <p:sp>
        <p:nvSpPr>
          <p:cNvPr id="23" name="TEXT: 01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8CA6BF"/>
                </a:solidFill>
                <a:latin typeface="Noto Sans CJK SC"/>
                <a:ea typeface="Noto Sans CJK SC"/>
                <a:cs typeface="Noto Sans CJK SC"/>
              </a:rPr>
              <a:t>01 / 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模型与原理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模型与原理</a:t>
            </a:r>
          </a:p>
        </p:txBody>
      </p:sp>
      <p:sp>
        <p:nvSpPr>
          <p:cNvPr id="3" name="TEXT: 把业务中的「下一步选择」交给模型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把业务中的「下一步选择」交给模型</a:t>
            </a:r>
          </a:p>
        </p:txBody>
      </p:sp>
      <p:sp>
        <p:nvSpPr>
          <p:cNvPr id="4" name="TEXT: 应用定义候选与条件，模型选择动作，执行器落实业务。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应用定义候选与条件，模型选择动作，执行器落实业务。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331720"/>
            <a:ext cx="3468624" cy="15087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receipt-tex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478024"/>
            <a:ext cx="347472" cy="347472"/>
          </a:xfrm>
          <a:prstGeom prst="rect">
            <a:avLst/>
          </a:prstGeom>
        </p:spPr>
      </p:pic>
      <p:sp>
        <p:nvSpPr>
          <p:cNvPr id="7" name="TEXT: 业务输入"/>
          <p:cNvSpPr txBox="1"/>
          <p:nvPr/>
        </p:nvSpPr>
        <p:spPr>
          <a:xfrm>
            <a:off x="1207008" y="2487168"/>
            <a:ext cx="273710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业务输入</a:t>
            </a:r>
          </a:p>
        </p:txBody>
      </p:sp>
      <p:sp>
        <p:nvSpPr>
          <p:cNvPr id="8" name="TEXT: 客户消息 + 订单事实"/>
          <p:cNvSpPr txBox="1"/>
          <p:nvPr/>
        </p:nvSpPr>
        <p:spPr>
          <a:xfrm>
            <a:off x="749808" y="3017520"/>
            <a:ext cx="3157728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客户消息 + 订单事实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90416" y="3086100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46448" y="2331720"/>
            <a:ext cx="3468624" cy="15087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CON: Lucide rout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1896" y="2478024"/>
            <a:ext cx="347472" cy="347472"/>
          </a:xfrm>
          <a:prstGeom prst="rect">
            <a:avLst/>
          </a:prstGeom>
        </p:spPr>
      </p:pic>
      <p:sp>
        <p:nvSpPr>
          <p:cNvPr id="12" name="TEXT: 模型选择"/>
          <p:cNvSpPr txBox="1"/>
          <p:nvPr/>
        </p:nvSpPr>
        <p:spPr>
          <a:xfrm>
            <a:off x="4959096" y="2487168"/>
            <a:ext cx="273710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模型选择</a:t>
            </a:r>
          </a:p>
        </p:txBody>
      </p:sp>
      <p:sp>
        <p:nvSpPr>
          <p:cNvPr id="13" name="TEXT: 等待 / 补款 / 退款"/>
          <p:cNvSpPr txBox="1"/>
          <p:nvPr/>
        </p:nvSpPr>
        <p:spPr>
          <a:xfrm>
            <a:off x="4501896" y="3017520"/>
            <a:ext cx="3157728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等待 / 补款 / 退款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42504" y="3086100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098536" y="2331720"/>
            <a:ext cx="3468624" cy="15087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CON: Lucide clipboard-check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3984" y="2478024"/>
            <a:ext cx="347472" cy="347472"/>
          </a:xfrm>
          <a:prstGeom prst="rect">
            <a:avLst/>
          </a:prstGeom>
        </p:spPr>
      </p:pic>
      <p:sp>
        <p:nvSpPr>
          <p:cNvPr id="17" name="TEXT: 实际执行"/>
          <p:cNvSpPr txBox="1"/>
          <p:nvPr/>
        </p:nvSpPr>
        <p:spPr>
          <a:xfrm>
            <a:off x="8711184" y="2487168"/>
            <a:ext cx="273710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实际执行</a:t>
            </a:r>
          </a:p>
        </p:txBody>
      </p:sp>
      <p:sp>
        <p:nvSpPr>
          <p:cNvPr id="18" name="TEXT: 更新订单与模拟账本"/>
          <p:cNvSpPr txBox="1"/>
          <p:nvPr/>
        </p:nvSpPr>
        <p:spPr>
          <a:xfrm>
            <a:off x="8253984" y="3017520"/>
            <a:ext cx="3157728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更新订单与模拟账本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315968"/>
            <a:ext cx="5349240" cy="1389888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ICON: Lucide list-filter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" y="4517136"/>
            <a:ext cx="393192" cy="393192"/>
          </a:xfrm>
          <a:prstGeom prst="rect">
            <a:avLst/>
          </a:prstGeom>
        </p:spPr>
      </p:pic>
      <p:sp>
        <p:nvSpPr>
          <p:cNvPr id="21" name="TEXT: Decider"/>
          <p:cNvSpPr txBox="1"/>
          <p:nvPr/>
        </p:nvSpPr>
        <p:spPr>
          <a:xfrm>
            <a:off x="1344168" y="4526280"/>
            <a:ext cx="44165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22" name="TEXT: 专注候选评分与结构化决策"/>
          <p:cNvSpPr txBox="1"/>
          <p:nvPr/>
        </p:nvSpPr>
        <p:spPr>
          <a:xfrm>
            <a:off x="804672" y="5166359"/>
            <a:ext cx="4928616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专注候选评分与结构化决策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315968"/>
            <a:ext cx="5349240" cy="1389888"/>
          </a:xfrm>
          <a:prstGeom prst="roundRect">
            <a:avLst>
              <a:gd name="adj" fmla="val 13000"/>
            </a:avLst>
          </a:prstGeom>
          <a:solidFill>
            <a:srgbClr val="EDF1FC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ICON: Lucide brain-circuit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9088" y="4517136"/>
            <a:ext cx="393192" cy="393192"/>
          </a:xfrm>
          <a:prstGeom prst="rect">
            <a:avLst/>
          </a:prstGeom>
        </p:spPr>
      </p:pic>
      <p:sp>
        <p:nvSpPr>
          <p:cNvPr id="25" name="TEXT: GPT"/>
          <p:cNvSpPr txBox="1"/>
          <p:nvPr/>
        </p:nvSpPr>
        <p:spPr>
          <a:xfrm>
            <a:off x="6967728" y="4526280"/>
            <a:ext cx="44165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26" name="TEXT: 通用生成模型，也可选择候选"/>
          <p:cNvSpPr txBox="1"/>
          <p:nvPr/>
        </p:nvSpPr>
        <p:spPr>
          <a:xfrm>
            <a:off x="6428232" y="5166359"/>
            <a:ext cx="4928616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通用生成模型，也可选择候选</a:t>
            </a:r>
          </a:p>
        </p:txBody>
      </p:sp>
      <p:sp>
        <p:nvSpPr>
          <p:cNvPr id="27" name="TEXT: 本项目比较的是动作选择；客服回复来自同一套应用模板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本项目比较的是动作选择；客服回复来自同一套应用模板。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: DECIDER × GPT  /  支付业务演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DECIDER × GPT  /  支付业务演示</a:t>
            </a:r>
          </a:p>
        </p:txBody>
      </p:sp>
      <p:sp>
        <p:nvSpPr>
          <p:cNvPr id="30" name="TEXT: 02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02 /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模型与原理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模型与原理</a:t>
            </a:r>
          </a:p>
        </p:txBody>
      </p:sp>
      <p:sp>
        <p:nvSpPr>
          <p:cNvPr id="3" name="TEXT: 同样的候选，走两条决策路径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同样的候选，走两条决策路径</a:t>
            </a:r>
          </a:p>
        </p:txBody>
      </p:sp>
      <p:sp>
        <p:nvSpPr>
          <p:cNvPr id="4" name="TEXT: Decider 评分后取最高项；GPT 逐 token 生成候选 ID。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Decider 评分后取最高项；GPT 逐 token 生成候选 ID。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6272" y="1947672"/>
            <a:ext cx="7772400" cy="320040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共同输入：业务事实 + 问题 + 候选条件"/>
          <p:cNvSpPr txBox="1"/>
          <p:nvPr/>
        </p:nvSpPr>
        <p:spPr>
          <a:xfrm>
            <a:off x="2221991" y="1997964"/>
            <a:ext cx="76809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共同输入：业务事实 + 问题 + 候选条件</a:t>
            </a:r>
          </a:p>
        </p:txBody>
      </p:sp>
      <p:sp>
        <p:nvSpPr>
          <p:cNvPr id="7" name="TEXT: DECIDER"/>
          <p:cNvSpPr txBox="1"/>
          <p:nvPr/>
        </p:nvSpPr>
        <p:spPr>
          <a:xfrm>
            <a:off x="621792" y="2697480"/>
            <a:ext cx="15544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48840" y="2496312"/>
            <a:ext cx="2950464" cy="13258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ICON: Lucide layers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4288" y="2642616"/>
            <a:ext cx="347472" cy="347472"/>
          </a:xfrm>
          <a:prstGeom prst="rect">
            <a:avLst/>
          </a:prstGeom>
        </p:spPr>
      </p:pic>
      <p:sp>
        <p:nvSpPr>
          <p:cNvPr id="10" name="TEXT: 编码输入"/>
          <p:cNvSpPr txBox="1"/>
          <p:nvPr/>
        </p:nvSpPr>
        <p:spPr>
          <a:xfrm>
            <a:off x="2761488" y="2651760"/>
            <a:ext cx="221894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编码输入</a:t>
            </a:r>
          </a:p>
        </p:txBody>
      </p:sp>
      <p:sp>
        <p:nvSpPr>
          <p:cNvPr id="11" name="TEXT: 业务与候选表示"/>
          <p:cNvSpPr txBox="1"/>
          <p:nvPr/>
        </p:nvSpPr>
        <p:spPr>
          <a:xfrm>
            <a:off x="2304288" y="3182112"/>
            <a:ext cx="2639568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业务与候选表示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126736" y="3159252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382768" y="2496312"/>
            <a:ext cx="2950464" cy="13258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ICON: Lucide list-filte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8216" y="2642616"/>
            <a:ext cx="347472" cy="347472"/>
          </a:xfrm>
          <a:prstGeom prst="rect">
            <a:avLst/>
          </a:prstGeom>
        </p:spPr>
      </p:pic>
      <p:sp>
        <p:nvSpPr>
          <p:cNvPr id="15" name="TEXT: Pointer Head"/>
          <p:cNvSpPr txBox="1"/>
          <p:nvPr/>
        </p:nvSpPr>
        <p:spPr>
          <a:xfrm>
            <a:off x="5995416" y="2651760"/>
            <a:ext cx="221894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Pointer Head</a:t>
            </a:r>
          </a:p>
        </p:txBody>
      </p:sp>
      <p:sp>
        <p:nvSpPr>
          <p:cNvPr id="16" name="TEXT: 对候选计算分数"/>
          <p:cNvSpPr txBox="1"/>
          <p:nvPr/>
        </p:nvSpPr>
        <p:spPr>
          <a:xfrm>
            <a:off x="5538216" y="3182112"/>
            <a:ext cx="2639568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对候选计算分数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360663" y="3159252"/>
            <a:ext cx="219457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616696" y="2496312"/>
            <a:ext cx="2950464" cy="13258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ICON: Lucide circle-check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2144" y="2642616"/>
            <a:ext cx="347472" cy="347472"/>
          </a:xfrm>
          <a:prstGeom prst="rect">
            <a:avLst/>
          </a:prstGeom>
        </p:spPr>
      </p:pic>
      <p:sp>
        <p:nvSpPr>
          <p:cNvPr id="20" name="TEXT: 最高分候选"/>
          <p:cNvSpPr txBox="1"/>
          <p:nvPr/>
        </p:nvSpPr>
        <p:spPr>
          <a:xfrm>
            <a:off x="9229344" y="2651760"/>
            <a:ext cx="221894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最高分候选</a:t>
            </a:r>
          </a:p>
        </p:txBody>
      </p:sp>
      <p:sp>
        <p:nvSpPr>
          <p:cNvPr id="21" name="TEXT: choice + 概率分布"/>
          <p:cNvSpPr txBox="1"/>
          <p:nvPr/>
        </p:nvSpPr>
        <p:spPr>
          <a:xfrm>
            <a:off x="8772144" y="3182112"/>
            <a:ext cx="2639568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choice + 概率分布</a:t>
            </a:r>
          </a:p>
        </p:txBody>
      </p:sp>
      <p:sp>
        <p:nvSpPr>
          <p:cNvPr id="22" name="TEXT: GPT"/>
          <p:cNvSpPr txBox="1"/>
          <p:nvPr/>
        </p:nvSpPr>
        <p:spPr>
          <a:xfrm>
            <a:off x="621792" y="4498848"/>
            <a:ext cx="15544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48840" y="4279392"/>
            <a:ext cx="2950464" cy="13258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ICON: Lucide receipt-text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04288" y="4425696"/>
            <a:ext cx="347472" cy="347472"/>
          </a:xfrm>
          <a:prstGeom prst="rect">
            <a:avLst/>
          </a:prstGeom>
        </p:spPr>
      </p:pic>
      <p:sp>
        <p:nvSpPr>
          <p:cNvPr id="25" name="TEXT: 读取提示"/>
          <p:cNvSpPr txBox="1"/>
          <p:nvPr/>
        </p:nvSpPr>
        <p:spPr>
          <a:xfrm>
            <a:off x="2761488" y="4434840"/>
            <a:ext cx="221894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读取提示</a:t>
            </a:r>
          </a:p>
        </p:txBody>
      </p:sp>
      <p:sp>
        <p:nvSpPr>
          <p:cNvPr id="26" name="TEXT: 同一业务与候选"/>
          <p:cNvSpPr txBox="1"/>
          <p:nvPr/>
        </p:nvSpPr>
        <p:spPr>
          <a:xfrm>
            <a:off x="2304288" y="4965192"/>
            <a:ext cx="2639568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同一业务与候选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126736" y="4942331"/>
            <a:ext cx="219456" cy="0"/>
          </a:xfrm>
          <a:prstGeom prst="line">
            <a:avLst/>
          </a:prstGeom>
          <a:ln w="22860">
            <a:solidFill>
              <a:srgbClr val="4669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382768" y="4279392"/>
            <a:ext cx="2950464" cy="13258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ICON: Lucide code-xml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8216" y="4425696"/>
            <a:ext cx="347472" cy="347472"/>
          </a:xfrm>
          <a:prstGeom prst="rect">
            <a:avLst/>
          </a:prstGeom>
        </p:spPr>
      </p:pic>
      <p:sp>
        <p:nvSpPr>
          <p:cNvPr id="30" name="TEXT: 生成 token"/>
          <p:cNvSpPr txBox="1"/>
          <p:nvPr/>
        </p:nvSpPr>
        <p:spPr>
          <a:xfrm>
            <a:off x="5995416" y="4434840"/>
            <a:ext cx="221894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生成 token</a:t>
            </a:r>
          </a:p>
        </p:txBody>
      </p:sp>
      <p:sp>
        <p:nvSpPr>
          <p:cNvPr id="31" name="TEXT: 结构化选择 JSON"/>
          <p:cNvSpPr txBox="1"/>
          <p:nvPr/>
        </p:nvSpPr>
        <p:spPr>
          <a:xfrm>
            <a:off x="5538216" y="4965192"/>
            <a:ext cx="2639568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结构化选择 JSON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360663" y="4942331"/>
            <a:ext cx="219457" cy="0"/>
          </a:xfrm>
          <a:prstGeom prst="line">
            <a:avLst/>
          </a:prstGeom>
          <a:ln w="22860">
            <a:solidFill>
              <a:srgbClr val="4669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616696" y="4279392"/>
            <a:ext cx="2950464" cy="13258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ICON: Lucide shield-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2144" y="4425696"/>
            <a:ext cx="347472" cy="347472"/>
          </a:xfrm>
          <a:prstGeom prst="rect">
            <a:avLst/>
          </a:prstGeom>
        </p:spPr>
      </p:pic>
      <p:sp>
        <p:nvSpPr>
          <p:cNvPr id="35" name="TEXT: 解析与校验"/>
          <p:cNvSpPr txBox="1"/>
          <p:nvPr/>
        </p:nvSpPr>
        <p:spPr>
          <a:xfrm>
            <a:off x="9229344" y="4434840"/>
            <a:ext cx="221894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解析与校验</a:t>
            </a:r>
          </a:p>
        </p:txBody>
      </p:sp>
      <p:sp>
        <p:nvSpPr>
          <p:cNvPr id="36" name="TEXT: 有效候选 ID"/>
          <p:cNvSpPr txBox="1"/>
          <p:nvPr/>
        </p:nvSpPr>
        <p:spPr>
          <a:xfrm>
            <a:off x="8772144" y="4965192"/>
            <a:ext cx="2639568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有效候选 ID</a:t>
            </a:r>
          </a:p>
        </p:txBody>
      </p:sp>
      <p:sp>
        <p:nvSpPr>
          <p:cNvPr id="37" name="TEXT: 两条路径的输出都交给应用执行器；模型本身不执行转账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两条路径的输出都交给应用执行器；模型本身不执行转账。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: DECIDER × GPT  /  支付业务演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DECIDER × GPT  /  支付业务演示</a:t>
            </a:r>
          </a:p>
        </p:txBody>
      </p:sp>
      <p:sp>
        <p:nvSpPr>
          <p:cNvPr id="40" name="TEXT: 03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03 /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模型与原理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模型与原理</a:t>
            </a:r>
          </a:p>
        </p:txBody>
      </p:sp>
      <p:sp>
        <p:nvSpPr>
          <p:cNvPr id="3" name="TEXT: 可观察的决策过程：输入 → 输出 → 执行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可观察的决策过程：输入 → 输出 → 执行</a:t>
            </a:r>
          </a:p>
        </p:txBody>
      </p:sp>
      <p:sp>
        <p:nvSpPr>
          <p:cNvPr id="4" name="TEXT: 原始选择、执行调整和业务状态，分别展示。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原始选择、执行调整和业务状态，分别展示。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450592"/>
            <a:ext cx="2530602" cy="15544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receipt-tex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596896"/>
            <a:ext cx="347472" cy="347472"/>
          </a:xfrm>
          <a:prstGeom prst="rect">
            <a:avLst/>
          </a:prstGeom>
        </p:spPr>
      </p:pic>
      <p:sp>
        <p:nvSpPr>
          <p:cNvPr id="7" name="TEXT: 共享事实"/>
          <p:cNvSpPr txBox="1"/>
          <p:nvPr/>
        </p:nvSpPr>
        <p:spPr>
          <a:xfrm>
            <a:off x="1207008" y="2606040"/>
            <a:ext cx="179908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共享事实</a:t>
            </a:r>
          </a:p>
        </p:txBody>
      </p:sp>
      <p:sp>
        <p:nvSpPr>
          <p:cNvPr id="8" name="TEXT: 同一快照 / 候选"/>
          <p:cNvSpPr txBox="1"/>
          <p:nvPr/>
        </p:nvSpPr>
        <p:spPr>
          <a:xfrm>
            <a:off x="749808" y="3136392"/>
            <a:ext cx="2219706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同一快照 / 候选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52394" y="3227832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08426" y="2450592"/>
            <a:ext cx="2530602" cy="15544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CON: Lucide arrow-left-right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3874" y="2596896"/>
            <a:ext cx="347472" cy="347472"/>
          </a:xfrm>
          <a:prstGeom prst="rect">
            <a:avLst/>
          </a:prstGeom>
        </p:spPr>
      </p:pic>
      <p:sp>
        <p:nvSpPr>
          <p:cNvPr id="12" name="TEXT: 原始选择"/>
          <p:cNvSpPr txBox="1"/>
          <p:nvPr/>
        </p:nvSpPr>
        <p:spPr>
          <a:xfrm>
            <a:off x="4021074" y="2606040"/>
            <a:ext cx="179908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原始选择</a:t>
            </a:r>
          </a:p>
        </p:txBody>
      </p:sp>
      <p:sp>
        <p:nvSpPr>
          <p:cNvPr id="13" name="TEXT: Decider  /  GPT"/>
          <p:cNvSpPr txBox="1"/>
          <p:nvPr/>
        </p:nvSpPr>
        <p:spPr>
          <a:xfrm>
            <a:off x="3563874" y="3136392"/>
            <a:ext cx="2219706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Decider  /  GPT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66460" y="3227832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22492" y="2450592"/>
            <a:ext cx="2530602" cy="15544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CON: Lucide shield-check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940" y="2596896"/>
            <a:ext cx="347472" cy="347472"/>
          </a:xfrm>
          <a:prstGeom prst="rect">
            <a:avLst/>
          </a:prstGeom>
        </p:spPr>
      </p:pic>
      <p:sp>
        <p:nvSpPr>
          <p:cNvPr id="17" name="TEXT: 执行检查"/>
          <p:cNvSpPr txBox="1"/>
          <p:nvPr/>
        </p:nvSpPr>
        <p:spPr>
          <a:xfrm>
            <a:off x="6835140" y="2606040"/>
            <a:ext cx="179908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执行检查</a:t>
            </a:r>
          </a:p>
        </p:txBody>
      </p:sp>
      <p:sp>
        <p:nvSpPr>
          <p:cNvPr id="18" name="TEXT: 金额 / 地址 / 审批"/>
          <p:cNvSpPr txBox="1"/>
          <p:nvPr/>
        </p:nvSpPr>
        <p:spPr>
          <a:xfrm>
            <a:off x="6377940" y="3136392"/>
            <a:ext cx="2219706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金额 / 地址 / 审批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80526" y="3227832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036558" y="2450592"/>
            <a:ext cx="2530602" cy="15544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ICON: Lucide check-check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2006" y="2596896"/>
            <a:ext cx="347472" cy="347472"/>
          </a:xfrm>
          <a:prstGeom prst="rect">
            <a:avLst/>
          </a:prstGeom>
        </p:spPr>
      </p:pic>
      <p:sp>
        <p:nvSpPr>
          <p:cNvPr id="22" name="TEXT: 实际结果"/>
          <p:cNvSpPr txBox="1"/>
          <p:nvPr/>
        </p:nvSpPr>
        <p:spPr>
          <a:xfrm>
            <a:off x="9649206" y="2606040"/>
            <a:ext cx="179908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实际结果</a:t>
            </a:r>
          </a:p>
        </p:txBody>
      </p:sp>
      <p:sp>
        <p:nvSpPr>
          <p:cNvPr id="23" name="TEXT: 订单 / 账本 / 工单"/>
          <p:cNvSpPr txBox="1"/>
          <p:nvPr/>
        </p:nvSpPr>
        <p:spPr>
          <a:xfrm>
            <a:off x="9192006" y="3136392"/>
            <a:ext cx="2219706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订单 / 账本 / 工单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480560"/>
            <a:ext cx="5340096" cy="122529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看选择"/>
          <p:cNvSpPr txBox="1"/>
          <p:nvPr/>
        </p:nvSpPr>
        <p:spPr>
          <a:xfrm>
            <a:off x="804672" y="4690872"/>
            <a:ext cx="491947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看选择</a:t>
            </a:r>
          </a:p>
        </p:txBody>
      </p:sp>
      <p:sp>
        <p:nvSpPr>
          <p:cNvPr id="26" name="TEXT: 模型建议是否适合当前条件"/>
          <p:cNvSpPr txBox="1"/>
          <p:nvPr/>
        </p:nvSpPr>
        <p:spPr>
          <a:xfrm>
            <a:off x="804672" y="5330952"/>
            <a:ext cx="4919472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模型建议是否适合当前条件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8776" y="4480560"/>
            <a:ext cx="5340096" cy="122529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看执行"/>
          <p:cNvSpPr txBox="1"/>
          <p:nvPr/>
        </p:nvSpPr>
        <p:spPr>
          <a:xfrm>
            <a:off x="6419088" y="4690872"/>
            <a:ext cx="491947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看执行</a:t>
            </a:r>
          </a:p>
        </p:txBody>
      </p:sp>
      <p:sp>
        <p:nvSpPr>
          <p:cNvPr id="29" name="TEXT: 实际做了什么，是否推进业务"/>
          <p:cNvSpPr txBox="1"/>
          <p:nvPr/>
        </p:nvSpPr>
        <p:spPr>
          <a:xfrm>
            <a:off x="6419088" y="5330952"/>
            <a:ext cx="4919472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实际做了什么，是否推进业务</a:t>
            </a:r>
          </a:p>
        </p:txBody>
      </p:sp>
      <p:sp>
        <p:nvSpPr>
          <p:cNvPr id="30" name="TEXT: 概率表示候选偏好；不展示或推测模型隐藏思维链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概率表示候选偏好；不展示或推测模型隐藏思维链。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: DECIDER × GPT  /  支付业务演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DECIDER × GPT  /  支付业务演示</a:t>
            </a:r>
          </a:p>
        </p:txBody>
      </p:sp>
      <p:sp>
        <p:nvSpPr>
          <p:cNvPr id="33" name="TEXT: 04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04 /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模型与原理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模型与原理</a:t>
            </a:r>
          </a:p>
        </p:txBody>
      </p:sp>
      <p:sp>
        <p:nvSpPr>
          <p:cNvPr id="3" name="TEXT: BERT、Decider、GPT：适配方式一页看懂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BERT、Decider、GPT：适配方式一页看懂</a:t>
            </a:r>
          </a:p>
        </p:txBody>
      </p:sp>
      <p:sp>
        <p:nvSpPr>
          <p:cNvPr id="4" name="TEXT: 区别在输出头、候选表达与任务范围。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区别在输出头、候选表达与任务范围。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67712"/>
            <a:ext cx="3456432" cy="29260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layers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468880"/>
            <a:ext cx="393192" cy="393192"/>
          </a:xfrm>
          <a:prstGeom prst="rect">
            <a:avLst/>
          </a:prstGeom>
        </p:spPr>
      </p:pic>
      <p:sp>
        <p:nvSpPr>
          <p:cNvPr id="7" name="TEXT: BERT 分类器"/>
          <p:cNvSpPr txBox="1"/>
          <p:nvPr/>
        </p:nvSpPr>
        <p:spPr>
          <a:xfrm>
            <a:off x="1344168" y="2478024"/>
            <a:ext cx="252374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BERT 分类器</a:t>
            </a:r>
          </a:p>
        </p:txBody>
      </p:sp>
      <p:sp>
        <p:nvSpPr>
          <p:cNvPr id="8" name="TEXT: 固定标签 → 分类头 标签稳定、领域标注 新增类别通常需适配"/>
          <p:cNvSpPr txBox="1"/>
          <p:nvPr/>
        </p:nvSpPr>
        <p:spPr>
          <a:xfrm>
            <a:off x="804672" y="3118104"/>
            <a:ext cx="3035808" cy="19933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固定标签 → 分类头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标签稳定、领域标注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新增类别通常需适配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267712"/>
            <a:ext cx="3456432" cy="2926080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CON: Lucide list-filte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468880"/>
            <a:ext cx="393192" cy="393192"/>
          </a:xfrm>
          <a:prstGeom prst="rect">
            <a:avLst/>
          </a:prstGeom>
        </p:spPr>
      </p:pic>
      <p:sp>
        <p:nvSpPr>
          <p:cNvPr id="11" name="TEXT: Decider"/>
          <p:cNvSpPr txBox="1"/>
          <p:nvPr/>
        </p:nvSpPr>
        <p:spPr>
          <a:xfrm>
            <a:off x="5120640" y="2478024"/>
            <a:ext cx="252374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12" name="TEXT: 请求候选 → 共享评分 条件用自然语言描述 专注有限动作选择"/>
          <p:cNvSpPr txBox="1"/>
          <p:nvPr/>
        </p:nvSpPr>
        <p:spPr>
          <a:xfrm>
            <a:off x="4581144" y="3118104"/>
            <a:ext cx="3035808" cy="19933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请求候选 → 共享评分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条件用自然语言描述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专注有限动作选择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47304" y="2267712"/>
            <a:ext cx="3456432" cy="2926080"/>
          </a:xfrm>
          <a:prstGeom prst="roundRect">
            <a:avLst>
              <a:gd name="adj" fmla="val 13000"/>
            </a:avLst>
          </a:prstGeom>
          <a:solidFill>
            <a:srgbClr val="EDF1FC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ICON: Lucide brain-circuit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8472" y="2468880"/>
            <a:ext cx="393192" cy="393192"/>
          </a:xfrm>
          <a:prstGeom prst="rect">
            <a:avLst/>
          </a:prstGeom>
        </p:spPr>
      </p:pic>
      <p:sp>
        <p:nvSpPr>
          <p:cNvPr id="15" name="TEXT: GPT"/>
          <p:cNvSpPr txBox="1"/>
          <p:nvPr/>
        </p:nvSpPr>
        <p:spPr>
          <a:xfrm>
            <a:off x="8897112" y="2478024"/>
            <a:ext cx="252374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16" name="TEXT: 提示候选 → 生成 JSON 支持开放式生成与规划 也可做受限动作选择"/>
          <p:cNvSpPr txBox="1"/>
          <p:nvPr/>
        </p:nvSpPr>
        <p:spPr>
          <a:xfrm>
            <a:off x="8357616" y="3118104"/>
            <a:ext cx="3035808" cy="19933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提示候选 → 生成 JSON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支持开放式生成与规划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也可做受限动作选择</a:t>
            </a:r>
          </a:p>
        </p:txBody>
      </p:sp>
      <p:sp>
        <p:nvSpPr>
          <p:cNvPr id="17" name="TEXT: BERT/NLI 也可做动态候选评分；本项目未对 BERT 进行速度或质量实测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BERT/NLI 也可做动态候选评分；本项目未对 BERT 进行速度或质量实测。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: DECIDER × GPT  /  支付业务演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DECIDER × GPT  /  支付业务演示</a:t>
            </a:r>
          </a:p>
        </p:txBody>
      </p:sp>
      <p:sp>
        <p:nvSpPr>
          <p:cNvPr id="20" name="TEXT: 05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05 / 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项目架构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项目架构</a:t>
            </a:r>
          </a:p>
        </p:txBody>
      </p:sp>
      <p:sp>
        <p:nvSpPr>
          <p:cNvPr id="3" name="TEXT: 一套业务后端，对接两种模型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一套业务后端，对接两种模型</a:t>
            </a:r>
          </a:p>
        </p:txBody>
      </p:sp>
      <p:sp>
        <p:nvSpPr>
          <p:cNvPr id="4" name="TEXT: AWS us-east-1 · 私有前端源站 · 相同业务执行逻辑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AWS us-east-1 · 私有前端源站 · 相同业务执行逻辑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218688"/>
            <a:ext cx="2212848" cy="117043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AWS cloudfron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401568"/>
            <a:ext cx="521207" cy="521207"/>
          </a:xfrm>
          <a:prstGeom prst="rect">
            <a:avLst/>
          </a:prstGeom>
        </p:spPr>
      </p:pic>
      <p:sp>
        <p:nvSpPr>
          <p:cNvPr id="7" name="TEXT: CloudFront"/>
          <p:cNvSpPr txBox="1"/>
          <p:nvPr/>
        </p:nvSpPr>
        <p:spPr>
          <a:xfrm>
            <a:off x="1417319" y="3392424"/>
            <a:ext cx="1298448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CloudFront</a:t>
            </a:r>
          </a:p>
        </p:txBody>
      </p:sp>
      <p:sp>
        <p:nvSpPr>
          <p:cNvPr id="8" name="TEXT: 页面入口 / API 路由"/>
          <p:cNvSpPr txBox="1"/>
          <p:nvPr/>
        </p:nvSpPr>
        <p:spPr>
          <a:xfrm>
            <a:off x="795528" y="3995928"/>
            <a:ext cx="1901952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页面入口 / API 路由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47088"/>
            <a:ext cx="2212848" cy="117043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CON: AWS s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2029968"/>
            <a:ext cx="521207" cy="521207"/>
          </a:xfrm>
          <a:prstGeom prst="rect">
            <a:avLst/>
          </a:prstGeom>
        </p:spPr>
      </p:pic>
      <p:sp>
        <p:nvSpPr>
          <p:cNvPr id="11" name="TEXT: Amazon S3"/>
          <p:cNvSpPr txBox="1"/>
          <p:nvPr/>
        </p:nvSpPr>
        <p:spPr>
          <a:xfrm>
            <a:off x="1417319" y="2020824"/>
            <a:ext cx="1298448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Amazon S3</a:t>
            </a:r>
          </a:p>
        </p:txBody>
      </p:sp>
      <p:sp>
        <p:nvSpPr>
          <p:cNvPr id="12" name="TEXT: OAC · 禁止公开访问"/>
          <p:cNvSpPr txBox="1"/>
          <p:nvPr/>
        </p:nvSpPr>
        <p:spPr>
          <a:xfrm>
            <a:off x="795528" y="2624328"/>
            <a:ext cx="1901952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OAC · 禁止公开访问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1737360" y="3054096"/>
            <a:ext cx="0" cy="100584"/>
          </a:xfrm>
          <a:prstGeom prst="line">
            <a:avLst/>
          </a:prstGeom>
          <a:ln w="22860">
            <a:solidFill>
              <a:srgbClr val="647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10128" y="2231136"/>
            <a:ext cx="3977639" cy="3410712"/>
          </a:xfrm>
          <a:prstGeom prst="roundRect">
            <a:avLst>
              <a:gd name="adj" fmla="val 13000"/>
            </a:avLst>
          </a:prstGeom>
          <a:noFill/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VPC / 私有业务服务"/>
          <p:cNvSpPr txBox="1"/>
          <p:nvPr/>
        </p:nvSpPr>
        <p:spPr>
          <a:xfrm>
            <a:off x="3502152" y="2404872"/>
            <a:ext cx="356616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VPC / 私有业务服务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21024" y="2770632"/>
            <a:ext cx="3328416" cy="117043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ICON: AWS alb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6472" y="2953512"/>
            <a:ext cx="521207" cy="521207"/>
          </a:xfrm>
          <a:prstGeom prst="rect">
            <a:avLst/>
          </a:prstGeom>
        </p:spPr>
      </p:pic>
      <p:sp>
        <p:nvSpPr>
          <p:cNvPr id="18" name="TEXT: 内网 ALB"/>
          <p:cNvSpPr txBox="1"/>
          <p:nvPr/>
        </p:nvSpPr>
        <p:spPr>
          <a:xfrm>
            <a:off x="4398264" y="2944368"/>
            <a:ext cx="2414016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内网 ALB</a:t>
            </a:r>
          </a:p>
        </p:txBody>
      </p:sp>
      <p:sp>
        <p:nvSpPr>
          <p:cNvPr id="19" name="TEXT: CloudFront VPC Origin"/>
          <p:cNvSpPr txBox="1"/>
          <p:nvPr/>
        </p:nvSpPr>
        <p:spPr>
          <a:xfrm>
            <a:off x="3776472" y="3547872"/>
            <a:ext cx="301752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CloudFront VPC Origin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21024" y="4169663"/>
            <a:ext cx="3328416" cy="117043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ICON: AWS ecs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6472" y="4352544"/>
            <a:ext cx="521207" cy="521207"/>
          </a:xfrm>
          <a:prstGeom prst="rect">
            <a:avLst/>
          </a:prstGeom>
        </p:spPr>
      </p:pic>
      <p:sp>
        <p:nvSpPr>
          <p:cNvPr id="22" name="TEXT: ECS Fargate"/>
          <p:cNvSpPr txBox="1"/>
          <p:nvPr/>
        </p:nvSpPr>
        <p:spPr>
          <a:xfrm>
            <a:off x="4398264" y="4343400"/>
            <a:ext cx="2414016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ECS Fargate</a:t>
            </a:r>
          </a:p>
        </p:txBody>
      </p:sp>
      <p:sp>
        <p:nvSpPr>
          <p:cNvPr id="23" name="TEXT: FastAPI · 决策 / 执行 / 反馈"/>
          <p:cNvSpPr txBox="1"/>
          <p:nvPr/>
        </p:nvSpPr>
        <p:spPr>
          <a:xfrm>
            <a:off x="3776472" y="4946903"/>
            <a:ext cx="301752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FastAPI · 决策 / 执行 / 反馈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898648" y="3813048"/>
            <a:ext cx="246888" cy="0"/>
          </a:xfrm>
          <a:prstGeom prst="line">
            <a:avLst/>
          </a:prstGeom>
          <a:ln w="2286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145536" y="3355848"/>
            <a:ext cx="0" cy="457200"/>
          </a:xfrm>
          <a:prstGeom prst="line">
            <a:avLst/>
          </a:prstGeom>
          <a:ln w="2286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145536" y="3355848"/>
            <a:ext cx="420624" cy="0"/>
          </a:xfrm>
          <a:prstGeom prst="line">
            <a:avLst/>
          </a:prstGeom>
          <a:ln w="22860">
            <a:solidFill>
              <a:srgbClr val="647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303520" y="3968496"/>
            <a:ext cx="0" cy="146304"/>
          </a:xfrm>
          <a:prstGeom prst="line">
            <a:avLst/>
          </a:prstGeom>
          <a:ln w="22860">
            <a:solidFill>
              <a:srgbClr val="647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357616" y="1993392"/>
            <a:ext cx="3200400" cy="117043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ICON: AWS sagemaker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3064" y="2176272"/>
            <a:ext cx="521207" cy="521207"/>
          </a:xfrm>
          <a:prstGeom prst="rect">
            <a:avLst/>
          </a:prstGeom>
        </p:spPr>
      </p:pic>
      <p:sp>
        <p:nvSpPr>
          <p:cNvPr id="30" name="TEXT: SageMaker"/>
          <p:cNvSpPr txBox="1"/>
          <p:nvPr/>
        </p:nvSpPr>
        <p:spPr>
          <a:xfrm>
            <a:off x="9134856" y="2167128"/>
            <a:ext cx="228600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SageMaker</a:t>
            </a:r>
          </a:p>
        </p:txBody>
      </p:sp>
      <p:sp>
        <p:nvSpPr>
          <p:cNvPr id="31" name="TEXT: Decider v19"/>
          <p:cNvSpPr txBox="1"/>
          <p:nvPr/>
        </p:nvSpPr>
        <p:spPr>
          <a:xfrm>
            <a:off x="8513064" y="2770632"/>
            <a:ext cx="2889504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Decider v19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57616" y="3401568"/>
            <a:ext cx="3200400" cy="1170432"/>
          </a:xfrm>
          <a:prstGeom prst="roundRect">
            <a:avLst>
              <a:gd name="adj" fmla="val 13000"/>
            </a:avLst>
          </a:prstGeom>
          <a:solidFill>
            <a:srgbClr val="EDF1FC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ICON: AWS bedro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13064" y="3584448"/>
            <a:ext cx="521207" cy="521207"/>
          </a:xfrm>
          <a:prstGeom prst="rect">
            <a:avLst/>
          </a:prstGeom>
        </p:spPr>
      </p:pic>
      <p:sp>
        <p:nvSpPr>
          <p:cNvPr id="34" name="TEXT: Bedrock"/>
          <p:cNvSpPr txBox="1"/>
          <p:nvPr/>
        </p:nvSpPr>
        <p:spPr>
          <a:xfrm>
            <a:off x="9134856" y="3575304"/>
            <a:ext cx="228600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Bedrock</a:t>
            </a:r>
          </a:p>
        </p:txBody>
      </p:sp>
      <p:sp>
        <p:nvSpPr>
          <p:cNvPr id="35" name="TEXT: GPT-6.1 Sol"/>
          <p:cNvSpPr txBox="1"/>
          <p:nvPr/>
        </p:nvSpPr>
        <p:spPr>
          <a:xfrm>
            <a:off x="8513064" y="4178808"/>
            <a:ext cx="2889504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GPT-6.1 Sol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57616" y="4809744"/>
            <a:ext cx="3200400" cy="117043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ICON: AWS dynamodb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13064" y="4992624"/>
            <a:ext cx="521207" cy="521207"/>
          </a:xfrm>
          <a:prstGeom prst="rect">
            <a:avLst/>
          </a:prstGeom>
        </p:spPr>
      </p:pic>
      <p:sp>
        <p:nvSpPr>
          <p:cNvPr id="38" name="TEXT: DynamoDB"/>
          <p:cNvSpPr txBox="1"/>
          <p:nvPr/>
        </p:nvSpPr>
        <p:spPr>
          <a:xfrm>
            <a:off x="9134856" y="4983480"/>
            <a:ext cx="228600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DynamoDB</a:t>
            </a:r>
          </a:p>
        </p:txBody>
      </p:sp>
      <p:sp>
        <p:nvSpPr>
          <p:cNvPr id="39" name="TEXT: 用户 / 会话"/>
          <p:cNvSpPr txBox="1"/>
          <p:nvPr/>
        </p:nvSpPr>
        <p:spPr>
          <a:xfrm>
            <a:off x="8513064" y="5586983"/>
            <a:ext cx="2889504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用户 / 会话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995160" y="4745736"/>
            <a:ext cx="740664" cy="0"/>
          </a:xfrm>
          <a:prstGeom prst="line">
            <a:avLst/>
          </a:prstGeom>
          <a:ln w="1905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7735824" y="2578608"/>
            <a:ext cx="0" cy="2167128"/>
          </a:xfrm>
          <a:prstGeom prst="line">
            <a:avLst/>
          </a:prstGeom>
          <a:ln w="1905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735824" y="2578608"/>
            <a:ext cx="548640" cy="0"/>
          </a:xfrm>
          <a:prstGeom prst="line">
            <a:avLst/>
          </a:prstGeom>
          <a:ln w="22860">
            <a:solidFill>
              <a:srgbClr val="647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995160" y="4745736"/>
            <a:ext cx="740664" cy="0"/>
          </a:xfrm>
          <a:prstGeom prst="line">
            <a:avLst/>
          </a:prstGeom>
          <a:ln w="1905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7735824" y="3986784"/>
            <a:ext cx="0" cy="758952"/>
          </a:xfrm>
          <a:prstGeom prst="line">
            <a:avLst/>
          </a:prstGeom>
          <a:ln w="1905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735824" y="3986784"/>
            <a:ext cx="548640" cy="0"/>
          </a:xfrm>
          <a:prstGeom prst="line">
            <a:avLst/>
          </a:prstGeom>
          <a:ln w="22860">
            <a:solidFill>
              <a:srgbClr val="647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995160" y="4745736"/>
            <a:ext cx="740664" cy="0"/>
          </a:xfrm>
          <a:prstGeom prst="line">
            <a:avLst/>
          </a:prstGeom>
          <a:ln w="1905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735824" y="4745736"/>
            <a:ext cx="0" cy="649224"/>
          </a:xfrm>
          <a:prstGeom prst="line">
            <a:avLst/>
          </a:prstGeom>
          <a:ln w="1905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735824" y="5394960"/>
            <a:ext cx="548640" cy="0"/>
          </a:xfrm>
          <a:prstGeom prst="line">
            <a:avLst/>
          </a:prstGeom>
          <a:ln w="22860">
            <a:solidFill>
              <a:srgbClr val="647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: 后端调用相应服务；订单、工单与模拟账本用于演示，不广播链上交易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后端调用相应服务；订单、工单与模拟账本用于演示，不广播链上交易。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: DECIDER × GPT  /  支付业务演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DECIDER × GPT  /  支付业务演示</a:t>
            </a:r>
          </a:p>
        </p:txBody>
      </p:sp>
      <p:sp>
        <p:nvSpPr>
          <p:cNvPr id="52" name="TEXT: 06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06 /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演示设计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演示设计</a:t>
            </a:r>
          </a:p>
        </p:txBody>
      </p:sp>
      <p:sp>
        <p:nvSpPr>
          <p:cNvPr id="3" name="TEXT: 四个支付场景，贯穿五个业务节点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四个支付场景，贯穿五个业务节点</a:t>
            </a:r>
          </a:p>
        </p:txBody>
      </p:sp>
      <p:sp>
        <p:nvSpPr>
          <p:cNvPr id="4" name="TEXT: 同一笔业务，分别交给 Decider 和 GPT。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同一笔业务，分别交给 Decider 和 GPT。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21992"/>
            <a:ext cx="2487168" cy="17099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walle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423160"/>
            <a:ext cx="393192" cy="393192"/>
          </a:xfrm>
          <a:prstGeom prst="rect">
            <a:avLst/>
          </a:prstGeom>
        </p:spPr>
      </p:pic>
      <p:sp>
        <p:nvSpPr>
          <p:cNvPr id="7" name="TEXT: 未到账"/>
          <p:cNvSpPr txBox="1"/>
          <p:nvPr/>
        </p:nvSpPr>
        <p:spPr>
          <a:xfrm>
            <a:off x="1344168" y="2432304"/>
            <a:ext cx="15544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未到账</a:t>
            </a:r>
          </a:p>
        </p:txBody>
      </p:sp>
      <p:sp>
        <p:nvSpPr>
          <p:cNvPr id="8" name="TEXT: 确认数 3 / 12"/>
          <p:cNvSpPr txBox="1"/>
          <p:nvPr/>
        </p:nvSpPr>
        <p:spPr>
          <a:xfrm>
            <a:off x="804672" y="3072384"/>
            <a:ext cx="2066544" cy="7772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确认数 3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221992"/>
            <a:ext cx="2487168" cy="17099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CON: Lucide banknot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0168" y="2423160"/>
            <a:ext cx="393192" cy="393192"/>
          </a:xfrm>
          <a:prstGeom prst="rect">
            <a:avLst/>
          </a:prstGeom>
        </p:spPr>
      </p:pic>
      <p:sp>
        <p:nvSpPr>
          <p:cNvPr id="11" name="TEXT: 少付"/>
          <p:cNvSpPr txBox="1"/>
          <p:nvPr/>
        </p:nvSpPr>
        <p:spPr>
          <a:xfrm>
            <a:off x="4178808" y="2432304"/>
            <a:ext cx="15544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少付</a:t>
            </a:r>
          </a:p>
        </p:txBody>
      </p:sp>
      <p:sp>
        <p:nvSpPr>
          <p:cNvPr id="12" name="TEXT: 100 → 99.80"/>
          <p:cNvSpPr txBox="1"/>
          <p:nvPr/>
        </p:nvSpPr>
        <p:spPr>
          <a:xfrm>
            <a:off x="3639312" y="3072384"/>
            <a:ext cx="2066544" cy="7772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100 → 99.80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221992"/>
            <a:ext cx="2487168" cy="17099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ICON: Lucide repeat-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4807" y="2423160"/>
            <a:ext cx="393192" cy="393192"/>
          </a:xfrm>
          <a:prstGeom prst="rect">
            <a:avLst/>
          </a:prstGeom>
        </p:spPr>
      </p:pic>
      <p:sp>
        <p:nvSpPr>
          <p:cNvPr id="15" name="TEXT: 退款"/>
          <p:cNvSpPr txBox="1"/>
          <p:nvPr/>
        </p:nvSpPr>
        <p:spPr>
          <a:xfrm>
            <a:off x="7013448" y="2432304"/>
            <a:ext cx="15544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退款</a:t>
            </a:r>
          </a:p>
        </p:txBody>
      </p:sp>
      <p:sp>
        <p:nvSpPr>
          <p:cNvPr id="16" name="TEXT: 地址与审批待补齐"/>
          <p:cNvSpPr txBox="1"/>
          <p:nvPr/>
        </p:nvSpPr>
        <p:spPr>
          <a:xfrm>
            <a:off x="6473952" y="3072384"/>
            <a:ext cx="2066544" cy="7772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地址与审批待补齐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2221992"/>
            <a:ext cx="2487168" cy="17099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ICON: Lucide receipt-text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9448" y="2423160"/>
            <a:ext cx="393192" cy="393192"/>
          </a:xfrm>
          <a:prstGeom prst="rect">
            <a:avLst/>
          </a:prstGeom>
        </p:spPr>
      </p:pic>
      <p:sp>
        <p:nvSpPr>
          <p:cNvPr id="19" name="TEXT: 结算"/>
          <p:cNvSpPr txBox="1"/>
          <p:nvPr/>
        </p:nvSpPr>
        <p:spPr>
          <a:xfrm>
            <a:off x="9848088" y="2432304"/>
            <a:ext cx="15544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结算</a:t>
            </a:r>
          </a:p>
        </p:txBody>
      </p:sp>
      <p:sp>
        <p:nvSpPr>
          <p:cNvPr id="20" name="TEXT: 到账状态与时效"/>
          <p:cNvSpPr txBox="1"/>
          <p:nvPr/>
        </p:nvSpPr>
        <p:spPr>
          <a:xfrm>
            <a:off x="9308592" y="3072384"/>
            <a:ext cx="2066544" cy="7772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到账状态与时效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343400"/>
            <a:ext cx="1967788" cy="13075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ICON: Lucide headset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" y="4489704"/>
            <a:ext cx="347472" cy="347472"/>
          </a:xfrm>
          <a:prstGeom prst="rect">
            <a:avLst/>
          </a:prstGeom>
        </p:spPr>
      </p:pic>
      <p:sp>
        <p:nvSpPr>
          <p:cNvPr id="23" name="TEXT: 客服受理"/>
          <p:cNvSpPr txBox="1"/>
          <p:nvPr/>
        </p:nvSpPr>
        <p:spPr>
          <a:xfrm>
            <a:off x="1207008" y="4498848"/>
            <a:ext cx="123626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客服受理</a:t>
            </a:r>
          </a:p>
        </p:txBody>
      </p:sp>
      <p:sp>
        <p:nvSpPr>
          <p:cNvPr id="24" name="TEXT: 节点 1"/>
          <p:cNvSpPr txBox="1"/>
          <p:nvPr/>
        </p:nvSpPr>
        <p:spPr>
          <a:xfrm>
            <a:off x="749808" y="5029200"/>
            <a:ext cx="165689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节点 1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589580" y="4997196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2845612" y="4343400"/>
            <a:ext cx="1967788" cy="13075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ICON: Lucide search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01060" y="4489704"/>
            <a:ext cx="347472" cy="347472"/>
          </a:xfrm>
          <a:prstGeom prst="rect">
            <a:avLst/>
          </a:prstGeom>
        </p:spPr>
      </p:pic>
      <p:sp>
        <p:nvSpPr>
          <p:cNvPr id="28" name="TEXT: 交易核验"/>
          <p:cNvSpPr txBox="1"/>
          <p:nvPr/>
        </p:nvSpPr>
        <p:spPr>
          <a:xfrm>
            <a:off x="3458260" y="4498848"/>
            <a:ext cx="123626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交易核验</a:t>
            </a:r>
          </a:p>
        </p:txBody>
      </p:sp>
      <p:sp>
        <p:nvSpPr>
          <p:cNvPr id="29" name="TEXT: 节点 2"/>
          <p:cNvSpPr txBox="1"/>
          <p:nvPr/>
        </p:nvSpPr>
        <p:spPr>
          <a:xfrm>
            <a:off x="3001060" y="5029200"/>
            <a:ext cx="165689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节点 2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840833" y="4997196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096865" y="4343400"/>
            <a:ext cx="1967788" cy="13075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ICON: Lucide shield-check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52313" y="4489704"/>
            <a:ext cx="347472" cy="347472"/>
          </a:xfrm>
          <a:prstGeom prst="rect">
            <a:avLst/>
          </a:prstGeom>
        </p:spPr>
      </p:pic>
      <p:sp>
        <p:nvSpPr>
          <p:cNvPr id="33" name="TEXT: 风控审批"/>
          <p:cNvSpPr txBox="1"/>
          <p:nvPr/>
        </p:nvSpPr>
        <p:spPr>
          <a:xfrm>
            <a:off x="5709513" y="4498848"/>
            <a:ext cx="123626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风控审批</a:t>
            </a:r>
          </a:p>
        </p:txBody>
      </p:sp>
      <p:sp>
        <p:nvSpPr>
          <p:cNvPr id="34" name="TEXT: 节点 3"/>
          <p:cNvSpPr txBox="1"/>
          <p:nvPr/>
        </p:nvSpPr>
        <p:spPr>
          <a:xfrm>
            <a:off x="5252313" y="5029200"/>
            <a:ext cx="165689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节点 3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092086" y="4997196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348118" y="4343400"/>
            <a:ext cx="1967788" cy="13075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ICON: Lucide workflow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03566" y="4489704"/>
            <a:ext cx="347472" cy="347472"/>
          </a:xfrm>
          <a:prstGeom prst="rect">
            <a:avLst/>
          </a:prstGeom>
        </p:spPr>
      </p:pic>
      <p:sp>
        <p:nvSpPr>
          <p:cNvPr id="38" name="TEXT: 业务处置"/>
          <p:cNvSpPr txBox="1"/>
          <p:nvPr/>
        </p:nvSpPr>
        <p:spPr>
          <a:xfrm>
            <a:off x="7960766" y="4498848"/>
            <a:ext cx="123626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业务处置</a:t>
            </a:r>
          </a:p>
        </p:txBody>
      </p:sp>
      <p:sp>
        <p:nvSpPr>
          <p:cNvPr id="39" name="TEXT: 节点 4"/>
          <p:cNvSpPr txBox="1"/>
          <p:nvPr/>
        </p:nvSpPr>
        <p:spPr>
          <a:xfrm>
            <a:off x="7503566" y="5029200"/>
            <a:ext cx="165689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节点 4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343339" y="4997196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599371" y="4343400"/>
            <a:ext cx="1967788" cy="13075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ICON: Lucide circle-check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54819" y="4489704"/>
            <a:ext cx="347472" cy="347472"/>
          </a:xfrm>
          <a:prstGeom prst="rect">
            <a:avLst/>
          </a:prstGeom>
        </p:spPr>
      </p:pic>
      <p:sp>
        <p:nvSpPr>
          <p:cNvPr id="43" name="TEXT: 回复结案"/>
          <p:cNvSpPr txBox="1"/>
          <p:nvPr/>
        </p:nvSpPr>
        <p:spPr>
          <a:xfrm>
            <a:off x="10212019" y="4498848"/>
            <a:ext cx="123626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回复结案</a:t>
            </a:r>
          </a:p>
        </p:txBody>
      </p:sp>
      <p:sp>
        <p:nvSpPr>
          <p:cNvPr id="44" name="TEXT: 节点 5"/>
          <p:cNvSpPr txBox="1"/>
          <p:nvPr/>
        </p:nvSpPr>
        <p:spPr>
          <a:xfrm>
            <a:off x="9754819" y="5029200"/>
            <a:ext cx="165689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节点 5</a:t>
            </a:r>
          </a:p>
        </p:txBody>
      </p:sp>
      <p:sp>
        <p:nvSpPr>
          <p:cNvPr id="45" name="TEXT: 客户消息、事实快照与候选条件均可追溯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客户消息、事实快照与候选条件均可追溯。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: DECIDER × GPT  /  支付业务演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DECIDER × GPT  /  支付业务演示</a:t>
            </a:r>
          </a:p>
        </p:txBody>
      </p:sp>
      <p:sp>
        <p:nvSpPr>
          <p:cNvPr id="48" name="TEXT: 07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07 / 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演示设计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演示设计</a:t>
            </a:r>
          </a:p>
        </p:txBody>
      </p:sp>
      <p:sp>
        <p:nvSpPr>
          <p:cNvPr id="3" name="TEXT: 两种对比：决策速度与业务完成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两种对比：决策速度与业务完成</a:t>
            </a:r>
          </a:p>
        </p:txBody>
      </p:sp>
      <p:sp>
        <p:nvSpPr>
          <p:cNvPr id="4" name="TEXT: 固定输入用于逐步比较；闭环用于观察执行反馈。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固定输入用于逐步比较；闭环用于观察执行反馈。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94560"/>
            <a:ext cx="5349240" cy="3218688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arrow-left-righ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395728"/>
            <a:ext cx="393192" cy="393192"/>
          </a:xfrm>
          <a:prstGeom prst="rect">
            <a:avLst/>
          </a:prstGeom>
        </p:spPr>
      </p:pic>
      <p:sp>
        <p:nvSpPr>
          <p:cNvPr id="7" name="TEXT: 固定输入对比"/>
          <p:cNvSpPr txBox="1"/>
          <p:nvPr/>
        </p:nvSpPr>
        <p:spPr>
          <a:xfrm>
            <a:off x="1344168" y="2404872"/>
            <a:ext cx="44165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固定输入对比</a:t>
            </a:r>
          </a:p>
        </p:txBody>
      </p:sp>
      <p:sp>
        <p:nvSpPr>
          <p:cNvPr id="8" name="TEXT: 相同快照 → 各自 5 个选择 逐步比较选择与耗时 收齐方案后执行"/>
          <p:cNvSpPr txBox="1"/>
          <p:nvPr/>
        </p:nvSpPr>
        <p:spPr>
          <a:xfrm>
            <a:off x="804672" y="3044952"/>
            <a:ext cx="4928616" cy="22860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相同快照 → 各自 5 个选择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逐步比较选择与耗时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收齐方案后执行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94560"/>
            <a:ext cx="5349240" cy="3218688"/>
          </a:xfrm>
          <a:prstGeom prst="roundRect">
            <a:avLst>
              <a:gd name="adj" fmla="val 13000"/>
            </a:avLst>
          </a:prstGeom>
          <a:solidFill>
            <a:srgbClr val="EDF1FC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CON: Lucide repeat-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2395728"/>
            <a:ext cx="393192" cy="393192"/>
          </a:xfrm>
          <a:prstGeom prst="rect">
            <a:avLst/>
          </a:prstGeom>
        </p:spPr>
      </p:pic>
      <p:sp>
        <p:nvSpPr>
          <p:cNvPr id="11" name="TEXT: 自主反馈闭环"/>
          <p:cNvSpPr txBox="1"/>
          <p:nvPr/>
        </p:nvSpPr>
        <p:spPr>
          <a:xfrm>
            <a:off x="6967728" y="2404872"/>
            <a:ext cx="44165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自主反馈闭环</a:t>
            </a:r>
          </a:p>
        </p:txBody>
      </p:sp>
      <p:sp>
        <p:nvSpPr>
          <p:cNvPr id="12" name="TEXT: 各自判断 → 执行 → 读取结果 等待事件后重新判断 比较业务完成与总决策耗时"/>
          <p:cNvSpPr txBox="1"/>
          <p:nvPr/>
        </p:nvSpPr>
        <p:spPr>
          <a:xfrm>
            <a:off x="6428232" y="3044952"/>
            <a:ext cx="4928616" cy="22860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各自判断 → 执行 → 读取结果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等待事件后重新判断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比较业务完成与总决策耗时</a:t>
            </a:r>
          </a:p>
        </p:txBody>
      </p:sp>
      <p:sp>
        <p:nvSpPr>
          <p:cNvPr id="13" name="TEXT: 以下时间为后端累计决策耗时，含通信与排队；不等于浏览器全程等待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以下时间为后端累计决策耗时，含通信与排队；不等于浏览器全程等待。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: DECIDER × GPT  /  支付业务演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DECIDER × GPT  /  支付业务演示</a:t>
            </a:r>
          </a:p>
        </p:txBody>
      </p:sp>
      <p:sp>
        <p:nvSpPr>
          <p:cNvPr id="16" name="TEXT: 08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08 / 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固定输入 / 过程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固定输入 / 过程</a:t>
            </a:r>
          </a:p>
        </p:txBody>
      </p:sp>
      <p:sp>
        <p:nvSpPr>
          <p:cNvPr id="3" name="TEXT: 真实界面：同一输入，输出与耗时并排看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真实界面：同一输入，输出与耗时并排看</a:t>
            </a:r>
          </a:p>
        </p:txBody>
      </p:sp>
      <p:sp>
        <p:nvSpPr>
          <p:cNvPr id="4" name="TEXT: USDC 未到账 · 客服受理：两模型都选择「支付客服」。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USDC 未到账 · 客服受理：两模型都选择「支付客服」。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" y="2265752"/>
            <a:ext cx="11027664" cy="332319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MAGE: fixed-turn-1-crop.png" descr="fixed-turn-1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2293184"/>
            <a:ext cx="10972800" cy="3268326"/>
          </a:xfrm>
          <a:prstGeom prst="rect">
            <a:avLst/>
          </a:prstGeom>
        </p:spPr>
      </p:pic>
      <p:sp>
        <p:nvSpPr>
          <p:cNvPr id="7" name="TEXT: 线上原始截图 · 2026-10-10 · 每轮保留输入、原始选择、实际动作和耗时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线上原始截图 · 2026-10-10 · 每轮保留输入、原始选择、实际动作和耗时。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: DECIDER × GPT  /  支付业务演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DECIDER × GPT  /  支付业务演示</a:t>
            </a:r>
          </a:p>
        </p:txBody>
      </p:sp>
      <p:sp>
        <p:nvSpPr>
          <p:cNvPr id="10" name="TEXT: 09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09 / 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固定输入 / USDC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固定输入 / USDC</a:t>
            </a:r>
          </a:p>
        </p:txBody>
      </p:sp>
      <p:sp>
        <p:nvSpPr>
          <p:cNvPr id="3" name="TEXT: 五步对照：耗时差异贯穿每次选择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五步对照：耗时差异贯穿每次选择</a:t>
            </a:r>
          </a:p>
        </p:txBody>
      </p:sp>
      <p:sp>
        <p:nvSpPr>
          <p:cNvPr id="4" name="TEXT: 确认数 3 / 12，固定事实保持不变；审批节点出现选择差异。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确认数 3 / 12，固定事实保持不变；审批节点出现选择差异。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2066543"/>
            <a:ext cx="1545336" cy="457200"/>
          </a:xfrm>
          <a:prstGeom prst="rect">
            <a:avLst/>
          </a:prstGeom>
          <a:solidFill>
            <a:srgbClr val="13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节点"/>
          <p:cNvSpPr txBox="1"/>
          <p:nvPr/>
        </p:nvSpPr>
        <p:spPr>
          <a:xfrm>
            <a:off x="694944" y="2157984"/>
            <a:ext cx="133502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节点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2148840" y="2066543"/>
            <a:ext cx="4727448" cy="457200"/>
          </a:xfrm>
          <a:prstGeom prst="rect">
            <a:avLst/>
          </a:prstGeom>
          <a:solidFill>
            <a:srgbClr val="13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Decider"/>
          <p:cNvSpPr txBox="1"/>
          <p:nvPr/>
        </p:nvSpPr>
        <p:spPr>
          <a:xfrm>
            <a:off x="2267712" y="2157984"/>
            <a:ext cx="4517136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903720" y="2066543"/>
            <a:ext cx="4681728" cy="457200"/>
          </a:xfrm>
          <a:prstGeom prst="rect">
            <a:avLst/>
          </a:prstGeom>
          <a:solidFill>
            <a:srgbClr val="13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GPT"/>
          <p:cNvSpPr txBox="1"/>
          <p:nvPr/>
        </p:nvSpPr>
        <p:spPr>
          <a:xfrm>
            <a:off x="7022592" y="2157984"/>
            <a:ext cx="4471416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" y="2578608"/>
            <a:ext cx="1545336" cy="5212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客服受理"/>
          <p:cNvSpPr txBox="1"/>
          <p:nvPr/>
        </p:nvSpPr>
        <p:spPr>
          <a:xfrm>
            <a:off x="694944" y="2697479"/>
            <a:ext cx="1335024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客服受理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48840" y="2578608"/>
            <a:ext cx="4727448" cy="5212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支付客服 · 91.8 ms"/>
          <p:cNvSpPr txBox="1"/>
          <p:nvPr/>
        </p:nvSpPr>
        <p:spPr>
          <a:xfrm>
            <a:off x="2267712" y="2697479"/>
            <a:ext cx="451713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支付客服 · 91.8 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03720" y="2578608"/>
            <a:ext cx="4681728" cy="5212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支付客服 · 1.17 s"/>
          <p:cNvSpPr txBox="1"/>
          <p:nvPr/>
        </p:nvSpPr>
        <p:spPr>
          <a:xfrm>
            <a:off x="7022592" y="2697479"/>
            <a:ext cx="447141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支付客服 · 1.17 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" y="3136391"/>
            <a:ext cx="1545336" cy="521207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交易核验"/>
          <p:cNvSpPr txBox="1"/>
          <p:nvPr/>
        </p:nvSpPr>
        <p:spPr>
          <a:xfrm>
            <a:off x="694944" y="3255263"/>
            <a:ext cx="1335024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交易核验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48840" y="3136391"/>
            <a:ext cx="4727448" cy="521207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等待链上确认 · 94.9 ms"/>
          <p:cNvSpPr txBox="1"/>
          <p:nvPr/>
        </p:nvSpPr>
        <p:spPr>
          <a:xfrm>
            <a:off x="2267712" y="3255263"/>
            <a:ext cx="451713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等待链上确认 · 94.9 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3136391"/>
            <a:ext cx="4681728" cy="521207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等待链上确认 · 1.33 s"/>
          <p:cNvSpPr txBox="1"/>
          <p:nvPr/>
        </p:nvSpPr>
        <p:spPr>
          <a:xfrm>
            <a:off x="7022592" y="3255263"/>
            <a:ext cx="447141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等待链上确认 · 1.33 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" y="3694176"/>
            <a:ext cx="1545336" cy="521207"/>
          </a:xfrm>
          <a:prstGeom prst="rect">
            <a:avLst/>
          </a:prstGeom>
          <a:solidFill>
            <a:srgbClr val="FF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风控审批"/>
          <p:cNvSpPr txBox="1"/>
          <p:nvPr/>
        </p:nvSpPr>
        <p:spPr>
          <a:xfrm>
            <a:off x="694944" y="3813048"/>
            <a:ext cx="1335024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风控审批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48840" y="3694176"/>
            <a:ext cx="4727448" cy="521207"/>
          </a:xfrm>
          <a:prstGeom prst="rect">
            <a:avLst/>
          </a:prstGeom>
          <a:solidFill>
            <a:srgbClr val="FF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等待人工审批 · 87.4 ms"/>
          <p:cNvSpPr txBox="1"/>
          <p:nvPr/>
        </p:nvSpPr>
        <p:spPr>
          <a:xfrm>
            <a:off x="2267712" y="3813048"/>
            <a:ext cx="451713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等待人工审批 · 87.4 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03720" y="3694176"/>
            <a:ext cx="4681728" cy="521207"/>
          </a:xfrm>
          <a:prstGeom prst="rect">
            <a:avLst/>
          </a:prstGeom>
          <a:solidFill>
            <a:srgbClr val="FF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规则检查通过 · 3.77 s"/>
          <p:cNvSpPr txBox="1"/>
          <p:nvPr/>
        </p:nvSpPr>
        <p:spPr>
          <a:xfrm>
            <a:off x="7022592" y="3813048"/>
            <a:ext cx="447141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规则检查通过 · 3.77 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72" y="4251960"/>
            <a:ext cx="1545336" cy="521207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业务处置"/>
          <p:cNvSpPr txBox="1"/>
          <p:nvPr/>
        </p:nvSpPr>
        <p:spPr>
          <a:xfrm>
            <a:off x="694944" y="4370832"/>
            <a:ext cx="1335024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业务处置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48840" y="4251960"/>
            <a:ext cx="4727448" cy="521207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: 挂起并跟进 · 91.0 ms"/>
          <p:cNvSpPr txBox="1"/>
          <p:nvPr/>
        </p:nvSpPr>
        <p:spPr>
          <a:xfrm>
            <a:off x="2267712" y="4370832"/>
            <a:ext cx="451713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挂起并跟进 · 91.0 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03720" y="4251960"/>
            <a:ext cx="4681728" cy="521207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: 挂起并跟进 · 0.70 s"/>
          <p:cNvSpPr txBox="1"/>
          <p:nvPr/>
        </p:nvSpPr>
        <p:spPr>
          <a:xfrm>
            <a:off x="7022592" y="4370832"/>
            <a:ext cx="447141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挂起并跟进 · 0.70 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6072" y="4809744"/>
            <a:ext cx="1545336" cy="5212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: 回复结案"/>
          <p:cNvSpPr txBox="1"/>
          <p:nvPr/>
        </p:nvSpPr>
        <p:spPr>
          <a:xfrm>
            <a:off x="694944" y="4928616"/>
            <a:ext cx="1335024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回复结案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48840" y="4809744"/>
            <a:ext cx="4727448" cy="5212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: 回复并持续跟进 · 93.2 ms"/>
          <p:cNvSpPr txBox="1"/>
          <p:nvPr/>
        </p:nvSpPr>
        <p:spPr>
          <a:xfrm>
            <a:off x="2267712" y="4928616"/>
            <a:ext cx="451713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回复并持续跟进 · 93.2 ms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03720" y="4809744"/>
            <a:ext cx="4681728" cy="5212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: 回复并持续跟进 · 0.82 s"/>
          <p:cNvSpPr txBox="1"/>
          <p:nvPr/>
        </p:nvSpPr>
        <p:spPr>
          <a:xfrm>
            <a:off x="7022592" y="4928616"/>
            <a:ext cx="447141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回复并持续跟进 · 0.82 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212848" y="5504688"/>
            <a:ext cx="3977639" cy="320040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: 累计 0.458 s"/>
          <p:cNvSpPr txBox="1"/>
          <p:nvPr/>
        </p:nvSpPr>
        <p:spPr>
          <a:xfrm>
            <a:off x="2258568" y="5554979"/>
            <a:ext cx="38862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累计 0.458 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995160" y="5504688"/>
            <a:ext cx="3977639" cy="320040"/>
          </a:xfrm>
          <a:prstGeom prst="roundRect">
            <a:avLst>
              <a:gd name="adj" fmla="val 13000"/>
            </a:avLst>
          </a:prstGeom>
          <a:solidFill>
            <a:srgbClr val="ED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: 累计 7.792 s"/>
          <p:cNvSpPr txBox="1"/>
          <p:nvPr/>
        </p:nvSpPr>
        <p:spPr>
          <a:xfrm>
            <a:off x="7040880" y="5554979"/>
            <a:ext cx="38862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累计 7.792 s</a:t>
            </a:r>
          </a:p>
        </p:txBody>
      </p:sp>
      <p:sp>
        <p:nvSpPr>
          <p:cNvPr id="45" name="TEXT: 累计差约 17.00×；这是该案例 5 次成功同输入决策的单次观测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累计差约 17.00×；这是该案例 5 次成功同输入决策的单次观测。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: DECIDER × GPT  /  支付业务演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DECIDER × GPT  /  支付业务演示</a:t>
            </a:r>
          </a:p>
        </p:txBody>
      </p:sp>
      <p:sp>
        <p:nvSpPr>
          <p:cNvPr id="48" name="TEXT: 10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10 /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固定输入 / 决策差异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固定输入 / 决策差异</a:t>
            </a:r>
          </a:p>
        </p:txBody>
      </p:sp>
      <p:sp>
        <p:nvSpPr>
          <p:cNvPr id="3" name="TEXT: 同一审批问题，为什么选择不一样？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同一审批问题，为什么选择不一样？</a:t>
            </a:r>
          </a:p>
        </p:txBody>
      </p:sp>
      <p:sp>
        <p:nvSpPr>
          <p:cNvPr id="4" name="TEXT: 观察候选评分与输出；不把评分解释成程序规则。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观察候选评分与输出；不把评分解释成程序规则。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84248"/>
            <a:ext cx="10991088" cy="320040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同一输入：无风险标记 / 收款场景 / 审批候选条件"/>
          <p:cNvSpPr txBox="1"/>
          <p:nvPr/>
        </p:nvSpPr>
        <p:spPr>
          <a:xfrm>
            <a:off x="640080" y="2034540"/>
            <a:ext cx="10899648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同一输入：无风险标记 / 收款场景 / 审批候选条件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642616"/>
            <a:ext cx="5340096" cy="290779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ICON: Lucide list-filte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843784"/>
            <a:ext cx="393192" cy="393192"/>
          </a:xfrm>
          <a:prstGeom prst="rect">
            <a:avLst/>
          </a:prstGeom>
        </p:spPr>
      </p:pic>
      <p:sp>
        <p:nvSpPr>
          <p:cNvPr id="9" name="TEXT: Decider · 87.4 ms"/>
          <p:cNvSpPr txBox="1"/>
          <p:nvPr/>
        </p:nvSpPr>
        <p:spPr>
          <a:xfrm>
            <a:off x="1344168" y="2852928"/>
            <a:ext cx="440740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Decider · 87.4 ms</a:t>
            </a:r>
          </a:p>
        </p:txBody>
      </p:sp>
      <p:sp>
        <p:nvSpPr>
          <p:cNvPr id="10" name="TEXT: 等待人工审批"/>
          <p:cNvSpPr txBox="1"/>
          <p:nvPr/>
        </p:nvSpPr>
        <p:spPr>
          <a:xfrm>
            <a:off x="850392" y="3429000"/>
            <a:ext cx="1901952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等待人工审批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07208" y="3502152"/>
            <a:ext cx="1113402" cy="128016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58.5%"/>
          <p:cNvSpPr txBox="1"/>
          <p:nvPr/>
        </p:nvSpPr>
        <p:spPr>
          <a:xfrm>
            <a:off x="4800600" y="3429000"/>
            <a:ext cx="850392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58.5%</a:t>
            </a:r>
          </a:p>
        </p:txBody>
      </p:sp>
      <p:sp>
        <p:nvSpPr>
          <p:cNvPr id="13" name="TEXT: 规则检查通过"/>
          <p:cNvSpPr txBox="1"/>
          <p:nvPr/>
        </p:nvSpPr>
        <p:spPr>
          <a:xfrm>
            <a:off x="850392" y="3867912"/>
            <a:ext cx="1901952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规则检查通过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07208" y="3941064"/>
            <a:ext cx="351670" cy="128016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18.5%"/>
          <p:cNvSpPr txBox="1"/>
          <p:nvPr/>
        </p:nvSpPr>
        <p:spPr>
          <a:xfrm>
            <a:off x="4800600" y="3867912"/>
            <a:ext cx="850392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18.5%</a:t>
            </a:r>
          </a:p>
        </p:txBody>
      </p:sp>
      <p:sp>
        <p:nvSpPr>
          <p:cNvPr id="16" name="TEXT: 风险复核"/>
          <p:cNvSpPr txBox="1"/>
          <p:nvPr/>
        </p:nvSpPr>
        <p:spPr>
          <a:xfrm>
            <a:off x="850392" y="4306824"/>
            <a:ext cx="1901952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风险复核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07208" y="4379976"/>
            <a:ext cx="308116" cy="128016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16.2%"/>
          <p:cNvSpPr txBox="1"/>
          <p:nvPr/>
        </p:nvSpPr>
        <p:spPr>
          <a:xfrm>
            <a:off x="4800600" y="4306824"/>
            <a:ext cx="850392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16.2%</a:t>
            </a:r>
          </a:p>
        </p:txBody>
      </p:sp>
      <p:sp>
        <p:nvSpPr>
          <p:cNvPr id="19" name="TEXT: 验证退款地址"/>
          <p:cNvSpPr txBox="1"/>
          <p:nvPr/>
        </p:nvSpPr>
        <p:spPr>
          <a:xfrm>
            <a:off x="850392" y="4745736"/>
            <a:ext cx="1901952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验证退款地址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07208" y="4818888"/>
            <a:ext cx="128952" cy="128016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6.8%"/>
          <p:cNvSpPr txBox="1"/>
          <p:nvPr/>
        </p:nvSpPr>
        <p:spPr>
          <a:xfrm>
            <a:off x="4800600" y="4745736"/>
            <a:ext cx="850392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6.8%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642616"/>
            <a:ext cx="5340096" cy="2907792"/>
          </a:xfrm>
          <a:prstGeom prst="roundRect">
            <a:avLst>
              <a:gd name="adj" fmla="val 13000"/>
            </a:avLst>
          </a:prstGeom>
          <a:solidFill>
            <a:srgbClr val="EDF1FC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ICON: Lucide code-xml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2843784"/>
            <a:ext cx="393192" cy="393192"/>
          </a:xfrm>
          <a:prstGeom prst="rect">
            <a:avLst/>
          </a:prstGeom>
        </p:spPr>
      </p:pic>
      <p:sp>
        <p:nvSpPr>
          <p:cNvPr id="24" name="TEXT: GPT · 3,771.8 ms"/>
          <p:cNvSpPr txBox="1"/>
          <p:nvPr/>
        </p:nvSpPr>
        <p:spPr>
          <a:xfrm>
            <a:off x="6958584" y="2852928"/>
            <a:ext cx="440740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 · 3,771.8 ms</a:t>
            </a:r>
          </a:p>
        </p:txBody>
      </p:sp>
      <p:sp>
        <p:nvSpPr>
          <p:cNvPr id="25" name="TEXT: 输出候选 ID {&quot;choice&quot;: &quot;approved&quot;} → 规则检查通过"/>
          <p:cNvSpPr txBox="1"/>
          <p:nvPr/>
        </p:nvSpPr>
        <p:spPr>
          <a:xfrm>
            <a:off x="6419088" y="3493008"/>
            <a:ext cx="4919472" cy="197510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输出候选 ID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{"choice": "approved"}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→ 规则检查通过</a:t>
            </a:r>
          </a:p>
        </p:txBody>
      </p:sp>
      <p:sp>
        <p:nvSpPr>
          <p:cNvPr id="26" name="TEXT: 演示参考为「规则检查通过」；参考符合度不是通用准确率，概率也不是正确率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演示参考为「规则检查通过」；参考符合度不是通用准确率，概率也不是正确率。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: DECIDER × GPT  /  支付业务演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DECIDER × GPT  /  支付业务演示</a:t>
            </a:r>
          </a:p>
        </p:txBody>
      </p:sp>
      <p:sp>
        <p:nvSpPr>
          <p:cNvPr id="29" name="TEXT: 11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11 / 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固定输入 / 结果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固定输入 / 结果</a:t>
            </a:r>
          </a:p>
        </p:txBody>
      </p:sp>
      <p:sp>
        <p:nvSpPr>
          <p:cNvPr id="3" name="TEXT: 处理 5/5 步，资金仍在等待确认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处理 5/5 步，资金仍在等待确认</a:t>
            </a:r>
          </a:p>
        </p:txBody>
      </p:sp>
      <p:sp>
        <p:nvSpPr>
          <p:cNvPr id="4" name="TEXT: 两模型最终都挂起并跟进；确认条件尚未满足。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两模型最终都挂起并跟进；确认条件尚未满足。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03120"/>
            <a:ext cx="3468624" cy="13258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list-filte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249424"/>
            <a:ext cx="347472" cy="347472"/>
          </a:xfrm>
          <a:prstGeom prst="rect">
            <a:avLst/>
          </a:prstGeom>
        </p:spPr>
      </p:pic>
      <p:sp>
        <p:nvSpPr>
          <p:cNvPr id="7" name="TEXT: 完成选择"/>
          <p:cNvSpPr txBox="1"/>
          <p:nvPr/>
        </p:nvSpPr>
        <p:spPr>
          <a:xfrm>
            <a:off x="1207008" y="2258568"/>
            <a:ext cx="273710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完成选择</a:t>
            </a:r>
          </a:p>
        </p:txBody>
      </p:sp>
      <p:sp>
        <p:nvSpPr>
          <p:cNvPr id="8" name="TEXT: 各返回 5 个动作"/>
          <p:cNvSpPr txBox="1"/>
          <p:nvPr/>
        </p:nvSpPr>
        <p:spPr>
          <a:xfrm>
            <a:off x="749808" y="2788920"/>
            <a:ext cx="3157728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各返回 5 个动作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90416" y="2766060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46448" y="2103120"/>
            <a:ext cx="3468624" cy="13258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CON: Lucide shield-check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1896" y="2249424"/>
            <a:ext cx="347472" cy="347472"/>
          </a:xfrm>
          <a:prstGeom prst="rect">
            <a:avLst/>
          </a:prstGeom>
        </p:spPr>
      </p:pic>
      <p:sp>
        <p:nvSpPr>
          <p:cNvPr id="12" name="TEXT: 挂起资金"/>
          <p:cNvSpPr txBox="1"/>
          <p:nvPr/>
        </p:nvSpPr>
        <p:spPr>
          <a:xfrm>
            <a:off x="4959096" y="2258568"/>
            <a:ext cx="273710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挂起资金</a:t>
            </a:r>
          </a:p>
        </p:txBody>
      </p:sp>
      <p:sp>
        <p:nvSpPr>
          <p:cNvPr id="13" name="TEXT: 确认数仍为 3 / 12"/>
          <p:cNvSpPr txBox="1"/>
          <p:nvPr/>
        </p:nvSpPr>
        <p:spPr>
          <a:xfrm>
            <a:off x="4501896" y="2788920"/>
            <a:ext cx="3157728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确认数仍为 3 / 12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42504" y="2766060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098536" y="2103120"/>
            <a:ext cx="3468624" cy="13258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CON: Lucide headset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3984" y="2249424"/>
            <a:ext cx="347472" cy="347472"/>
          </a:xfrm>
          <a:prstGeom prst="rect">
            <a:avLst/>
          </a:prstGeom>
        </p:spPr>
      </p:pic>
      <p:sp>
        <p:nvSpPr>
          <p:cNvPr id="17" name="TEXT: 持续跟进"/>
          <p:cNvSpPr txBox="1"/>
          <p:nvPr/>
        </p:nvSpPr>
        <p:spPr>
          <a:xfrm>
            <a:off x="8711184" y="2258568"/>
            <a:ext cx="273710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持续跟进</a:t>
            </a:r>
          </a:p>
        </p:txBody>
      </p:sp>
      <p:sp>
        <p:nvSpPr>
          <p:cNvPr id="18" name="TEXT: 工单未结案"/>
          <p:cNvSpPr txBox="1"/>
          <p:nvPr/>
        </p:nvSpPr>
        <p:spPr>
          <a:xfrm>
            <a:off x="8253984" y="2788920"/>
            <a:ext cx="3157728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工单未结案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" y="3719849"/>
            <a:ext cx="11027664" cy="143912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IMAGE: fixed-final.png" descr="fixed-fin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" y="3747281"/>
            <a:ext cx="10972800" cy="138426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1344168" y="5458968"/>
            <a:ext cx="9464040" cy="320040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完成标准：目标订单 + 对应账本 + 工单结案"/>
          <p:cNvSpPr txBox="1"/>
          <p:nvPr/>
        </p:nvSpPr>
        <p:spPr>
          <a:xfrm>
            <a:off x="1389888" y="5509259"/>
            <a:ext cx="93726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完成标准：目标订单 + 对应账本 + 工单结案</a:t>
            </a:r>
          </a:p>
        </p:txBody>
      </p:sp>
      <p:sp>
        <p:nvSpPr>
          <p:cNvPr id="23" name="TEXT: 下一步需要外部证据更新；反复调用模型不会增加链上确认数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下一步需要外部证据更新；反复调用模型不会增加链上确认数。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: DECIDER × GPT  /  支付业务演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DECIDER × GPT  /  支付业务演示</a:t>
            </a:r>
          </a:p>
        </p:txBody>
      </p:sp>
      <p:sp>
        <p:nvSpPr>
          <p:cNvPr id="26" name="TEXT: 12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12 /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6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速度对比 / 总览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86D7C6"/>
                </a:solidFill>
                <a:latin typeface="Noto Sans CJK SC"/>
                <a:ea typeface="Noto Sans CJK SC"/>
                <a:cs typeface="Noto Sans CJK SC"/>
              </a:rPr>
              <a:t>STRANDS DECIDER   /   速度对比 / 总览</a:t>
            </a:r>
          </a:p>
        </p:txBody>
      </p:sp>
      <p:sp>
        <p:nvSpPr>
          <p:cNvPr id="3" name="TEXT: 19 组成功配对，累计决策耗时相差 12.20×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19 组成功配对，累计决策耗时相差 12.20×</a:t>
            </a:r>
          </a:p>
        </p:txBody>
      </p:sp>
      <p:sp>
        <p:nvSpPr>
          <p:cNvPr id="4" name="TEXT: 同一批业务输入与候选 · 每侧 20 次尝试，其中 19 组成功配对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B8C9DB"/>
                </a:solidFill>
                <a:latin typeface="Noto Sans CJK SC"/>
                <a:ea typeface="Noto Sans CJK SC"/>
                <a:cs typeface="Noto Sans CJK SC"/>
              </a:rPr>
              <a:t>同一批业务输入与候选 · 每侧 20 次尝试，其中 19 组成功配对</a:t>
            </a:r>
          </a:p>
        </p:txBody>
      </p:sp>
      <p:sp>
        <p:nvSpPr>
          <p:cNvPr id="5" name="TEXT: 1.810 s"/>
          <p:cNvSpPr txBox="1"/>
          <p:nvPr/>
        </p:nvSpPr>
        <p:spPr>
          <a:xfrm>
            <a:off x="640080" y="2249424"/>
            <a:ext cx="4754880" cy="6858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900" b="1">
                <a:solidFill>
                  <a:srgbClr val="86D7C6"/>
                </a:solidFill>
                <a:latin typeface="Noto Sans CJK SC"/>
                <a:ea typeface="Noto Sans CJK SC"/>
                <a:cs typeface="Noto Sans CJK SC"/>
              </a:rPr>
              <a:t>1.810 s</a:t>
            </a:r>
          </a:p>
        </p:txBody>
      </p:sp>
      <p:sp>
        <p:nvSpPr>
          <p:cNvPr id="6" name="TEXT: Decider · 19 次累计"/>
          <p:cNvSpPr txBox="1"/>
          <p:nvPr/>
        </p:nvSpPr>
        <p:spPr>
          <a:xfrm>
            <a:off x="658368" y="3063240"/>
            <a:ext cx="4754880" cy="5212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B8C9DB"/>
                </a:solidFill>
                <a:latin typeface="Noto Sans CJK SC"/>
                <a:ea typeface="Noto Sans CJK SC"/>
                <a:cs typeface="Noto Sans CJK SC"/>
              </a:rPr>
              <a:t>Decider · 19 次累计</a:t>
            </a:r>
          </a:p>
        </p:txBody>
      </p:sp>
      <p:sp>
        <p:nvSpPr>
          <p:cNvPr id="7" name="TEXT: 22.068 s"/>
          <p:cNvSpPr txBox="1"/>
          <p:nvPr/>
        </p:nvSpPr>
        <p:spPr>
          <a:xfrm>
            <a:off x="6446520" y="2249424"/>
            <a:ext cx="4846320" cy="6858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900" b="1">
                <a:solidFill>
                  <a:srgbClr val="A6B9FF"/>
                </a:solidFill>
                <a:latin typeface="Noto Sans CJK SC"/>
                <a:ea typeface="Noto Sans CJK SC"/>
                <a:cs typeface="Noto Sans CJK SC"/>
              </a:rPr>
              <a:t>22.068 s</a:t>
            </a:r>
          </a:p>
        </p:txBody>
      </p:sp>
      <p:sp>
        <p:nvSpPr>
          <p:cNvPr id="8" name="TEXT: GPT · 19 次累计"/>
          <p:cNvSpPr txBox="1"/>
          <p:nvPr/>
        </p:nvSpPr>
        <p:spPr>
          <a:xfrm>
            <a:off x="6464807" y="3063240"/>
            <a:ext cx="4846320" cy="5212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B8C9DB"/>
                </a:solidFill>
                <a:latin typeface="Noto Sans CJK SC"/>
                <a:ea typeface="Noto Sans CJK SC"/>
                <a:cs typeface="Noto Sans CJK SC"/>
              </a:rPr>
              <a:t>GPT · 19 次累计</a:t>
            </a:r>
          </a:p>
        </p:txBody>
      </p:sp>
      <p:sp>
        <p:nvSpPr>
          <p:cNvPr id="9" name="TEXT: Decider"/>
          <p:cNvSpPr txBox="1"/>
          <p:nvPr/>
        </p:nvSpPr>
        <p:spPr>
          <a:xfrm>
            <a:off x="658368" y="4142231"/>
            <a:ext cx="13716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93976" y="4206240"/>
            <a:ext cx="8641080" cy="219456"/>
          </a:xfrm>
          <a:prstGeom prst="roundRect">
            <a:avLst>
              <a:gd name="adj" fmla="val 13000"/>
            </a:avLst>
          </a:prstGeom>
          <a:solidFill>
            <a:srgbClr val="294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93976" y="4206240"/>
            <a:ext cx="708570" cy="219456"/>
          </a:xfrm>
          <a:prstGeom prst="roundRect">
            <a:avLst>
              <a:gd name="adj" fmla="val 13000"/>
            </a:avLst>
          </a:prstGeom>
          <a:solidFill>
            <a:srgbClr val="86D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GPT"/>
          <p:cNvSpPr txBox="1"/>
          <p:nvPr/>
        </p:nvSpPr>
        <p:spPr>
          <a:xfrm>
            <a:off x="658368" y="4754879"/>
            <a:ext cx="13716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93976" y="4818888"/>
            <a:ext cx="8641080" cy="219456"/>
          </a:xfrm>
          <a:prstGeom prst="roundRect">
            <a:avLst>
              <a:gd name="adj" fmla="val 13000"/>
            </a:avLst>
          </a:prstGeom>
          <a:solidFill>
            <a:srgbClr val="294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093976" y="4818888"/>
            <a:ext cx="8641080" cy="219456"/>
          </a:xfrm>
          <a:prstGeom prst="roundRect">
            <a:avLst>
              <a:gd name="adj" fmla="val 13000"/>
            </a:avLst>
          </a:prstGeom>
          <a:solidFill>
            <a:srgbClr val="A6B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单次观测；另有 1 次 GPT 读取超时，未计入成功耗时。不是全程用时或稳定性能保证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B8C9DB"/>
                </a:solidFill>
                <a:latin typeface="Noto Sans CJK SC"/>
                <a:ea typeface="Noto Sans CJK SC"/>
                <a:cs typeface="Noto Sans CJK SC"/>
              </a:rPr>
              <a:t>单次观测；另有 1 次 GPT 读取超时，未计入成功耗时。不是全程用时或稳定性能保证。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3651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: DECIDER × GPT  /  支付业务演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8CA6BF"/>
                </a:solidFill>
                <a:latin typeface="Noto Sans CJK SC"/>
                <a:ea typeface="Noto Sans CJK SC"/>
                <a:cs typeface="Noto Sans CJK SC"/>
              </a:rPr>
              <a:t>DECIDER × GPT  /  支付业务演示</a:t>
            </a:r>
          </a:p>
        </p:txBody>
      </p:sp>
      <p:sp>
        <p:nvSpPr>
          <p:cNvPr id="18" name="TEXT: 13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8CA6BF"/>
                </a:solidFill>
                <a:latin typeface="Noto Sans CJK SC"/>
                <a:ea typeface="Noto Sans CJK SC"/>
                <a:cs typeface="Noto Sans CJK SC"/>
              </a:rPr>
              <a:t>13 /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速度对比 / 业务节点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速度对比 / 业务节点</a:t>
            </a:r>
          </a:p>
        </p:txBody>
      </p:sp>
      <p:sp>
        <p:nvSpPr>
          <p:cNvPr id="3" name="TEXT: 按节点比较：每次判断平均花多久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按节点比较：每次判断平均花多久</a:t>
            </a:r>
          </a:p>
        </p:txBody>
      </p:sp>
      <p:sp>
        <p:nvSpPr>
          <p:cNvPr id="4" name="TEXT: 每个节点仅统计成功同输入配对，横轴为平均毫秒数。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每个节点仅统计成功同输入配对，横轴为平均毫秒数。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2020824"/>
            <a:ext cx="1005840" cy="320040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Decider"/>
          <p:cNvSpPr txBox="1"/>
          <p:nvPr/>
        </p:nvSpPr>
        <p:spPr>
          <a:xfrm>
            <a:off x="2606039" y="2071116"/>
            <a:ext cx="9144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30752" y="2020824"/>
            <a:ext cx="822960" cy="320040"/>
          </a:xfrm>
          <a:prstGeom prst="roundRect">
            <a:avLst>
              <a:gd name="adj" fmla="val 13000"/>
            </a:avLst>
          </a:prstGeom>
          <a:solidFill>
            <a:srgbClr val="ED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GPT"/>
          <p:cNvSpPr txBox="1"/>
          <p:nvPr/>
        </p:nvSpPr>
        <p:spPr>
          <a:xfrm>
            <a:off x="3776472" y="2071116"/>
            <a:ext cx="7315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9" name="TEXT: 客服受理 · n=4"/>
          <p:cNvSpPr txBox="1"/>
          <p:nvPr/>
        </p:nvSpPr>
        <p:spPr>
          <a:xfrm>
            <a:off x="621792" y="2560320"/>
            <a:ext cx="173736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客服受理 · n=4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2532888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60320" y="2532888"/>
            <a:ext cx="324370" cy="155448"/>
          </a:xfrm>
          <a:prstGeom prst="roundRect">
            <a:avLst>
              <a:gd name="adj" fmla="val 13000"/>
            </a:avLst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94.1 ms"/>
          <p:cNvSpPr txBox="1"/>
          <p:nvPr/>
        </p:nvSpPr>
        <p:spPr>
          <a:xfrm>
            <a:off x="9930384" y="2491740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94.1 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2770632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560320" y="2770632"/>
            <a:ext cx="3173661" cy="155448"/>
          </a:xfrm>
          <a:prstGeom prst="roundRect">
            <a:avLst>
              <a:gd name="adj" fmla="val 13000"/>
            </a:avLst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921.2 ms"/>
          <p:cNvSpPr txBox="1"/>
          <p:nvPr/>
        </p:nvSpPr>
        <p:spPr>
          <a:xfrm>
            <a:off x="9930384" y="2729484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921.2 ms</a:t>
            </a:r>
          </a:p>
        </p:txBody>
      </p:sp>
      <p:sp>
        <p:nvSpPr>
          <p:cNvPr id="16" name="TEXT: 交易核验 · n=4"/>
          <p:cNvSpPr txBox="1"/>
          <p:nvPr/>
        </p:nvSpPr>
        <p:spPr>
          <a:xfrm>
            <a:off x="621792" y="3182112"/>
            <a:ext cx="173736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交易核验 · n=4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0320" y="3154680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560320" y="3154680"/>
            <a:ext cx="315290" cy="155448"/>
          </a:xfrm>
          <a:prstGeom prst="roundRect">
            <a:avLst>
              <a:gd name="adj" fmla="val 13000"/>
            </a:avLst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91.5 ms"/>
          <p:cNvSpPr txBox="1"/>
          <p:nvPr/>
        </p:nvSpPr>
        <p:spPr>
          <a:xfrm>
            <a:off x="9930384" y="3113532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91.5 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60320" y="3392424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560320" y="3392424"/>
            <a:ext cx="3420823" cy="155448"/>
          </a:xfrm>
          <a:prstGeom prst="roundRect">
            <a:avLst>
              <a:gd name="adj" fmla="val 13000"/>
            </a:avLst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992.9 ms"/>
          <p:cNvSpPr txBox="1"/>
          <p:nvPr/>
        </p:nvSpPr>
        <p:spPr>
          <a:xfrm>
            <a:off x="9930384" y="3351276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992.9 ms</a:t>
            </a:r>
          </a:p>
        </p:txBody>
      </p:sp>
      <p:sp>
        <p:nvSpPr>
          <p:cNvPr id="23" name="TEXT: 风控审批 · n=4"/>
          <p:cNvSpPr txBox="1"/>
          <p:nvPr/>
        </p:nvSpPr>
        <p:spPr>
          <a:xfrm>
            <a:off x="621792" y="3803904"/>
            <a:ext cx="173736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风控审批 · n=4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60320" y="3776472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560320" y="3776472"/>
            <a:ext cx="308606" cy="155448"/>
          </a:xfrm>
          <a:prstGeom prst="roundRect">
            <a:avLst>
              <a:gd name="adj" fmla="val 13000"/>
            </a:avLst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89.6 ms"/>
          <p:cNvSpPr txBox="1"/>
          <p:nvPr/>
        </p:nvSpPr>
        <p:spPr>
          <a:xfrm>
            <a:off x="9930384" y="3735324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89.6 ms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60320" y="4014215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560320" y="4014215"/>
            <a:ext cx="6879771" cy="155448"/>
          </a:xfrm>
          <a:prstGeom prst="roundRect">
            <a:avLst>
              <a:gd name="adj" fmla="val 13000"/>
            </a:avLst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1,996.9 ms"/>
          <p:cNvSpPr txBox="1"/>
          <p:nvPr/>
        </p:nvSpPr>
        <p:spPr>
          <a:xfrm>
            <a:off x="9930384" y="3973068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1,996.9 ms</a:t>
            </a:r>
          </a:p>
        </p:txBody>
      </p:sp>
      <p:sp>
        <p:nvSpPr>
          <p:cNvPr id="30" name="TEXT: 业务处置 · n=3"/>
          <p:cNvSpPr txBox="1"/>
          <p:nvPr/>
        </p:nvSpPr>
        <p:spPr>
          <a:xfrm>
            <a:off x="621792" y="4425696"/>
            <a:ext cx="173736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业务处置 · n=3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60320" y="4398264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560320" y="4398264"/>
            <a:ext cx="380311" cy="155448"/>
          </a:xfrm>
          <a:prstGeom prst="roundRect">
            <a:avLst>
              <a:gd name="adj" fmla="val 13000"/>
            </a:avLst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110.4 ms"/>
          <p:cNvSpPr txBox="1"/>
          <p:nvPr/>
        </p:nvSpPr>
        <p:spPr>
          <a:xfrm>
            <a:off x="9930384" y="4357116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110.4 ms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560320" y="4636008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560320" y="4636008"/>
            <a:ext cx="3026891" cy="155448"/>
          </a:xfrm>
          <a:prstGeom prst="roundRect">
            <a:avLst>
              <a:gd name="adj" fmla="val 13000"/>
            </a:avLst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: 878.6 ms"/>
          <p:cNvSpPr txBox="1"/>
          <p:nvPr/>
        </p:nvSpPr>
        <p:spPr>
          <a:xfrm>
            <a:off x="9930384" y="4594860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878.6 ms</a:t>
            </a:r>
          </a:p>
        </p:txBody>
      </p:sp>
      <p:sp>
        <p:nvSpPr>
          <p:cNvPr id="37" name="TEXT: 回复结案 · n=4"/>
          <p:cNvSpPr txBox="1"/>
          <p:nvPr/>
        </p:nvSpPr>
        <p:spPr>
          <a:xfrm>
            <a:off x="621792" y="5047488"/>
            <a:ext cx="173736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回复结案 · n=4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560320" y="5020056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560320" y="5020056"/>
            <a:ext cx="325142" cy="155448"/>
          </a:xfrm>
          <a:prstGeom prst="roundRect">
            <a:avLst>
              <a:gd name="adj" fmla="val 13000"/>
            </a:avLst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: 94.4 ms"/>
          <p:cNvSpPr txBox="1"/>
          <p:nvPr/>
        </p:nvSpPr>
        <p:spPr>
          <a:xfrm>
            <a:off x="9930384" y="4978908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94.4 ms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560320" y="5257800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560320" y="5257800"/>
            <a:ext cx="3263378" cy="155448"/>
          </a:xfrm>
          <a:prstGeom prst="roundRect">
            <a:avLst>
              <a:gd name="adj" fmla="val 13000"/>
            </a:avLst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: 947.2 ms"/>
          <p:cNvSpPr txBox="1"/>
          <p:nvPr/>
        </p:nvSpPr>
        <p:spPr>
          <a:xfrm>
            <a:off x="9930384" y="5216652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947.2 ms</a:t>
            </a:r>
          </a:p>
        </p:txBody>
      </p:sp>
      <p:sp>
        <p:nvSpPr>
          <p:cNvPr id="44" name="TEXT: 业务处置仅 3 组成功配对；商户结算的 GPT 处置请求超时。条形均从 0 起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业务处置仅 3 组成功配对；商户结算的 GPT 处置请求超时。条形均从 0 起。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: DECIDER × GPT  /  支付业务演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DECIDER × GPT  /  支付业务演示</a:t>
            </a:r>
          </a:p>
        </p:txBody>
      </p:sp>
      <p:sp>
        <p:nvSpPr>
          <p:cNvPr id="47" name="TEXT: 14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14 / 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速度对比 / 四类场景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速度对比 / 四类场景</a:t>
            </a:r>
          </a:p>
        </p:txBody>
      </p:sp>
      <p:sp>
        <p:nvSpPr>
          <p:cNvPr id="3" name="TEXT: 按场景比较：相同输入下的累计耗时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按场景比较：相同输入下的累计耗时</a:t>
            </a:r>
          </a:p>
        </p:txBody>
      </p:sp>
      <p:sp>
        <p:nvSpPr>
          <p:cNvPr id="4" name="TEXT: 同一场景中，两侧使用完全相同的成功配对子集。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同一场景中，两侧使用完全相同的成功配对子集。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2103120"/>
            <a:ext cx="1005840" cy="320040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Decider"/>
          <p:cNvSpPr txBox="1"/>
          <p:nvPr/>
        </p:nvSpPr>
        <p:spPr>
          <a:xfrm>
            <a:off x="2606039" y="2153412"/>
            <a:ext cx="9144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30752" y="2103120"/>
            <a:ext cx="822960" cy="320040"/>
          </a:xfrm>
          <a:prstGeom prst="roundRect">
            <a:avLst>
              <a:gd name="adj" fmla="val 13000"/>
            </a:avLst>
          </a:prstGeom>
          <a:solidFill>
            <a:srgbClr val="ED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GPT"/>
          <p:cNvSpPr txBox="1"/>
          <p:nvPr/>
        </p:nvSpPr>
        <p:spPr>
          <a:xfrm>
            <a:off x="3776472" y="2153412"/>
            <a:ext cx="7315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9" name="TEXT: USDC 未到账 5 组配对"/>
          <p:cNvSpPr txBox="1"/>
          <p:nvPr/>
        </p:nvSpPr>
        <p:spPr>
          <a:xfrm>
            <a:off x="621792" y="2642615"/>
            <a:ext cx="173736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USDC 未到账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 组配对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2615184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60320" y="2615184"/>
            <a:ext cx="404668" cy="155448"/>
          </a:xfrm>
          <a:prstGeom prst="roundRect">
            <a:avLst>
              <a:gd name="adj" fmla="val 13000"/>
            </a:avLst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0.458 s"/>
          <p:cNvSpPr txBox="1"/>
          <p:nvPr/>
        </p:nvSpPr>
        <p:spPr>
          <a:xfrm>
            <a:off x="9930384" y="2574036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0.458 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2852928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560320" y="2852928"/>
            <a:ext cx="6879771" cy="155448"/>
          </a:xfrm>
          <a:prstGeom prst="roundRect">
            <a:avLst>
              <a:gd name="adj" fmla="val 13000"/>
            </a:avLst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7.792 s"/>
          <p:cNvSpPr txBox="1"/>
          <p:nvPr/>
        </p:nvSpPr>
        <p:spPr>
          <a:xfrm>
            <a:off x="9930384" y="2811780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7.792 s</a:t>
            </a:r>
          </a:p>
        </p:txBody>
      </p:sp>
      <p:sp>
        <p:nvSpPr>
          <p:cNvPr id="16" name="TEXT: USDT 少付 5 组配对"/>
          <p:cNvSpPr txBox="1"/>
          <p:nvPr/>
        </p:nvSpPr>
        <p:spPr>
          <a:xfrm>
            <a:off x="621792" y="3401568"/>
            <a:ext cx="173736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USDT 少付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 组配对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0320" y="3374136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560320" y="3374136"/>
            <a:ext cx="399540" cy="155448"/>
          </a:xfrm>
          <a:prstGeom prst="roundRect">
            <a:avLst>
              <a:gd name="adj" fmla="val 13000"/>
            </a:avLst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0.453 s"/>
          <p:cNvSpPr txBox="1"/>
          <p:nvPr/>
        </p:nvSpPr>
        <p:spPr>
          <a:xfrm>
            <a:off x="9930384" y="3332988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0.453 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60320" y="3611880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560320" y="3611880"/>
            <a:ext cx="4828869" cy="155448"/>
          </a:xfrm>
          <a:prstGeom prst="roundRect">
            <a:avLst>
              <a:gd name="adj" fmla="val 13000"/>
            </a:avLst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5.469 s"/>
          <p:cNvSpPr txBox="1"/>
          <p:nvPr/>
        </p:nvSpPr>
        <p:spPr>
          <a:xfrm>
            <a:off x="9930384" y="3570732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5.469 s</a:t>
            </a:r>
          </a:p>
        </p:txBody>
      </p:sp>
      <p:sp>
        <p:nvSpPr>
          <p:cNvPr id="23" name="TEXT: 稳定币退款 5 组配对"/>
          <p:cNvSpPr txBox="1"/>
          <p:nvPr/>
        </p:nvSpPr>
        <p:spPr>
          <a:xfrm>
            <a:off x="621792" y="4160520"/>
            <a:ext cx="173736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稳定币退款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 组配对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60320" y="4133087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560320" y="4133087"/>
            <a:ext cx="460320" cy="155448"/>
          </a:xfrm>
          <a:prstGeom prst="roundRect">
            <a:avLst>
              <a:gd name="adj" fmla="val 13000"/>
            </a:avLst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0.521 s"/>
          <p:cNvSpPr txBox="1"/>
          <p:nvPr/>
        </p:nvSpPr>
        <p:spPr>
          <a:xfrm>
            <a:off x="9930384" y="4091939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0.521 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60320" y="4370831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560320" y="4370831"/>
            <a:ext cx="3775258" cy="155448"/>
          </a:xfrm>
          <a:prstGeom prst="roundRect">
            <a:avLst>
              <a:gd name="adj" fmla="val 13000"/>
            </a:avLst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4.276 s"/>
          <p:cNvSpPr txBox="1"/>
          <p:nvPr/>
        </p:nvSpPr>
        <p:spPr>
          <a:xfrm>
            <a:off x="9930384" y="4329683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4.276 s</a:t>
            </a:r>
          </a:p>
        </p:txBody>
      </p:sp>
      <p:sp>
        <p:nvSpPr>
          <p:cNvPr id="30" name="TEXT: 商户结算 4 组配对"/>
          <p:cNvSpPr txBox="1"/>
          <p:nvPr/>
        </p:nvSpPr>
        <p:spPr>
          <a:xfrm>
            <a:off x="621792" y="4919472"/>
            <a:ext cx="173736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商户结算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 组配对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60320" y="4892040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560320" y="4892040"/>
            <a:ext cx="333252" cy="155448"/>
          </a:xfrm>
          <a:prstGeom prst="roundRect">
            <a:avLst>
              <a:gd name="adj" fmla="val 13000"/>
            </a:avLst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0.377 s"/>
          <p:cNvSpPr txBox="1"/>
          <p:nvPr/>
        </p:nvSpPr>
        <p:spPr>
          <a:xfrm>
            <a:off x="9930384" y="4850892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0.377 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560320" y="5129783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560320" y="5129783"/>
            <a:ext cx="4001198" cy="155448"/>
          </a:xfrm>
          <a:prstGeom prst="roundRect">
            <a:avLst>
              <a:gd name="adj" fmla="val 13000"/>
            </a:avLst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: 4.532 s"/>
          <p:cNvSpPr txBox="1"/>
          <p:nvPr/>
        </p:nvSpPr>
        <p:spPr>
          <a:xfrm>
            <a:off x="9930384" y="5088636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4.532 s</a:t>
            </a:r>
          </a:p>
        </p:txBody>
      </p:sp>
      <p:sp>
        <p:nvSpPr>
          <p:cNvPr id="37" name="TEXT: 结算仅含 4 对成功请求，不能当作完整五步运行耗时；跨场景比较需留意请求数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结算仅含 4 对成功请求，不能当作完整五步运行耗时；跨场景比较需留意请求数。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: DECIDER × GPT  /  支付业务演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DECIDER × GPT  /  支付业务演示</a:t>
            </a:r>
          </a:p>
        </p:txBody>
      </p:sp>
      <p:sp>
        <p:nvSpPr>
          <p:cNvPr id="40" name="TEXT: 15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15 / 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固定输入 / 退款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固定输入 / 退款</a:t>
            </a:r>
          </a:p>
        </p:txBody>
      </p:sp>
      <p:sp>
        <p:nvSpPr>
          <p:cNvPr id="3" name="TEXT: 退款差异：模型想执行，条件是否允许？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退款差异：模型想执行，条件是否允许？</a:t>
            </a:r>
          </a:p>
        </p:txBody>
      </p:sp>
      <p:sp>
        <p:nvSpPr>
          <p:cNvPr id="4" name="TEXT: 地址未验证、审批待完成：两模型建议不同，实际资金动作都挂起。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地址未验证、审批待完成：两模型建议不同，实际资金动作都挂起。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" y="2098548"/>
            <a:ext cx="11027664" cy="362102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MAGE: refund-execute-crop.png" descr="refund-execute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2125980"/>
            <a:ext cx="10972800" cy="3566160"/>
          </a:xfrm>
          <a:prstGeom prst="rect">
            <a:avLst/>
          </a:prstGeom>
        </p:spPr>
      </p:pic>
      <p:sp>
        <p:nvSpPr>
          <p:cNvPr id="7" name="TEXT: Decider：提交模拟退款 → 应用挂起；GPT：直接挂起。执行保护不能计作模型判断正确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Decider：提交模拟退款 → 应用挂起；GPT：直接挂起。执行保护不能计作模型判断正确。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: DECIDER × GPT  /  支付业务演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DECIDER × GPT  /  支付业务演示</a:t>
            </a:r>
          </a:p>
        </p:txBody>
      </p:sp>
      <p:sp>
        <p:nvSpPr>
          <p:cNvPr id="10" name="TEXT: 16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16 /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自主闭环 / 原理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自主闭环 / 原理</a:t>
            </a:r>
          </a:p>
        </p:txBody>
      </p:sp>
      <p:sp>
        <p:nvSpPr>
          <p:cNvPr id="3" name="TEXT: 闭环把执行结果带回下一次判断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闭环把执行结果带回下一次判断</a:t>
            </a:r>
          </a:p>
        </p:txBody>
      </p:sp>
      <p:sp>
        <p:nvSpPr>
          <p:cNvPr id="4" name="TEXT: 两侧各自维护业务状态，逐轮判断并执行。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两侧各自维护业务状态，逐轮判断并执行。</a:t>
            </a:r>
          </a:p>
        </p:txBody>
      </p:sp>
      <p:sp>
        <p:nvSpPr>
          <p:cNvPr id="5" name="TEXT: DECIDER"/>
          <p:cNvSpPr txBox="1"/>
          <p:nvPr/>
        </p:nvSpPr>
        <p:spPr>
          <a:xfrm>
            <a:off x="621792" y="2642616"/>
            <a:ext cx="13716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48256" y="2322576"/>
            <a:ext cx="2977896" cy="12344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ICON: Lucide receipt-tex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3704" y="2468880"/>
            <a:ext cx="347472" cy="347472"/>
          </a:xfrm>
          <a:prstGeom prst="rect">
            <a:avLst/>
          </a:prstGeom>
        </p:spPr>
      </p:pic>
      <p:sp>
        <p:nvSpPr>
          <p:cNvPr id="8" name="TEXT: 读当前状态"/>
          <p:cNvSpPr txBox="1"/>
          <p:nvPr/>
        </p:nvSpPr>
        <p:spPr>
          <a:xfrm>
            <a:off x="2660904" y="2478024"/>
            <a:ext cx="2246376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读当前状态</a:t>
            </a:r>
          </a:p>
        </p:txBody>
      </p:sp>
      <p:sp>
        <p:nvSpPr>
          <p:cNvPr id="9" name="TEXT: 业务事实 + 上轮反馈"/>
          <p:cNvSpPr txBox="1"/>
          <p:nvPr/>
        </p:nvSpPr>
        <p:spPr>
          <a:xfrm>
            <a:off x="2203704" y="3008376"/>
            <a:ext cx="266700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业务事实 + 上轮反馈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53584" y="2939796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309616" y="2322576"/>
            <a:ext cx="2977896" cy="12344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ICON: Lucide workflow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5064" y="2468880"/>
            <a:ext cx="347472" cy="347472"/>
          </a:xfrm>
          <a:prstGeom prst="rect">
            <a:avLst/>
          </a:prstGeom>
        </p:spPr>
      </p:pic>
      <p:sp>
        <p:nvSpPr>
          <p:cNvPr id="13" name="TEXT: 选择并执行"/>
          <p:cNvSpPr txBox="1"/>
          <p:nvPr/>
        </p:nvSpPr>
        <p:spPr>
          <a:xfrm>
            <a:off x="5922264" y="2478024"/>
            <a:ext cx="2246376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选择并执行</a:t>
            </a:r>
          </a:p>
        </p:txBody>
      </p:sp>
      <p:sp>
        <p:nvSpPr>
          <p:cNvPr id="14" name="TEXT: 候选 → 执行结果"/>
          <p:cNvSpPr txBox="1"/>
          <p:nvPr/>
        </p:nvSpPr>
        <p:spPr>
          <a:xfrm>
            <a:off x="5465064" y="3008376"/>
            <a:ext cx="266700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候选 → 执行结果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314944" y="2939796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570976" y="2322576"/>
            <a:ext cx="2977896" cy="12344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ICON: Lucide rout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6424" y="2468880"/>
            <a:ext cx="347472" cy="347472"/>
          </a:xfrm>
          <a:prstGeom prst="rect">
            <a:avLst/>
          </a:prstGeom>
        </p:spPr>
      </p:pic>
      <p:sp>
        <p:nvSpPr>
          <p:cNvPr id="18" name="TEXT: 判断去向"/>
          <p:cNvSpPr txBox="1"/>
          <p:nvPr/>
        </p:nvSpPr>
        <p:spPr>
          <a:xfrm>
            <a:off x="9183624" y="2478024"/>
            <a:ext cx="2246376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判断去向</a:t>
            </a:r>
          </a:p>
        </p:txBody>
      </p:sp>
      <p:sp>
        <p:nvSpPr>
          <p:cNvPr id="19" name="TEXT: 完成 / 等待 / 重判"/>
          <p:cNvSpPr txBox="1"/>
          <p:nvPr/>
        </p:nvSpPr>
        <p:spPr>
          <a:xfrm>
            <a:off x="8726424" y="3008376"/>
            <a:ext cx="266700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完成 / 等待 / 重判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040112" y="3611880"/>
            <a:ext cx="0" cy="256032"/>
          </a:xfrm>
          <a:prstGeom prst="line">
            <a:avLst/>
          </a:prstGeom>
          <a:ln w="20320">
            <a:solidFill>
              <a:srgbClr val="087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3566160" y="3867912"/>
            <a:ext cx="6473952" cy="0"/>
          </a:xfrm>
          <a:prstGeom prst="line">
            <a:avLst/>
          </a:prstGeom>
          <a:ln w="20320">
            <a:solidFill>
              <a:srgbClr val="087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566160" y="3593591"/>
            <a:ext cx="0" cy="274321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: 证据更新 + 执行反馈"/>
          <p:cNvSpPr txBox="1"/>
          <p:nvPr/>
        </p:nvSpPr>
        <p:spPr>
          <a:xfrm>
            <a:off x="5440680" y="3611880"/>
            <a:ext cx="2990088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证据更新 + 执行反馈</a:t>
            </a:r>
          </a:p>
        </p:txBody>
      </p:sp>
      <p:sp>
        <p:nvSpPr>
          <p:cNvPr id="24" name="TEXT: GPT"/>
          <p:cNvSpPr txBox="1"/>
          <p:nvPr/>
        </p:nvSpPr>
        <p:spPr>
          <a:xfrm>
            <a:off x="621792" y="4443983"/>
            <a:ext cx="13716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048256" y="4123944"/>
            <a:ext cx="2977896" cy="12344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ICON: Lucide receipt-text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3704" y="4270248"/>
            <a:ext cx="347472" cy="347472"/>
          </a:xfrm>
          <a:prstGeom prst="rect">
            <a:avLst/>
          </a:prstGeom>
        </p:spPr>
      </p:pic>
      <p:sp>
        <p:nvSpPr>
          <p:cNvPr id="27" name="TEXT: 读当前状态"/>
          <p:cNvSpPr txBox="1"/>
          <p:nvPr/>
        </p:nvSpPr>
        <p:spPr>
          <a:xfrm>
            <a:off x="2660904" y="4279392"/>
            <a:ext cx="2246376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读当前状态</a:t>
            </a:r>
          </a:p>
        </p:txBody>
      </p:sp>
      <p:sp>
        <p:nvSpPr>
          <p:cNvPr id="28" name="TEXT: 业务事实 + 上轮反馈"/>
          <p:cNvSpPr txBox="1"/>
          <p:nvPr/>
        </p:nvSpPr>
        <p:spPr>
          <a:xfrm>
            <a:off x="2203704" y="4809744"/>
            <a:ext cx="266700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业务事实 + 上轮反馈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053584" y="4741164"/>
            <a:ext cx="219456" cy="0"/>
          </a:xfrm>
          <a:prstGeom prst="line">
            <a:avLst/>
          </a:prstGeom>
          <a:ln w="22860">
            <a:solidFill>
              <a:srgbClr val="4669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309616" y="4123944"/>
            <a:ext cx="2977896" cy="12344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ICON: Lucide workflow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65064" y="4270248"/>
            <a:ext cx="347472" cy="347472"/>
          </a:xfrm>
          <a:prstGeom prst="rect">
            <a:avLst/>
          </a:prstGeom>
        </p:spPr>
      </p:pic>
      <p:sp>
        <p:nvSpPr>
          <p:cNvPr id="32" name="TEXT: 选择并执行"/>
          <p:cNvSpPr txBox="1"/>
          <p:nvPr/>
        </p:nvSpPr>
        <p:spPr>
          <a:xfrm>
            <a:off x="5922264" y="4279392"/>
            <a:ext cx="2246376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选择并执行</a:t>
            </a:r>
          </a:p>
        </p:txBody>
      </p:sp>
      <p:sp>
        <p:nvSpPr>
          <p:cNvPr id="33" name="TEXT: 候选 → 执行结果"/>
          <p:cNvSpPr txBox="1"/>
          <p:nvPr/>
        </p:nvSpPr>
        <p:spPr>
          <a:xfrm>
            <a:off x="5465064" y="4809744"/>
            <a:ext cx="266700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候选 → 执行结果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314944" y="4741164"/>
            <a:ext cx="219456" cy="0"/>
          </a:xfrm>
          <a:prstGeom prst="line">
            <a:avLst/>
          </a:prstGeom>
          <a:ln w="22860">
            <a:solidFill>
              <a:srgbClr val="4669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570976" y="4123944"/>
            <a:ext cx="2977896" cy="12344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ICON: Lucide route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26424" y="4270248"/>
            <a:ext cx="347472" cy="347472"/>
          </a:xfrm>
          <a:prstGeom prst="rect">
            <a:avLst/>
          </a:prstGeom>
        </p:spPr>
      </p:pic>
      <p:sp>
        <p:nvSpPr>
          <p:cNvPr id="37" name="TEXT: 判断去向"/>
          <p:cNvSpPr txBox="1"/>
          <p:nvPr/>
        </p:nvSpPr>
        <p:spPr>
          <a:xfrm>
            <a:off x="9183624" y="4279392"/>
            <a:ext cx="2246376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判断去向</a:t>
            </a:r>
          </a:p>
        </p:txBody>
      </p:sp>
      <p:sp>
        <p:nvSpPr>
          <p:cNvPr id="38" name="TEXT: 完成 / 等待 / 重判"/>
          <p:cNvSpPr txBox="1"/>
          <p:nvPr/>
        </p:nvSpPr>
        <p:spPr>
          <a:xfrm>
            <a:off x="8726424" y="4809744"/>
            <a:ext cx="266700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完成 / 等待 / 重判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040112" y="5413248"/>
            <a:ext cx="0" cy="256031"/>
          </a:xfrm>
          <a:prstGeom prst="line">
            <a:avLst/>
          </a:prstGeom>
          <a:ln w="20320">
            <a:solidFill>
              <a:srgbClr val="4669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3566160" y="5669279"/>
            <a:ext cx="6473952" cy="0"/>
          </a:xfrm>
          <a:prstGeom prst="line">
            <a:avLst/>
          </a:prstGeom>
          <a:ln w="20320">
            <a:solidFill>
              <a:srgbClr val="4669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3566160" y="5394959"/>
            <a:ext cx="0" cy="274320"/>
          </a:xfrm>
          <a:prstGeom prst="line">
            <a:avLst/>
          </a:prstGeom>
          <a:ln w="22860">
            <a:solidFill>
              <a:srgbClr val="4669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: 证据更新 + 执行反馈"/>
          <p:cNvSpPr txBox="1"/>
          <p:nvPr/>
        </p:nvSpPr>
        <p:spPr>
          <a:xfrm>
            <a:off x="5440680" y="5413248"/>
            <a:ext cx="2990088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证据更新 + 执行反馈</a:t>
            </a:r>
          </a:p>
        </p:txBody>
      </p:sp>
      <p:sp>
        <p:nvSpPr>
          <p:cNvPr id="43" name="TEXT: 外部事件由模拟器推进；模型不会自行制造链上确认、地址验证或审批事实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外部事件由模拟器推进；模型不会自行制造链上确认、地址验证或审批事实。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: DECIDER × GPT  /  支付业务演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DECIDER × GPT  /  支付业务演示</a:t>
            </a:r>
          </a:p>
        </p:txBody>
      </p:sp>
      <p:sp>
        <p:nvSpPr>
          <p:cNvPr id="46" name="TEXT: 17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17 / 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自主闭环 / 决策过程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自主闭环 / 决策过程</a:t>
            </a:r>
          </a:p>
        </p:txBody>
      </p:sp>
      <p:sp>
        <p:nvSpPr>
          <p:cNvPr id="3" name="TEXT: USDC 闭环：一次证据更新，六次模型判断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USDC 闭环：一次证据更新，六次模型判断</a:t>
            </a:r>
          </a:p>
        </p:txBody>
      </p:sp>
      <p:sp>
        <p:nvSpPr>
          <p:cNvPr id="4" name="TEXT: 两侧都完成业务，但第 2 次核验选择不同。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两侧都完成业务，但第 2 次核验选择不同。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956816"/>
            <a:ext cx="2194560" cy="457200"/>
          </a:xfrm>
          <a:prstGeom prst="rect">
            <a:avLst/>
          </a:prstGeom>
          <a:solidFill>
            <a:srgbClr val="13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轮次 / 节点"/>
          <p:cNvSpPr txBox="1"/>
          <p:nvPr/>
        </p:nvSpPr>
        <p:spPr>
          <a:xfrm>
            <a:off x="694944" y="2048256"/>
            <a:ext cx="1984248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轮次 / 节点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2798064" y="1956816"/>
            <a:ext cx="4389120" cy="457200"/>
          </a:xfrm>
          <a:prstGeom prst="rect">
            <a:avLst/>
          </a:prstGeom>
          <a:solidFill>
            <a:srgbClr val="13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Decider"/>
          <p:cNvSpPr txBox="1"/>
          <p:nvPr/>
        </p:nvSpPr>
        <p:spPr>
          <a:xfrm>
            <a:off x="2916936" y="2048256"/>
            <a:ext cx="4178808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7214616" y="1956816"/>
            <a:ext cx="4370831" cy="457200"/>
          </a:xfrm>
          <a:prstGeom prst="rect">
            <a:avLst/>
          </a:prstGeom>
          <a:solidFill>
            <a:srgbClr val="13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GPT"/>
          <p:cNvSpPr txBox="1"/>
          <p:nvPr/>
        </p:nvSpPr>
        <p:spPr>
          <a:xfrm>
            <a:off x="7333488" y="2048256"/>
            <a:ext cx="4160520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" y="2468880"/>
            <a:ext cx="2194560" cy="4480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1 · 客服受理"/>
          <p:cNvSpPr txBox="1"/>
          <p:nvPr/>
        </p:nvSpPr>
        <p:spPr>
          <a:xfrm>
            <a:off x="694944" y="2587752"/>
            <a:ext cx="1984248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 · 客服受理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98064" y="2468880"/>
            <a:ext cx="4389120" cy="4480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支付客服"/>
          <p:cNvSpPr txBox="1"/>
          <p:nvPr/>
        </p:nvSpPr>
        <p:spPr>
          <a:xfrm>
            <a:off x="2916936" y="2587752"/>
            <a:ext cx="4178808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支付客服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14616" y="2468880"/>
            <a:ext cx="4370831" cy="4480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支付客服"/>
          <p:cNvSpPr txBox="1"/>
          <p:nvPr/>
        </p:nvSpPr>
        <p:spPr>
          <a:xfrm>
            <a:off x="7333488" y="2587752"/>
            <a:ext cx="4160520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支付客服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" y="2953512"/>
            <a:ext cx="2194560" cy="448056"/>
          </a:xfrm>
          <a:prstGeom prst="rect">
            <a:avLst/>
          </a:prstGeom>
          <a:solidFill>
            <a:srgbClr val="FF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2 · 交易核验"/>
          <p:cNvSpPr txBox="1"/>
          <p:nvPr/>
        </p:nvSpPr>
        <p:spPr>
          <a:xfrm>
            <a:off x="694944" y="3072384"/>
            <a:ext cx="1984248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 · 交易核验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98064" y="2953512"/>
            <a:ext cx="4389120" cy="448056"/>
          </a:xfrm>
          <a:prstGeom prst="rect">
            <a:avLst/>
          </a:prstGeom>
          <a:solidFill>
            <a:srgbClr val="FF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结算已完成"/>
          <p:cNvSpPr txBox="1"/>
          <p:nvPr/>
        </p:nvSpPr>
        <p:spPr>
          <a:xfrm>
            <a:off x="2916936" y="3072384"/>
            <a:ext cx="4178808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结算已完成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14616" y="2953512"/>
            <a:ext cx="4370831" cy="448056"/>
          </a:xfrm>
          <a:prstGeom prst="rect">
            <a:avLst/>
          </a:prstGeom>
          <a:solidFill>
            <a:srgbClr val="FF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等待链上确认"/>
          <p:cNvSpPr txBox="1"/>
          <p:nvPr/>
        </p:nvSpPr>
        <p:spPr>
          <a:xfrm>
            <a:off x="7333488" y="3072384"/>
            <a:ext cx="4160520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等待链上确认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" y="3438144"/>
            <a:ext cx="2194560" cy="4480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3 · 交易核验"/>
          <p:cNvSpPr txBox="1"/>
          <p:nvPr/>
        </p:nvSpPr>
        <p:spPr>
          <a:xfrm>
            <a:off x="694944" y="3557016"/>
            <a:ext cx="1984248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 · 交易核验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98064" y="3438144"/>
            <a:ext cx="4389120" cy="4480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到账已核验"/>
          <p:cNvSpPr txBox="1"/>
          <p:nvPr/>
        </p:nvSpPr>
        <p:spPr>
          <a:xfrm>
            <a:off x="2916936" y="3557016"/>
            <a:ext cx="4178808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到账已核验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14616" y="3438144"/>
            <a:ext cx="4370831" cy="4480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到账已核验"/>
          <p:cNvSpPr txBox="1"/>
          <p:nvPr/>
        </p:nvSpPr>
        <p:spPr>
          <a:xfrm>
            <a:off x="7333488" y="3557016"/>
            <a:ext cx="4160520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到账已核验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72" y="3922776"/>
            <a:ext cx="2194560" cy="448056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4 · 风控审批"/>
          <p:cNvSpPr txBox="1"/>
          <p:nvPr/>
        </p:nvSpPr>
        <p:spPr>
          <a:xfrm>
            <a:off x="694944" y="4041648"/>
            <a:ext cx="1984248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 · 风控审批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98064" y="3922776"/>
            <a:ext cx="4389120" cy="448056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: 规则检查通过"/>
          <p:cNvSpPr txBox="1"/>
          <p:nvPr/>
        </p:nvSpPr>
        <p:spPr>
          <a:xfrm>
            <a:off x="2916936" y="4041648"/>
            <a:ext cx="4178808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规则检查通过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14616" y="3922776"/>
            <a:ext cx="4370831" cy="448056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: 规则检查通过"/>
          <p:cNvSpPr txBox="1"/>
          <p:nvPr/>
        </p:nvSpPr>
        <p:spPr>
          <a:xfrm>
            <a:off x="7333488" y="4041648"/>
            <a:ext cx="4160520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规则检查通过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6072" y="4407408"/>
            <a:ext cx="2194560" cy="4480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: 5 · 业务处置"/>
          <p:cNvSpPr txBox="1"/>
          <p:nvPr/>
        </p:nvSpPr>
        <p:spPr>
          <a:xfrm>
            <a:off x="694944" y="4526280"/>
            <a:ext cx="1984248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 · 业务处置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98064" y="4407408"/>
            <a:ext cx="4389120" cy="4480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: 确认订单收款"/>
          <p:cNvSpPr txBox="1"/>
          <p:nvPr/>
        </p:nvSpPr>
        <p:spPr>
          <a:xfrm>
            <a:off x="2916936" y="4526280"/>
            <a:ext cx="4178808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确认订单收款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14616" y="4407408"/>
            <a:ext cx="4370831" cy="4480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: 确认订单收款"/>
          <p:cNvSpPr txBox="1"/>
          <p:nvPr/>
        </p:nvSpPr>
        <p:spPr>
          <a:xfrm>
            <a:off x="7333488" y="4526280"/>
            <a:ext cx="4160520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确认订单收款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6072" y="4892040"/>
            <a:ext cx="2194560" cy="448056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: 6 · 回复结案"/>
          <p:cNvSpPr txBox="1"/>
          <p:nvPr/>
        </p:nvSpPr>
        <p:spPr>
          <a:xfrm>
            <a:off x="694944" y="5010912"/>
            <a:ext cx="1984248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6 · 回复结案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98064" y="4892040"/>
            <a:ext cx="4389120" cy="448056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: 回复并结案"/>
          <p:cNvSpPr txBox="1"/>
          <p:nvPr/>
        </p:nvSpPr>
        <p:spPr>
          <a:xfrm>
            <a:off x="2916936" y="5010912"/>
            <a:ext cx="4178808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回复并结案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14616" y="4892040"/>
            <a:ext cx="4370831" cy="448056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: 回复并结案"/>
          <p:cNvSpPr txBox="1"/>
          <p:nvPr/>
        </p:nvSpPr>
        <p:spPr>
          <a:xfrm>
            <a:off x="7333488" y="5010912"/>
            <a:ext cx="4160520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回复并结案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435608" y="5568696"/>
            <a:ext cx="9144000" cy="320040"/>
          </a:xfrm>
          <a:prstGeom prst="roundRect">
            <a:avLst>
              <a:gd name="adj" fmla="val 13000"/>
            </a:avLst>
          </a:prstGeom>
          <a:solidFill>
            <a:srgbClr val="FF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: 第 2 → 3 次之间：模拟确认数 3 / 12 → 12 / 12"/>
          <p:cNvSpPr txBox="1"/>
          <p:nvPr/>
        </p:nvSpPr>
        <p:spPr>
          <a:xfrm>
            <a:off x="1481328" y="5618988"/>
            <a:ext cx="90525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第 2 → 3 次之间：模拟确认数 3 / 12 → 12 / 12</a:t>
            </a:r>
          </a:p>
        </p:txBody>
      </p:sp>
      <p:sp>
        <p:nvSpPr>
          <p:cNvPr id="49" name="TEXT: 本表按调用顺序展示两次独立运行；不假定后续请求的输入相同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本表按调用顺序展示两次独立运行；不假定后续请求的输入相同。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: DECIDER × GPT  /  支付业务演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DECIDER × GPT  /  支付业务演示</a:t>
            </a:r>
          </a:p>
        </p:txBody>
      </p:sp>
      <p:sp>
        <p:nvSpPr>
          <p:cNvPr id="52" name="TEXT: 18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18 / 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自主闭环 / 实际过程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自主闭环 / 实际过程</a:t>
            </a:r>
          </a:p>
        </p:txBody>
      </p:sp>
      <p:sp>
        <p:nvSpPr>
          <p:cNvPr id="3" name="TEXT: 真实反馈：选择不同，执行都等待证据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真实反馈：选择不同，执行都等待证据</a:t>
            </a:r>
          </a:p>
        </p:txBody>
      </p:sp>
      <p:sp>
        <p:nvSpPr>
          <p:cNvPr id="4" name="TEXT: Decider「结算已完成」与 GPT「等待链上确认」之后，都读到条件未满足。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Decider「结算已完成」与 GPT「等待链上确认」之后，都读到条件未满足。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5321" y="1938528"/>
            <a:ext cx="10249165" cy="4023359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MAGE: pending-loop-feedback-crop.png" descr="pending-loop-feedback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753" y="1965960"/>
            <a:ext cx="10194301" cy="3968496"/>
          </a:xfrm>
          <a:prstGeom prst="rect">
            <a:avLst/>
          </a:prstGeom>
        </p:spPr>
      </p:pic>
      <p:sp>
        <p:nvSpPr>
          <p:cNvPr id="7" name="TEXT: 等待事件 → 确认数达标 → 重新核验；最终由订单与账本确认完成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等待事件 → 确认数达标 → 重新核验；最终由订单与账本确认完成。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: DECIDER × GPT  /  支付业务演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DECIDER × GPT  /  支付业务演示</a:t>
            </a:r>
          </a:p>
        </p:txBody>
      </p:sp>
      <p:sp>
        <p:nvSpPr>
          <p:cNvPr id="10" name="TEXT: 19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19 / 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自主闭环 / 决策过程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自主闭环 / 决策过程</a:t>
            </a:r>
          </a:p>
        </p:txBody>
      </p:sp>
      <p:sp>
        <p:nvSpPr>
          <p:cNvPr id="3" name="TEXT: 退款闭环：两次事件补齐执行前提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退款闭环：两次事件补齐执行前提</a:t>
            </a:r>
          </a:p>
        </p:txBody>
      </p:sp>
      <p:sp>
        <p:nvSpPr>
          <p:cNvPr id="4" name="TEXT: 共 9 次决策；下表聚焦 3 次审批与最后 2 次动作。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共 9 次决策；下表聚焦 3 次审批与最后 2 次动作。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2002536"/>
            <a:ext cx="2304288" cy="457200"/>
          </a:xfrm>
          <a:prstGeom prst="rect">
            <a:avLst/>
          </a:prstGeom>
          <a:solidFill>
            <a:srgbClr val="13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调用 / 当前条件"/>
          <p:cNvSpPr txBox="1"/>
          <p:nvPr/>
        </p:nvSpPr>
        <p:spPr>
          <a:xfrm>
            <a:off x="694944" y="2093976"/>
            <a:ext cx="2093976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调用 / 当前条件</a:t>
            </a:r>
          </a:p>
        </p:txBody>
      </p:sp>
      <p:sp>
        <p:nvSpPr>
          <p:cNvPr id="7" name="Rectangle 6"/>
          <p:cNvSpPr/>
          <p:nvPr/>
        </p:nvSpPr>
        <p:spPr>
          <a:xfrm>
            <a:off x="2907791" y="2002536"/>
            <a:ext cx="4315968" cy="457200"/>
          </a:xfrm>
          <a:prstGeom prst="rect">
            <a:avLst/>
          </a:prstGeom>
          <a:solidFill>
            <a:srgbClr val="13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Decider 原始 → 实际"/>
          <p:cNvSpPr txBox="1"/>
          <p:nvPr/>
        </p:nvSpPr>
        <p:spPr>
          <a:xfrm>
            <a:off x="3026663" y="2093976"/>
            <a:ext cx="4105656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 原始 → 实际</a:t>
            </a:r>
          </a:p>
        </p:txBody>
      </p:sp>
      <p:sp>
        <p:nvSpPr>
          <p:cNvPr id="9" name="Rectangle 8"/>
          <p:cNvSpPr/>
          <p:nvPr/>
        </p:nvSpPr>
        <p:spPr>
          <a:xfrm>
            <a:off x="7251192" y="2002536"/>
            <a:ext cx="4334255" cy="457200"/>
          </a:xfrm>
          <a:prstGeom prst="rect">
            <a:avLst/>
          </a:prstGeom>
          <a:solidFill>
            <a:srgbClr val="13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GPT 原始与实际"/>
          <p:cNvSpPr txBox="1"/>
          <p:nvPr/>
        </p:nvSpPr>
        <p:spPr>
          <a:xfrm>
            <a:off x="7370064" y="2093976"/>
            <a:ext cx="412394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GPT 原始与实际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" y="2514600"/>
            <a:ext cx="2304288" cy="512063"/>
          </a:xfrm>
          <a:prstGeom prst="rect">
            <a:avLst/>
          </a:prstGeom>
          <a:solidFill>
            <a:srgbClr val="FF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3 · 地址未验证"/>
          <p:cNvSpPr txBox="1"/>
          <p:nvPr/>
        </p:nvSpPr>
        <p:spPr>
          <a:xfrm>
            <a:off x="694944" y="2633472"/>
            <a:ext cx="2093976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 · 地址未验证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07791" y="2514600"/>
            <a:ext cx="4315968" cy="512063"/>
          </a:xfrm>
          <a:prstGeom prst="rect">
            <a:avLst/>
          </a:prstGeom>
          <a:solidFill>
            <a:srgbClr val="FF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检查通过 → 验证地址"/>
          <p:cNvSpPr txBox="1"/>
          <p:nvPr/>
        </p:nvSpPr>
        <p:spPr>
          <a:xfrm>
            <a:off x="3026663" y="2633472"/>
            <a:ext cx="4105656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检查通过 → 验证地址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51192" y="2514600"/>
            <a:ext cx="4334255" cy="512063"/>
          </a:xfrm>
          <a:prstGeom prst="rect">
            <a:avLst/>
          </a:prstGeom>
          <a:solidFill>
            <a:srgbClr val="FF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验证退款地址"/>
          <p:cNvSpPr txBox="1"/>
          <p:nvPr/>
        </p:nvSpPr>
        <p:spPr>
          <a:xfrm>
            <a:off x="7370064" y="2633472"/>
            <a:ext cx="4123944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验证退款地址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" y="3063240"/>
            <a:ext cx="2304288" cy="512063"/>
          </a:xfrm>
          <a:prstGeom prst="rect">
            <a:avLst/>
          </a:prstGeom>
          <a:solidFill>
            <a:srgbClr val="FF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5 · 待人工审批"/>
          <p:cNvSpPr txBox="1"/>
          <p:nvPr/>
        </p:nvSpPr>
        <p:spPr>
          <a:xfrm>
            <a:off x="694944" y="3182112"/>
            <a:ext cx="2093976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 · 待人工审批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07791" y="3063240"/>
            <a:ext cx="4315968" cy="512063"/>
          </a:xfrm>
          <a:prstGeom prst="rect">
            <a:avLst/>
          </a:prstGeom>
          <a:solidFill>
            <a:srgbClr val="FF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检查通过 → 等待审批"/>
          <p:cNvSpPr txBox="1"/>
          <p:nvPr/>
        </p:nvSpPr>
        <p:spPr>
          <a:xfrm>
            <a:off x="3026663" y="3182112"/>
            <a:ext cx="4105656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检查通过 → 等待审批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51192" y="3063240"/>
            <a:ext cx="4334255" cy="512063"/>
          </a:xfrm>
          <a:prstGeom prst="rect">
            <a:avLst/>
          </a:prstGeom>
          <a:solidFill>
            <a:srgbClr val="FF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等待人工审批"/>
          <p:cNvSpPr txBox="1"/>
          <p:nvPr/>
        </p:nvSpPr>
        <p:spPr>
          <a:xfrm>
            <a:off x="7370064" y="3182112"/>
            <a:ext cx="4123944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等待人工审批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" y="3611880"/>
            <a:ext cx="2304288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7 · 前提已补齐"/>
          <p:cNvSpPr txBox="1"/>
          <p:nvPr/>
        </p:nvSpPr>
        <p:spPr>
          <a:xfrm>
            <a:off x="694944" y="3730752"/>
            <a:ext cx="2093976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7 · 前提已补齐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07791" y="3611880"/>
            <a:ext cx="4315968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规则检查通过"/>
          <p:cNvSpPr txBox="1"/>
          <p:nvPr/>
        </p:nvSpPr>
        <p:spPr>
          <a:xfrm>
            <a:off x="3026663" y="3730752"/>
            <a:ext cx="4105656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规则检查通过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51192" y="3611880"/>
            <a:ext cx="4334255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规则检查通过"/>
          <p:cNvSpPr txBox="1"/>
          <p:nvPr/>
        </p:nvSpPr>
        <p:spPr>
          <a:xfrm>
            <a:off x="7370064" y="3730752"/>
            <a:ext cx="4123944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规则检查通过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72" y="4160520"/>
            <a:ext cx="2304288" cy="512063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8 · 业务处置"/>
          <p:cNvSpPr txBox="1"/>
          <p:nvPr/>
        </p:nvSpPr>
        <p:spPr>
          <a:xfrm>
            <a:off x="694944" y="4279392"/>
            <a:ext cx="2093976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8 · 业务处置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07791" y="4160520"/>
            <a:ext cx="4315968" cy="512063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: 提交模拟退款"/>
          <p:cNvSpPr txBox="1"/>
          <p:nvPr/>
        </p:nvSpPr>
        <p:spPr>
          <a:xfrm>
            <a:off x="3026663" y="4279392"/>
            <a:ext cx="4105656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提交模拟退款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51192" y="4160520"/>
            <a:ext cx="4334255" cy="512063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: 提交模拟退款"/>
          <p:cNvSpPr txBox="1"/>
          <p:nvPr/>
        </p:nvSpPr>
        <p:spPr>
          <a:xfrm>
            <a:off x="7370064" y="4279392"/>
            <a:ext cx="4123944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提交模拟退款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6072" y="4709160"/>
            <a:ext cx="2304288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: 9 · 回复结案"/>
          <p:cNvSpPr txBox="1"/>
          <p:nvPr/>
        </p:nvSpPr>
        <p:spPr>
          <a:xfrm>
            <a:off x="694944" y="4828032"/>
            <a:ext cx="2093976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9 · 回复结案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07791" y="4709160"/>
            <a:ext cx="4315968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: 回复并结案"/>
          <p:cNvSpPr txBox="1"/>
          <p:nvPr/>
        </p:nvSpPr>
        <p:spPr>
          <a:xfrm>
            <a:off x="3026663" y="4828032"/>
            <a:ext cx="4105656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回复并结案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51192" y="4709160"/>
            <a:ext cx="4334255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: 回复并结案"/>
          <p:cNvSpPr txBox="1"/>
          <p:nvPr/>
        </p:nvSpPr>
        <p:spPr>
          <a:xfrm>
            <a:off x="7370064" y="4828032"/>
            <a:ext cx="4123944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回复并结案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307592" y="5495544"/>
            <a:ext cx="4425696" cy="320040"/>
          </a:xfrm>
          <a:prstGeom prst="roundRect">
            <a:avLst>
              <a:gd name="adj" fmla="val 13000"/>
            </a:avLst>
          </a:prstGeom>
          <a:solidFill>
            <a:srgbClr val="FF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: 事件 1：验证地址"/>
          <p:cNvSpPr txBox="1"/>
          <p:nvPr/>
        </p:nvSpPr>
        <p:spPr>
          <a:xfrm>
            <a:off x="1353312" y="5545836"/>
            <a:ext cx="4334256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事件 1：验证地址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5495544"/>
            <a:ext cx="4425696" cy="320040"/>
          </a:xfrm>
          <a:prstGeom prst="roundRect">
            <a:avLst>
              <a:gd name="adj" fmla="val 13000"/>
            </a:avLst>
          </a:prstGeom>
          <a:solidFill>
            <a:srgbClr val="FF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: 事件 2：审批通过"/>
          <p:cNvSpPr txBox="1"/>
          <p:nvPr/>
        </p:nvSpPr>
        <p:spPr>
          <a:xfrm>
            <a:off x="6446520" y="5545836"/>
            <a:ext cx="4334256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事件 2：审批通过</a:t>
            </a:r>
          </a:p>
        </p:txBody>
      </p:sp>
      <p:sp>
        <p:nvSpPr>
          <p:cNvPr id="45" name="TEXT: 箭头左边保留模型选择，右边为执行器实际动作；事件由模拟器推进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箭头左边保留模型选择，右边为执行器实际动作；事件由模拟器推进。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: DECIDER × GPT  /  支付业务演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DECIDER × GPT  /  支付业务演示</a:t>
            </a:r>
          </a:p>
        </p:txBody>
      </p:sp>
      <p:sp>
        <p:nvSpPr>
          <p:cNvPr id="48" name="TEXT: 20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20 /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自主闭环 / 结果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自主闭环 / 结果</a:t>
            </a:r>
          </a:p>
        </p:txBody>
      </p:sp>
      <p:sp>
        <p:nvSpPr>
          <p:cNvPr id="3" name="TEXT: 退款结果：订单、账本与结案全部确认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退款结果：订单、账本与结案全部确认</a:t>
            </a:r>
          </a:p>
        </p:txBody>
      </p:sp>
      <p:sp>
        <p:nvSpPr>
          <p:cNvPr id="4" name="TEXT: 两模型均完成模拟退款；总耗时与最终状态同时可见。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两模型均完成模拟退款；总耗时与最终状态同时可见。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" y="2054234"/>
            <a:ext cx="11027664" cy="177112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MAGE: refund-loop-summary.png" descr="refund-loop-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2081666"/>
            <a:ext cx="10972800" cy="171625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6072" y="4026173"/>
            <a:ext cx="11027664" cy="143912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IMAGE: refund-loop-final.png" descr="refund-loop-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4053605"/>
            <a:ext cx="10972800" cy="1384260"/>
          </a:xfrm>
          <a:prstGeom prst="rect">
            <a:avLst/>
          </a:prstGeom>
        </p:spPr>
      </p:pic>
      <p:sp>
        <p:nvSpPr>
          <p:cNvPr id="9" name="TEXT: 完成不是因为「已走完节点」，而是模拟订单、对应账本与工单结案均已确认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完成不是因为「已走完节点」，而是模拟订单、对应账本与工单结案均已确认。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: DECIDER × GPT  /  支付业务演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DECIDER × GPT  /  支付业务演示</a:t>
            </a:r>
          </a:p>
        </p:txBody>
      </p:sp>
      <p:sp>
        <p:nvSpPr>
          <p:cNvPr id="12" name="TEXT: 21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21 / 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自主闭环 / 对比结果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自主闭环 / 对比结果</a:t>
            </a:r>
          </a:p>
        </p:txBody>
      </p:sp>
      <p:sp>
        <p:nvSpPr>
          <p:cNvPr id="3" name="TEXT: 两组闭环：业务都完成，累计决策时间不同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两组闭环：业务都完成，累计决策时间不同</a:t>
            </a:r>
          </a:p>
        </p:txBody>
      </p:sp>
      <p:sp>
        <p:nvSpPr>
          <p:cNvPr id="4" name="TEXT: 闭环后续输入可能不同；这里比较运行结果，不计为同输入速度基准。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闭环后续输入可能不同；这里比较运行结果，不计为同输入速度基准。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2066543"/>
            <a:ext cx="2240280" cy="457200"/>
          </a:xfrm>
          <a:prstGeom prst="rect">
            <a:avLst/>
          </a:prstGeom>
          <a:solidFill>
            <a:srgbClr val="13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闭环场景"/>
          <p:cNvSpPr txBox="1"/>
          <p:nvPr/>
        </p:nvSpPr>
        <p:spPr>
          <a:xfrm>
            <a:off x="694944" y="2157984"/>
            <a:ext cx="2029967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闭环场景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2843784" y="2066543"/>
            <a:ext cx="1947672" cy="457200"/>
          </a:xfrm>
          <a:prstGeom prst="rect">
            <a:avLst/>
          </a:prstGeom>
          <a:solidFill>
            <a:srgbClr val="13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Decider"/>
          <p:cNvSpPr txBox="1"/>
          <p:nvPr/>
        </p:nvSpPr>
        <p:spPr>
          <a:xfrm>
            <a:off x="2962656" y="2157984"/>
            <a:ext cx="1737360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818888" y="2066543"/>
            <a:ext cx="1947672" cy="457200"/>
          </a:xfrm>
          <a:prstGeom prst="rect">
            <a:avLst/>
          </a:prstGeom>
          <a:solidFill>
            <a:srgbClr val="13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GPT"/>
          <p:cNvSpPr txBox="1"/>
          <p:nvPr/>
        </p:nvSpPr>
        <p:spPr>
          <a:xfrm>
            <a:off x="4937759" y="2157984"/>
            <a:ext cx="1737360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93992" y="2066543"/>
            <a:ext cx="2807208" cy="457200"/>
          </a:xfrm>
          <a:prstGeom prst="rect">
            <a:avLst/>
          </a:prstGeom>
          <a:solidFill>
            <a:srgbClr val="13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每侧决策 / 事件"/>
          <p:cNvSpPr txBox="1"/>
          <p:nvPr/>
        </p:nvSpPr>
        <p:spPr>
          <a:xfrm>
            <a:off x="6912864" y="2157984"/>
            <a:ext cx="2596896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每侧决策 / 事件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28632" y="2066543"/>
            <a:ext cx="1956816" cy="457200"/>
          </a:xfrm>
          <a:prstGeom prst="rect">
            <a:avLst/>
          </a:prstGeom>
          <a:solidFill>
            <a:srgbClr val="13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结果"/>
          <p:cNvSpPr txBox="1"/>
          <p:nvPr/>
        </p:nvSpPr>
        <p:spPr>
          <a:xfrm>
            <a:off x="9747504" y="2157984"/>
            <a:ext cx="174650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结果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72" y="2578608"/>
            <a:ext cx="2240280" cy="7955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USDC 未到账"/>
          <p:cNvSpPr txBox="1"/>
          <p:nvPr/>
        </p:nvSpPr>
        <p:spPr>
          <a:xfrm>
            <a:off x="694944" y="2697479"/>
            <a:ext cx="2029967" cy="7040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USDC 未到账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43784" y="2578608"/>
            <a:ext cx="1947672" cy="7955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0.570 s"/>
          <p:cNvSpPr txBox="1"/>
          <p:nvPr/>
        </p:nvSpPr>
        <p:spPr>
          <a:xfrm>
            <a:off x="2962656" y="2697479"/>
            <a:ext cx="1737360" cy="7040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0.570 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18888" y="2578608"/>
            <a:ext cx="1947672" cy="7955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7.269 s"/>
          <p:cNvSpPr txBox="1"/>
          <p:nvPr/>
        </p:nvSpPr>
        <p:spPr>
          <a:xfrm>
            <a:off x="4937759" y="2697479"/>
            <a:ext cx="1737360" cy="7040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7.269 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93992" y="2578608"/>
            <a:ext cx="2807208" cy="7955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6 次 / 1 个"/>
          <p:cNvSpPr txBox="1"/>
          <p:nvPr/>
        </p:nvSpPr>
        <p:spPr>
          <a:xfrm>
            <a:off x="6912864" y="2697479"/>
            <a:ext cx="2596896" cy="7040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6 次 / 1 个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28632" y="2578608"/>
            <a:ext cx="1956816" cy="7955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双方完成"/>
          <p:cNvSpPr txBox="1"/>
          <p:nvPr/>
        </p:nvSpPr>
        <p:spPr>
          <a:xfrm>
            <a:off x="9747504" y="2697479"/>
            <a:ext cx="1746504" cy="7040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双方完成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72" y="3410712"/>
            <a:ext cx="2240280" cy="79552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稳定币退款"/>
          <p:cNvSpPr txBox="1"/>
          <p:nvPr/>
        </p:nvSpPr>
        <p:spPr>
          <a:xfrm>
            <a:off x="694944" y="3529584"/>
            <a:ext cx="2029967" cy="7040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稳定币退款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43784" y="3410712"/>
            <a:ext cx="1947672" cy="79552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0.897 s"/>
          <p:cNvSpPr txBox="1"/>
          <p:nvPr/>
        </p:nvSpPr>
        <p:spPr>
          <a:xfrm>
            <a:off x="2962656" y="3529584"/>
            <a:ext cx="1737360" cy="7040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0.897 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18888" y="3410712"/>
            <a:ext cx="1947672" cy="79552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10.542 s"/>
          <p:cNvSpPr txBox="1"/>
          <p:nvPr/>
        </p:nvSpPr>
        <p:spPr>
          <a:xfrm>
            <a:off x="4937759" y="3529584"/>
            <a:ext cx="1737360" cy="7040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10.542 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93992" y="3410712"/>
            <a:ext cx="2807208" cy="79552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: 9 次 / 2 个"/>
          <p:cNvSpPr txBox="1"/>
          <p:nvPr/>
        </p:nvSpPr>
        <p:spPr>
          <a:xfrm>
            <a:off x="6912864" y="3529584"/>
            <a:ext cx="2596896" cy="7040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9 次 / 2 个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28632" y="3410712"/>
            <a:ext cx="1956816" cy="79552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: 双方完成"/>
          <p:cNvSpPr txBox="1"/>
          <p:nvPr/>
        </p:nvSpPr>
        <p:spPr>
          <a:xfrm>
            <a:off x="9747504" y="3529584"/>
            <a:ext cx="1746504" cy="7040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双方完成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462272"/>
            <a:ext cx="3468624" cy="12527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ICON: Lucide receipt-tex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608576"/>
            <a:ext cx="347472" cy="347472"/>
          </a:xfrm>
          <a:prstGeom prst="rect">
            <a:avLst/>
          </a:prstGeom>
        </p:spPr>
      </p:pic>
      <p:sp>
        <p:nvSpPr>
          <p:cNvPr id="37" name="TEXT: 同一完成标准"/>
          <p:cNvSpPr txBox="1"/>
          <p:nvPr/>
        </p:nvSpPr>
        <p:spPr>
          <a:xfrm>
            <a:off x="1207008" y="4617720"/>
            <a:ext cx="273710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同一完成标准</a:t>
            </a:r>
          </a:p>
        </p:txBody>
      </p:sp>
      <p:sp>
        <p:nvSpPr>
          <p:cNvPr id="38" name="TEXT: 订单 + 对应账本"/>
          <p:cNvSpPr txBox="1"/>
          <p:nvPr/>
        </p:nvSpPr>
        <p:spPr>
          <a:xfrm>
            <a:off x="749808" y="5148072"/>
            <a:ext cx="3157728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订单 + 对应账本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090416" y="5088636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4346448" y="4462272"/>
            <a:ext cx="3468624" cy="12527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ICON: Lucide circle-check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1896" y="4608576"/>
            <a:ext cx="347472" cy="347472"/>
          </a:xfrm>
          <a:prstGeom prst="rect">
            <a:avLst/>
          </a:prstGeom>
        </p:spPr>
      </p:pic>
      <p:sp>
        <p:nvSpPr>
          <p:cNvPr id="42" name="TEXT: 同一结束要求"/>
          <p:cNvSpPr txBox="1"/>
          <p:nvPr/>
        </p:nvSpPr>
        <p:spPr>
          <a:xfrm>
            <a:off x="4959096" y="4617720"/>
            <a:ext cx="273710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同一结束要求</a:t>
            </a:r>
          </a:p>
        </p:txBody>
      </p:sp>
      <p:sp>
        <p:nvSpPr>
          <p:cNvPr id="43" name="TEXT: 工单已结案"/>
          <p:cNvSpPr txBox="1"/>
          <p:nvPr/>
        </p:nvSpPr>
        <p:spPr>
          <a:xfrm>
            <a:off x="4501896" y="5148072"/>
            <a:ext cx="3157728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工单已结案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842504" y="5088636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8098536" y="4462272"/>
            <a:ext cx="3468624" cy="12527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ICON: Lucide arrow-left-right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3984" y="4608576"/>
            <a:ext cx="347472" cy="347472"/>
          </a:xfrm>
          <a:prstGeom prst="rect">
            <a:avLst/>
          </a:prstGeom>
        </p:spPr>
      </p:pic>
      <p:sp>
        <p:nvSpPr>
          <p:cNvPr id="47" name="TEXT: 独立决策过程"/>
          <p:cNvSpPr txBox="1"/>
          <p:nvPr/>
        </p:nvSpPr>
        <p:spPr>
          <a:xfrm>
            <a:off x="8711184" y="4617720"/>
            <a:ext cx="273710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独立决策过程</a:t>
            </a:r>
          </a:p>
        </p:txBody>
      </p:sp>
      <p:sp>
        <p:nvSpPr>
          <p:cNvPr id="48" name="TEXT: 反馈可能不同"/>
          <p:cNvSpPr txBox="1"/>
          <p:nvPr/>
        </p:nvSpPr>
        <p:spPr>
          <a:xfrm>
            <a:off x="8253984" y="5148072"/>
            <a:ext cx="3157728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反馈可能不同</a:t>
            </a:r>
          </a:p>
        </p:txBody>
      </p:sp>
      <p:sp>
        <p:nvSpPr>
          <p:cNvPr id="49" name="TEXT: 以上仅为两组真实运行；不代表未来任务保证完成，也不包含现实事件等待时间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以上仅为两组真实运行；不代表未来任务保证完成，也不包含现实事件等待时间。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: DECIDER × GPT  /  支付业务演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DECIDER × GPT  /  支付业务演示</a:t>
            </a:r>
          </a:p>
        </p:txBody>
      </p:sp>
      <p:sp>
        <p:nvSpPr>
          <p:cNvPr id="52" name="TEXT: 22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22 / 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对比解读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对比解读</a:t>
            </a:r>
          </a:p>
        </p:txBody>
      </p:sp>
      <p:sp>
        <p:nvSpPr>
          <p:cNvPr id="3" name="TEXT: 速度之外，同时看选择差异与调用失败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速度之外，同时看选择差异与调用失败</a:t>
            </a:r>
          </a:p>
        </p:txBody>
      </p:sp>
      <p:sp>
        <p:nvSpPr>
          <p:cNvPr id="4" name="TEXT: 快慢、参考符合度和业务完成，分别衡量。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快慢、参考符合度和业务完成，分别衡量。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2103120"/>
            <a:ext cx="3310128" cy="457200"/>
          </a:xfrm>
          <a:prstGeom prst="rect">
            <a:avLst/>
          </a:prstGeom>
          <a:solidFill>
            <a:srgbClr val="13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固定输入观测"/>
          <p:cNvSpPr txBox="1"/>
          <p:nvPr/>
        </p:nvSpPr>
        <p:spPr>
          <a:xfrm>
            <a:off x="694944" y="2194560"/>
            <a:ext cx="3099815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固定输入观测</a:t>
            </a:r>
          </a:p>
        </p:txBody>
      </p:sp>
      <p:sp>
        <p:nvSpPr>
          <p:cNvPr id="7" name="Rectangle 6"/>
          <p:cNvSpPr/>
          <p:nvPr/>
        </p:nvSpPr>
        <p:spPr>
          <a:xfrm>
            <a:off x="3913632" y="2103120"/>
            <a:ext cx="3822191" cy="457200"/>
          </a:xfrm>
          <a:prstGeom prst="rect">
            <a:avLst/>
          </a:prstGeom>
          <a:solidFill>
            <a:srgbClr val="13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Decider"/>
          <p:cNvSpPr txBox="1"/>
          <p:nvPr/>
        </p:nvSpPr>
        <p:spPr>
          <a:xfrm>
            <a:off x="4032504" y="2194560"/>
            <a:ext cx="3611880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7763256" y="2103120"/>
            <a:ext cx="3822191" cy="457200"/>
          </a:xfrm>
          <a:prstGeom prst="rect">
            <a:avLst/>
          </a:prstGeom>
          <a:solidFill>
            <a:srgbClr val="13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GPT"/>
          <p:cNvSpPr txBox="1"/>
          <p:nvPr/>
        </p:nvSpPr>
        <p:spPr>
          <a:xfrm>
            <a:off x="7882128" y="2194560"/>
            <a:ext cx="3611880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" y="2615184"/>
            <a:ext cx="3310128" cy="7132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成功返回 / 尝试"/>
          <p:cNvSpPr txBox="1"/>
          <p:nvPr/>
        </p:nvSpPr>
        <p:spPr>
          <a:xfrm>
            <a:off x="694944" y="2734056"/>
            <a:ext cx="3099815" cy="6217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成功返回 / 尝试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13632" y="2615184"/>
            <a:ext cx="3822191" cy="7132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20 / 20"/>
          <p:cNvSpPr txBox="1"/>
          <p:nvPr/>
        </p:nvSpPr>
        <p:spPr>
          <a:xfrm>
            <a:off x="4032504" y="2734056"/>
            <a:ext cx="3611880" cy="6217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20 / 20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63256" y="2615184"/>
            <a:ext cx="3822191" cy="7132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19 / 20"/>
          <p:cNvSpPr txBox="1"/>
          <p:nvPr/>
        </p:nvSpPr>
        <p:spPr>
          <a:xfrm>
            <a:off x="7882128" y="2734056"/>
            <a:ext cx="3611880" cy="6217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19 / 20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" y="3364991"/>
            <a:ext cx="3310128" cy="713231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成功配对参考符合"/>
          <p:cNvSpPr txBox="1"/>
          <p:nvPr/>
        </p:nvSpPr>
        <p:spPr>
          <a:xfrm>
            <a:off x="694944" y="3483863"/>
            <a:ext cx="3099815" cy="6217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成功配对参考符合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13632" y="3364991"/>
            <a:ext cx="3822191" cy="713231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13 / 19"/>
          <p:cNvSpPr txBox="1"/>
          <p:nvPr/>
        </p:nvSpPr>
        <p:spPr>
          <a:xfrm>
            <a:off x="4032504" y="3483863"/>
            <a:ext cx="3611880" cy="6217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13 / 19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63256" y="3364991"/>
            <a:ext cx="3822191" cy="713231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19 / 19"/>
          <p:cNvSpPr txBox="1"/>
          <p:nvPr/>
        </p:nvSpPr>
        <p:spPr>
          <a:xfrm>
            <a:off x="7882128" y="3483863"/>
            <a:ext cx="3611880" cy="6217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19 / 19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" y="4114800"/>
            <a:ext cx="3310128" cy="7132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商户结算执行"/>
          <p:cNvSpPr txBox="1"/>
          <p:nvPr/>
        </p:nvSpPr>
        <p:spPr>
          <a:xfrm>
            <a:off x="694944" y="4233672"/>
            <a:ext cx="3099815" cy="6217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商户结算执行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13632" y="4114800"/>
            <a:ext cx="3822191" cy="7132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处理 5 步，继续跟进"/>
          <p:cNvSpPr txBox="1"/>
          <p:nvPr/>
        </p:nvSpPr>
        <p:spPr>
          <a:xfrm>
            <a:off x="4032504" y="4233672"/>
            <a:ext cx="3611880" cy="6217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处理 5 步，继续跟进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63256" y="4114800"/>
            <a:ext cx="3822191" cy="7132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处置超时，方案未执行"/>
          <p:cNvSpPr txBox="1"/>
          <p:nvPr/>
        </p:nvSpPr>
        <p:spPr>
          <a:xfrm>
            <a:off x="7882128" y="4233672"/>
            <a:ext cx="3611880" cy="6217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处置超时，方案未执行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5102352"/>
            <a:ext cx="10972800" cy="594360"/>
          </a:xfrm>
          <a:prstGeom prst="roundRect">
            <a:avLst>
              <a:gd name="adj" fmla="val 13000"/>
            </a:avLst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单次样本：Decider 决策更快；GPT 在本批次更符合演示策略。"/>
          <p:cNvSpPr txBox="1"/>
          <p:nvPr/>
        </p:nvSpPr>
        <p:spPr>
          <a:xfrm>
            <a:off x="804672" y="5312664"/>
            <a:ext cx="10552176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单次样本：Decider 决策更快；GPT 在本批次更符合演示策略。</a:t>
            </a:r>
          </a:p>
        </p:txBody>
      </p:sp>
      <p:sp>
        <p:nvSpPr>
          <p:cNvPr id="31" name="TEXT: 开发者参考不是通用准确率；19 组成功延迟不包含那次失败等待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开发者参考不是通用准确率；19 组成功延迟不包含那次失败等待。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: DECIDER × GPT  /  支付业务演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DECIDER × GPT  /  支付业务演示</a:t>
            </a:r>
          </a:p>
        </p:txBody>
      </p:sp>
      <p:sp>
        <p:nvSpPr>
          <p:cNvPr id="34" name="TEXT: 23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23 /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适用方式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适用方式</a:t>
            </a:r>
          </a:p>
        </p:txBody>
      </p:sp>
      <p:sp>
        <p:nvSpPr>
          <p:cNvPr id="3" name="TEXT: 在支付流程中，按任务分工组合使用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在支付流程中，按任务分工组合使用</a:t>
            </a:r>
          </a:p>
        </p:txBody>
      </p:sp>
      <p:sp>
        <p:nvSpPr>
          <p:cNvPr id="4" name="TEXT: 以本次观测为起点，继续按真实业务分布评测。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以本次观测为起点，继续按真实业务分布评测。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39696"/>
            <a:ext cx="2530602" cy="147218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receipt-tex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286000"/>
            <a:ext cx="347472" cy="347472"/>
          </a:xfrm>
          <a:prstGeom prst="rect">
            <a:avLst/>
          </a:prstGeom>
        </p:spPr>
      </p:pic>
      <p:sp>
        <p:nvSpPr>
          <p:cNvPr id="7" name="TEXT: 业务请求"/>
          <p:cNvSpPr txBox="1"/>
          <p:nvPr/>
        </p:nvSpPr>
        <p:spPr>
          <a:xfrm>
            <a:off x="1207008" y="2295144"/>
            <a:ext cx="179908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业务请求</a:t>
            </a:r>
          </a:p>
        </p:txBody>
      </p:sp>
      <p:sp>
        <p:nvSpPr>
          <p:cNvPr id="8" name="TEXT: 消息 + 当前事实"/>
          <p:cNvSpPr txBox="1"/>
          <p:nvPr/>
        </p:nvSpPr>
        <p:spPr>
          <a:xfrm>
            <a:off x="749808" y="2825496"/>
            <a:ext cx="2219706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消息 + 当前事实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52394" y="2875788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08426" y="2139696"/>
            <a:ext cx="2530602" cy="147218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CON: Lucide rout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3874" y="2286000"/>
            <a:ext cx="347472" cy="347472"/>
          </a:xfrm>
          <a:prstGeom prst="rect">
            <a:avLst/>
          </a:prstGeom>
        </p:spPr>
      </p:pic>
      <p:sp>
        <p:nvSpPr>
          <p:cNvPr id="12" name="TEXT: 任务分流"/>
          <p:cNvSpPr txBox="1"/>
          <p:nvPr/>
        </p:nvSpPr>
        <p:spPr>
          <a:xfrm>
            <a:off x="4021074" y="2295144"/>
            <a:ext cx="179908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任务分流</a:t>
            </a:r>
          </a:p>
        </p:txBody>
      </p:sp>
      <p:sp>
        <p:nvSpPr>
          <p:cNvPr id="13" name="TEXT: 范围 / 复杂度 / 风险"/>
          <p:cNvSpPr txBox="1"/>
          <p:nvPr/>
        </p:nvSpPr>
        <p:spPr>
          <a:xfrm>
            <a:off x="3563874" y="2825496"/>
            <a:ext cx="2219706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范围 / 复杂度 / 风险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66460" y="2875788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22492" y="2139696"/>
            <a:ext cx="2530602" cy="147218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CON: Lucide brain-circuit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940" y="2286000"/>
            <a:ext cx="347472" cy="347472"/>
          </a:xfrm>
          <a:prstGeom prst="rect">
            <a:avLst/>
          </a:prstGeom>
        </p:spPr>
      </p:pic>
      <p:sp>
        <p:nvSpPr>
          <p:cNvPr id="17" name="TEXT: 模型建议"/>
          <p:cNvSpPr txBox="1"/>
          <p:nvPr/>
        </p:nvSpPr>
        <p:spPr>
          <a:xfrm>
            <a:off x="6835140" y="2295144"/>
            <a:ext cx="179908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模型建议</a:t>
            </a:r>
          </a:p>
        </p:txBody>
      </p:sp>
      <p:sp>
        <p:nvSpPr>
          <p:cNvPr id="18" name="TEXT: Decider 或 GPT"/>
          <p:cNvSpPr txBox="1"/>
          <p:nvPr/>
        </p:nvSpPr>
        <p:spPr>
          <a:xfrm>
            <a:off x="6377940" y="2825496"/>
            <a:ext cx="2219706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Decider 或 GPT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80526" y="2875788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036558" y="2139696"/>
            <a:ext cx="2530602" cy="147218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ICON: Lucide shield-check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2006" y="2286000"/>
            <a:ext cx="347472" cy="347472"/>
          </a:xfrm>
          <a:prstGeom prst="rect">
            <a:avLst/>
          </a:prstGeom>
        </p:spPr>
      </p:pic>
      <p:sp>
        <p:nvSpPr>
          <p:cNvPr id="22" name="TEXT: 执行系统"/>
          <p:cNvSpPr txBox="1"/>
          <p:nvPr/>
        </p:nvSpPr>
        <p:spPr>
          <a:xfrm>
            <a:off x="9649206" y="2295144"/>
            <a:ext cx="179908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执行系统</a:t>
            </a:r>
          </a:p>
        </p:txBody>
      </p:sp>
      <p:sp>
        <p:nvSpPr>
          <p:cNvPr id="23" name="TEXT: 校验与落实动作"/>
          <p:cNvSpPr txBox="1"/>
          <p:nvPr/>
        </p:nvSpPr>
        <p:spPr>
          <a:xfrm>
            <a:off x="9192006" y="2825496"/>
            <a:ext cx="2219706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校验与落实动作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169663"/>
            <a:ext cx="5349240" cy="1545336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ICON: Lucide list-filter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28" y="4370831"/>
            <a:ext cx="393192" cy="393192"/>
          </a:xfrm>
          <a:prstGeom prst="rect">
            <a:avLst/>
          </a:prstGeom>
        </p:spPr>
      </p:pic>
      <p:sp>
        <p:nvSpPr>
          <p:cNvPr id="26" name="TEXT: Decider"/>
          <p:cNvSpPr txBox="1"/>
          <p:nvPr/>
        </p:nvSpPr>
        <p:spPr>
          <a:xfrm>
            <a:off x="1344168" y="4379976"/>
            <a:ext cx="44165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27" name="TEXT: 队列路由、受限候选、高频下一步选择"/>
          <p:cNvSpPr txBox="1"/>
          <p:nvPr/>
        </p:nvSpPr>
        <p:spPr>
          <a:xfrm>
            <a:off x="804672" y="5020055"/>
            <a:ext cx="4928616" cy="61264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队列路由、受限候选、高频下一步选择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169663"/>
            <a:ext cx="5349240" cy="1545336"/>
          </a:xfrm>
          <a:prstGeom prst="roundRect">
            <a:avLst>
              <a:gd name="adj" fmla="val 13000"/>
            </a:avLst>
          </a:prstGeom>
          <a:solidFill>
            <a:srgbClr val="EDF1FC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ICON: Lucide brain-circuit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9088" y="4370831"/>
            <a:ext cx="393192" cy="393192"/>
          </a:xfrm>
          <a:prstGeom prst="rect">
            <a:avLst/>
          </a:prstGeom>
        </p:spPr>
      </p:pic>
      <p:sp>
        <p:nvSpPr>
          <p:cNvPr id="30" name="TEXT: GPT"/>
          <p:cNvSpPr txBox="1"/>
          <p:nvPr/>
        </p:nvSpPr>
        <p:spPr>
          <a:xfrm>
            <a:off x="6967728" y="4379976"/>
            <a:ext cx="44165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31" name="TEXT: 复杂语义、开放式内容、异常分析"/>
          <p:cNvSpPr txBox="1"/>
          <p:nvPr/>
        </p:nvSpPr>
        <p:spPr>
          <a:xfrm>
            <a:off x="6428232" y="5020055"/>
            <a:ext cx="4928616" cy="61264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复杂语义、开放式内容、异常分析</a:t>
            </a:r>
          </a:p>
        </p:txBody>
      </p:sp>
      <p:sp>
        <p:nvSpPr>
          <p:cNvPr id="32" name="TEXT: 组合方案为应用建议；当前演示以两模型并排对比为主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组合方案为应用建议；当前演示以两模型并排对比为主。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: DECIDER × GPT  /  支付业务演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DECIDER × GPT  /  支付业务演示</a:t>
            </a:r>
          </a:p>
        </p:txBody>
      </p:sp>
      <p:sp>
        <p:nvSpPr>
          <p:cNvPr id="35" name="TEXT: 24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24 / 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6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结论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86D7C6"/>
                </a:solidFill>
                <a:latin typeface="Noto Sans CJK SC"/>
                <a:ea typeface="Noto Sans CJK SC"/>
                <a:cs typeface="Noto Sans CJK SC"/>
              </a:rPr>
              <a:t>STRANDS DECIDER   /   结论</a:t>
            </a:r>
          </a:p>
        </p:txBody>
      </p:sp>
      <p:sp>
        <p:nvSpPr>
          <p:cNvPr id="3" name="TEXT: 看清选择，量出速度，核实结果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看清选择，量出速度，核实结果</a:t>
            </a:r>
          </a:p>
        </p:txBody>
      </p:sp>
      <p:sp>
        <p:nvSpPr>
          <p:cNvPr id="4" name="TEXT: 本次支付演示的三点观察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B8C9DB"/>
                </a:solidFill>
                <a:latin typeface="Noto Sans CJK SC"/>
                <a:ea typeface="Noto Sans CJK SC"/>
                <a:cs typeface="Noto Sans CJK SC"/>
              </a:rPr>
              <a:t>本次支付演示的三点观察</a:t>
            </a:r>
          </a:p>
        </p:txBody>
      </p:sp>
      <p:sp>
        <p:nvSpPr>
          <p:cNvPr id="5" name="TEXT: 01"/>
          <p:cNvSpPr txBox="1"/>
          <p:nvPr/>
        </p:nvSpPr>
        <p:spPr>
          <a:xfrm>
            <a:off x="630936" y="2267712"/>
            <a:ext cx="1280160" cy="6675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700" b="1">
                <a:solidFill>
                  <a:srgbClr val="567B99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pic>
        <p:nvPicPr>
          <p:cNvPr id="6" name="ICON: Lucide time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3200400"/>
            <a:ext cx="502920" cy="502920"/>
          </a:xfrm>
          <a:prstGeom prst="rect">
            <a:avLst/>
          </a:prstGeom>
        </p:spPr>
      </p:pic>
      <p:sp>
        <p:nvSpPr>
          <p:cNvPr id="7" name="TEXT: 速度"/>
          <p:cNvSpPr txBox="1"/>
          <p:nvPr/>
        </p:nvSpPr>
        <p:spPr>
          <a:xfrm>
            <a:off x="1362456" y="3218688"/>
            <a:ext cx="2286000" cy="4754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速度</a:t>
            </a:r>
          </a:p>
        </p:txBody>
      </p:sp>
      <p:sp>
        <p:nvSpPr>
          <p:cNvPr id="8" name="TEXT: 19 组成功配对 累计耗时比 12.20×"/>
          <p:cNvSpPr txBox="1"/>
          <p:nvPr/>
        </p:nvSpPr>
        <p:spPr>
          <a:xfrm>
            <a:off x="630936" y="4087368"/>
            <a:ext cx="3282696" cy="9601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DCE6F0"/>
                </a:solidFill>
                <a:latin typeface="Noto Sans CJK SC"/>
                <a:ea typeface="Noto Sans CJK SC"/>
                <a:cs typeface="Noto Sans CJK SC"/>
              </a:rPr>
              <a:t>19 组成功配对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DCE6F0"/>
                </a:solidFill>
                <a:latin typeface="Noto Sans CJK SC"/>
                <a:ea typeface="Noto Sans CJK SC"/>
                <a:cs typeface="Noto Sans CJK SC"/>
              </a:rPr>
              <a:t>累计耗时比 12.20×</a:t>
            </a:r>
          </a:p>
        </p:txBody>
      </p:sp>
      <p:sp>
        <p:nvSpPr>
          <p:cNvPr id="9" name="TEXT: 02"/>
          <p:cNvSpPr txBox="1"/>
          <p:nvPr/>
        </p:nvSpPr>
        <p:spPr>
          <a:xfrm>
            <a:off x="4443984" y="2267712"/>
            <a:ext cx="1280160" cy="6675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700" b="1">
                <a:solidFill>
                  <a:srgbClr val="567B99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pic>
        <p:nvPicPr>
          <p:cNvPr id="10" name="ICON: Lucide rout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984" y="3200400"/>
            <a:ext cx="502920" cy="502920"/>
          </a:xfrm>
          <a:prstGeom prst="rect">
            <a:avLst/>
          </a:prstGeom>
        </p:spPr>
      </p:pic>
      <p:sp>
        <p:nvSpPr>
          <p:cNvPr id="11" name="TEXT: 决策"/>
          <p:cNvSpPr txBox="1"/>
          <p:nvPr/>
        </p:nvSpPr>
        <p:spPr>
          <a:xfrm>
            <a:off x="5175504" y="3218688"/>
            <a:ext cx="2286000" cy="4754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决策</a:t>
            </a:r>
          </a:p>
        </p:txBody>
      </p:sp>
      <p:sp>
        <p:nvSpPr>
          <p:cNvPr id="12" name="TEXT: 原始选择有差异 执行调整单独保留"/>
          <p:cNvSpPr txBox="1"/>
          <p:nvPr/>
        </p:nvSpPr>
        <p:spPr>
          <a:xfrm>
            <a:off x="4443984" y="4087368"/>
            <a:ext cx="3282696" cy="9601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DCE6F0"/>
                </a:solidFill>
                <a:latin typeface="Noto Sans CJK SC"/>
                <a:ea typeface="Noto Sans CJK SC"/>
                <a:cs typeface="Noto Sans CJK SC"/>
              </a:rPr>
              <a:t>原始选择有差异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DCE6F0"/>
                </a:solidFill>
                <a:latin typeface="Noto Sans CJK SC"/>
                <a:ea typeface="Noto Sans CJK SC"/>
                <a:cs typeface="Noto Sans CJK SC"/>
              </a:rPr>
              <a:t>执行调整单独保留</a:t>
            </a:r>
          </a:p>
        </p:txBody>
      </p:sp>
      <p:sp>
        <p:nvSpPr>
          <p:cNvPr id="13" name="TEXT: 03"/>
          <p:cNvSpPr txBox="1"/>
          <p:nvPr/>
        </p:nvSpPr>
        <p:spPr>
          <a:xfrm>
            <a:off x="8257031" y="2267712"/>
            <a:ext cx="1280160" cy="6675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700" b="1">
                <a:solidFill>
                  <a:srgbClr val="567B99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pic>
        <p:nvPicPr>
          <p:cNvPr id="14" name="ICON: Lucide circle-check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7031" y="3200400"/>
            <a:ext cx="502920" cy="502920"/>
          </a:xfrm>
          <a:prstGeom prst="rect">
            <a:avLst/>
          </a:prstGeom>
        </p:spPr>
      </p:pic>
      <p:sp>
        <p:nvSpPr>
          <p:cNvPr id="15" name="TEXT: 结果"/>
          <p:cNvSpPr txBox="1"/>
          <p:nvPr/>
        </p:nvSpPr>
        <p:spPr>
          <a:xfrm>
            <a:off x="8988552" y="3218688"/>
            <a:ext cx="2286000" cy="4754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结果</a:t>
            </a:r>
          </a:p>
        </p:txBody>
      </p:sp>
      <p:sp>
        <p:nvSpPr>
          <p:cNvPr id="16" name="TEXT: 两组反馈闭环 两模型均完成业务"/>
          <p:cNvSpPr txBox="1"/>
          <p:nvPr/>
        </p:nvSpPr>
        <p:spPr>
          <a:xfrm>
            <a:off x="8257031" y="4087368"/>
            <a:ext cx="3282696" cy="9601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DCE6F0"/>
                </a:solidFill>
                <a:latin typeface="Noto Sans CJK SC"/>
                <a:ea typeface="Noto Sans CJK SC"/>
                <a:cs typeface="Noto Sans CJK SC"/>
              </a:rPr>
              <a:t>两组反馈闭环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DCE6F0"/>
                </a:solidFill>
                <a:latin typeface="Noto Sans CJK SC"/>
                <a:ea typeface="Noto Sans CJK SC"/>
                <a:cs typeface="Noto Sans CJK SC"/>
              </a:rPr>
              <a:t>两模型均完成业务</a:t>
            </a:r>
          </a:p>
        </p:txBody>
      </p:sp>
      <p:sp>
        <p:nvSpPr>
          <p:cNvPr id="17" name="TEXT: 来源：Strands 官方博客 / v19 模型实现 / 2026-10-10 实测与截图；详见逐页讲稿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B8C9DB"/>
                </a:solidFill>
                <a:latin typeface="Noto Sans CJK SC"/>
                <a:ea typeface="Noto Sans CJK SC"/>
                <a:cs typeface="Noto Sans CJK SC"/>
              </a:rPr>
              <a:t>来源：Strands 官方博客 / v19 模型实现 / 2026-10-10 实测与截图；详见逐页讲稿。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3651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: DECIDER × GPT  /  支付业务演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8CA6BF"/>
                </a:solidFill>
                <a:latin typeface="Noto Sans CJK SC"/>
                <a:ea typeface="Noto Sans CJK SC"/>
                <a:cs typeface="Noto Sans CJK SC"/>
              </a:rPr>
              <a:t>DECIDER × GPT  /  支付业务演示</a:t>
            </a:r>
          </a:p>
        </p:txBody>
      </p:sp>
      <p:sp>
        <p:nvSpPr>
          <p:cNvPr id="20" name="TEXT: 25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8CA6BF"/>
                </a:solidFill>
                <a:latin typeface="Noto Sans CJK SC"/>
                <a:ea typeface="Noto Sans CJK SC"/>
                <a:cs typeface="Noto Sans CJK SC"/>
              </a:rPr>
              <a:t>25 /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Strands Decider × GPT · 支付业务演示 · 25页精简版</dc:title>
  <dc:subject>决策过程、速度与业务结果对比</dc:subject>
  <dc:creator>Strands Decider Demo</dc:creator>
  <cp:keywords>Strands Decider, AWS, SageMaker, Bedrock, 加密支付, 真实模型对比</cp:keywords>
  <dc:description>Revised from v2; 25 slides, one BERT comparison; dated real screenshots and observations.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