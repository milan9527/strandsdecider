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81" r:id="rId33"/>
    <p:sldId id="282" r:id="rId34"/>
    <p:sldId id="278" r:id="rId30"/>
    <p:sldId id="279" r:id="rId31"/>
    <p:sldId id="280" r:id="rId3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参照原始25页文稿的模型目的、原理、场景、实测、结论主线重新组织。开头加入System One/Jev背景；闭环仅保留两页。仍为25页，BERT一页，无GPU提示。Jev只作模型类别与产品介绍，不参与本项目性能比较。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从原版第二页的高频重复、结构化输出和嵌入流程展开。这里的决策模型处理语义判断，并不代替确定性的金额运算、权限校验或业务状态机。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Strands官方把这种模型称为decision models或system one models。TypeSafe文档定义System One为对state返回typed answers与probabilities的模型。Choice、Noul、Score在两方材料中均有介绍。此页不展示虚构模型运行数字。输出结构受约束不代表判断一定正确；校准需在一组预测上评估，不能保证单条答案。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Jev是TypeSafe的旗舰System One模型，通过官方API/SDK调用。官方强调RLCD（Reinforcement Learning for Calibrated Decisions）、typed primitives与并行问题评估。Strands Decider是Strands Labs的开源2B实验模型，公开代码和权重，本项目使用v19自行部署。不能因此断言二者内部架构相同、API完全兼容、或Decider和Jev有相同性能。没有采用Jev营销页面的速度/成本倍数。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用原版第三页的核心机制。模型移除语言模型词表生成头，使用答案位置和候选位置的隐藏表示，经归一化、投影和点积得到候选分数，再计算概率。候选从请求提供；choice取最高概率项。支持同一state的多个问题共享计算。单次请求评分的优势不等于整个多步业务只需一次模型调用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官方v19基于Qwen3.5-2B，配合LoRA和Pointer Head。答案位置与候选位置隐藏表示经投影、归一化和点积计算logits，按类型温度计算概率。GPT在本项目输出JSON，再由应用解析验证。两者都接受候选描述；GPT也可受限选择，不能泛化为必然输出长文。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BERT仅在此页概念比较，未部署或测速。常见BERT+固定分类头需要领域标签与监督适配。基于BERT的NLI或文本对模型也能按动态候选评分，因此动态候选不是Decider独有。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恢复原版第六页的六类应用，依据Strands官方博客。支付只是其中一个易于观察的演示载体，并非Decider或Jev专门面向金融。模型不负责执行资金操作。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当前架构已重绘为EC2私网部署：CloudFront访问私有S3，API经VPC Origin、内网ALB到ECS Fargate；API经私网HTTP直接调用VPC内ECS on EC2模型服务，另调用Bedrock和DynamoDB。图中使用AWS官方图标，不单列Runtime或数据库Endpoint节点。GPU常驻，保留磁盘缓存，用户无需逐次启动。</a:t>
            </a:r>
          </a:p>
          <a:p/>
          <a:p>
            <a:r>
              <a:t>来源与口径：</a:t>
            </a:r>
          </a:p>
          <a:p/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四个固定案例覆盖129USDC未到账、100USDT订单少付0.20、250USDC退款和商户结算超时。五步都是模型选择候选，执行器决定实际状态。确认门槛12、SLA60分钟是演示参数。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照原版第11页。固定输入每一步双侧输入指纹一致，同步请求；收齐方案后独立执行。后续反馈模式各侧状态独立，不能把不同输入下的时延混为配对基准。成功时延含通信排队，不等于浏览器全程时间。本稿保留2026-10-10历史基准：19组成功配对，另有1次GPT超时；不标为EC2实测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这是v2采集的真实固定输入第1轮截图。Decider91.831ms，GPT1169.203ms。输入指纹一致，原始模型选择和实际执行分别展示。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表中为真实5个同输入配对请求。橙色行显示Decider等待人工审批，而GPT规则检查通过。后续动作是固定输入独立选择，不表示读取了上一行执行结果。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本页解释收款场景中同一审批问题的选择差异。</a:t>
            </a:r>
          </a:p>
          <a:p>
            <a:r>
              <a:t>1. 两侧业务输入指纹均为b57d0d9cf45b44d9：USDC收款未到账、无风险标记、确认数3/12。输入包含refund_approved=false，但退款审批只适用于退款场景。</a:t>
            </a:r>
          </a:p>
          <a:p>
            <a:r>
              <a:t>2. OPTIONS['approve']明确规定：普通收款没有风险标记即可选择approved；退款才需要验证目的地并获得审批。因此本例参考选择是规则检查通过，后续资金处置仍须等待链上确认。参考答案没有作为答案输入给模型。</a:t>
            </a:r>
          </a:p>
          <a:p>
            <a:r>
              <a:t>3. Decider通过候选评分取最高项：await_approval 58.54%、approved 18.49%、risk_review 16.20%、verify_destination 6.78%；后端总耗时87.406ms。58.54%是候选概率，不是业务正确率。该次输出增加了本例不需要的审批。</a:t>
            </a:r>
          </a:p>
          <a:p>
            <a:r>
              <a:t>4. GPT使用相同业务事实、问题和候选条件，适配层另加只输出候选ID JSON的系统提示；生成{"choice":"approved"}，后端总耗时3771.788ms。界面将approved映射为规则检查通过，这个标签不表示GPT执行了规则引擎。</a:t>
            </a:r>
          </a:p>
          <a:p>
            <a:r>
              <a:t>5. 两者均为学习得到的模型判断，自然语言候选条件不等于强制执行的if/else。refund_approved=false可能干扰了Decider对条件适用范围的判断，但这只是待验证的假设；现有概率与输出不能揭示内部原因。可用删除无关退款字段、强调case_type或重写候选条件的受控重复实验检验，当前没有执行这些实验。GPT这次符合条件不代表以后总能正确。</a:t>
            </a:r>
          </a:p>
          <a:p>
            <a:r>
              <a:t>6. 审批通过不等于到账或业务完成。双方实际资金动作均挂起，等待3/12达标；Decider还记录了review_pending，后续需重新判断或解除待复核状态。这些耗时包括后端通信与排队，不是模型纯计算时间。</a:t>
            </a:r>
          </a:p>
          <a:p/>
          <a:p>
            <a:r>
              <a:t>实现依据：app/crypto.py::OPTIONS、facts、payload_for、reference、execution_action；app/bedrock.py::decide。</a:t>
            </a:r>
          </a:p>
          <a:p/>
          <a:p>
            <a:r>
              <a:t>来源与口径：</a:t>
            </a:r>
          </a:p>
          <a:p/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两个固定计划都处理5步，但此时没有资金账本且工单仍待跟进，因此不是业务完成。截图为原始fixed-final。客服回复为应用模板。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固定退款Decider在execute选择refund_payment，145.857ms，应用改为hold；GPT直接选择hold，1297.061ms。Decider还在close选择resolve，应用改为follow_up。此页截图为真实第4轮。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从v3六页收紧为两页。这里承接原版17至19页推进模拟交易的故事，反映当前自主反馈模式：每侧独立读状态、判断、执行、反馈，条件缺失时等待事件。确认数、地址验证和审批来自模拟器，模型不能制造外部证据。无效动作可有限重判，同节点连续两次无进展转人工；最多20决策/32tick。后续输入可能不同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DC每侧6次决策、1事件，Decider570.140ms/GPT7268.536ms；退款每侧9次决策、2事件，Decider897.332ms/GPT10541.95ms。下方截图为同次真实退款最终结果。双方都complete=true，但Decider在过程中有不同原始选择及执行保护调整。成功结果不能消除这些差异。后续状态可能不同，这一页不是同输入配对基准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计入成功同输入配对的Decider1809.597ms、GPT22068.204ms，比值12.195093。均值95.242ms和1161.484ms。GPT另有一次ReadTimeoutError，失败不进入成功配对总时延，不能将该比值描述为全程用户体验或稳定性能保证。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四场景分别是5、5、5、4组配对。图中每一对条形比较同一子集。结算Decider还有一个成功处置请求，但对应GPT超时，因此也排除该Decider请求，保证配对口径。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按stage分别对paired=true的backend_total_ms取均值。客服、核验、审批、结案各4对，业务处置3对。没有跨不同请求数量比较累计值。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轮固定输入测试每侧尝试20次。Decider成功返回20次，GPT成功返回19次，其商户结算execute请求出现ReadTimeoutError。成功返回是获得有效选择，并非业务完成。速度与规则符合度只比较双方都成功的19组同输入请求；GPT失败对应的Decider成功请求也排除，保证双方使用相同记录。19组累计后端耗时为Decider1809.597ms、GPT22068.204ms，未包含失败等待。与开发者业务参考一致的次数为13/19与19/19，这不是通用准确率。例如普通收款无风险标记，无需退款人工审批，预设规则对应approved；该次Decider选择await_approval，GPT选择approved。商户结算中Decider处理五步后仍待跟进；GPT虽取得其他四步选择，但缺少完整方案，因此该侧本次未进入沙盒执行。本页分别解释调用成功、规则选择、实际执行；所有结论仅描述这一轮观测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本页是面向未来的组合建议，不是本项目已实现的路由功能。高频受限选择可评估Decider；复杂语义或开放式内容可使用GPT；金额权限账本最终校验由确定性代码承担。低confidence可辅助分流但需要业务校准。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24页文稿以模型价值、项目启示、下一步评估结尾。本版总结模型方向、本次实测及应用落地三层：决策模型面向有限判断，Decider在本次19组成功同输入配对中累计耗时低于GPT，但原始选择有差异。外部证据和执行校验仍由业务系统负责；不能把Jev官方营销结果或BERT推断混为本项目实测。下一步应按真实业务分布重复评估准确性、校准、吞吐与整体成本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给出用户要求的Demo和Repo完整可点击地址，二维码内容与地址一致。Demo需要现有用户名登录；GitHub仓库为私有仓库，需要访问权限。不在文稿中嵌入密码或GitHub令牌。官方资料和证据来源完整保存在各页备注及讲稿。</a:t>
            </a:r>
          </a:p>
          <a:p/>
          <a:p>
            <a:r>
              <a:t>来源与口径：</a:t>
            </a:r>
          </a:p>
          <a:p>
            <a:r>
              <a:t>原始文稿：Strands-Decider-模型原理与支付业务演示.pptx；SHA256 2cec652ba32a24853d0c4bf45b8bfae4854fb1c2bafcaf851f89140a7e624f55</a:t>
            </a:r>
          </a:p>
          <a:p>
            <a:r>
              <a:t>Strands 官方介绍：https://strandsagents.com/blog/introducing-strands-decider/</a:t>
            </a:r>
          </a:p>
          <a:p>
            <a:r>
              <a:t>官方 v19：https://huggingface.co/StrandsAgents/strands-decider-2B-hobson-v19</a:t>
            </a:r>
          </a:p>
          <a:p>
            <a:r>
              <a:t>判断实现：https://github.com/strands-labs/strands-decider/tree/63d24ae286e50105fba0bd1db15b0e243aea4650/src/strands_decider</a:t>
            </a:r>
          </a:p>
          <a:p>
            <a:r>
              <a:t>Jev / System One 官方文档：https://docs.typesafe.ai/concepts/system-one</a:t>
            </a:r>
          </a:p>
          <a:p>
            <a:r>
              <a:t>Jev 发布介绍：https://typesafe.ai/blog/introducing-system-one-models-and-jev</a:t>
            </a:r>
          </a:p>
          <a:p>
            <a:r>
              <a:t>BERT：https://aclanthology.org/N19-1423/；NLI 候选评分：https://aclanthology.org/D19-1404/</a:t>
            </a:r>
          </a:p>
          <a:p>
            <a:r>
              <a:t>Demo：https://d3i7ogfx5ml7dc.cloudfront.net/#crypto</a:t>
            </a:r>
          </a:p>
          <a:p>
            <a:r>
              <a:t>Repo：https://github.com/milan9527/StrandsDecider</a:t>
            </a:r>
          </a:p>
          <a:p>
            <a:r>
              <a:t>固定输入证据：docs/results/benchmark-2026-10-10.json</a:t>
            </a:r>
          </a:p>
          <a:p>
            <a:r>
              <a:t>闭环证据：docs/presentations/v2/loop-observations.json</a:t>
            </a:r>
          </a:p>
          <a:p>
            <a:r>
              <a:t>截图来源：docs/presentations/v2/capture-manifest.json；裁剪来源：docs/presentations/v3/build-manifest.json</a:t>
            </a:r>
          </a:p>
          <a:p>
            <a:r>
              <a:t>数据：2026-10-10 12:26 UTC 起，crypto10 / API 20261010-loop1；本次仅编辑演示文稿，没有重新调用模型。</a:t>
            </a:r>
          </a:p>
          <a:p>
            <a:r>
              <a:t>历史数据的采集环境：Decider 官方 v19 / SageMaker ml.g6.xlarge / L4；GPT：Bedrock us.openai.gpt-6.1-sol / reasoning low。</a:t>
            </a:r>
          </a:p>
          <a:p>
            <a:r>
              <a:t>时间口径：backend_total_ms 包含服务通信与排队；不含外部事件等待，非浏览器全程用时。Jev、BERT 未参与本项目实测。</a:t>
            </a:r>
          </a:p>
          <a:p>
            <a:r>
              <a:t>业务与资金是模拟案例；客服回复来自应用模板。</a:t>
            </a:r>
          </a:p>
          <a:p/>
          <a:p>
            <a:r>
              <a:t>v5 当前部署更新（2026-10-11）：</a:t>
            </a:r>
          </a:p>
          <a:p>
            <a:r>
              <a:t>前端仍为私有 S3 + CloudFront OAC；API 仍为 ECS Fargate，经内网 ALB 提供服务。</a:t>
            </a:r>
          </a:p>
          <a:p>
            <a:r>
              <a:t>Decider 改为 ECS on EC2，us-east-1d / g6.xlarge / NVIDIA L4 24GB 标称显存。On-Demand 常驻，不因闲置自动停止，模型权重和缓存位于80GB加密gp3磁盘。API 经私网 HTTP :8099 调用模型，正常推理不等待前端GPU预检查；后端继续校验readiness、并发与推理租约。SageMaker Endpoint 已释放、旧控制器禁用，Model/EndpointConfig保留作回退。</a:t>
            </a:r>
          </a:p>
          <a:p>
            <a:r>
              <a:t>EC2计算费参考0.8048美元/小时，730小时约587.50美元；磁盘与其他服务另计。旧可用区停止实例与其磁盘另行保留，不参与当前推理。</a:t>
            </a:r>
          </a:p>
          <a:p>
            <a:r>
              <a:t>本版只更新文稿，没有重新采集模型性能；原速度图、失败样本和截图保留2026-10-10采集环境，不作为当前EC2性能保证。</a:t>
            </a:r>
          </a:p>
          <a:p>
            <a:r>
              <a:t>当前部署与验证依据：deployment/DEPLOYED.md、deployment/README.md、docs/DEVELOPMENT.md。</a:t>
            </a:r>
          </a:p>
          <a:p/>
          <a:p>
            <a:r>
              <a:t>v6补充：第23–24页新增2026-10-11 EC2优化流程的独立实测，输入字段与候选描述优化，未修改模型权重。原2026-10-10数据仍保留原采集口径。新增页不能用于把旧数据改标为EC2测速；优化后参考一致18/20也不是通用准确率。来源：docs/results/optimized-2026-10-11.json。Demo：https://d3i7ogfx5ml7dc.cloudfront.net/#crypto；Repo：https://github.com/milan9527/StrandsDecid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展示现有真实测试，不是新编造的模型输出，也未重新训练或微调模型。</a:t>
            </a:r>
          </a:p>
          <a:p>
            <a:r>
              <a:t>演示操作：支付流程对比 → USDC未到账 → 固定流程 → 开始对比；保持证据不变，再选择优化流程。可用对比记录切换两次运行，查看审批节点及实际模型输入。</a:t>
            </a:r>
          </a:p>
          <a:p>
            <a:r>
              <a:t>普通收款输入原本含refund_approved=false。优化后只保留本场景相关字段，候选明确退款审批只适用于refund。候选ID集合完全不变，两模型使用同一优化输入。程序没有把参考答案输入模型，也没有替换模型原始选择。</a:t>
            </a:r>
          </a:p>
          <a:p>
            <a:r>
              <a:t>本次固定流程Decider选择await_approval，75.722ms；优化后选择approved，80.217ms。该单步没有提速。GPT两次均选择approved，分别1080.104ms和820.332ms。这是2026-10-11 EC2批次，不能与第14页2026-10-10历史记录的87.406ms混淆。</a:t>
            </a:r>
          </a:p>
          <a:p>
            <a:r>
              <a:t>观察支持本次优化后选择改善，但不能从输出确认模型内部错误原因。输入字段与候选表述同时修改，因此也不能单独归因于删除某个字段。</a:t>
            </a:r>
          </a:p>
          <a:p>
            <a:r>
              <a:t>确认数仍为3/12；两侧实际资金动作均挂起，未生成资金账本，不是业务完成。优化流程是固定五步流程，不自动推进模拟事件；自主闭环仍是独立测试选项。</a:t>
            </a:r>
          </a:p>
          <a:p>
            <a:r>
              <a:t>来源：docs/results/optimized-2026-10-11.json，pending/approve；入口截图为登录现网后选择优化流程的高分辨率元素截图，未启动决策；采集时间、选择器与哈希见capture-manifest.json。</a:t>
            </a:r>
          </a:p>
          <a:p>
            <a:r>
              <a:t>配置：EC2 g6.xlarge / NVIDIA L4，Decider v19；Bedrock GPT-6.1 Sol / reasoning low。API 20261011-optimized1，前端optimized1。耗时为backend_total_ms，含通信与排队。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本页独立呈现2026-10-11 EC2 g6.xlarge常驻环境的优化实验，不与之前SageMaker图表合并。</a:t>
            </a:r>
          </a:p>
          <a:p>
            <a:r>
              <a:t>四场景×五步骤×两输入配置×两提供方=80次真实模型调用，全部成功。每场景先固定流程后优化流程；两者初始业务证据相同，字段和候选描述不同。同一种配置内部两模型收到相同业务输入，但不同配置不能算同输入配对。</a:t>
            </a:r>
          </a:p>
          <a:p>
            <a:r>
              <a:t>Decider参考一致：USDC 4→5、少付4→4、退款2→4、结算4→5，合计14/20→18/20。GPT两配置均20/20。参考来自演示策略，不是行业统一答案或通用准确率。</a:t>
            </a:r>
          </a:p>
          <a:p>
            <a:r>
              <a:t>Decider执行保护调整4→1。优化后少付核验误选await_confirmations，退款审批过早选择approved，后端仍改为验证退款地址。不能隐藏剩余错误，也不能把系统保护记成模型答对。四个初始场景资金条件均未补齐，业务仍待跟进。</a:t>
            </a:r>
          </a:p>
          <a:p>
            <a:r>
              <a:t>20次后端累计：Decider 2059.338→1577.990ms；GPT 18694.280→23174.244ms。包含通信与排队，不是并发墙钟时间或GPU纯推理。没有随机化、重复采样或置信区间，顺序和缓存可能影响速度；不能保证优化一定提速，GPT本批次反而更慢。</a:t>
            </a:r>
          </a:p>
          <a:p>
            <a:r>
              <a:t>下方截图是USDC优化流程的真实界面，仅展示该场景5步累计：Decider390.9ms、GPT9.77s、比值25.0×，不是上方四场景合计。</a:t>
            </a:r>
          </a:p>
          <a:p>
            <a:r>
              <a:t>来源：docs/results/optimized-2026-10-11.json；截图来源与裁剪坐标见capture-manifest.json。真实采集已在上一轮完成；本次编辑PPT没有重新调用模型。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7.png"/><Relationship Id="rId7" Type="http://schemas.openxmlformats.org/officeDocument/2006/relationships/image" Target="../media/image20.png"/><Relationship Id="rId8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notesSlide" Target="../notesSlides/notesSlide9.xml"/><Relationship Id="rId10" Type="http://schemas.openxmlformats.org/officeDocument/2006/relationships/image" Target="../media/image4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4.png"/><Relationship Id="rId6" Type="http://schemas.openxmlformats.org/officeDocument/2006/relationships/image" Target="../media/image19.png"/><Relationship Id="rId7" Type="http://schemas.openxmlformats.org/officeDocument/2006/relationships/image" Target="../media/image31.png"/><Relationship Id="rId8" Type="http://schemas.openxmlformats.org/officeDocument/2006/relationships/image" Target="../media/image18.png"/><Relationship Id="rId9" Type="http://schemas.openxmlformats.org/officeDocument/2006/relationships/image" Target="../media/image32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33.png"/><Relationship Id="rId7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5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2.png"/><Relationship Id="rId6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8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image" Target="../media/image17.png"/><Relationship Id="rId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2.png"/><Relationship Id="rId4" Type="http://schemas.openxmlformats.org/officeDocument/2006/relationships/hyperlink" Target="https://d3i7ogfx5ml7dc.cloudfront.net/#crypto" TargetMode="External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hyperlink" Target="https://github.com/milan9527/StrandsDecider" TargetMode="External"/><Relationship Id="rId8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决策模型与支付业务 / v6 · 优化实测 · 27 页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决策模型与支付业务 / v6 · 优化实测 · 27 页</a:t>
            </a:r>
          </a:p>
        </p:txBody>
      </p:sp>
      <p:sp>
        <p:nvSpPr>
          <p:cNvPr id="3" name="TEXT: 让小模型做好高频决策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让小模型做好高频决策</a:t>
            </a:r>
          </a:p>
        </p:txBody>
      </p:sp>
      <p:sp>
        <p:nvSpPr>
          <p:cNvPr id="4" name="TEXT: Strands Decider &amp; Jev：从模型范式，到 Decider × GPT 的真实演示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Strands Decider &amp; Jev：从模型范式，到 Decider × GPT 的真实演示</a:t>
            </a:r>
          </a:p>
        </p:txBody>
      </p:sp>
      <p:sp>
        <p:nvSpPr>
          <p:cNvPr id="5" name="TEXT: 01"/>
          <p:cNvSpPr txBox="1"/>
          <p:nvPr/>
        </p:nvSpPr>
        <p:spPr>
          <a:xfrm>
            <a:off x="640080" y="2359152"/>
            <a:ext cx="10058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5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pic>
        <p:nvPicPr>
          <p:cNvPr id="6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319272"/>
            <a:ext cx="438912" cy="438912"/>
          </a:xfrm>
          <a:prstGeom prst="rect">
            <a:avLst/>
          </a:prstGeom>
        </p:spPr>
      </p:pic>
      <p:sp>
        <p:nvSpPr>
          <p:cNvPr id="7" name="TEXT: 认识决策模型"/>
          <p:cNvSpPr txBox="1"/>
          <p:nvPr/>
        </p:nvSpPr>
        <p:spPr>
          <a:xfrm>
            <a:off x="1252728" y="3337560"/>
            <a:ext cx="283464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认识决策模型</a:t>
            </a:r>
          </a:p>
        </p:txBody>
      </p:sp>
      <p:sp>
        <p:nvSpPr>
          <p:cNvPr id="8" name="TEXT: Strands Decider / Jev 面向软件的有限判断"/>
          <p:cNvSpPr txBox="1"/>
          <p:nvPr/>
        </p:nvSpPr>
        <p:spPr>
          <a:xfrm>
            <a:off x="640080" y="4123944"/>
            <a:ext cx="3291840" cy="10058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Strands Decider / Jev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面向软件的有限判断</a:t>
            </a:r>
          </a:p>
        </p:txBody>
      </p:sp>
      <p:sp>
        <p:nvSpPr>
          <p:cNvPr id="9" name="TEXT: 02"/>
          <p:cNvSpPr txBox="1"/>
          <p:nvPr/>
        </p:nvSpPr>
        <p:spPr>
          <a:xfrm>
            <a:off x="4453128" y="2359152"/>
            <a:ext cx="10058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5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pic>
        <p:nvPicPr>
          <p:cNvPr id="10" name="ICON: Lucide workfl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3319272"/>
            <a:ext cx="438912" cy="438912"/>
          </a:xfrm>
          <a:prstGeom prst="rect">
            <a:avLst/>
          </a:prstGeom>
        </p:spPr>
      </p:pic>
      <p:sp>
        <p:nvSpPr>
          <p:cNvPr id="11" name="TEXT: 走进支付演示"/>
          <p:cNvSpPr txBox="1"/>
          <p:nvPr/>
        </p:nvSpPr>
        <p:spPr>
          <a:xfrm>
            <a:off x="5065776" y="3337560"/>
            <a:ext cx="283464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走进支付演示</a:t>
            </a:r>
          </a:p>
        </p:txBody>
      </p:sp>
      <p:sp>
        <p:nvSpPr>
          <p:cNvPr id="12" name="TEXT: 同一业务输入 选择、速度与执行结果"/>
          <p:cNvSpPr txBox="1"/>
          <p:nvPr/>
        </p:nvSpPr>
        <p:spPr>
          <a:xfrm>
            <a:off x="4453128" y="4123944"/>
            <a:ext cx="3291840" cy="10058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同一业务输入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选择、速度与执行结果</a:t>
            </a:r>
          </a:p>
        </p:txBody>
      </p:sp>
      <p:sp>
        <p:nvSpPr>
          <p:cNvPr id="13" name="TEXT: 03"/>
          <p:cNvSpPr txBox="1"/>
          <p:nvPr/>
        </p:nvSpPr>
        <p:spPr>
          <a:xfrm>
            <a:off x="8266175" y="2359152"/>
            <a:ext cx="1005840" cy="5943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500" b="1">
                <a:solidFill>
                  <a:srgbClr val="567B99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pic>
        <p:nvPicPr>
          <p:cNvPr id="14" name="ICON: Lucide targ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319272"/>
            <a:ext cx="438912" cy="438912"/>
          </a:xfrm>
          <a:prstGeom prst="rect">
            <a:avLst/>
          </a:prstGeom>
        </p:spPr>
      </p:pic>
      <p:sp>
        <p:nvSpPr>
          <p:cNvPr id="15" name="TEXT: 形成应用结论"/>
          <p:cNvSpPr txBox="1"/>
          <p:nvPr/>
        </p:nvSpPr>
        <p:spPr>
          <a:xfrm>
            <a:off x="8878824" y="3337560"/>
            <a:ext cx="2834640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形成应用结论</a:t>
            </a:r>
          </a:p>
        </p:txBody>
      </p:sp>
      <p:sp>
        <p:nvSpPr>
          <p:cNvPr id="16" name="TEXT: 哪些节点适合使用 怎样评估真实收益"/>
          <p:cNvSpPr txBox="1"/>
          <p:nvPr/>
        </p:nvSpPr>
        <p:spPr>
          <a:xfrm>
            <a:off x="8266175" y="4123944"/>
            <a:ext cx="3291840" cy="10058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哪些节点适合使用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怎样评估真实收益</a:t>
            </a:r>
          </a:p>
        </p:txBody>
      </p:sp>
      <p:sp>
        <p:nvSpPr>
          <p:cNvPr id="17" name="TEXT: 模型介绍 → 工作原理 → 支付对比 → 实测结论 · 2026.10.11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模型介绍 → 工作原理 → 支付对比 → 实测结论 · 2026.10.11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0" name="TEXT: 01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01 / 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为什么需要决策模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为什么需要决策模型</a:t>
            </a:r>
          </a:p>
        </p:txBody>
      </p:sp>
      <p:sp>
        <p:nvSpPr>
          <p:cNvPr id="3" name="TEXT: 软件流程，需要大量小而明确的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软件流程，需要大量小而明确的判断</a:t>
            </a:r>
          </a:p>
        </p:txBody>
      </p:sp>
      <p:sp>
        <p:nvSpPr>
          <p:cNvPr id="4" name="TEXT: 选哪个队列？调用哪个工具？证据是否足够继续？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选哪个队列？调用哪个工具？证据是否足够继续？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77440"/>
            <a:ext cx="347472" cy="347472"/>
          </a:xfrm>
          <a:prstGeom prst="rect">
            <a:avLst/>
          </a:prstGeom>
        </p:spPr>
      </p:pic>
      <p:sp>
        <p:nvSpPr>
          <p:cNvPr id="7" name="TEXT: 接收请求"/>
          <p:cNvSpPr txBox="1"/>
          <p:nvPr/>
        </p:nvSpPr>
        <p:spPr>
          <a:xfrm>
            <a:off x="1207008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接收请求</a:t>
            </a:r>
          </a:p>
        </p:txBody>
      </p:sp>
      <p:sp>
        <p:nvSpPr>
          <p:cNvPr id="8" name="TEXT: 客户消息 / 当前状态"/>
          <p:cNvSpPr txBox="1"/>
          <p:nvPr/>
        </p:nvSpPr>
        <p:spPr>
          <a:xfrm>
            <a:off x="749808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客户消息 / 当前状态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1896" y="2377440"/>
            <a:ext cx="347472" cy="347472"/>
          </a:xfrm>
          <a:prstGeom prst="rect">
            <a:avLst/>
          </a:prstGeom>
        </p:spPr>
      </p:pic>
      <p:sp>
        <p:nvSpPr>
          <p:cNvPr id="12" name="TEXT: 选择路径"/>
          <p:cNvSpPr txBox="1"/>
          <p:nvPr/>
        </p:nvSpPr>
        <p:spPr>
          <a:xfrm>
            <a:off x="4959096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选择路径</a:t>
            </a:r>
          </a:p>
        </p:txBody>
      </p:sp>
      <p:sp>
        <p:nvSpPr>
          <p:cNvPr id="13" name="TEXT: 队列 / 工具 / 下一步"/>
          <p:cNvSpPr txBox="1"/>
          <p:nvPr/>
        </p:nvSpPr>
        <p:spPr>
          <a:xfrm>
            <a:off x="4501896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队列 / 工具 / 下一步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297180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231136"/>
            <a:ext cx="3468624" cy="14813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lipboar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984" y="2377440"/>
            <a:ext cx="347472" cy="347472"/>
          </a:xfrm>
          <a:prstGeom prst="rect">
            <a:avLst/>
          </a:prstGeom>
        </p:spPr>
      </p:pic>
      <p:sp>
        <p:nvSpPr>
          <p:cNvPr id="17" name="TEXT: 检查结果"/>
          <p:cNvSpPr txBox="1"/>
          <p:nvPr/>
        </p:nvSpPr>
        <p:spPr>
          <a:xfrm>
            <a:off x="8711184" y="2386584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检查结果</a:t>
            </a:r>
          </a:p>
        </p:txBody>
      </p:sp>
      <p:sp>
        <p:nvSpPr>
          <p:cNvPr id="18" name="TEXT: 是否完成 / 是否升级"/>
          <p:cNvSpPr txBox="1"/>
          <p:nvPr/>
        </p:nvSpPr>
        <p:spPr>
          <a:xfrm>
            <a:off x="8253984" y="2916936"/>
            <a:ext cx="3157728" cy="7315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是否完成 / 是否升级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416552"/>
            <a:ext cx="393192" cy="393192"/>
          </a:xfrm>
          <a:prstGeom prst="rect">
            <a:avLst/>
          </a:prstGeom>
        </p:spPr>
      </p:pic>
      <p:sp>
        <p:nvSpPr>
          <p:cNvPr id="21" name="TEXT: 这些判断的共同点"/>
          <p:cNvSpPr txBox="1"/>
          <p:nvPr/>
        </p:nvSpPr>
        <p:spPr>
          <a:xfrm>
            <a:off x="134416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这些判断的共同点</a:t>
            </a:r>
          </a:p>
        </p:txBody>
      </p:sp>
      <p:sp>
        <p:nvSpPr>
          <p:cNvPr id="22" name="TEXT: 候选明确、频繁调用、结果被代码消费"/>
          <p:cNvSpPr txBox="1"/>
          <p:nvPr/>
        </p:nvSpPr>
        <p:spPr>
          <a:xfrm>
            <a:off x="80467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候选明确、频繁调用、结果被代码消费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215384"/>
            <a:ext cx="5358384" cy="149961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timer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416552"/>
            <a:ext cx="393192" cy="393192"/>
          </a:xfrm>
          <a:prstGeom prst="rect">
            <a:avLst/>
          </a:prstGeom>
        </p:spPr>
      </p:pic>
      <p:sp>
        <p:nvSpPr>
          <p:cNvPr id="25" name="TEXT: 决策模型的目标"/>
          <p:cNvSpPr txBox="1"/>
          <p:nvPr/>
        </p:nvSpPr>
        <p:spPr>
          <a:xfrm>
            <a:off x="6967728" y="4425696"/>
            <a:ext cx="4425696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决策模型的目标</a:t>
            </a:r>
          </a:p>
        </p:txBody>
      </p:sp>
      <p:sp>
        <p:nvSpPr>
          <p:cNvPr id="26" name="TEXT: 用受约束的输出，降低判断开销"/>
          <p:cNvSpPr txBox="1"/>
          <p:nvPr/>
        </p:nvSpPr>
        <p:spPr>
          <a:xfrm>
            <a:off x="6428232" y="5065776"/>
            <a:ext cx="4937760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用受约束的输出，降低判断开销</a:t>
            </a:r>
          </a:p>
        </p:txBody>
      </p:sp>
      <p:sp>
        <p:nvSpPr>
          <p:cNvPr id="27" name="TEXT: 自然语言理解与路径选择交给模型；金额、权限与执行前提由代码核验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自然语言理解与路径选择交给模型；金额、权限与执行前提由代码核验。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30" name="TEXT: 02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Decision Models · System One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Decision Models · System One</a:t>
            </a:r>
          </a:p>
        </p:txBody>
      </p:sp>
      <p:sp>
        <p:nvSpPr>
          <p:cNvPr id="3" name="TEXT: 决策模型：状态输入，类型化答案输出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决策模型：状态输入，类型化答案输出</a:t>
            </a:r>
          </a:p>
        </p:txBody>
      </p:sp>
      <p:sp>
        <p:nvSpPr>
          <p:cNvPr id="4" name="TEXT: 把一个复杂流程拆成明确问题，再在应用代码中组合答案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把一个复杂流程拆成明确问题，再在应用代码中组合答案。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2029968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享输入：业务状态 + 问题 + 候选或判断条件"/>
          <p:cNvSpPr txBox="1"/>
          <p:nvPr/>
        </p:nvSpPr>
        <p:spPr>
          <a:xfrm>
            <a:off x="1362456" y="2080260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共享输入：业务状态 + 问题 + 候选或判断条件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880360"/>
            <a:ext cx="393192" cy="393192"/>
          </a:xfrm>
          <a:prstGeom prst="rect">
            <a:avLst/>
          </a:prstGeom>
        </p:spPr>
      </p:pic>
      <p:sp>
        <p:nvSpPr>
          <p:cNvPr id="9" name="TEXT: Choice · 多选一"/>
          <p:cNvSpPr txBox="1"/>
          <p:nvPr/>
        </p:nvSpPr>
        <p:spPr>
          <a:xfrm>
            <a:off x="1344168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Choice · 多选一</a:t>
            </a:r>
          </a:p>
        </p:txBody>
      </p:sp>
      <p:sp>
        <p:nvSpPr>
          <p:cNvPr id="10" name="TEXT: 该交给哪个客服队列？  支付 / 退款 / 商户运营"/>
          <p:cNvSpPr txBox="1"/>
          <p:nvPr/>
        </p:nvSpPr>
        <p:spPr>
          <a:xfrm>
            <a:off x="804672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该交给哪个客服队列？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支付 / 退款 / 商户运营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ircle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880360"/>
            <a:ext cx="393192" cy="393192"/>
          </a:xfrm>
          <a:prstGeom prst="rect">
            <a:avLst/>
          </a:prstGeom>
        </p:spPr>
      </p:pic>
      <p:sp>
        <p:nvSpPr>
          <p:cNvPr id="13" name="TEXT: Noul · 是 / 否"/>
          <p:cNvSpPr txBox="1"/>
          <p:nvPr/>
        </p:nvSpPr>
        <p:spPr>
          <a:xfrm>
            <a:off x="5120640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Noul · 是 / 否</a:t>
            </a:r>
          </a:p>
        </p:txBody>
      </p:sp>
      <p:sp>
        <p:nvSpPr>
          <p:cNvPr id="14" name="TEXT: 是否表达了退款诉求？  返回 P(true)"/>
          <p:cNvSpPr txBox="1"/>
          <p:nvPr/>
        </p:nvSpPr>
        <p:spPr>
          <a:xfrm>
            <a:off x="4581144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是否表达了退款诉求？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 P(true)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2679192"/>
            <a:ext cx="3456432" cy="248716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chart-no-axes-combined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880360"/>
            <a:ext cx="393192" cy="393192"/>
          </a:xfrm>
          <a:prstGeom prst="rect">
            <a:avLst/>
          </a:prstGeom>
        </p:spPr>
      </p:pic>
      <p:sp>
        <p:nvSpPr>
          <p:cNvPr id="17" name="TEXT: Score · 有序评分"/>
          <p:cNvSpPr txBox="1"/>
          <p:nvPr/>
        </p:nvSpPr>
        <p:spPr>
          <a:xfrm>
            <a:off x="8897112" y="288950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Score · 有序评分</a:t>
            </a:r>
          </a:p>
        </p:txBody>
      </p:sp>
      <p:sp>
        <p:nvSpPr>
          <p:cNvPr id="18" name="TEXT: 这条请求有多紧急？  在定义好的等级上评分"/>
          <p:cNvSpPr txBox="1"/>
          <p:nvPr/>
        </p:nvSpPr>
        <p:spPr>
          <a:xfrm>
            <a:off x="8357616" y="3529584"/>
            <a:ext cx="3035808" cy="1554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这条请求有多紧急？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在定义好的等级上评分</a:t>
            </a:r>
          </a:p>
        </p:txBody>
      </p:sp>
      <p:sp>
        <p:nvSpPr>
          <p:cNvPr id="19" name="TEXT: 输出类型受约束 ≠ 业务判断必然正确；概率与置信度需要结合业务数据验证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输出类型受约束 ≠ 业务判断必然正确；概率与置信度需要结合业务数据验证。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2" name="TEXT: 03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1 / 代表性模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01 / 代表性模型</a:t>
            </a:r>
          </a:p>
        </p:txBody>
      </p:sp>
      <p:sp>
        <p:nvSpPr>
          <p:cNvPr id="3" name="TEXT: Jev 与 Strands Decider：同一方向，两种实现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Jev 与 Strands Decider：同一方向，两种实现</a:t>
            </a:r>
          </a:p>
        </p:txBody>
      </p:sp>
      <p:sp>
        <p:nvSpPr>
          <p:cNvPr id="4" name="TEXT: 共同强调快速、结构化的判断，以及可供程序使用的概率信息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共同强调快速、结构化的判断，以及可供程序使用的概率信息。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5349240" cy="3017520"/>
          </a:xfrm>
          <a:prstGeom prst="roundRect">
            <a:avLst>
              <a:gd name="adj" fmla="val 13000"/>
            </a:avLst>
          </a:prstGeom>
          <a:solidFill>
            <a:srgbClr val="F3EEFA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brain-circui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487168"/>
            <a:ext cx="393192" cy="393192"/>
          </a:xfrm>
          <a:prstGeom prst="rect">
            <a:avLst/>
          </a:prstGeom>
        </p:spPr>
      </p:pic>
      <p:sp>
        <p:nvSpPr>
          <p:cNvPr id="7" name="TEXT: Jev / TypeSafe"/>
          <p:cNvSpPr txBox="1"/>
          <p:nvPr/>
        </p:nvSpPr>
        <p:spPr>
          <a:xfrm>
            <a:off x="1344168" y="2496312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8055A4"/>
                </a:solidFill>
                <a:latin typeface="Noto Sans CJK SC"/>
                <a:ea typeface="Noto Sans CJK SC"/>
                <a:cs typeface="Noto Sans CJK SC"/>
              </a:rPr>
              <a:t>Jev / TypeSafe</a:t>
            </a:r>
          </a:p>
        </p:txBody>
      </p:sp>
      <p:sp>
        <p:nvSpPr>
          <p:cNvPr id="8" name="TEXT: System One 模型 · 官方 API / SDK 强调校准决策训练（RLCD） 类型化输出与多问题并行评估"/>
          <p:cNvSpPr txBox="1"/>
          <p:nvPr/>
        </p:nvSpPr>
        <p:spPr>
          <a:xfrm>
            <a:off x="804672" y="3136392"/>
            <a:ext cx="4928616" cy="208483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System One 模型 · 官方 API / SDK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强调校准决策训练（RLCD）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类型化输出与多问题并行评估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86000"/>
            <a:ext cx="5349240" cy="301752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487168"/>
            <a:ext cx="393192" cy="393192"/>
          </a:xfrm>
          <a:prstGeom prst="rect">
            <a:avLst/>
          </a:prstGeom>
        </p:spPr>
      </p:pic>
      <p:sp>
        <p:nvSpPr>
          <p:cNvPr id="11" name="TEXT: Strands Decider / Strands Labs"/>
          <p:cNvSpPr txBox="1"/>
          <p:nvPr/>
        </p:nvSpPr>
        <p:spPr>
          <a:xfrm>
            <a:off x="6967728" y="2496312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/ Strands Labs</a:t>
            </a:r>
          </a:p>
        </p:txBody>
      </p:sp>
      <p:sp>
        <p:nvSpPr>
          <p:cNvPr id="12" name="TEXT: 开源 2B 决策模型 · 代码与权重公开 轻量模型主体 + Pointer Head 面向实验，可本地或自行部署"/>
          <p:cNvSpPr txBox="1"/>
          <p:nvPr/>
        </p:nvSpPr>
        <p:spPr>
          <a:xfrm>
            <a:off x="6428232" y="3136392"/>
            <a:ext cx="4928616" cy="2084831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开源 2B 决策模型 · 代码与权重公开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轻量模型主体 + Pointer Head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面向实验，可本地或自行部署</a:t>
            </a:r>
          </a:p>
        </p:txBody>
      </p:sp>
      <p:sp>
        <p:nvSpPr>
          <p:cNvPr id="13" name="TEXT: Jev 为产品背景介绍；本项目实测的是 Strands Decider 与 GPT，没有接入 Jev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Jev 为产品背景介绍；本项目实测的是 Strands Decider 与 GPT，没有接入 Jev。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16" name="TEXT: 04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2 / 模型原理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02 / 模型原理</a:t>
            </a:r>
          </a:p>
        </p:txBody>
      </p:sp>
      <p:sp>
        <p:nvSpPr>
          <p:cNvPr id="3" name="TEXT: Strands Decider：用候选评分头完成选择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Strands Decider：用候选评分头完成选择</a:t>
            </a:r>
          </a:p>
        </p:txBody>
      </p:sp>
      <p:sp>
        <p:nvSpPr>
          <p:cNvPr id="4" name="TEXT: 官方 v19：Qwen3.5-2B-Base + rank-16 LoRA + Pointer Head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 v19：Qwen3.5-2B-Base + rank-16 LoRA + Pointer 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496312"/>
            <a:ext cx="347472" cy="347472"/>
          </a:xfrm>
          <a:prstGeom prst="rect">
            <a:avLst/>
          </a:prstGeom>
        </p:spPr>
      </p:pic>
      <p:sp>
        <p:nvSpPr>
          <p:cNvPr id="7" name="TEXT: 输入业务"/>
          <p:cNvSpPr txBox="1"/>
          <p:nvPr/>
        </p:nvSpPr>
        <p:spPr>
          <a:xfrm>
            <a:off x="1207008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输入业务</a:t>
            </a:r>
          </a:p>
        </p:txBody>
      </p:sp>
      <p:sp>
        <p:nvSpPr>
          <p:cNvPr id="8" name="TEXT: state / question criteria / 候选"/>
          <p:cNvSpPr txBox="1"/>
          <p:nvPr/>
        </p:nvSpPr>
        <p:spPr>
          <a:xfrm>
            <a:off x="749808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state / question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criteria / 候选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ayer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74" y="2496312"/>
            <a:ext cx="347472" cy="347472"/>
          </a:xfrm>
          <a:prstGeom prst="rect">
            <a:avLst/>
          </a:prstGeom>
        </p:spPr>
      </p:pic>
      <p:sp>
        <p:nvSpPr>
          <p:cNvPr id="12" name="TEXT: 模型主体"/>
          <p:cNvSpPr txBox="1"/>
          <p:nvPr/>
        </p:nvSpPr>
        <p:spPr>
          <a:xfrm>
            <a:off x="4021074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模型主体</a:t>
            </a:r>
          </a:p>
        </p:txBody>
      </p:sp>
      <p:sp>
        <p:nvSpPr>
          <p:cNvPr id="13" name="TEXT: Qwen3.5-2B LoRA 任务适配"/>
          <p:cNvSpPr txBox="1"/>
          <p:nvPr/>
        </p:nvSpPr>
        <p:spPr>
          <a:xfrm>
            <a:off x="3563874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Qwen3.5-2B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LoRA 任务适配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list-filter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496312"/>
            <a:ext cx="347472" cy="347472"/>
          </a:xfrm>
          <a:prstGeom prst="rect">
            <a:avLst/>
          </a:prstGeom>
        </p:spPr>
      </p:pic>
      <p:sp>
        <p:nvSpPr>
          <p:cNvPr id="17" name="TEXT: 候选评分"/>
          <p:cNvSpPr txBox="1"/>
          <p:nvPr/>
        </p:nvSpPr>
        <p:spPr>
          <a:xfrm>
            <a:off x="6835140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候选评分</a:t>
            </a:r>
          </a:p>
        </p:txBody>
      </p:sp>
      <p:sp>
        <p:nvSpPr>
          <p:cNvPr id="18" name="TEXT: Pointer Head 候选位置 ↔ 答案位置"/>
          <p:cNvSpPr txBox="1"/>
          <p:nvPr/>
        </p:nvSpPr>
        <p:spPr>
          <a:xfrm>
            <a:off x="6377940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候选位置 ↔ 答案位置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319125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350008"/>
            <a:ext cx="2530602" cy="168249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ircle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2006" y="2496312"/>
            <a:ext cx="347472" cy="347472"/>
          </a:xfrm>
          <a:prstGeom prst="rect">
            <a:avLst/>
          </a:prstGeom>
        </p:spPr>
      </p:pic>
      <p:sp>
        <p:nvSpPr>
          <p:cNvPr id="22" name="TEXT: 输出决策"/>
          <p:cNvSpPr txBox="1"/>
          <p:nvPr/>
        </p:nvSpPr>
        <p:spPr>
          <a:xfrm>
            <a:off x="9649206" y="2505456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输出决策</a:t>
            </a:r>
          </a:p>
        </p:txBody>
      </p:sp>
      <p:sp>
        <p:nvSpPr>
          <p:cNvPr id="23" name="TEXT: 选择 / 分布 概率 / 置信信息"/>
          <p:cNvSpPr txBox="1"/>
          <p:nvPr/>
        </p:nvSpPr>
        <p:spPr>
          <a:xfrm>
            <a:off x="9192006" y="3035808"/>
            <a:ext cx="2219706" cy="9326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 / 分布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概率 / 置信信息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16736" y="4599432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对当前候选直接评分，减少逐 token 文本生成"/>
          <p:cNvSpPr txBox="1"/>
          <p:nvPr/>
        </p:nvSpPr>
        <p:spPr>
          <a:xfrm>
            <a:off x="1362456" y="4649724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对当前候选直接评分，减少逐 token 文本生成</a:t>
            </a:r>
          </a:p>
        </p:txBody>
      </p:sp>
      <p:sp>
        <p:nvSpPr>
          <p:cNvPr id="26" name="TEXT: 适合明确、聚焦的判断；开放式写作与复杂长链推理，需要不同模型能力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适合明确、聚焦的判断；开放式写作与复杂长链推理，需要不同模型能力。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9" name="TEXT: 05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同样的候选，走两条决策路径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同样的候选，走两条决策路径</a:t>
            </a:r>
          </a:p>
        </p:txBody>
      </p:sp>
      <p:sp>
        <p:nvSpPr>
          <p:cNvPr id="4" name="TEXT: Decider 评分后取最高项；GPT 逐 token 生成候选 ID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 评分后取最高项；GPT 逐 token 生成候选 ID。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6272" y="1947672"/>
            <a:ext cx="777240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共同输入：业务事实 + 问题 + 候选条件"/>
          <p:cNvSpPr txBox="1"/>
          <p:nvPr/>
        </p:nvSpPr>
        <p:spPr>
          <a:xfrm>
            <a:off x="2221991" y="1997964"/>
            <a:ext cx="76809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共同输入：业务事实 + 问题 + 候选条件</a:t>
            </a:r>
          </a:p>
        </p:txBody>
      </p:sp>
      <p:sp>
        <p:nvSpPr>
          <p:cNvPr id="7" name="TEXT: DECIDER"/>
          <p:cNvSpPr txBox="1"/>
          <p:nvPr/>
        </p:nvSpPr>
        <p:spPr>
          <a:xfrm>
            <a:off x="621792" y="2697480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CON: Lucide layer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642616"/>
            <a:ext cx="347472" cy="347472"/>
          </a:xfrm>
          <a:prstGeom prst="rect">
            <a:avLst/>
          </a:prstGeom>
        </p:spPr>
      </p:pic>
      <p:sp>
        <p:nvSpPr>
          <p:cNvPr id="10" name="TEXT: 编码输入"/>
          <p:cNvSpPr txBox="1"/>
          <p:nvPr/>
        </p:nvSpPr>
        <p:spPr>
          <a:xfrm>
            <a:off x="2761488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编码输入</a:t>
            </a:r>
          </a:p>
        </p:txBody>
      </p:sp>
      <p:sp>
        <p:nvSpPr>
          <p:cNvPr id="11" name="TEXT: 业务与候选表示"/>
          <p:cNvSpPr txBox="1"/>
          <p:nvPr/>
        </p:nvSpPr>
        <p:spPr>
          <a:xfrm>
            <a:off x="2304288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业务与候选表示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26736" y="3159252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82768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216" y="2642616"/>
            <a:ext cx="347472" cy="347472"/>
          </a:xfrm>
          <a:prstGeom prst="rect">
            <a:avLst/>
          </a:prstGeom>
        </p:spPr>
      </p:pic>
      <p:sp>
        <p:nvSpPr>
          <p:cNvPr id="15" name="TEXT: Pointer Head"/>
          <p:cNvSpPr txBox="1"/>
          <p:nvPr/>
        </p:nvSpPr>
        <p:spPr>
          <a:xfrm>
            <a:off x="5995416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Pointer Head</a:t>
            </a:r>
          </a:p>
        </p:txBody>
      </p:sp>
      <p:sp>
        <p:nvSpPr>
          <p:cNvPr id="16" name="TEXT: 对候选计算分数"/>
          <p:cNvSpPr txBox="1"/>
          <p:nvPr/>
        </p:nvSpPr>
        <p:spPr>
          <a:xfrm>
            <a:off x="5538216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对候选计算分数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60663" y="3159252"/>
            <a:ext cx="219457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16696" y="249631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: Lucide circle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2144" y="2642616"/>
            <a:ext cx="347472" cy="347472"/>
          </a:xfrm>
          <a:prstGeom prst="rect">
            <a:avLst/>
          </a:prstGeom>
        </p:spPr>
      </p:pic>
      <p:sp>
        <p:nvSpPr>
          <p:cNvPr id="20" name="TEXT: 最高分候选"/>
          <p:cNvSpPr txBox="1"/>
          <p:nvPr/>
        </p:nvSpPr>
        <p:spPr>
          <a:xfrm>
            <a:off x="9229344" y="265176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最高分候选</a:t>
            </a:r>
          </a:p>
        </p:txBody>
      </p:sp>
      <p:sp>
        <p:nvSpPr>
          <p:cNvPr id="21" name="TEXT: choice + 概率分布"/>
          <p:cNvSpPr txBox="1"/>
          <p:nvPr/>
        </p:nvSpPr>
        <p:spPr>
          <a:xfrm>
            <a:off x="8772144" y="318211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choice + 概率分布</a:t>
            </a:r>
          </a:p>
        </p:txBody>
      </p:sp>
      <p:sp>
        <p:nvSpPr>
          <p:cNvPr id="22" name="TEXT: GPT"/>
          <p:cNvSpPr txBox="1"/>
          <p:nvPr/>
        </p:nvSpPr>
        <p:spPr>
          <a:xfrm>
            <a:off x="621792" y="4498848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48840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ICON: Lucide receipt-tex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4288" y="4425696"/>
            <a:ext cx="347472" cy="347472"/>
          </a:xfrm>
          <a:prstGeom prst="rect">
            <a:avLst/>
          </a:prstGeom>
        </p:spPr>
      </p:pic>
      <p:sp>
        <p:nvSpPr>
          <p:cNvPr id="25" name="TEXT: 读取提示"/>
          <p:cNvSpPr txBox="1"/>
          <p:nvPr/>
        </p:nvSpPr>
        <p:spPr>
          <a:xfrm>
            <a:off x="2761488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读取提示</a:t>
            </a:r>
          </a:p>
        </p:txBody>
      </p:sp>
      <p:sp>
        <p:nvSpPr>
          <p:cNvPr id="26" name="TEXT: 同一业务与候选"/>
          <p:cNvSpPr txBox="1"/>
          <p:nvPr/>
        </p:nvSpPr>
        <p:spPr>
          <a:xfrm>
            <a:off x="2304288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同一业务与候选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6736" y="4942331"/>
            <a:ext cx="219456" cy="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382768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: Lucide code-xm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8216" y="4425696"/>
            <a:ext cx="347472" cy="347472"/>
          </a:xfrm>
          <a:prstGeom prst="rect">
            <a:avLst/>
          </a:prstGeom>
        </p:spPr>
      </p:pic>
      <p:sp>
        <p:nvSpPr>
          <p:cNvPr id="30" name="TEXT: 生成 token"/>
          <p:cNvSpPr txBox="1"/>
          <p:nvPr/>
        </p:nvSpPr>
        <p:spPr>
          <a:xfrm>
            <a:off x="5995416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生成 token</a:t>
            </a:r>
          </a:p>
        </p:txBody>
      </p:sp>
      <p:sp>
        <p:nvSpPr>
          <p:cNvPr id="31" name="TEXT: 结构化选择 JSON"/>
          <p:cNvSpPr txBox="1"/>
          <p:nvPr/>
        </p:nvSpPr>
        <p:spPr>
          <a:xfrm>
            <a:off x="5538216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结构化选择 JSON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360663" y="4942331"/>
            <a:ext cx="219457" cy="0"/>
          </a:xfrm>
          <a:prstGeom prst="line">
            <a:avLst/>
          </a:prstGeom>
          <a:ln w="22860">
            <a:solidFill>
              <a:srgbClr val="4669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16696" y="4279392"/>
            <a:ext cx="295046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ICON: Lucide shield-ch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2144" y="4425696"/>
            <a:ext cx="347472" cy="347472"/>
          </a:xfrm>
          <a:prstGeom prst="rect">
            <a:avLst/>
          </a:prstGeom>
        </p:spPr>
      </p:pic>
      <p:sp>
        <p:nvSpPr>
          <p:cNvPr id="35" name="TEXT: 解析与校验"/>
          <p:cNvSpPr txBox="1"/>
          <p:nvPr/>
        </p:nvSpPr>
        <p:spPr>
          <a:xfrm>
            <a:off x="9229344" y="4434840"/>
            <a:ext cx="22189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解析与校验</a:t>
            </a:r>
          </a:p>
        </p:txBody>
      </p:sp>
      <p:sp>
        <p:nvSpPr>
          <p:cNvPr id="36" name="TEXT: 有效候选 ID"/>
          <p:cNvSpPr txBox="1"/>
          <p:nvPr/>
        </p:nvSpPr>
        <p:spPr>
          <a:xfrm>
            <a:off x="8772144" y="4965192"/>
            <a:ext cx="263956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有效候选 ID</a:t>
            </a:r>
          </a:p>
        </p:txBody>
      </p:sp>
      <p:sp>
        <p:nvSpPr>
          <p:cNvPr id="37" name="TEXT: 两条路径的输出都交给应用执行器；模型本身不执行转账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两条路径的输出都交给应用执行器；模型本身不执行转账。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40" name="TEXT: 06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模型与原理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模型与原理</a:t>
            </a:r>
          </a:p>
        </p:txBody>
      </p:sp>
      <p:sp>
        <p:nvSpPr>
          <p:cNvPr id="3" name="TEXT: BERT、Decider、GPT：适配方式一页看懂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BERT、Decider、GPT：适配方式一页看懂</a:t>
            </a:r>
          </a:p>
        </p:txBody>
      </p:sp>
      <p:sp>
        <p:nvSpPr>
          <p:cNvPr id="4" name="TEXT: 区别在输出头、候选表达与任务范围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区别在输出头、候选表达与任务范围。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ayers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68880"/>
            <a:ext cx="393192" cy="393192"/>
          </a:xfrm>
          <a:prstGeom prst="rect">
            <a:avLst/>
          </a:prstGeom>
        </p:spPr>
      </p:pic>
      <p:sp>
        <p:nvSpPr>
          <p:cNvPr id="7" name="TEXT: BERT 分类器"/>
          <p:cNvSpPr txBox="1"/>
          <p:nvPr/>
        </p:nvSpPr>
        <p:spPr>
          <a:xfrm>
            <a:off x="1344168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 分类器</a:t>
            </a:r>
          </a:p>
        </p:txBody>
      </p:sp>
      <p:sp>
        <p:nvSpPr>
          <p:cNvPr id="8" name="TEXT: 固定标签 → 分类头 标签稳定、领域标注 新增类别通常需适配"/>
          <p:cNvSpPr txBox="1"/>
          <p:nvPr/>
        </p:nvSpPr>
        <p:spPr>
          <a:xfrm>
            <a:off x="804672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固定标签 → 分类头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标签稳定、领域标注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新增类别通常需适配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468880"/>
            <a:ext cx="393192" cy="393192"/>
          </a:xfrm>
          <a:prstGeom prst="rect">
            <a:avLst/>
          </a:prstGeom>
        </p:spPr>
      </p:pic>
      <p:sp>
        <p:nvSpPr>
          <p:cNvPr id="11" name="TEXT: Decider"/>
          <p:cNvSpPr txBox="1"/>
          <p:nvPr/>
        </p:nvSpPr>
        <p:spPr>
          <a:xfrm>
            <a:off x="5120640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2" name="TEXT: 请求候选 → 共享评分 条件用自然语言描述 专注有限动作选择"/>
          <p:cNvSpPr txBox="1"/>
          <p:nvPr/>
        </p:nvSpPr>
        <p:spPr>
          <a:xfrm>
            <a:off x="4581144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请求候选 → 共享评分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条件用自然语言描述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专注有限动作选择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267712"/>
            <a:ext cx="3456432" cy="292608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2468880"/>
            <a:ext cx="393192" cy="393192"/>
          </a:xfrm>
          <a:prstGeom prst="rect">
            <a:avLst/>
          </a:prstGeom>
        </p:spPr>
      </p:pic>
      <p:sp>
        <p:nvSpPr>
          <p:cNvPr id="15" name="TEXT: GPT"/>
          <p:cNvSpPr txBox="1"/>
          <p:nvPr/>
        </p:nvSpPr>
        <p:spPr>
          <a:xfrm>
            <a:off x="8897112" y="2478024"/>
            <a:ext cx="252374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6" name="TEXT: 提示候选 → 生成 JSON 支持开放式生成与规划 也可做受限动作选择"/>
          <p:cNvSpPr txBox="1"/>
          <p:nvPr/>
        </p:nvSpPr>
        <p:spPr>
          <a:xfrm>
            <a:off x="8357616" y="3118104"/>
            <a:ext cx="3035808" cy="19933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提示候选 → 生成 JSON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支持开放式生成与规划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也可做受限动作选择</a:t>
            </a:r>
          </a:p>
        </p:txBody>
      </p:sp>
      <p:sp>
        <p:nvSpPr>
          <p:cNvPr id="17" name="TEXT: BERT/NLI 也可做动态候选评分；本项目未对 BERT 进行速度或质量实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BERT/NLI 也可做动态候选评分；本项目未对 BERT 进行速度或质量实测。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0" name="TEXT: 07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2 / 从模型走向应用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02 / 从模型走向应用</a:t>
            </a:r>
          </a:p>
        </p:txBody>
      </p:sp>
      <p:sp>
        <p:nvSpPr>
          <p:cNvPr id="3" name="TEXT: 适用场景：候选清晰，结果可检查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适用场景：候选清晰，结果可检查</a:t>
            </a:r>
          </a:p>
        </p:txBody>
      </p:sp>
      <p:sp>
        <p:nvSpPr>
          <p:cNvPr id="4" name="TEXT: 从 Agent 路由与守卫，到客服、支付与运营判断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从 Agent 路由与守卫，到客服、支付与运营判断。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48840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350008"/>
            <a:ext cx="393192" cy="393192"/>
          </a:xfrm>
          <a:prstGeom prst="rect">
            <a:avLst/>
          </a:prstGeom>
        </p:spPr>
      </p:pic>
      <p:sp>
        <p:nvSpPr>
          <p:cNvPr id="7" name="TEXT: 模型与工具路由"/>
          <p:cNvSpPr txBox="1"/>
          <p:nvPr/>
        </p:nvSpPr>
        <p:spPr>
          <a:xfrm>
            <a:off x="1344168" y="2359152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模型与工具路由</a:t>
            </a:r>
          </a:p>
        </p:txBody>
      </p:sp>
      <p:sp>
        <p:nvSpPr>
          <p:cNvPr id="8" name="TEXT: 选择模型、工具或业务队列"/>
          <p:cNvSpPr txBox="1"/>
          <p:nvPr/>
        </p:nvSpPr>
        <p:spPr>
          <a:xfrm>
            <a:off x="804672" y="2999232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选择模型、工具或业务队列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148840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shield-check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350008"/>
            <a:ext cx="393192" cy="393192"/>
          </a:xfrm>
          <a:prstGeom prst="rect">
            <a:avLst/>
          </a:prstGeom>
        </p:spPr>
      </p:pic>
      <p:sp>
        <p:nvSpPr>
          <p:cNvPr id="11" name="TEXT: 工具调用检查"/>
          <p:cNvSpPr txBox="1"/>
          <p:nvPr/>
        </p:nvSpPr>
        <p:spPr>
          <a:xfrm>
            <a:off x="5120640" y="2359152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工具调用检查</a:t>
            </a:r>
          </a:p>
        </p:txBody>
      </p:sp>
      <p:sp>
        <p:nvSpPr>
          <p:cNvPr id="12" name="TEXT: 参数有无依据，是否需澄清"/>
          <p:cNvSpPr txBox="1"/>
          <p:nvPr/>
        </p:nvSpPr>
        <p:spPr>
          <a:xfrm>
            <a:off x="4581144" y="2999232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参数有无依据，是否需澄清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2148840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headse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2350008"/>
            <a:ext cx="393192" cy="393192"/>
          </a:xfrm>
          <a:prstGeom prst="rect">
            <a:avLst/>
          </a:prstGeom>
        </p:spPr>
      </p:pic>
      <p:sp>
        <p:nvSpPr>
          <p:cNvPr id="15" name="TEXT: 客服分流与升级"/>
          <p:cNvSpPr txBox="1"/>
          <p:nvPr/>
        </p:nvSpPr>
        <p:spPr>
          <a:xfrm>
            <a:off x="8897112" y="2359152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客服分流与升级</a:t>
            </a:r>
          </a:p>
        </p:txBody>
      </p:sp>
      <p:sp>
        <p:nvSpPr>
          <p:cNvPr id="16" name="TEXT: 识别诉求，跟进或转人工"/>
          <p:cNvSpPr txBox="1"/>
          <p:nvPr/>
        </p:nvSpPr>
        <p:spPr>
          <a:xfrm>
            <a:off x="8357616" y="2999232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识别诉求，跟进或转人工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867912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Lucide list-filt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069080"/>
            <a:ext cx="393192" cy="393192"/>
          </a:xfrm>
          <a:prstGeom prst="rect">
            <a:avLst/>
          </a:prstGeom>
        </p:spPr>
      </p:pic>
      <p:sp>
        <p:nvSpPr>
          <p:cNvPr id="19" name="TEXT: 策略分类与审核"/>
          <p:cNvSpPr txBox="1"/>
          <p:nvPr/>
        </p:nvSpPr>
        <p:spPr>
          <a:xfrm>
            <a:off x="1344168" y="407822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策略分类与审核</a:t>
            </a:r>
          </a:p>
        </p:txBody>
      </p:sp>
      <p:sp>
        <p:nvSpPr>
          <p:cNvPr id="20" name="TEXT: 将自然语言映射到策略"/>
          <p:cNvSpPr txBox="1"/>
          <p:nvPr/>
        </p:nvSpPr>
        <p:spPr>
          <a:xfrm>
            <a:off x="804672" y="4718304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将自然语言映射到策略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70832" y="3867912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Lucide scan-eye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4069080"/>
            <a:ext cx="393192" cy="393192"/>
          </a:xfrm>
          <a:prstGeom prst="rect">
            <a:avLst/>
          </a:prstGeom>
        </p:spPr>
      </p:pic>
      <p:sp>
        <p:nvSpPr>
          <p:cNvPr id="23" name="TEXT: RAG 与内容评估"/>
          <p:cNvSpPr txBox="1"/>
          <p:nvPr/>
        </p:nvSpPr>
        <p:spPr>
          <a:xfrm>
            <a:off x="5120640" y="407822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RAG 与内容评估</a:t>
            </a:r>
          </a:p>
        </p:txBody>
      </p:sp>
      <p:sp>
        <p:nvSpPr>
          <p:cNvPr id="24" name="TEXT: 判断相关性、质量与覆盖"/>
          <p:cNvSpPr txBox="1"/>
          <p:nvPr/>
        </p:nvSpPr>
        <p:spPr>
          <a:xfrm>
            <a:off x="4581144" y="4718304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判断相关性、质量与覆盖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47304" y="3867912"/>
            <a:ext cx="3456432" cy="149961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ICON: Lucide layer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8472" y="4069080"/>
            <a:ext cx="393192" cy="393192"/>
          </a:xfrm>
          <a:prstGeom prst="rect">
            <a:avLst/>
          </a:prstGeom>
        </p:spPr>
      </p:pic>
      <p:sp>
        <p:nvSpPr>
          <p:cNvPr id="27" name="TEXT: 记忆与上下文选择"/>
          <p:cNvSpPr txBox="1"/>
          <p:nvPr/>
        </p:nvSpPr>
        <p:spPr>
          <a:xfrm>
            <a:off x="8897112" y="4078224"/>
            <a:ext cx="2523744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记忆与上下文选择</a:t>
            </a:r>
          </a:p>
        </p:txBody>
      </p:sp>
      <p:sp>
        <p:nvSpPr>
          <p:cNvPr id="28" name="TEXT: 决定保留或检索哪些片段"/>
          <p:cNvSpPr txBox="1"/>
          <p:nvPr/>
        </p:nvSpPr>
        <p:spPr>
          <a:xfrm>
            <a:off x="8357616" y="4718304"/>
            <a:ext cx="3035808" cy="56692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决定保留或检索哪些片段</a:t>
            </a:r>
          </a:p>
        </p:txBody>
      </p:sp>
      <p:sp>
        <p:nvSpPr>
          <p:cNvPr id="29" name="TEXT: 接下来用支付业务，把「选择 → 执行 → 结果」放到同一条可观察流程中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接下来用支付业务，把「选择 → 执行 → 结果」放到同一条可观察流程中。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32" name="TEXT: 08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当前项目架构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当前项目架构</a:t>
            </a:r>
          </a:p>
        </p:txBody>
      </p:sp>
      <p:sp>
        <p:nvSpPr>
          <p:cNvPr id="3" name="TEXT: 一套业务后端，对接 EC2 与 Bedrock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一套业务后端，对接 EC2 与 Bedrock</a:t>
            </a:r>
          </a:p>
        </p:txBody>
      </p:sp>
      <p:sp>
        <p:nvSpPr>
          <p:cNvPr id="4" name="TEXT: 2026-10-11 当前部署 · EC2 g6.xlarge / L4 · On-Demand 常驻运行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2026-10-11 当前部署 · EC2 g6.xlarge / L4 · On-Demand 常驻运行</a:t>
            </a:r>
          </a:p>
        </p:txBody>
      </p:sp>
      <p:sp>
        <p:nvSpPr>
          <p:cNvPr id="5" name="AWS Region boundary: includes S3, excludes CloudFront"/>
          <p:cNvSpPr/>
          <p:nvPr/>
        </p:nvSpPr>
        <p:spPr>
          <a:xfrm>
            <a:off x="457200" y="1993392"/>
            <a:ext cx="11155680" cy="3831336"/>
          </a:xfrm>
          <a:custGeom>
            <a:avLst/>
            <a:gdLst/>
            <a:ahLst/>
            <a:cxnLst/>
            <a:rect l="l" t="t" r="r" b="b"/>
            <a:pathLst>
              <a:path w="11155680" h="3831336">
                <a:moveTo>
                  <a:pt x="2514600" y="0"/>
                </a:moveTo>
                <a:lnTo>
                  <a:pt x="11155680" y="0"/>
                </a:lnTo>
                <a:lnTo>
                  <a:pt x="11155680" y="3831336"/>
                </a:lnTo>
                <a:lnTo>
                  <a:pt x="0" y="3831336"/>
                </a:lnTo>
                <a:lnTo>
                  <a:pt x="0" y="1645920"/>
                </a:lnTo>
                <a:lnTo>
                  <a:pt x="2514600" y="1645920"/>
                </a:lnTo>
                <a:close/>
              </a:path>
            </a:pathLst>
          </a:custGeom>
          <a:solidFill>
            <a:srgbClr val="F6F8FB"/>
          </a:solidFill>
          <a:ln w="10160">
            <a:solidFill>
              <a:srgbClr val="00A4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AWS Region · us-east-1"/>
          <p:cNvSpPr txBox="1"/>
          <p:nvPr/>
        </p:nvSpPr>
        <p:spPr>
          <a:xfrm>
            <a:off x="3127248" y="2121408"/>
            <a:ext cx="813816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AWS Region · us-east-1</a:t>
            </a:r>
          </a:p>
        </p:txBody>
      </p:sp>
      <p:sp>
        <p:nvSpPr>
          <p:cNvPr id="7" name="Rectangle 6"/>
          <p:cNvSpPr/>
          <p:nvPr/>
        </p:nvSpPr>
        <p:spPr>
          <a:xfrm>
            <a:off x="3127248" y="2615184"/>
            <a:ext cx="6053328" cy="2953512"/>
          </a:xfrm>
          <a:prstGeom prst="rect">
            <a:avLst/>
          </a:prstGeom>
          <a:solidFill>
            <a:srgbClr val="F0F6F6"/>
          </a:solidFill>
          <a:ln w="10160">
            <a:solidFill>
              <a:srgbClr val="8C4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VPC · 私有子网 / 无公网 IP"/>
          <p:cNvSpPr txBox="1"/>
          <p:nvPr/>
        </p:nvSpPr>
        <p:spPr>
          <a:xfrm>
            <a:off x="3264408" y="2724912"/>
            <a:ext cx="557784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VPC · 私有子网 / 无公网 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04288"/>
            <a:ext cx="2139696" cy="1042415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AWS cloudfron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441448"/>
            <a:ext cx="384048" cy="384048"/>
          </a:xfrm>
          <a:prstGeom prst="rect">
            <a:avLst/>
          </a:prstGeom>
        </p:spPr>
      </p:pic>
      <p:sp>
        <p:nvSpPr>
          <p:cNvPr id="11" name="TEXT: CloudFront"/>
          <p:cNvSpPr txBox="1"/>
          <p:nvPr/>
        </p:nvSpPr>
        <p:spPr>
          <a:xfrm>
            <a:off x="1216152" y="2459736"/>
            <a:ext cx="139903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CloudFront</a:t>
            </a:r>
          </a:p>
        </p:txBody>
      </p:sp>
      <p:sp>
        <p:nvSpPr>
          <p:cNvPr id="12" name="TEXT: HTTPS 页面 / API 入口"/>
          <p:cNvSpPr txBox="1"/>
          <p:nvPr/>
        </p:nvSpPr>
        <p:spPr>
          <a:xfrm>
            <a:off x="722376" y="2926080"/>
            <a:ext cx="1883663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HTTPS 页面 / API 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794760"/>
            <a:ext cx="2139696" cy="1042415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AWS s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931920"/>
            <a:ext cx="384048" cy="384048"/>
          </a:xfrm>
          <a:prstGeom prst="rect">
            <a:avLst/>
          </a:prstGeom>
        </p:spPr>
      </p:pic>
      <p:sp>
        <p:nvSpPr>
          <p:cNvPr id="15" name="TEXT: Amazon S3"/>
          <p:cNvSpPr txBox="1"/>
          <p:nvPr/>
        </p:nvSpPr>
        <p:spPr>
          <a:xfrm>
            <a:off x="1216152" y="3950208"/>
            <a:ext cx="1399031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S3</a:t>
            </a:r>
          </a:p>
        </p:txBody>
      </p:sp>
      <p:sp>
        <p:nvSpPr>
          <p:cNvPr id="16" name="TEXT: 私有源站 · OAC"/>
          <p:cNvSpPr txBox="1"/>
          <p:nvPr/>
        </p:nvSpPr>
        <p:spPr>
          <a:xfrm>
            <a:off x="722376" y="4416552"/>
            <a:ext cx="1883663" cy="37490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私有源站 · OAC</a:t>
            </a:r>
          </a:p>
        </p:txBody>
      </p:sp>
      <p:sp>
        <p:nvSpPr>
          <p:cNvPr id="17" name="TEXT: Block Public Access 全部开启"/>
          <p:cNvSpPr txBox="1"/>
          <p:nvPr/>
        </p:nvSpPr>
        <p:spPr>
          <a:xfrm>
            <a:off x="612648" y="4983480"/>
            <a:ext cx="2194560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Block Public Access 全部开启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3108960"/>
            <a:ext cx="2313432" cy="93268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ICON: AWS alb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8144" y="3246120"/>
            <a:ext cx="384048" cy="384048"/>
          </a:xfrm>
          <a:prstGeom prst="rect">
            <a:avLst/>
          </a:prstGeom>
        </p:spPr>
      </p:pic>
      <p:sp>
        <p:nvSpPr>
          <p:cNvPr id="20" name="TEXT: 内网 ALB"/>
          <p:cNvSpPr txBox="1"/>
          <p:nvPr/>
        </p:nvSpPr>
        <p:spPr>
          <a:xfrm>
            <a:off x="3931920" y="3264408"/>
            <a:ext cx="1572767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内网 ALB</a:t>
            </a:r>
          </a:p>
        </p:txBody>
      </p:sp>
      <p:sp>
        <p:nvSpPr>
          <p:cNvPr id="21" name="TEXT: CloudFront VPC Origin"/>
          <p:cNvSpPr txBox="1"/>
          <p:nvPr/>
        </p:nvSpPr>
        <p:spPr>
          <a:xfrm>
            <a:off x="3438144" y="3730752"/>
            <a:ext cx="2057400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CloudFront VPC Origin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10128" y="4425696"/>
            <a:ext cx="2313432" cy="97840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ICON: AWS ecs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4562856"/>
            <a:ext cx="384048" cy="384048"/>
          </a:xfrm>
          <a:prstGeom prst="rect">
            <a:avLst/>
          </a:prstGeom>
        </p:spPr>
      </p:pic>
      <p:sp>
        <p:nvSpPr>
          <p:cNvPr id="24" name="TEXT: ECS Fargate"/>
          <p:cNvSpPr txBox="1"/>
          <p:nvPr/>
        </p:nvSpPr>
        <p:spPr>
          <a:xfrm>
            <a:off x="3931920" y="4581144"/>
            <a:ext cx="1572767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ECS Fargate</a:t>
            </a:r>
          </a:p>
        </p:txBody>
      </p:sp>
      <p:sp>
        <p:nvSpPr>
          <p:cNvPr id="25" name="TEXT: FastAPI · 业务与模型调用"/>
          <p:cNvSpPr txBox="1"/>
          <p:nvPr/>
        </p:nvSpPr>
        <p:spPr>
          <a:xfrm>
            <a:off x="3438144" y="5047488"/>
            <a:ext cx="20574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FastAPI · 业务与模型调用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108960"/>
            <a:ext cx="2816352" cy="186537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: AWS ec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496" y="3246120"/>
            <a:ext cx="384048" cy="384048"/>
          </a:xfrm>
          <a:prstGeom prst="rect">
            <a:avLst/>
          </a:prstGeom>
        </p:spPr>
      </p:pic>
      <p:sp>
        <p:nvSpPr>
          <p:cNvPr id="28" name="TEXT: Amazon EC2"/>
          <p:cNvSpPr txBox="1"/>
          <p:nvPr/>
        </p:nvSpPr>
        <p:spPr>
          <a:xfrm>
            <a:off x="6748272" y="3264408"/>
            <a:ext cx="207568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Amazon EC2</a:t>
            </a:r>
          </a:p>
        </p:txBody>
      </p:sp>
      <p:sp>
        <p:nvSpPr>
          <p:cNvPr id="29" name="TEXT: g6.xlarge · NVIDIA L4 / 24 GB ECS 模型服务 · Decider v19 私网 HTTP :809"/>
          <p:cNvSpPr txBox="1"/>
          <p:nvPr/>
        </p:nvSpPr>
        <p:spPr>
          <a:xfrm>
            <a:off x="6254496" y="3730752"/>
            <a:ext cx="2560320" cy="11978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g6.xlarge · NVIDIA L4 / 24 GB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ECS 模型服务 · Decider v19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私网 HTTP :8099 · 持续运行</a:t>
            </a:r>
          </a:p>
        </p:txBody>
      </p:sp>
      <p:pic>
        <p:nvPicPr>
          <p:cNvPr id="30" name="ICON: AWS ebs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5157216"/>
            <a:ext cx="219456" cy="219456"/>
          </a:xfrm>
          <a:prstGeom prst="rect">
            <a:avLst/>
          </a:prstGeom>
        </p:spPr>
      </p:pic>
      <p:sp>
        <p:nvSpPr>
          <p:cNvPr id="31" name="TEXT: 80 GB 加密 EBS · 模型缓存"/>
          <p:cNvSpPr txBox="1"/>
          <p:nvPr/>
        </p:nvSpPr>
        <p:spPr>
          <a:xfrm>
            <a:off x="6455664" y="5175504"/>
            <a:ext cx="2551176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80 GB 加密 EBS · 模型缓存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36608" y="2980944"/>
            <a:ext cx="2002536" cy="1024128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ICON: AWS bedrock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4624" y="3118103"/>
            <a:ext cx="384048" cy="384048"/>
          </a:xfrm>
          <a:prstGeom prst="rect">
            <a:avLst/>
          </a:prstGeom>
        </p:spPr>
      </p:pic>
      <p:sp>
        <p:nvSpPr>
          <p:cNvPr id="34" name="TEXT: Bedrock"/>
          <p:cNvSpPr txBox="1"/>
          <p:nvPr/>
        </p:nvSpPr>
        <p:spPr>
          <a:xfrm>
            <a:off x="10058400" y="3136391"/>
            <a:ext cx="126187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Bedrock</a:t>
            </a:r>
          </a:p>
        </p:txBody>
      </p:sp>
      <p:sp>
        <p:nvSpPr>
          <p:cNvPr id="35" name="TEXT: GPT-6.1 Sol"/>
          <p:cNvSpPr txBox="1"/>
          <p:nvPr/>
        </p:nvSpPr>
        <p:spPr>
          <a:xfrm>
            <a:off x="9564624" y="3602736"/>
            <a:ext cx="1746504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GPT-6.1 Sol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36608" y="4526280"/>
            <a:ext cx="2002536" cy="10241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AWS dynamodb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4624" y="4663440"/>
            <a:ext cx="384048" cy="384048"/>
          </a:xfrm>
          <a:prstGeom prst="rect">
            <a:avLst/>
          </a:prstGeom>
        </p:spPr>
      </p:pic>
      <p:sp>
        <p:nvSpPr>
          <p:cNvPr id="38" name="TEXT: DynamoDB"/>
          <p:cNvSpPr txBox="1"/>
          <p:nvPr/>
        </p:nvSpPr>
        <p:spPr>
          <a:xfrm>
            <a:off x="10058400" y="4681728"/>
            <a:ext cx="1261872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DynamoDB</a:t>
            </a:r>
          </a:p>
        </p:txBody>
      </p:sp>
      <p:sp>
        <p:nvSpPr>
          <p:cNvPr id="39" name="TEXT: 用户 / 会话 / 推理租约"/>
          <p:cNvSpPr txBox="1"/>
          <p:nvPr/>
        </p:nvSpPr>
        <p:spPr>
          <a:xfrm>
            <a:off x="9564624" y="5148072"/>
            <a:ext cx="1746504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用户 / 会话 / 推理租约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664208" y="3383280"/>
            <a:ext cx="0" cy="356616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: OAC"/>
          <p:cNvSpPr txBox="1"/>
          <p:nvPr/>
        </p:nvSpPr>
        <p:spPr>
          <a:xfrm>
            <a:off x="1792224" y="3474720"/>
            <a:ext cx="64008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OAC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752344" y="2834640"/>
            <a:ext cx="192024" cy="0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944368" y="2834640"/>
            <a:ext cx="0" cy="740664"/>
          </a:xfrm>
          <a:prstGeom prst="line">
            <a:avLst/>
          </a:prstGeom>
          <a:ln w="19050">
            <a:solidFill>
              <a:srgbClr val="6478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944368" y="3575304"/>
            <a:ext cx="310896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53128" y="4069080"/>
            <a:ext cx="0" cy="310896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650992" y="4709160"/>
            <a:ext cx="219456" cy="0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870448" y="4114800"/>
            <a:ext cx="0" cy="594360"/>
          </a:xfrm>
          <a:prstGeom prst="line">
            <a:avLst/>
          </a:prstGeom>
          <a:ln w="1905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870448" y="4114800"/>
            <a:ext cx="210312" cy="0"/>
          </a:xfrm>
          <a:prstGeom prst="line">
            <a:avLst/>
          </a:prstGeom>
          <a:ln w="19050">
            <a:solidFill>
              <a:srgbClr val="087F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453128" y="5431536"/>
            <a:ext cx="0" cy="265176"/>
          </a:xfrm>
          <a:prstGeom prst="line">
            <a:avLst/>
          </a:prstGeom>
          <a:ln w="19050">
            <a:solidFill>
              <a:srgbClr val="46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53128" y="5696712"/>
            <a:ext cx="4837176" cy="0"/>
          </a:xfrm>
          <a:prstGeom prst="line">
            <a:avLst/>
          </a:prstGeom>
          <a:ln w="19050">
            <a:solidFill>
              <a:srgbClr val="46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290304" y="3502152"/>
            <a:ext cx="0" cy="2194560"/>
          </a:xfrm>
          <a:prstGeom prst="line">
            <a:avLst/>
          </a:prstGeom>
          <a:ln w="19050">
            <a:solidFill>
              <a:srgbClr val="4669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290304" y="3502152"/>
            <a:ext cx="100584" cy="0"/>
          </a:xfrm>
          <a:prstGeom prst="line">
            <a:avLst/>
          </a:prstGeom>
          <a:ln w="19050">
            <a:solidFill>
              <a:srgbClr val="4669C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90304" y="5047488"/>
            <a:ext cx="100584" cy="0"/>
          </a:xfrm>
          <a:prstGeom prst="line">
            <a:avLst/>
          </a:prstGeom>
          <a:ln w="19050">
            <a:solidFill>
              <a:srgbClr val="64788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: API 直接调用常驻模型；后端保留并发与执行校验。历史测速数据保留原采集环境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API 直接调用常驻模型；后端保留并发与执行校验。历史测速数据保留原采集环境。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: 当前部署：EC2 On-Demand · 2026-10-11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当前部署：EC2 On-Demand · 2026-10-11</a:t>
            </a:r>
          </a:p>
        </p:txBody>
      </p:sp>
      <p:sp>
        <p:nvSpPr>
          <p:cNvPr id="57" name="TEXT: 09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09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演示设计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演示设计</a:t>
            </a:r>
          </a:p>
        </p:txBody>
      </p:sp>
      <p:sp>
        <p:nvSpPr>
          <p:cNvPr id="3" name="TEXT: 四个支付场景，贯穿五个业务节点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四个支付场景，贯穿五个业务节点</a:t>
            </a:r>
          </a:p>
        </p:txBody>
      </p:sp>
      <p:sp>
        <p:nvSpPr>
          <p:cNvPr id="4" name="TEXT: 同一笔业务，分别交给 Decider 和 GPT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同一笔业务，分别交给 Decider 和 GPT。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walle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23160"/>
            <a:ext cx="393192" cy="393192"/>
          </a:xfrm>
          <a:prstGeom prst="rect">
            <a:avLst/>
          </a:prstGeom>
        </p:spPr>
      </p:pic>
      <p:sp>
        <p:nvSpPr>
          <p:cNvPr id="7" name="TEXT: 未到账"/>
          <p:cNvSpPr txBox="1"/>
          <p:nvPr/>
        </p:nvSpPr>
        <p:spPr>
          <a:xfrm>
            <a:off x="134416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未到账</a:t>
            </a:r>
          </a:p>
        </p:txBody>
      </p:sp>
      <p:sp>
        <p:nvSpPr>
          <p:cNvPr id="8" name="TEXT: 确认数 3 / 12"/>
          <p:cNvSpPr txBox="1"/>
          <p:nvPr/>
        </p:nvSpPr>
        <p:spPr>
          <a:xfrm>
            <a:off x="80467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 3 /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ICON: Lucide bankno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0168" y="2423160"/>
            <a:ext cx="393192" cy="393192"/>
          </a:xfrm>
          <a:prstGeom prst="rect">
            <a:avLst/>
          </a:prstGeom>
        </p:spPr>
      </p:pic>
      <p:sp>
        <p:nvSpPr>
          <p:cNvPr id="11" name="TEXT: 少付"/>
          <p:cNvSpPr txBox="1"/>
          <p:nvPr/>
        </p:nvSpPr>
        <p:spPr>
          <a:xfrm>
            <a:off x="417880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少付</a:t>
            </a:r>
          </a:p>
        </p:txBody>
      </p:sp>
      <p:sp>
        <p:nvSpPr>
          <p:cNvPr id="12" name="TEXT: 100 → 99.80"/>
          <p:cNvSpPr txBox="1"/>
          <p:nvPr/>
        </p:nvSpPr>
        <p:spPr>
          <a:xfrm>
            <a:off x="363931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100 → 99.80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repeat-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7" y="2423160"/>
            <a:ext cx="393192" cy="393192"/>
          </a:xfrm>
          <a:prstGeom prst="rect">
            <a:avLst/>
          </a:prstGeom>
        </p:spPr>
      </p:pic>
      <p:sp>
        <p:nvSpPr>
          <p:cNvPr id="15" name="TEXT: 退款"/>
          <p:cNvSpPr txBox="1"/>
          <p:nvPr/>
        </p:nvSpPr>
        <p:spPr>
          <a:xfrm>
            <a:off x="701344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退款</a:t>
            </a:r>
          </a:p>
        </p:txBody>
      </p:sp>
      <p:sp>
        <p:nvSpPr>
          <p:cNvPr id="16" name="TEXT: 地址与审批待补齐"/>
          <p:cNvSpPr txBox="1"/>
          <p:nvPr/>
        </p:nvSpPr>
        <p:spPr>
          <a:xfrm>
            <a:off x="647395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地址与审批待补齐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221992"/>
            <a:ext cx="2487168" cy="1709928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ICON: Lucide receipt-text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9448" y="2423160"/>
            <a:ext cx="393192" cy="393192"/>
          </a:xfrm>
          <a:prstGeom prst="rect">
            <a:avLst/>
          </a:prstGeom>
        </p:spPr>
      </p:pic>
      <p:sp>
        <p:nvSpPr>
          <p:cNvPr id="19" name="TEXT: 结算"/>
          <p:cNvSpPr txBox="1"/>
          <p:nvPr/>
        </p:nvSpPr>
        <p:spPr>
          <a:xfrm>
            <a:off x="9848088" y="2432304"/>
            <a:ext cx="155448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</a:t>
            </a:r>
          </a:p>
        </p:txBody>
      </p:sp>
      <p:sp>
        <p:nvSpPr>
          <p:cNvPr id="20" name="TEXT: 到账状态与时效"/>
          <p:cNvSpPr txBox="1"/>
          <p:nvPr/>
        </p:nvSpPr>
        <p:spPr>
          <a:xfrm>
            <a:off x="9308592" y="3072384"/>
            <a:ext cx="2066544" cy="7772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到账状态与时效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ICON: Lucide headset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489704"/>
            <a:ext cx="347472" cy="347472"/>
          </a:xfrm>
          <a:prstGeom prst="rect">
            <a:avLst/>
          </a:prstGeom>
        </p:spPr>
      </p:pic>
      <p:sp>
        <p:nvSpPr>
          <p:cNvPr id="23" name="TEXT: 客服受理"/>
          <p:cNvSpPr txBox="1"/>
          <p:nvPr/>
        </p:nvSpPr>
        <p:spPr>
          <a:xfrm>
            <a:off x="1207008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24" name="TEXT: 节点 1"/>
          <p:cNvSpPr txBox="1"/>
          <p:nvPr/>
        </p:nvSpPr>
        <p:spPr>
          <a:xfrm>
            <a:off x="749808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1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89580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45612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ICON: Lucide search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1060" y="4489704"/>
            <a:ext cx="347472" cy="347472"/>
          </a:xfrm>
          <a:prstGeom prst="rect">
            <a:avLst/>
          </a:prstGeom>
        </p:spPr>
      </p:pic>
      <p:sp>
        <p:nvSpPr>
          <p:cNvPr id="28" name="TEXT: 交易核验"/>
          <p:cNvSpPr txBox="1"/>
          <p:nvPr/>
        </p:nvSpPr>
        <p:spPr>
          <a:xfrm>
            <a:off x="3458260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29" name="TEXT: 节点 2"/>
          <p:cNvSpPr txBox="1"/>
          <p:nvPr/>
        </p:nvSpPr>
        <p:spPr>
          <a:xfrm>
            <a:off x="3001060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840833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096865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ICON: Lucide shield-check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313" y="4489704"/>
            <a:ext cx="347472" cy="347472"/>
          </a:xfrm>
          <a:prstGeom prst="rect">
            <a:avLst/>
          </a:prstGeom>
        </p:spPr>
      </p:pic>
      <p:sp>
        <p:nvSpPr>
          <p:cNvPr id="33" name="TEXT: 风控审批"/>
          <p:cNvSpPr txBox="1"/>
          <p:nvPr/>
        </p:nvSpPr>
        <p:spPr>
          <a:xfrm>
            <a:off x="5709513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34" name="TEXT: 节点 3"/>
          <p:cNvSpPr txBox="1"/>
          <p:nvPr/>
        </p:nvSpPr>
        <p:spPr>
          <a:xfrm>
            <a:off x="5252313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092086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348118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CON: Lucide workflow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3566" y="4489704"/>
            <a:ext cx="347472" cy="347472"/>
          </a:xfrm>
          <a:prstGeom prst="rect">
            <a:avLst/>
          </a:prstGeom>
        </p:spPr>
      </p:pic>
      <p:sp>
        <p:nvSpPr>
          <p:cNvPr id="38" name="TEXT: 业务处置"/>
          <p:cNvSpPr txBox="1"/>
          <p:nvPr/>
        </p:nvSpPr>
        <p:spPr>
          <a:xfrm>
            <a:off x="7960766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9" name="TEXT: 节点 4"/>
          <p:cNvSpPr txBox="1"/>
          <p:nvPr/>
        </p:nvSpPr>
        <p:spPr>
          <a:xfrm>
            <a:off x="7503566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43339" y="4997196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599371" y="4343400"/>
            <a:ext cx="1967788" cy="130759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ICON: Lucide circle-check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54819" y="4489704"/>
            <a:ext cx="347472" cy="347472"/>
          </a:xfrm>
          <a:prstGeom prst="rect">
            <a:avLst/>
          </a:prstGeom>
        </p:spPr>
      </p:pic>
      <p:sp>
        <p:nvSpPr>
          <p:cNvPr id="43" name="TEXT: 回复结案"/>
          <p:cNvSpPr txBox="1"/>
          <p:nvPr/>
        </p:nvSpPr>
        <p:spPr>
          <a:xfrm>
            <a:off x="10212019" y="4498848"/>
            <a:ext cx="1236268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44" name="TEXT: 节点 5"/>
          <p:cNvSpPr txBox="1"/>
          <p:nvPr/>
        </p:nvSpPr>
        <p:spPr>
          <a:xfrm>
            <a:off x="9754819" y="5029200"/>
            <a:ext cx="1656892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节点 5</a:t>
            </a:r>
          </a:p>
        </p:txBody>
      </p:sp>
      <p:sp>
        <p:nvSpPr>
          <p:cNvPr id="45" name="TEXT: 客户消息、事实快照与候选条件均可追溯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客户消息、事实快照与候选条件均可追溯。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48" name="TEXT: 10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3 / 支付对比设计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03 / 支付对比设计</a:t>
            </a:r>
          </a:p>
        </p:txBody>
      </p:sp>
      <p:sp>
        <p:nvSpPr>
          <p:cNvPr id="3" name="TEXT: 比较方法：同一业务输入，独立执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比较方法：同一业务输入，独立执行</a:t>
            </a:r>
          </a:p>
        </p:txBody>
      </p:sp>
      <p:sp>
        <p:nvSpPr>
          <p:cNvPr id="4" name="TEXT: 候选与条件相同；保留两模型的原始选择、耗时和实际业务结果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候选与条件相同；保留两模型的原始选择、耗时和实际业务结果。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16736" y="1993392"/>
            <a:ext cx="950976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同一业务快照 + 同一问题 + 同一候选条件"/>
          <p:cNvSpPr txBox="1"/>
          <p:nvPr/>
        </p:nvSpPr>
        <p:spPr>
          <a:xfrm>
            <a:off x="1362456" y="2043684"/>
            <a:ext cx="94183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同一业务快照 + 同一问题 + 同一候选条件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688336"/>
            <a:ext cx="5349240" cy="195681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889504"/>
            <a:ext cx="393192" cy="393192"/>
          </a:xfrm>
          <a:prstGeom prst="rect">
            <a:avLst/>
          </a:prstGeom>
        </p:spPr>
      </p:pic>
      <p:sp>
        <p:nvSpPr>
          <p:cNvPr id="9" name="TEXT: Decider / EC2"/>
          <p:cNvSpPr txBox="1"/>
          <p:nvPr/>
        </p:nvSpPr>
        <p:spPr>
          <a:xfrm>
            <a:off x="1344168" y="2898648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/ EC2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688336"/>
            <a:ext cx="5349240" cy="195681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ode-xml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088" y="2889504"/>
            <a:ext cx="393192" cy="393192"/>
          </a:xfrm>
          <a:prstGeom prst="rect">
            <a:avLst/>
          </a:prstGeom>
        </p:spPr>
      </p:pic>
      <p:sp>
        <p:nvSpPr>
          <p:cNvPr id="13" name="TEXT: GPT / Bedrock"/>
          <p:cNvSpPr txBox="1"/>
          <p:nvPr/>
        </p:nvSpPr>
        <p:spPr>
          <a:xfrm>
            <a:off x="6967728" y="2898648"/>
            <a:ext cx="4416551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/ Bedrock</a:t>
            </a:r>
          </a:p>
        </p:txBody>
      </p:sp>
      <p:sp>
        <p:nvSpPr>
          <p:cNvPr id="14" name="TEXT: 返回候选 ID JSON，校验结果 记录后端决策耗时，独立执行"/>
          <p:cNvSpPr txBox="1"/>
          <p:nvPr/>
        </p:nvSpPr>
        <p:spPr>
          <a:xfrm>
            <a:off x="6428232" y="3538728"/>
            <a:ext cx="4928616" cy="10241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返回候选 ID JSON，校验结果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记录后端决策耗时，独立执行</a:t>
            </a:r>
          </a:p>
        </p:txBody>
      </p:sp>
      <p:pic>
        <p:nvPicPr>
          <p:cNvPr id="15" name="ICON: Lucide route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184648"/>
            <a:ext cx="356616" cy="356616"/>
          </a:xfrm>
          <a:prstGeom prst="rect">
            <a:avLst/>
          </a:prstGeom>
        </p:spPr>
      </p:pic>
      <p:sp>
        <p:nvSpPr>
          <p:cNvPr id="16" name="TEXT: 选择有何差异"/>
          <p:cNvSpPr txBox="1"/>
          <p:nvPr/>
        </p:nvSpPr>
        <p:spPr>
          <a:xfrm>
            <a:off x="1298448" y="5193792"/>
            <a:ext cx="27797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选择有何差异</a:t>
            </a:r>
          </a:p>
        </p:txBody>
      </p:sp>
      <p:pic>
        <p:nvPicPr>
          <p:cNvPr id="17" name="ICON: Lucide tim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9432" y="5184648"/>
            <a:ext cx="356616" cy="356616"/>
          </a:xfrm>
          <a:prstGeom prst="rect">
            <a:avLst/>
          </a:prstGeom>
        </p:spPr>
      </p:pic>
      <p:sp>
        <p:nvSpPr>
          <p:cNvPr id="18" name="TEXT: 每步与累计多快"/>
          <p:cNvSpPr txBox="1"/>
          <p:nvPr/>
        </p:nvSpPr>
        <p:spPr>
          <a:xfrm>
            <a:off x="5120640" y="5193792"/>
            <a:ext cx="27797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每步与累计多快</a:t>
            </a:r>
          </a:p>
        </p:txBody>
      </p:sp>
      <p:pic>
        <p:nvPicPr>
          <p:cNvPr id="19" name="ICON: Lucide circle-check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4192" y="5184648"/>
            <a:ext cx="356616" cy="356616"/>
          </a:xfrm>
          <a:prstGeom prst="rect">
            <a:avLst/>
          </a:prstGeom>
        </p:spPr>
      </p:pic>
      <p:sp>
        <p:nvSpPr>
          <p:cNvPr id="20" name="TEXT: 业务是否完成"/>
          <p:cNvSpPr txBox="1"/>
          <p:nvPr/>
        </p:nvSpPr>
        <p:spPr>
          <a:xfrm>
            <a:off x="8915400" y="5193792"/>
            <a:ext cx="2779776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业务是否完成</a:t>
            </a:r>
          </a:p>
        </p:txBody>
      </p:sp>
      <p:sp>
        <p:nvSpPr>
          <p:cNvPr id="21" name="TEXT: 速度主统计使用成功同输入配对；反馈执行结果单独观察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速度主统计使用成功同输入配对；反馈执行结果单独观察。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4" name="TEXT: 11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11 / 27</a:t>
            </a:r>
          </a:p>
        </p:txBody>
      </p:sp>
      <p:sp>
        <p:nvSpPr>
          <p:cNvPr id="25" name="TEXT: 私网 HTTP → EC2 模型服务 返回选择、分布与置信信息 记录耗时，两侧独立执行"/>
          <p:cNvSpPr txBox="1"/>
          <p:nvPr/>
        </p:nvSpPr>
        <p:spPr>
          <a:xfrm>
            <a:off x="804672" y="3538728"/>
            <a:ext cx="4928616" cy="102412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私网 HTTP → EC2 模型服务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返回选择、分布与置信信息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记录耗时，两侧独立执行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过程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过程</a:t>
            </a:r>
          </a:p>
        </p:txBody>
      </p:sp>
      <p:sp>
        <p:nvSpPr>
          <p:cNvPr id="3" name="TEXT: 真实界面：同一输入，输出与耗时并排看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真实界面：同一输入，输出与耗时并排看</a:t>
            </a:r>
          </a:p>
        </p:txBody>
      </p:sp>
      <p:sp>
        <p:nvSpPr>
          <p:cNvPr id="4" name="TEXT: USDC 未到账 · 客服受理：两模型都选择「支付客服」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未到账 · 客服受理：两模型都选择「支付客服」。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265752"/>
            <a:ext cx="11027664" cy="332319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fixed-turn-1-crop.png" descr="fixed-turn-1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93184"/>
            <a:ext cx="10972800" cy="3268326"/>
          </a:xfrm>
          <a:prstGeom prst="rect">
            <a:avLst/>
          </a:prstGeom>
        </p:spPr>
      </p:pic>
      <p:sp>
        <p:nvSpPr>
          <p:cNvPr id="7" name="TEXT: 线上原始截图 · 2026-10-10 · 每轮保留输入、原始选择、实际动作和耗时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线上原始截图 · 2026-10-10 · 每轮保留输入、原始选择、实际动作和耗时。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: 12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USDC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USDC</a:t>
            </a:r>
          </a:p>
        </p:txBody>
      </p:sp>
      <p:sp>
        <p:nvSpPr>
          <p:cNvPr id="3" name="TEXT: 五步对照：耗时差异贯穿每次选择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五步对照：耗时差异贯穿每次选择</a:t>
            </a:r>
          </a:p>
        </p:txBody>
      </p:sp>
      <p:sp>
        <p:nvSpPr>
          <p:cNvPr id="4" name="TEXT: 确认数 3 / 12，固定事实保持不变；审批节点出现选择差异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确认数 3 / 12，固定事实保持不变；审批节点出现选择差异。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76072" y="2066543"/>
            <a:ext cx="1545336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节点"/>
          <p:cNvSpPr txBox="1"/>
          <p:nvPr/>
        </p:nvSpPr>
        <p:spPr>
          <a:xfrm>
            <a:off x="694944" y="2157984"/>
            <a:ext cx="1335024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节点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2066543"/>
            <a:ext cx="472744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267712" y="2157984"/>
            <a:ext cx="451713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2066543"/>
            <a:ext cx="4681728" cy="457200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7022592" y="2157984"/>
            <a:ext cx="4471416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" y="2578608"/>
            <a:ext cx="1545336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客服受理"/>
          <p:cNvSpPr txBox="1"/>
          <p:nvPr/>
        </p:nvSpPr>
        <p:spPr>
          <a:xfrm>
            <a:off x="694944" y="2697479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2578608"/>
            <a:ext cx="472744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支付客服 · 91.8 ms"/>
          <p:cNvSpPr txBox="1"/>
          <p:nvPr/>
        </p:nvSpPr>
        <p:spPr>
          <a:xfrm>
            <a:off x="2267712" y="2697479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支付客服 · 91.8 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578608"/>
            <a:ext cx="468172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支付客服 · 1.17 s"/>
          <p:cNvSpPr txBox="1"/>
          <p:nvPr/>
        </p:nvSpPr>
        <p:spPr>
          <a:xfrm>
            <a:off x="7022592" y="2697479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支付客服 · 1.17 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" y="3136391"/>
            <a:ext cx="1545336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交易核验"/>
          <p:cNvSpPr txBox="1"/>
          <p:nvPr/>
        </p:nvSpPr>
        <p:spPr>
          <a:xfrm>
            <a:off x="694944" y="3255263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48840" y="3136391"/>
            <a:ext cx="472744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等待链上确认 · 94.9 ms"/>
          <p:cNvSpPr txBox="1"/>
          <p:nvPr/>
        </p:nvSpPr>
        <p:spPr>
          <a:xfrm>
            <a:off x="2267712" y="3255263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等待链上确认 · 94.9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3136391"/>
            <a:ext cx="468172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等待链上确认 · 1.33 s"/>
          <p:cNvSpPr txBox="1"/>
          <p:nvPr/>
        </p:nvSpPr>
        <p:spPr>
          <a:xfrm>
            <a:off x="7022592" y="3255263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等待链上确认 · 1.33 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" y="3694176"/>
            <a:ext cx="1545336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风控审批"/>
          <p:cNvSpPr txBox="1"/>
          <p:nvPr/>
        </p:nvSpPr>
        <p:spPr>
          <a:xfrm>
            <a:off x="694944" y="3813048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694176"/>
            <a:ext cx="4727448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等待人工审批 · 87.4 ms"/>
          <p:cNvSpPr txBox="1"/>
          <p:nvPr/>
        </p:nvSpPr>
        <p:spPr>
          <a:xfrm>
            <a:off x="2267712" y="3813048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等待人工审批 · 87.4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3694176"/>
            <a:ext cx="4681728" cy="521207"/>
          </a:xfrm>
          <a:prstGeom prst="rect">
            <a:avLst/>
          </a:prstGeom>
          <a:solidFill>
            <a:srgbClr val="FF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规则检查通过 · 3.77 s"/>
          <p:cNvSpPr txBox="1"/>
          <p:nvPr/>
        </p:nvSpPr>
        <p:spPr>
          <a:xfrm>
            <a:off x="7022592" y="3813048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规则检查通过 · 3.77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6072" y="4251960"/>
            <a:ext cx="1545336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业务处置"/>
          <p:cNvSpPr txBox="1"/>
          <p:nvPr/>
        </p:nvSpPr>
        <p:spPr>
          <a:xfrm>
            <a:off x="694944" y="4370832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148840" y="4251960"/>
            <a:ext cx="472744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挂起并跟进 · 91.0 ms"/>
          <p:cNvSpPr txBox="1"/>
          <p:nvPr/>
        </p:nvSpPr>
        <p:spPr>
          <a:xfrm>
            <a:off x="2267712" y="4370832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挂起并跟进 · 91.0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251960"/>
            <a:ext cx="4681728" cy="52120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挂起并跟进 · 0.70 s"/>
          <p:cNvSpPr txBox="1"/>
          <p:nvPr/>
        </p:nvSpPr>
        <p:spPr>
          <a:xfrm>
            <a:off x="7022592" y="4370832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挂起并跟进 · 0.70 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" y="4809744"/>
            <a:ext cx="1545336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回复结案"/>
          <p:cNvSpPr txBox="1"/>
          <p:nvPr/>
        </p:nvSpPr>
        <p:spPr>
          <a:xfrm>
            <a:off x="694944" y="4928616"/>
            <a:ext cx="1335024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48840" y="4809744"/>
            <a:ext cx="472744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回复并持续跟进 · 93.2 ms"/>
          <p:cNvSpPr txBox="1"/>
          <p:nvPr/>
        </p:nvSpPr>
        <p:spPr>
          <a:xfrm>
            <a:off x="2267712" y="4928616"/>
            <a:ext cx="451713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回复并持续跟进 · 93.2 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03720" y="4809744"/>
            <a:ext cx="4681728" cy="5212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回复并持续跟进 · 0.82 s"/>
          <p:cNvSpPr txBox="1"/>
          <p:nvPr/>
        </p:nvSpPr>
        <p:spPr>
          <a:xfrm>
            <a:off x="7022592" y="4928616"/>
            <a:ext cx="4471416" cy="42976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回复并持续跟进 · 0.82 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212848" y="5504688"/>
            <a:ext cx="3977639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累计 0.458 s"/>
          <p:cNvSpPr txBox="1"/>
          <p:nvPr/>
        </p:nvSpPr>
        <p:spPr>
          <a:xfrm>
            <a:off x="2258568" y="5554979"/>
            <a:ext cx="38862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累计 0.458 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95160" y="5504688"/>
            <a:ext cx="3977639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累计 7.792 s"/>
          <p:cNvSpPr txBox="1"/>
          <p:nvPr/>
        </p:nvSpPr>
        <p:spPr>
          <a:xfrm>
            <a:off x="7040880" y="5554979"/>
            <a:ext cx="38862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累计 7.792 s</a:t>
            </a:r>
          </a:p>
        </p:txBody>
      </p:sp>
      <p:sp>
        <p:nvSpPr>
          <p:cNvPr id="45" name="TEXT: 累计差约 17.00×；这是该案例 5 次成功同输入决策的单次观测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累计差约 17.00×；这是该案例 5 次成功同输入决策的单次观测。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: 13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· 决策差异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· 决策差异</a:t>
            </a:r>
          </a:p>
        </p:txBody>
      </p:sp>
      <p:sp>
        <p:nvSpPr>
          <p:cNvPr id="3" name="TEXT: 同一审批问题，为什么选择不一样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同一审批问题，为什么选择不一样？</a:t>
            </a:r>
          </a:p>
        </p:txBody>
      </p:sp>
      <p:sp>
        <p:nvSpPr>
          <p:cNvPr id="4" name="TEXT: 关键条件：这是收款场景，只有退款才需要退款审批。"/>
          <p:cNvSpPr txBox="1"/>
          <p:nvPr/>
        </p:nvSpPr>
        <p:spPr>
          <a:xfrm>
            <a:off x="566928" y="1426464"/>
            <a:ext cx="109728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关键条件：这是收款场景，只有退款才需要退款审批。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75104"/>
            <a:ext cx="10991088" cy="50292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相同业务输入"/>
          <p:cNvSpPr txBox="1"/>
          <p:nvPr/>
        </p:nvSpPr>
        <p:spPr>
          <a:xfrm>
            <a:off x="768096" y="2103120"/>
            <a:ext cx="1417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相同业务输入</a:t>
            </a:r>
          </a:p>
        </p:txBody>
      </p:sp>
      <p:sp>
        <p:nvSpPr>
          <p:cNvPr id="7" name="TEXT: 收款未到账  ·  无风险标记  ·  确认数 3/12  ·  refund_approved=false"/>
          <p:cNvSpPr txBox="1"/>
          <p:nvPr/>
        </p:nvSpPr>
        <p:spPr>
          <a:xfrm>
            <a:off x="2221992" y="2103120"/>
            <a:ext cx="91440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收款未到账  ·  无风险标记  ·  确认数 3/12  ·  refund_approved=false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96896"/>
            <a:ext cx="10991088" cy="393192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候选条件：普通收款无风险 → 检查通过；退款才检查地址与人工审批。"/>
          <p:cNvSpPr txBox="1"/>
          <p:nvPr/>
        </p:nvSpPr>
        <p:spPr>
          <a:xfrm>
            <a:off x="768096" y="2670048"/>
            <a:ext cx="10625328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候选条件：普通收款无风险 → 检查通过；退款才检查地址与人工审批。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3154680"/>
            <a:ext cx="5340096" cy="19202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28416"/>
            <a:ext cx="310896" cy="310896"/>
          </a:xfrm>
          <a:prstGeom prst="rect">
            <a:avLst/>
          </a:prstGeom>
        </p:spPr>
      </p:pic>
      <p:sp>
        <p:nvSpPr>
          <p:cNvPr id="12" name="TEXT: Decider · 87.4 ms"/>
          <p:cNvSpPr txBox="1"/>
          <p:nvPr/>
        </p:nvSpPr>
        <p:spPr>
          <a:xfrm>
            <a:off x="1234440" y="3291840"/>
            <a:ext cx="4489704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 · 87.4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3154680"/>
            <a:ext cx="5340096" cy="19202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ICON: Lucide code-xml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3328416"/>
            <a:ext cx="310896" cy="310896"/>
          </a:xfrm>
          <a:prstGeom prst="rect">
            <a:avLst/>
          </a:prstGeom>
        </p:spPr>
      </p:pic>
      <p:sp>
        <p:nvSpPr>
          <p:cNvPr id="15" name="TEXT: GPT · 3,771.8 ms"/>
          <p:cNvSpPr txBox="1"/>
          <p:nvPr/>
        </p:nvSpPr>
        <p:spPr>
          <a:xfrm>
            <a:off x="6848856" y="3291840"/>
            <a:ext cx="4489704" cy="3840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 · 3,771.8 ms</a:t>
            </a:r>
          </a:p>
        </p:txBody>
      </p:sp>
      <p:sp>
        <p:nvSpPr>
          <p:cNvPr id="16" name="TEXT: 候选评分 → 取最高分"/>
          <p:cNvSpPr txBox="1"/>
          <p:nvPr/>
        </p:nvSpPr>
        <p:spPr>
          <a:xfrm>
            <a:off x="822960" y="3749039"/>
            <a:ext cx="4846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候选评分 → 取最高分</a:t>
            </a:r>
          </a:p>
        </p:txBody>
      </p:sp>
      <p:sp>
        <p:nvSpPr>
          <p:cNvPr id="17" name="TEXT: 选择「等待人工审批」"/>
          <p:cNvSpPr txBox="1"/>
          <p:nvPr/>
        </p:nvSpPr>
        <p:spPr>
          <a:xfrm>
            <a:off x="822960" y="4114800"/>
            <a:ext cx="4846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选择「等待人工审批」</a:t>
            </a:r>
          </a:p>
        </p:txBody>
      </p:sp>
      <p:sp>
        <p:nvSpPr>
          <p:cNvPr id="18" name="TEXT: 等待审批 58.54%  &gt;  检查通过 18.49%"/>
          <p:cNvSpPr txBox="1"/>
          <p:nvPr/>
        </p:nvSpPr>
        <p:spPr>
          <a:xfrm>
            <a:off x="822960" y="4517136"/>
            <a:ext cx="484632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等待审批 58.54%  &gt;  检查通过 18.49%</a:t>
            </a:r>
          </a:p>
        </p:txBody>
      </p:sp>
      <p:sp>
        <p:nvSpPr>
          <p:cNvPr id="19" name="TEXT: 本例增加了不需要的审批。"/>
          <p:cNvSpPr txBox="1"/>
          <p:nvPr/>
        </p:nvSpPr>
        <p:spPr>
          <a:xfrm>
            <a:off x="822960" y="4800600"/>
            <a:ext cx="4846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本例增加了不需要的审批。</a:t>
            </a:r>
          </a:p>
        </p:txBody>
      </p:sp>
      <p:sp>
        <p:nvSpPr>
          <p:cNvPr id="20" name="TEXT: 按候选条件生成 JSON"/>
          <p:cNvSpPr txBox="1"/>
          <p:nvPr/>
        </p:nvSpPr>
        <p:spPr>
          <a:xfrm>
            <a:off x="6437376" y="3749039"/>
            <a:ext cx="484632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按候选条件生成 JSON</a:t>
            </a:r>
          </a:p>
        </p:txBody>
      </p:sp>
      <p:sp>
        <p:nvSpPr>
          <p:cNvPr id="21" name="TEXT: {&quot;choice&quot;: &quot;approved&quot;}"/>
          <p:cNvSpPr txBox="1"/>
          <p:nvPr/>
        </p:nvSpPr>
        <p:spPr>
          <a:xfrm>
            <a:off x="6437376" y="4114800"/>
            <a:ext cx="484632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{"choice": "approved"}</a:t>
            </a:r>
          </a:p>
        </p:txBody>
      </p:sp>
      <p:sp>
        <p:nvSpPr>
          <p:cNvPr id="22" name="TEXT: 界面标签：「规则检查通过」"/>
          <p:cNvSpPr txBox="1"/>
          <p:nvPr/>
        </p:nvSpPr>
        <p:spPr>
          <a:xfrm>
            <a:off x="6437376" y="4517136"/>
            <a:ext cx="484632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界面标签：「规则检查通过」</a:t>
            </a:r>
          </a:p>
        </p:txBody>
      </p:sp>
      <p:sp>
        <p:nvSpPr>
          <p:cNvPr id="23" name="TEXT: 本次选择符合“非退款无需退款审批”。"/>
          <p:cNvSpPr txBox="1"/>
          <p:nvPr/>
        </p:nvSpPr>
        <p:spPr>
          <a:xfrm>
            <a:off x="6437376" y="4800600"/>
            <a:ext cx="484632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本次选择符合“非退款无需退款审批”。</a:t>
            </a:r>
          </a:p>
        </p:txBody>
      </p:sp>
      <p:sp>
        <p:nvSpPr>
          <p:cNvPr id="24" name="TEXT: 为何会不同？自然语言条件由模型判断，并非程序 if/else。"/>
          <p:cNvSpPr txBox="1"/>
          <p:nvPr/>
        </p:nvSpPr>
        <p:spPr>
          <a:xfrm>
            <a:off x="594360" y="5294376"/>
            <a:ext cx="10972800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为何会不同？自然语言条件由模型判断，并非程序 if/else。</a:t>
            </a:r>
          </a:p>
        </p:txBody>
      </p:sp>
      <p:sp>
        <p:nvSpPr>
          <p:cNvPr id="25" name="TEXT: 可能干扰：退款审批字段在本例不适用；内部原因尚不能确认。候选概率表示偏向，不是正确率。"/>
          <p:cNvSpPr txBox="1"/>
          <p:nvPr/>
        </p:nvSpPr>
        <p:spPr>
          <a:xfrm>
            <a:off x="594360" y="5687568"/>
            <a:ext cx="109728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可能干扰：退款审批字段在本例不适用；内部原因尚不能确认。候选概率表示偏向，不是正确率。</a:t>
            </a:r>
          </a:p>
        </p:txBody>
      </p:sp>
      <p:sp>
        <p:nvSpPr>
          <p:cNvPr id="26" name="TEXT: 业务结果：检查通过 ≠ 已到账；两侧仍等待确认达标，Decider 另有待审批状态。"/>
          <p:cNvSpPr txBox="1"/>
          <p:nvPr/>
        </p:nvSpPr>
        <p:spPr>
          <a:xfrm>
            <a:off x="594360" y="6080760"/>
            <a:ext cx="1097280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业务结果：检查通过 ≠ 已到账；两侧仍等待确认达标，Decider 另有待审批状态。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: 14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结果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结果</a:t>
            </a:r>
          </a:p>
        </p:txBody>
      </p:sp>
      <p:sp>
        <p:nvSpPr>
          <p:cNvPr id="3" name="TEXT: 处理 5/5 步，资金仍在等待确认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处理 5/5 步，资金仍在等待确认</a:t>
            </a:r>
          </a:p>
        </p:txBody>
      </p:sp>
      <p:sp>
        <p:nvSpPr>
          <p:cNvPr id="4" name="TEXT: 两模型最终都挂起并跟进；确认条件尚未满足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两模型最终都挂起并跟进；确认条件尚未满足。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list-filt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49424"/>
            <a:ext cx="347472" cy="347472"/>
          </a:xfrm>
          <a:prstGeom prst="rect">
            <a:avLst/>
          </a:prstGeom>
        </p:spPr>
      </p:pic>
      <p:sp>
        <p:nvSpPr>
          <p:cNvPr id="7" name="TEXT: 完成选择"/>
          <p:cNvSpPr txBox="1"/>
          <p:nvPr/>
        </p:nvSpPr>
        <p:spPr>
          <a:xfrm>
            <a:off x="1207008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完成选择</a:t>
            </a:r>
          </a:p>
        </p:txBody>
      </p:sp>
      <p:sp>
        <p:nvSpPr>
          <p:cNvPr id="8" name="TEXT: 各返回 5 个动作"/>
          <p:cNvSpPr txBox="1"/>
          <p:nvPr/>
        </p:nvSpPr>
        <p:spPr>
          <a:xfrm>
            <a:off x="749808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各返回 5 个动作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90416" y="276606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6448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shield-chec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896" y="2249424"/>
            <a:ext cx="347472" cy="347472"/>
          </a:xfrm>
          <a:prstGeom prst="rect">
            <a:avLst/>
          </a:prstGeom>
        </p:spPr>
      </p:pic>
      <p:sp>
        <p:nvSpPr>
          <p:cNvPr id="12" name="TEXT: 挂起资金"/>
          <p:cNvSpPr txBox="1"/>
          <p:nvPr/>
        </p:nvSpPr>
        <p:spPr>
          <a:xfrm>
            <a:off x="4959096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挂起资金</a:t>
            </a:r>
          </a:p>
        </p:txBody>
      </p:sp>
      <p:sp>
        <p:nvSpPr>
          <p:cNvPr id="13" name="TEXT: 确认数仍为 3 / 12"/>
          <p:cNvSpPr txBox="1"/>
          <p:nvPr/>
        </p:nvSpPr>
        <p:spPr>
          <a:xfrm>
            <a:off x="4501896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确认数仍为 3 / 12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42504" y="2766060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98536" y="2103120"/>
            <a:ext cx="3468624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headse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84" y="2249424"/>
            <a:ext cx="347472" cy="347472"/>
          </a:xfrm>
          <a:prstGeom prst="rect">
            <a:avLst/>
          </a:prstGeom>
        </p:spPr>
      </p:pic>
      <p:sp>
        <p:nvSpPr>
          <p:cNvPr id="17" name="TEXT: 持续跟进"/>
          <p:cNvSpPr txBox="1"/>
          <p:nvPr/>
        </p:nvSpPr>
        <p:spPr>
          <a:xfrm>
            <a:off x="8711184" y="2258568"/>
            <a:ext cx="2737104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持续跟进</a:t>
            </a:r>
          </a:p>
        </p:txBody>
      </p:sp>
      <p:sp>
        <p:nvSpPr>
          <p:cNvPr id="18" name="TEXT: 工单未结案"/>
          <p:cNvSpPr txBox="1"/>
          <p:nvPr/>
        </p:nvSpPr>
        <p:spPr>
          <a:xfrm>
            <a:off x="8253984" y="2788920"/>
            <a:ext cx="3157728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工单未结案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" y="3719849"/>
            <a:ext cx="11027664" cy="14391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MAGE: fixed-final.png" descr="fixed-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747281"/>
            <a:ext cx="10972800" cy="138426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344168" y="5458968"/>
            <a:ext cx="94640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完成标准：目标订单 + 对应账本 + 工单结案"/>
          <p:cNvSpPr txBox="1"/>
          <p:nvPr/>
        </p:nvSpPr>
        <p:spPr>
          <a:xfrm>
            <a:off x="1389888" y="5509259"/>
            <a:ext cx="93726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完成标准：目标订单 + 对应账本 + 工单结案</a:t>
            </a:r>
          </a:p>
        </p:txBody>
      </p:sp>
      <p:sp>
        <p:nvSpPr>
          <p:cNvPr id="23" name="TEXT: 下一步需要外部证据更新；反复调用模型不会增加链上确认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下一步需要外部证据更新；反复调用模型不会增加链上确认数。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: 15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固定输入 / 退款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固定输入 / 退款</a:t>
            </a:r>
          </a:p>
        </p:txBody>
      </p:sp>
      <p:sp>
        <p:nvSpPr>
          <p:cNvPr id="3" name="TEXT: 退款差异：模型想执行，条件是否允许？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退款差异：模型想执行，条件是否允许？</a:t>
            </a:r>
          </a:p>
        </p:txBody>
      </p:sp>
      <p:sp>
        <p:nvSpPr>
          <p:cNvPr id="4" name="TEXT: 地址未验证、审批待完成：两模型建议不同，实际资金动作都挂起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地址未验证、审批待完成：两模型建议不同，实际资金动作都挂起。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6072" y="2098548"/>
            <a:ext cx="11027664" cy="362102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MAGE: refund-execute-crop.png" descr="refund-execut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25980"/>
            <a:ext cx="10972800" cy="3566160"/>
          </a:xfrm>
          <a:prstGeom prst="rect">
            <a:avLst/>
          </a:prstGeom>
        </p:spPr>
      </p:pic>
      <p:sp>
        <p:nvSpPr>
          <p:cNvPr id="7" name="TEXT: Decider：提交模拟退款 → 应用挂起；GPT：直接挂起。执行保护不能计作模型判断正确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Decider：提交模拟退款 → 应用挂起；GPT：直接挂起。执行保护不能计作模型判断正确。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: 16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3 / 反馈执行 · 1 / 2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03 / 反馈执行 · 1 / 2</a:t>
            </a:r>
          </a:p>
        </p:txBody>
      </p:sp>
      <p:sp>
        <p:nvSpPr>
          <p:cNvPr id="3" name="TEXT: 继续推进：证据更新后，再判断与执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继续推进：证据更新后，再判断与执行</a:t>
            </a:r>
          </a:p>
        </p:txBody>
      </p:sp>
      <p:sp>
        <p:nvSpPr>
          <p:cNvPr id="4" name="TEXT: 条件不足时等待；把最新事实和执行结果交给下一次决策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条件不足时等待；把最新事实和执行结果交给下一次决策。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331720"/>
            <a:ext cx="347472" cy="347472"/>
          </a:xfrm>
          <a:prstGeom prst="rect">
            <a:avLst/>
          </a:prstGeom>
        </p:spPr>
      </p:pic>
      <p:sp>
        <p:nvSpPr>
          <p:cNvPr id="7" name="TEXT: 读取状态"/>
          <p:cNvSpPr txBox="1"/>
          <p:nvPr/>
        </p:nvSpPr>
        <p:spPr>
          <a:xfrm>
            <a:off x="1207008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读取状态</a:t>
            </a:r>
          </a:p>
        </p:txBody>
      </p:sp>
      <p:sp>
        <p:nvSpPr>
          <p:cNvPr id="8" name="TEXT: 事实 + 上轮反馈"/>
          <p:cNvSpPr txBox="1"/>
          <p:nvPr/>
        </p:nvSpPr>
        <p:spPr>
          <a:xfrm>
            <a:off x="749808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事实 + 上轮反馈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2866644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3874" y="2331720"/>
            <a:ext cx="347472" cy="347472"/>
          </a:xfrm>
          <a:prstGeom prst="rect">
            <a:avLst/>
          </a:prstGeom>
        </p:spPr>
      </p:pic>
      <p:sp>
        <p:nvSpPr>
          <p:cNvPr id="12" name="TEXT: 选择动作"/>
          <p:cNvSpPr txBox="1"/>
          <p:nvPr/>
        </p:nvSpPr>
        <p:spPr>
          <a:xfrm>
            <a:off x="4021074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选择动作</a:t>
            </a:r>
          </a:p>
        </p:txBody>
      </p:sp>
      <p:sp>
        <p:nvSpPr>
          <p:cNvPr id="13" name="TEXT: Decider 或 GPT"/>
          <p:cNvSpPr txBox="1"/>
          <p:nvPr/>
        </p:nvSpPr>
        <p:spPr>
          <a:xfrm>
            <a:off x="3563874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或 GPT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2866644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workflow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940" y="2331720"/>
            <a:ext cx="347472" cy="347472"/>
          </a:xfrm>
          <a:prstGeom prst="rect">
            <a:avLst/>
          </a:prstGeom>
        </p:spPr>
      </p:pic>
      <p:sp>
        <p:nvSpPr>
          <p:cNvPr id="17" name="TEXT: 实际执行"/>
          <p:cNvSpPr txBox="1"/>
          <p:nvPr/>
        </p:nvSpPr>
        <p:spPr>
          <a:xfrm>
            <a:off x="6835140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实际执行</a:t>
            </a:r>
          </a:p>
        </p:txBody>
      </p:sp>
      <p:sp>
        <p:nvSpPr>
          <p:cNvPr id="18" name="TEXT: 更新订单与账本"/>
          <p:cNvSpPr txBox="1"/>
          <p:nvPr/>
        </p:nvSpPr>
        <p:spPr>
          <a:xfrm>
            <a:off x="6377940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更新订单与账本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2866644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185416"/>
            <a:ext cx="2530602" cy="13624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circle-check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2006" y="2331720"/>
            <a:ext cx="347472" cy="347472"/>
          </a:xfrm>
          <a:prstGeom prst="rect">
            <a:avLst/>
          </a:prstGeom>
        </p:spPr>
      </p:pic>
      <p:sp>
        <p:nvSpPr>
          <p:cNvPr id="22" name="TEXT: 检查结果"/>
          <p:cNvSpPr txBox="1"/>
          <p:nvPr/>
        </p:nvSpPr>
        <p:spPr>
          <a:xfrm>
            <a:off x="9649206" y="234086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检查结果</a:t>
            </a:r>
          </a:p>
        </p:txBody>
      </p:sp>
      <p:sp>
        <p:nvSpPr>
          <p:cNvPr id="23" name="TEXT: 完成 / 等待 / 再判"/>
          <p:cNvSpPr txBox="1"/>
          <p:nvPr/>
        </p:nvSpPr>
        <p:spPr>
          <a:xfrm>
            <a:off x="9192006" y="2871216"/>
            <a:ext cx="2219706" cy="61264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完成 / 等待 / 再判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186416" y="3602736"/>
            <a:ext cx="0" cy="393192"/>
          </a:xfrm>
          <a:prstGeom prst="line">
            <a:avLst/>
          </a:prstGeom>
          <a:ln w="2286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636776" y="3995928"/>
            <a:ext cx="8549640" cy="0"/>
          </a:xfrm>
          <a:prstGeom prst="line">
            <a:avLst/>
          </a:prstGeom>
          <a:ln w="22860">
            <a:solidFill>
              <a:srgbClr val="087F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636776" y="3602736"/>
            <a:ext cx="0" cy="393192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224528" y="3785615"/>
            <a:ext cx="3831336" cy="365760"/>
          </a:xfrm>
          <a:prstGeom prst="rect">
            <a:avLst/>
          </a:prstGeom>
          <a:solidFill>
            <a:srgbClr val="F6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最新证据 + 执行反馈"/>
          <p:cNvSpPr txBox="1"/>
          <p:nvPr/>
        </p:nvSpPr>
        <p:spPr>
          <a:xfrm>
            <a:off x="4242816" y="3840480"/>
            <a:ext cx="3767328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最新证据 + 执行反馈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526280"/>
            <a:ext cx="5349240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USDC 未到账"/>
          <p:cNvSpPr txBox="1"/>
          <p:nvPr/>
        </p:nvSpPr>
        <p:spPr>
          <a:xfrm>
            <a:off x="804672" y="4736592"/>
            <a:ext cx="4956047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31" name="TEXT: 模拟确认数：3 / 12 → 12 / 12"/>
          <p:cNvSpPr txBox="1"/>
          <p:nvPr/>
        </p:nvSpPr>
        <p:spPr>
          <a:xfrm>
            <a:off x="804672" y="5376672"/>
            <a:ext cx="4928616" cy="3291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模拟确认数：3 / 12 → 12 / 12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526280"/>
            <a:ext cx="5349240" cy="1261872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稳定币退款"/>
          <p:cNvSpPr txBox="1"/>
          <p:nvPr/>
        </p:nvSpPr>
        <p:spPr>
          <a:xfrm>
            <a:off x="6428232" y="4736592"/>
            <a:ext cx="4956047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34" name="TEXT: 模拟验证地址 → 模拟审批通过"/>
          <p:cNvSpPr txBox="1"/>
          <p:nvPr/>
        </p:nvSpPr>
        <p:spPr>
          <a:xfrm>
            <a:off x="6428232" y="5376672"/>
            <a:ext cx="4928616" cy="329183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模拟验证地址 → 模拟审批通过</a:t>
            </a:r>
          </a:p>
        </p:txBody>
      </p:sp>
      <p:sp>
        <p:nvSpPr>
          <p:cNvPr id="35" name="TEXT: 同一套机制，各侧独立推进；外部事件由模拟器更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同一套机制，各侧独立推进；外部事件由模拟器更新。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: 17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3 / 反馈执行 · 2 / 2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03 / 反馈执行 · 2 / 2</a:t>
            </a:r>
          </a:p>
        </p:txBody>
      </p:sp>
      <p:sp>
        <p:nvSpPr>
          <p:cNvPr id="3" name="TEXT: 执行结果：两组业务，双方均完成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执行结果：两组业务，双方均完成</a:t>
            </a:r>
          </a:p>
        </p:txBody>
      </p:sp>
      <p:sp>
        <p:nvSpPr>
          <p:cNvPr id="4" name="TEXT: 完成标准：目标订单、对应账本与工单结案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完成标准：目标订单、对应账本与工单结案。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075688"/>
            <a:ext cx="2249424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场景"/>
          <p:cNvSpPr txBox="1"/>
          <p:nvPr/>
        </p:nvSpPr>
        <p:spPr>
          <a:xfrm>
            <a:off x="704088" y="2176272"/>
            <a:ext cx="2066543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场景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2075688"/>
            <a:ext cx="2130552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990088" y="2176272"/>
            <a:ext cx="194767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7488" y="2075688"/>
            <a:ext cx="2130552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5157216" y="2176272"/>
            <a:ext cx="194767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14616" y="2075688"/>
            <a:ext cx="2112264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每侧决策数"/>
          <p:cNvSpPr txBox="1"/>
          <p:nvPr/>
        </p:nvSpPr>
        <p:spPr>
          <a:xfrm>
            <a:off x="7324344" y="2176272"/>
            <a:ext cx="19293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每侧决策数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63456" y="2075688"/>
            <a:ext cx="2185416" cy="448056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业务结果"/>
          <p:cNvSpPr txBox="1"/>
          <p:nvPr/>
        </p:nvSpPr>
        <p:spPr>
          <a:xfrm>
            <a:off x="9473184" y="2176272"/>
            <a:ext cx="2002536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587752"/>
            <a:ext cx="224942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USDC 未到账"/>
          <p:cNvSpPr txBox="1"/>
          <p:nvPr/>
        </p:nvSpPr>
        <p:spPr>
          <a:xfrm>
            <a:off x="704088" y="2743200"/>
            <a:ext cx="2066543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2587752"/>
            <a:ext cx="2130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0.570 s"/>
          <p:cNvSpPr txBox="1"/>
          <p:nvPr/>
        </p:nvSpPr>
        <p:spPr>
          <a:xfrm>
            <a:off x="2990088" y="274320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0.570 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7488" y="2587752"/>
            <a:ext cx="2130552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7.269 s"/>
          <p:cNvSpPr txBox="1"/>
          <p:nvPr/>
        </p:nvSpPr>
        <p:spPr>
          <a:xfrm>
            <a:off x="5157216" y="274320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7.269 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14616" y="2587752"/>
            <a:ext cx="2112264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6 次"/>
          <p:cNvSpPr txBox="1"/>
          <p:nvPr/>
        </p:nvSpPr>
        <p:spPr>
          <a:xfrm>
            <a:off x="7324344" y="2743200"/>
            <a:ext cx="192938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6 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63456" y="2587752"/>
            <a:ext cx="2185416" cy="585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双方完成"/>
          <p:cNvSpPr txBox="1"/>
          <p:nvPr/>
        </p:nvSpPr>
        <p:spPr>
          <a:xfrm>
            <a:off x="9473184" y="2743200"/>
            <a:ext cx="2002536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双方完成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3227832"/>
            <a:ext cx="2249424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稳定币退款"/>
          <p:cNvSpPr txBox="1"/>
          <p:nvPr/>
        </p:nvSpPr>
        <p:spPr>
          <a:xfrm>
            <a:off x="704088" y="3383280"/>
            <a:ext cx="2066543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80360" y="3227832"/>
            <a:ext cx="2130552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0.897 s"/>
          <p:cNvSpPr txBox="1"/>
          <p:nvPr/>
        </p:nvSpPr>
        <p:spPr>
          <a:xfrm>
            <a:off x="2990088" y="338328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0.897 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47488" y="3227832"/>
            <a:ext cx="2130552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10.542 s"/>
          <p:cNvSpPr txBox="1"/>
          <p:nvPr/>
        </p:nvSpPr>
        <p:spPr>
          <a:xfrm>
            <a:off x="5157216" y="3383280"/>
            <a:ext cx="1947672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10.542 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14616" y="3227832"/>
            <a:ext cx="2112264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9 次"/>
          <p:cNvSpPr txBox="1"/>
          <p:nvPr/>
        </p:nvSpPr>
        <p:spPr>
          <a:xfrm>
            <a:off x="7324344" y="3383280"/>
            <a:ext cx="1929384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9 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63456" y="3227832"/>
            <a:ext cx="2185416" cy="585216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双方完成"/>
          <p:cNvSpPr txBox="1"/>
          <p:nvPr/>
        </p:nvSpPr>
        <p:spPr>
          <a:xfrm>
            <a:off x="9473184" y="3383280"/>
            <a:ext cx="2002536" cy="3200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双方完成</a:t>
            </a:r>
          </a:p>
        </p:txBody>
      </p:sp>
      <p:sp>
        <p:nvSpPr>
          <p:cNvPr id="35" name="TEXT: 退款案例 · 实际执行结果"/>
          <p:cNvSpPr txBox="1"/>
          <p:nvPr/>
        </p:nvSpPr>
        <p:spPr>
          <a:xfrm>
            <a:off x="621792" y="3904487"/>
            <a:ext cx="10945368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退款案例 · 实际执行结果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183351"/>
            <a:ext cx="11000232" cy="143566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IMAGE: refund-loop-final.png" descr="refund-loop-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10783"/>
            <a:ext cx="10945368" cy="1380800"/>
          </a:xfrm>
          <a:prstGeom prst="rect">
            <a:avLst/>
          </a:prstGeom>
        </p:spPr>
      </p:pic>
      <p:sp>
        <p:nvSpPr>
          <p:cNvPr id="38" name="TEXT: 后端累计决策耗时，不含外部事件等待；两侧后续输入可能不同，不计入同输入速度基准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后端累计决策耗时，不含外部事件等待；两侧后续输入可能不同，不计入同输入速度基准。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: 18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总览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速度对比 / 总览</a:t>
            </a:r>
          </a:p>
        </p:txBody>
      </p:sp>
      <p:sp>
        <p:nvSpPr>
          <p:cNvPr id="3" name="TEXT: 19 组成功配对，累计决策耗时相差 12.20×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19 组成功配对，累计决策耗时相差 12.20×</a:t>
            </a:r>
          </a:p>
        </p:txBody>
      </p:sp>
      <p:sp>
        <p:nvSpPr>
          <p:cNvPr id="4" name="TEXT: 同一批业务输入与候选 · 每侧 20 次尝试，其中 19 组成功配对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同一批业务输入与候选 · 每侧 20 次尝试，其中 19 组成功配对</a:t>
            </a:r>
          </a:p>
        </p:txBody>
      </p:sp>
      <p:sp>
        <p:nvSpPr>
          <p:cNvPr id="5" name="TEXT: 1.810 s"/>
          <p:cNvSpPr txBox="1"/>
          <p:nvPr/>
        </p:nvSpPr>
        <p:spPr>
          <a:xfrm>
            <a:off x="640080" y="2249424"/>
            <a:ext cx="475488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9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1.810 s</a:t>
            </a:r>
          </a:p>
        </p:txBody>
      </p:sp>
      <p:sp>
        <p:nvSpPr>
          <p:cNvPr id="6" name="TEXT: Decider · 19 次累计"/>
          <p:cNvSpPr txBox="1"/>
          <p:nvPr/>
        </p:nvSpPr>
        <p:spPr>
          <a:xfrm>
            <a:off x="658368" y="3063240"/>
            <a:ext cx="475488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Decider · 19 次累计</a:t>
            </a:r>
          </a:p>
        </p:txBody>
      </p:sp>
      <p:sp>
        <p:nvSpPr>
          <p:cNvPr id="7" name="TEXT: 22.068 s"/>
          <p:cNvSpPr txBox="1"/>
          <p:nvPr/>
        </p:nvSpPr>
        <p:spPr>
          <a:xfrm>
            <a:off x="6446520" y="2249424"/>
            <a:ext cx="4846320" cy="6858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900" b="1">
                <a:solidFill>
                  <a:srgbClr val="A6B9FF"/>
                </a:solidFill>
                <a:latin typeface="Noto Sans CJK SC"/>
                <a:ea typeface="Noto Sans CJK SC"/>
                <a:cs typeface="Noto Sans CJK SC"/>
              </a:rPr>
              <a:t>22.068 s</a:t>
            </a:r>
          </a:p>
        </p:txBody>
      </p:sp>
      <p:sp>
        <p:nvSpPr>
          <p:cNvPr id="8" name="TEXT: GPT · 19 次累计"/>
          <p:cNvSpPr txBox="1"/>
          <p:nvPr/>
        </p:nvSpPr>
        <p:spPr>
          <a:xfrm>
            <a:off x="6464807" y="3063240"/>
            <a:ext cx="4846320" cy="52120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GPT · 19 次累计</a:t>
            </a:r>
          </a:p>
        </p:txBody>
      </p:sp>
      <p:sp>
        <p:nvSpPr>
          <p:cNvPr id="9" name="TEXT: Decider"/>
          <p:cNvSpPr txBox="1"/>
          <p:nvPr/>
        </p:nvSpPr>
        <p:spPr>
          <a:xfrm>
            <a:off x="658368" y="4142231"/>
            <a:ext cx="13716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3976" y="4206240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29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93976" y="4206240"/>
            <a:ext cx="708570" cy="219456"/>
          </a:xfrm>
          <a:prstGeom prst="roundRect">
            <a:avLst>
              <a:gd name="adj" fmla="val 13000"/>
            </a:avLst>
          </a:prstGeom>
          <a:solidFill>
            <a:srgbClr val="86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GPT"/>
          <p:cNvSpPr txBox="1"/>
          <p:nvPr/>
        </p:nvSpPr>
        <p:spPr>
          <a:xfrm>
            <a:off x="658368" y="4754879"/>
            <a:ext cx="1371600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93976" y="4818888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29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93976" y="4818888"/>
            <a:ext cx="8641080" cy="219456"/>
          </a:xfrm>
          <a:prstGeom prst="roundRect">
            <a:avLst>
              <a:gd name="adj" fmla="val 13000"/>
            </a:avLst>
          </a:prstGeom>
          <a:solidFill>
            <a:srgbClr val="A6B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单次观测；另有 1 次 GPT 读取超时，未计入成功耗时。不是全程用时或稳定性能保证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单次观测；另有 1 次 GPT 读取超时，未计入成功耗时。不是全程用时或稳定性能保证。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: 19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四类场景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速度对比 / 四类场景</a:t>
            </a:r>
          </a:p>
        </p:txBody>
      </p:sp>
      <p:sp>
        <p:nvSpPr>
          <p:cNvPr id="3" name="TEXT: 按场景比较：相同输入下的累计耗时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按场景比较：相同输入下的累计耗时</a:t>
            </a:r>
          </a:p>
        </p:txBody>
      </p:sp>
      <p:sp>
        <p:nvSpPr>
          <p:cNvPr id="4" name="TEXT: 同一场景中，两侧使用完全相同的成功配对子集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同一场景中，两侧使用完全相同的成功配对子集。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103120"/>
            <a:ext cx="10058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Decider"/>
          <p:cNvSpPr txBox="1"/>
          <p:nvPr/>
        </p:nvSpPr>
        <p:spPr>
          <a:xfrm>
            <a:off x="2606039" y="2153412"/>
            <a:ext cx="9144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2103120"/>
            <a:ext cx="822960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GPT"/>
          <p:cNvSpPr txBox="1"/>
          <p:nvPr/>
        </p:nvSpPr>
        <p:spPr>
          <a:xfrm>
            <a:off x="3776472" y="2153412"/>
            <a:ext cx="7315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9" name="TEXT: USDC 未到账 5 组配对"/>
          <p:cNvSpPr txBox="1"/>
          <p:nvPr/>
        </p:nvSpPr>
        <p:spPr>
          <a:xfrm>
            <a:off x="621792" y="2642615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61518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2615184"/>
            <a:ext cx="404668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0.458 s"/>
          <p:cNvSpPr txBox="1"/>
          <p:nvPr/>
        </p:nvSpPr>
        <p:spPr>
          <a:xfrm>
            <a:off x="9930384" y="257403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0.458 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85292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852928"/>
            <a:ext cx="687977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7.792 s"/>
          <p:cNvSpPr txBox="1"/>
          <p:nvPr/>
        </p:nvSpPr>
        <p:spPr>
          <a:xfrm>
            <a:off x="9930384" y="281178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7.792 s</a:t>
            </a:r>
          </a:p>
        </p:txBody>
      </p:sp>
      <p:sp>
        <p:nvSpPr>
          <p:cNvPr id="16" name="TEXT: USDT 少付 5 组配对"/>
          <p:cNvSpPr txBox="1"/>
          <p:nvPr/>
        </p:nvSpPr>
        <p:spPr>
          <a:xfrm>
            <a:off x="621792" y="3401568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374136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374136"/>
            <a:ext cx="39954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0.453 s"/>
          <p:cNvSpPr txBox="1"/>
          <p:nvPr/>
        </p:nvSpPr>
        <p:spPr>
          <a:xfrm>
            <a:off x="9930384" y="333298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0.453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61188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611880"/>
            <a:ext cx="4828869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5.469 s"/>
          <p:cNvSpPr txBox="1"/>
          <p:nvPr/>
        </p:nvSpPr>
        <p:spPr>
          <a:xfrm>
            <a:off x="9930384" y="357073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5.469 s</a:t>
            </a:r>
          </a:p>
        </p:txBody>
      </p:sp>
      <p:sp>
        <p:nvSpPr>
          <p:cNvPr id="23" name="TEXT: 稳定币退款 5 组配对"/>
          <p:cNvSpPr txBox="1"/>
          <p:nvPr/>
        </p:nvSpPr>
        <p:spPr>
          <a:xfrm>
            <a:off x="621792" y="4160520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5 组配对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133087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4133087"/>
            <a:ext cx="46032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0.521 s"/>
          <p:cNvSpPr txBox="1"/>
          <p:nvPr/>
        </p:nvSpPr>
        <p:spPr>
          <a:xfrm>
            <a:off x="9930384" y="4091939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0.521 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370831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4370831"/>
            <a:ext cx="377525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4.276 s"/>
          <p:cNvSpPr txBox="1"/>
          <p:nvPr/>
        </p:nvSpPr>
        <p:spPr>
          <a:xfrm>
            <a:off x="9930384" y="4329683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4.276 s</a:t>
            </a:r>
          </a:p>
        </p:txBody>
      </p:sp>
      <p:sp>
        <p:nvSpPr>
          <p:cNvPr id="30" name="TEXT: 商户结算 4 组配对"/>
          <p:cNvSpPr txBox="1"/>
          <p:nvPr/>
        </p:nvSpPr>
        <p:spPr>
          <a:xfrm>
            <a:off x="621792" y="4919472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4 组配对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89204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4892040"/>
            <a:ext cx="333252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0.377 s"/>
          <p:cNvSpPr txBox="1"/>
          <p:nvPr/>
        </p:nvSpPr>
        <p:spPr>
          <a:xfrm>
            <a:off x="9930384" y="485089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0.377 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5129783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5129783"/>
            <a:ext cx="400119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4.532 s"/>
          <p:cNvSpPr txBox="1"/>
          <p:nvPr/>
        </p:nvSpPr>
        <p:spPr>
          <a:xfrm>
            <a:off x="9930384" y="508863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4.532 s</a:t>
            </a:r>
          </a:p>
        </p:txBody>
      </p:sp>
      <p:sp>
        <p:nvSpPr>
          <p:cNvPr id="37" name="TEXT: 结算仅含 4 对成功请求，不能当作完整五步运行耗时；跨场景比较需留意请求数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结算仅含 4 对成功请求，不能当作完整五步运行耗时；跨场景比较需留意请求数。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: 20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速度对比 / 业务节点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速度对比 / 业务节点</a:t>
            </a:r>
          </a:p>
        </p:txBody>
      </p:sp>
      <p:sp>
        <p:nvSpPr>
          <p:cNvPr id="3" name="TEXT: 按节点比较：每次判断平均花多久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按节点比较：每次判断平均花多久</a:t>
            </a:r>
          </a:p>
        </p:txBody>
      </p:sp>
      <p:sp>
        <p:nvSpPr>
          <p:cNvPr id="4" name="TEXT: 每个节点仅统计成功同输入配对，横轴为平均毫秒数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每个节点仅统计成功同输入配对，横轴为平均毫秒数。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60320" y="2020824"/>
            <a:ext cx="1005840" cy="320040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Decider"/>
          <p:cNvSpPr txBox="1"/>
          <p:nvPr/>
        </p:nvSpPr>
        <p:spPr>
          <a:xfrm>
            <a:off x="2606039" y="2071116"/>
            <a:ext cx="9144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30752" y="2020824"/>
            <a:ext cx="822960" cy="320040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GPT"/>
          <p:cNvSpPr txBox="1"/>
          <p:nvPr/>
        </p:nvSpPr>
        <p:spPr>
          <a:xfrm>
            <a:off x="3776472" y="2071116"/>
            <a:ext cx="73152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500"/>
              </a:spcAft>
            </a:pPr>
            <a:r>
              <a:rPr sz="11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9" name="TEXT: 客服受理 · n=4"/>
          <p:cNvSpPr txBox="1"/>
          <p:nvPr/>
        </p:nvSpPr>
        <p:spPr>
          <a:xfrm>
            <a:off x="621792" y="2560320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客服受理 · n=4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253288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60320" y="2532888"/>
            <a:ext cx="32437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94.1 ms"/>
          <p:cNvSpPr txBox="1"/>
          <p:nvPr/>
        </p:nvSpPr>
        <p:spPr>
          <a:xfrm>
            <a:off x="9930384" y="249174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94.1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770632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560320" y="2770632"/>
            <a:ext cx="317366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921.2 ms"/>
          <p:cNvSpPr txBox="1"/>
          <p:nvPr/>
        </p:nvSpPr>
        <p:spPr>
          <a:xfrm>
            <a:off x="9930384" y="2729484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921.2 ms</a:t>
            </a:r>
          </a:p>
        </p:txBody>
      </p:sp>
      <p:sp>
        <p:nvSpPr>
          <p:cNvPr id="16" name="TEXT: 交易核验 · n=4"/>
          <p:cNvSpPr txBox="1"/>
          <p:nvPr/>
        </p:nvSpPr>
        <p:spPr>
          <a:xfrm>
            <a:off x="621792" y="3182112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交易核验 · n=4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15468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60320" y="3154680"/>
            <a:ext cx="315290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91.5 ms"/>
          <p:cNvSpPr txBox="1"/>
          <p:nvPr/>
        </p:nvSpPr>
        <p:spPr>
          <a:xfrm>
            <a:off x="9930384" y="311353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91.5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60320" y="339242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560320" y="3392424"/>
            <a:ext cx="3420823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992.9 ms"/>
          <p:cNvSpPr txBox="1"/>
          <p:nvPr/>
        </p:nvSpPr>
        <p:spPr>
          <a:xfrm>
            <a:off x="9930384" y="335127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992.9 ms</a:t>
            </a:r>
          </a:p>
        </p:txBody>
      </p:sp>
      <p:sp>
        <p:nvSpPr>
          <p:cNvPr id="23" name="TEXT: 风控审批 · n=4"/>
          <p:cNvSpPr txBox="1"/>
          <p:nvPr/>
        </p:nvSpPr>
        <p:spPr>
          <a:xfrm>
            <a:off x="621792" y="3803904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风控审批 · n=4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3776472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60320" y="3776472"/>
            <a:ext cx="308606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89.6 ms"/>
          <p:cNvSpPr txBox="1"/>
          <p:nvPr/>
        </p:nvSpPr>
        <p:spPr>
          <a:xfrm>
            <a:off x="9930384" y="3735324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89.6 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014215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560320" y="4014215"/>
            <a:ext cx="687977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1,996.9 ms"/>
          <p:cNvSpPr txBox="1"/>
          <p:nvPr/>
        </p:nvSpPr>
        <p:spPr>
          <a:xfrm>
            <a:off x="9930384" y="397306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1,996.9 ms</a:t>
            </a:r>
          </a:p>
        </p:txBody>
      </p:sp>
      <p:sp>
        <p:nvSpPr>
          <p:cNvPr id="30" name="TEXT: 业务处置 · n=3"/>
          <p:cNvSpPr txBox="1"/>
          <p:nvPr/>
        </p:nvSpPr>
        <p:spPr>
          <a:xfrm>
            <a:off x="621792" y="4425696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业务处置 · n=3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60320" y="4398264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560320" y="4398264"/>
            <a:ext cx="380311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110.4 ms"/>
          <p:cNvSpPr txBox="1"/>
          <p:nvPr/>
        </p:nvSpPr>
        <p:spPr>
          <a:xfrm>
            <a:off x="9930384" y="4357116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110.4 ms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4636008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560320" y="4636008"/>
            <a:ext cx="3026891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878.6 ms"/>
          <p:cNvSpPr txBox="1"/>
          <p:nvPr/>
        </p:nvSpPr>
        <p:spPr>
          <a:xfrm>
            <a:off x="9930384" y="4594860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878.6 ms</a:t>
            </a:r>
          </a:p>
        </p:txBody>
      </p:sp>
      <p:sp>
        <p:nvSpPr>
          <p:cNvPr id="37" name="TEXT: 回复结案 · n=4"/>
          <p:cNvSpPr txBox="1"/>
          <p:nvPr/>
        </p:nvSpPr>
        <p:spPr>
          <a:xfrm>
            <a:off x="621792" y="5047488"/>
            <a:ext cx="1737360" cy="54864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回复结案 · n=4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560320" y="5020056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560320" y="5020056"/>
            <a:ext cx="325142" cy="155448"/>
          </a:xfrm>
          <a:prstGeom prst="roundRect">
            <a:avLst>
              <a:gd name="adj" fmla="val 13000"/>
            </a:avLst>
          </a:prstGeom>
          <a:solidFill>
            <a:srgbClr val="08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94.4 ms"/>
          <p:cNvSpPr txBox="1"/>
          <p:nvPr/>
        </p:nvSpPr>
        <p:spPr>
          <a:xfrm>
            <a:off x="9930384" y="4978908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94.4 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60320" y="5257800"/>
            <a:ext cx="7223760" cy="155448"/>
          </a:xfrm>
          <a:prstGeom prst="roundRect">
            <a:avLst>
              <a:gd name="adj" fmla="val 13000"/>
            </a:avLst>
          </a:prstGeom>
          <a:solidFill>
            <a:srgbClr val="E6E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560320" y="5257800"/>
            <a:ext cx="3263378" cy="155448"/>
          </a:xfrm>
          <a:prstGeom prst="roundRect">
            <a:avLst>
              <a:gd name="adj" fmla="val 13000"/>
            </a:avLst>
          </a:prstGeom>
          <a:solidFill>
            <a:srgbClr val="466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947.2 ms"/>
          <p:cNvSpPr txBox="1"/>
          <p:nvPr/>
        </p:nvSpPr>
        <p:spPr>
          <a:xfrm>
            <a:off x="9930384" y="5216652"/>
            <a:ext cx="137160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947.2 ms</a:t>
            </a:r>
          </a:p>
        </p:txBody>
      </p:sp>
      <p:sp>
        <p:nvSpPr>
          <p:cNvPr id="44" name="TEXT: 业务处置仅 3 组成功配对；商户结算的 GPT 处置请求超时。条形均从 0 起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业务处置仅 3 组成功配对；商户结算的 GPT 处置请求超时。条形均从 0 起。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: 21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4 / 如何理解测试结果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04 / 如何理解测试结果</a:t>
            </a:r>
          </a:p>
        </p:txBody>
      </p:sp>
      <p:sp>
        <p:nvSpPr>
          <p:cNvPr id="3" name="TEXT: 本轮对比：速度、规则选择与实际执行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本轮对比：速度、规则选择与实际执行</a:t>
            </a:r>
          </a:p>
        </p:txBody>
      </p:sp>
      <p:sp>
        <p:nvSpPr>
          <p:cNvPr id="4" name="TEXT: 四个案例 × 五个步骤，每侧调用 20 次；各项数字衡量不同的事情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四个案例 × 五个步骤，每侧调用 20 次；各项数字衡量不同的事情。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965960"/>
            <a:ext cx="2112264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: 比较什么"/>
          <p:cNvSpPr txBox="1"/>
          <p:nvPr/>
        </p:nvSpPr>
        <p:spPr>
          <a:xfrm>
            <a:off x="704088" y="2057400"/>
            <a:ext cx="192938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比较什么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65960"/>
            <a:ext cx="2020824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: Decider"/>
          <p:cNvSpPr txBox="1"/>
          <p:nvPr/>
        </p:nvSpPr>
        <p:spPr>
          <a:xfrm>
            <a:off x="2852928" y="2057400"/>
            <a:ext cx="1837943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965960"/>
            <a:ext cx="2020824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: GPT"/>
          <p:cNvSpPr txBox="1"/>
          <p:nvPr/>
        </p:nvSpPr>
        <p:spPr>
          <a:xfrm>
            <a:off x="4910328" y="2057400"/>
            <a:ext cx="1837943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965960"/>
            <a:ext cx="4690872" cy="429768"/>
          </a:xfrm>
          <a:prstGeom prst="rect">
            <a:avLst/>
          </a:prstGeom>
          <a:solidFill>
            <a:srgbClr val="132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: 怎么理解"/>
          <p:cNvSpPr txBox="1"/>
          <p:nvPr/>
        </p:nvSpPr>
        <p:spPr>
          <a:xfrm>
            <a:off x="6967728" y="2057400"/>
            <a:ext cx="4507992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怎么理解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450591"/>
            <a:ext cx="211226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: 累计决策耗时"/>
          <p:cNvSpPr txBox="1"/>
          <p:nvPr/>
        </p:nvSpPr>
        <p:spPr>
          <a:xfrm>
            <a:off x="704088" y="2532887"/>
            <a:ext cx="1929384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累计决策耗时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450591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: 1.810 秒"/>
          <p:cNvSpPr txBox="1"/>
          <p:nvPr/>
        </p:nvSpPr>
        <p:spPr>
          <a:xfrm>
            <a:off x="2852928" y="2532887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1.810 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2450591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: 22.068 秒"/>
          <p:cNvSpPr txBox="1"/>
          <p:nvPr/>
        </p:nvSpPr>
        <p:spPr>
          <a:xfrm>
            <a:off x="4910328" y="2532887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22.068 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450591"/>
            <a:ext cx="4690872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: 19 组同输入成功配对的累计时间 失败等待未计入这两个数字"/>
          <p:cNvSpPr txBox="1"/>
          <p:nvPr/>
        </p:nvSpPr>
        <p:spPr>
          <a:xfrm>
            <a:off x="6967728" y="2532887"/>
            <a:ext cx="450799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19 组同输入成功配对的累计时间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失败等待未计入这两个数字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072384"/>
            <a:ext cx="2112264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: 调用是否成功"/>
          <p:cNvSpPr txBox="1"/>
          <p:nvPr/>
        </p:nvSpPr>
        <p:spPr>
          <a:xfrm>
            <a:off x="704088" y="3154679"/>
            <a:ext cx="1929384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调用是否成功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3072384"/>
            <a:ext cx="2020824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: 20 / 20 次"/>
          <p:cNvSpPr txBox="1"/>
          <p:nvPr/>
        </p:nvSpPr>
        <p:spPr>
          <a:xfrm>
            <a:off x="2852928" y="3154679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20 / 20 次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072384"/>
            <a:ext cx="2020824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: 19 / 20 次"/>
          <p:cNvSpPr txBox="1"/>
          <p:nvPr/>
        </p:nvSpPr>
        <p:spPr>
          <a:xfrm>
            <a:off x="4910328" y="3154679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 / 20 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3072384"/>
            <a:ext cx="4690872" cy="589788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: GPT 有 1 次读取超时 返回了选择，不代表业务已经完成"/>
          <p:cNvSpPr txBox="1"/>
          <p:nvPr/>
        </p:nvSpPr>
        <p:spPr>
          <a:xfrm>
            <a:off x="6967728" y="3154679"/>
            <a:ext cx="450799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 有 1 次读取超时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返回了选择，不代表业务已经完成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3694176"/>
            <a:ext cx="211226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: 与业务规则一致"/>
          <p:cNvSpPr txBox="1"/>
          <p:nvPr/>
        </p:nvSpPr>
        <p:spPr>
          <a:xfrm>
            <a:off x="704088" y="3776472"/>
            <a:ext cx="1929384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与业务规则一致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3694176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: 13 / 19 次"/>
          <p:cNvSpPr txBox="1"/>
          <p:nvPr/>
        </p:nvSpPr>
        <p:spPr>
          <a:xfrm>
            <a:off x="2852928" y="3776472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13 / 19 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3694176"/>
            <a:ext cx="2020824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: 19 / 19 次"/>
          <p:cNvSpPr txBox="1"/>
          <p:nvPr/>
        </p:nvSpPr>
        <p:spPr>
          <a:xfrm>
            <a:off x="4910328" y="3776472"/>
            <a:ext cx="1837943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19 / 19 次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3694176"/>
            <a:ext cx="4690872" cy="5897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: 选择与开发者预设规则一致的次数 这不是通用准确率"/>
          <p:cNvSpPr txBox="1"/>
          <p:nvPr/>
        </p:nvSpPr>
        <p:spPr>
          <a:xfrm>
            <a:off x="6967728" y="3776472"/>
            <a:ext cx="4507992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选择与开发者预设规则一致的次数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这不是通用准确率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4315968"/>
            <a:ext cx="2112264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: 商户结算执行"/>
          <p:cNvSpPr txBox="1"/>
          <p:nvPr/>
        </p:nvSpPr>
        <p:spPr>
          <a:xfrm>
            <a:off x="704088" y="4398264"/>
            <a:ext cx="1929384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商户结算执行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4315968"/>
            <a:ext cx="2020824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: 处理完 5 步 结算仍待跟进"/>
          <p:cNvSpPr txBox="1"/>
          <p:nvPr/>
        </p:nvSpPr>
        <p:spPr>
          <a:xfrm>
            <a:off x="2852928" y="4398264"/>
            <a:ext cx="1837943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处理完 5 步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结算仍待跟进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4315968"/>
            <a:ext cx="2020824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: 方案未执行 处置步骤超时"/>
          <p:cNvSpPr txBox="1"/>
          <p:nvPr/>
        </p:nvSpPr>
        <p:spPr>
          <a:xfrm>
            <a:off x="4910328" y="4398264"/>
            <a:ext cx="1837943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方案未执行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5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处置步骤超时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4315968"/>
            <a:ext cx="4690872" cy="726947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: GPT 其余 4 步虽返回选择 但缺少完整方案，本次未进入沙盒执行"/>
          <p:cNvSpPr txBox="1"/>
          <p:nvPr/>
        </p:nvSpPr>
        <p:spPr>
          <a:xfrm>
            <a:off x="6967728" y="4398264"/>
            <a:ext cx="4507992" cy="6492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GPT 其余 4 步虽返回选择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5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但缺少完整方案，本次未进入沙盒执行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175504"/>
            <a:ext cx="10972800" cy="384048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: 为什么比 19 组？20 组尝试 − 1 组 GPT 超时；双方使用同一组有效记录。"/>
          <p:cNvSpPr txBox="1"/>
          <p:nvPr/>
        </p:nvSpPr>
        <p:spPr>
          <a:xfrm>
            <a:off x="731520" y="5257800"/>
            <a:ext cx="10698480" cy="24688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为什么比 19 组？20 组尝试 − 1 组 GPT 超时；双方使用同一组有效记录。</a:t>
            </a:r>
          </a:p>
        </p:txBody>
      </p:sp>
      <p:sp>
        <p:nvSpPr>
          <p:cNvPr id="47" name="TEXT: 规则例：普通收款无风险标记，应选「检查通过」；Decider 那次选「等待人工审批」，GPT 选「检查通过」。"/>
          <p:cNvSpPr txBox="1"/>
          <p:nvPr/>
        </p:nvSpPr>
        <p:spPr>
          <a:xfrm>
            <a:off x="612648" y="5669280"/>
            <a:ext cx="10954512" cy="30175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规则例：普通收款无风险标记，应选「检查通过」；Decider 那次选「等待人工审批」，GPT 选「检查通过」。</a:t>
            </a:r>
          </a:p>
        </p:txBody>
      </p:sp>
      <p:sp>
        <p:nvSpPr>
          <p:cNvPr id="48" name="TEXT: 仅描述本轮测试；决策速度、规则符合度和业务完成是不同指标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仅描述本轮测试；决策速度、规则符合度和业务完成是不同指标。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: 22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适用方式"/>
          <p:cNvSpPr txBox="1"/>
          <p:nvPr/>
        </p:nvSpPr>
        <p:spPr>
          <a:xfrm>
            <a:off x="548640" y="246888"/>
            <a:ext cx="1088136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适用方式</a:t>
            </a:r>
          </a:p>
        </p:txBody>
      </p:sp>
      <p:sp>
        <p:nvSpPr>
          <p:cNvPr id="3" name="TEXT: 在支付流程中，按任务分工组合使用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在支付流程中，按任务分工组合使用</a:t>
            </a:r>
          </a:p>
        </p:txBody>
      </p:sp>
      <p:sp>
        <p:nvSpPr>
          <p:cNvPr id="4" name="TEXT: 以历史观测为起点，继续按真实业务分布评测。"/>
          <p:cNvSpPr txBox="1"/>
          <p:nvPr/>
        </p:nvSpPr>
        <p:spPr>
          <a:xfrm>
            <a:off x="566928" y="1426464"/>
            <a:ext cx="10972800" cy="4846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以历史观测为起点，继续按真实业务分布评测。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receipt-tex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86000"/>
            <a:ext cx="347472" cy="347472"/>
          </a:xfrm>
          <a:prstGeom prst="rect">
            <a:avLst/>
          </a:prstGeom>
        </p:spPr>
      </p:pic>
      <p:sp>
        <p:nvSpPr>
          <p:cNvPr id="7" name="TEXT: 业务请求"/>
          <p:cNvSpPr txBox="1"/>
          <p:nvPr/>
        </p:nvSpPr>
        <p:spPr>
          <a:xfrm>
            <a:off x="1207008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业务请求</a:t>
            </a:r>
          </a:p>
        </p:txBody>
      </p:sp>
      <p:sp>
        <p:nvSpPr>
          <p:cNvPr id="8" name="TEXT: 消息 + 当前事实"/>
          <p:cNvSpPr txBox="1"/>
          <p:nvPr/>
        </p:nvSpPr>
        <p:spPr>
          <a:xfrm>
            <a:off x="749808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消息 + 当前事实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2394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08426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route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74" y="2286000"/>
            <a:ext cx="347472" cy="347472"/>
          </a:xfrm>
          <a:prstGeom prst="rect">
            <a:avLst/>
          </a:prstGeom>
        </p:spPr>
      </p:pic>
      <p:sp>
        <p:nvSpPr>
          <p:cNvPr id="12" name="TEXT: 任务分流"/>
          <p:cNvSpPr txBox="1"/>
          <p:nvPr/>
        </p:nvSpPr>
        <p:spPr>
          <a:xfrm>
            <a:off x="4021074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任务分流</a:t>
            </a:r>
          </a:p>
        </p:txBody>
      </p:sp>
      <p:sp>
        <p:nvSpPr>
          <p:cNvPr id="13" name="TEXT: 范围 / 复杂度 / 风险"/>
          <p:cNvSpPr txBox="1"/>
          <p:nvPr/>
        </p:nvSpPr>
        <p:spPr>
          <a:xfrm>
            <a:off x="3563874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范围 / 复杂度 / 风险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66460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2492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ICON: Lucide brain-circuit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940" y="2286000"/>
            <a:ext cx="347472" cy="347472"/>
          </a:xfrm>
          <a:prstGeom prst="rect">
            <a:avLst/>
          </a:prstGeom>
        </p:spPr>
      </p:pic>
      <p:sp>
        <p:nvSpPr>
          <p:cNvPr id="17" name="TEXT: 模型建议"/>
          <p:cNvSpPr txBox="1"/>
          <p:nvPr/>
        </p:nvSpPr>
        <p:spPr>
          <a:xfrm>
            <a:off x="6835140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模型建议</a:t>
            </a:r>
          </a:p>
        </p:txBody>
      </p:sp>
      <p:sp>
        <p:nvSpPr>
          <p:cNvPr id="18" name="TEXT: Decider 或 GPT"/>
          <p:cNvSpPr txBox="1"/>
          <p:nvPr/>
        </p:nvSpPr>
        <p:spPr>
          <a:xfrm>
            <a:off x="6377940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或 GPT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80526" y="2875788"/>
            <a:ext cx="219456" cy="0"/>
          </a:xfrm>
          <a:prstGeom prst="line">
            <a:avLst/>
          </a:prstGeom>
          <a:ln w="22860">
            <a:solidFill>
              <a:srgbClr val="087F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36558" y="2139696"/>
            <a:ext cx="2530602" cy="1472184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2006" y="2286000"/>
            <a:ext cx="347472" cy="347472"/>
          </a:xfrm>
          <a:prstGeom prst="rect">
            <a:avLst/>
          </a:prstGeom>
        </p:spPr>
      </p:pic>
      <p:sp>
        <p:nvSpPr>
          <p:cNvPr id="22" name="TEXT: 执行系统"/>
          <p:cNvSpPr txBox="1"/>
          <p:nvPr/>
        </p:nvSpPr>
        <p:spPr>
          <a:xfrm>
            <a:off x="9649206" y="2295144"/>
            <a:ext cx="179908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执行系统</a:t>
            </a:r>
          </a:p>
        </p:txBody>
      </p:sp>
      <p:sp>
        <p:nvSpPr>
          <p:cNvPr id="23" name="TEXT: 校验与落实动作"/>
          <p:cNvSpPr txBox="1"/>
          <p:nvPr/>
        </p:nvSpPr>
        <p:spPr>
          <a:xfrm>
            <a:off x="9192006" y="2825496"/>
            <a:ext cx="2219706" cy="4572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校验与落实动作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69663"/>
            <a:ext cx="5349240" cy="154533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ICON: Lucide list-filter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4370831"/>
            <a:ext cx="393192" cy="393192"/>
          </a:xfrm>
          <a:prstGeom prst="rect">
            <a:avLst/>
          </a:prstGeom>
        </p:spPr>
      </p:pic>
      <p:sp>
        <p:nvSpPr>
          <p:cNvPr id="26" name="TEXT: Decider"/>
          <p:cNvSpPr txBox="1"/>
          <p:nvPr/>
        </p:nvSpPr>
        <p:spPr>
          <a:xfrm>
            <a:off x="1344168" y="4379976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27" name="TEXT: 队列路由、受限候选、高频下一步选择"/>
          <p:cNvSpPr txBox="1"/>
          <p:nvPr/>
        </p:nvSpPr>
        <p:spPr>
          <a:xfrm>
            <a:off x="804672" y="5020055"/>
            <a:ext cx="4928616" cy="6126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队列路由、受限候选、高频下一步选择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69663"/>
            <a:ext cx="5349240" cy="1545336"/>
          </a:xfrm>
          <a:prstGeom prst="roundRect">
            <a:avLst>
              <a:gd name="adj" fmla="val 13000"/>
            </a:avLst>
          </a:prstGeom>
          <a:solidFill>
            <a:srgbClr val="EDF1FC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ICON: Lucide brain-circuit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88" y="4370831"/>
            <a:ext cx="393192" cy="393192"/>
          </a:xfrm>
          <a:prstGeom prst="rect">
            <a:avLst/>
          </a:prstGeom>
        </p:spPr>
      </p:pic>
      <p:sp>
        <p:nvSpPr>
          <p:cNvPr id="30" name="TEXT: GPT"/>
          <p:cNvSpPr txBox="1"/>
          <p:nvPr/>
        </p:nvSpPr>
        <p:spPr>
          <a:xfrm>
            <a:off x="6967728" y="4379976"/>
            <a:ext cx="4416552" cy="36576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31" name="TEXT: 复杂语义、开放式内容、异常分析"/>
          <p:cNvSpPr txBox="1"/>
          <p:nvPr/>
        </p:nvSpPr>
        <p:spPr>
          <a:xfrm>
            <a:off x="6428232" y="5020055"/>
            <a:ext cx="4928616" cy="612647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8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复杂语义、开放式内容、异常分析</a:t>
            </a:r>
          </a:p>
        </p:txBody>
      </p:sp>
      <p:sp>
        <p:nvSpPr>
          <p:cNvPr id="32" name="TEXT: 组合方案为应用建议；当前演示以两模型并排对比为主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组合方案为应用建议；当前演示以两模型并排对比为主。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35" name="TEXT: 25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25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6 / 结论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86D7C6"/>
                </a:solidFill>
                <a:latin typeface="Noto Sans CJK SC"/>
                <a:ea typeface="Noto Sans CJK SC"/>
                <a:cs typeface="Noto Sans CJK SC"/>
              </a:rPr>
              <a:t>STRANDS DECIDER   /   06 / 结论</a:t>
            </a:r>
          </a:p>
        </p:txBody>
      </p:sp>
      <p:sp>
        <p:nvSpPr>
          <p:cNvPr id="3" name="TEXT: 总结：用合适的模型，完成明确的判断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总结：用合适的模型，完成明确的判断</a:t>
            </a:r>
          </a:p>
        </p:txBody>
      </p:sp>
      <p:sp>
        <p:nvSpPr>
          <p:cNvPr id="4" name="TEXT: 从 Jev 与 Decider 的模型方向，回到本项目的真实观察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从 Jev 与 Decider 的模型方向，回到本项目的真实观察。</a:t>
            </a:r>
          </a:p>
        </p:txBody>
      </p:sp>
      <p:pic>
        <p:nvPicPr>
          <p:cNvPr id="5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32888"/>
            <a:ext cx="530352" cy="530352"/>
          </a:xfrm>
          <a:prstGeom prst="rect">
            <a:avLst/>
          </a:prstGeom>
        </p:spPr>
      </p:pic>
      <p:sp>
        <p:nvSpPr>
          <p:cNvPr id="6" name="TEXT: 模型方向"/>
          <p:cNvSpPr txBox="1"/>
          <p:nvPr/>
        </p:nvSpPr>
        <p:spPr>
          <a:xfrm>
            <a:off x="640080" y="3401568"/>
            <a:ext cx="325526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模型方向</a:t>
            </a:r>
          </a:p>
        </p:txBody>
      </p:sp>
      <p:sp>
        <p:nvSpPr>
          <p:cNvPr id="7" name="TEXT: 有限输出，聚焦判断 Jev 与 Decider 的共同方向"/>
          <p:cNvSpPr txBox="1"/>
          <p:nvPr/>
        </p:nvSpPr>
        <p:spPr>
          <a:xfrm>
            <a:off x="640080" y="4169663"/>
            <a:ext cx="325526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有限输出，聚焦判断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Jev 与 Decider 的共同方向</a:t>
            </a:r>
          </a:p>
        </p:txBody>
      </p:sp>
      <p:pic>
        <p:nvPicPr>
          <p:cNvPr id="8" name="ICON: Lucide timer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532888"/>
            <a:ext cx="530352" cy="530352"/>
          </a:xfrm>
          <a:prstGeom prst="rect">
            <a:avLst/>
          </a:prstGeom>
        </p:spPr>
      </p:pic>
      <p:sp>
        <p:nvSpPr>
          <p:cNvPr id="9" name="TEXT: 本次优化"/>
          <p:cNvSpPr txBox="1"/>
          <p:nvPr/>
        </p:nvSpPr>
        <p:spPr>
          <a:xfrm>
            <a:off x="4453128" y="3401568"/>
            <a:ext cx="325526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本次优化</a:t>
            </a:r>
          </a:p>
        </p:txBody>
      </p:sp>
      <p:sp>
        <p:nvSpPr>
          <p:cNvPr id="10" name="TEXT: 优化后参考一致 18/20 仍有错误，执行校验不可省"/>
          <p:cNvSpPr txBox="1"/>
          <p:nvPr/>
        </p:nvSpPr>
        <p:spPr>
          <a:xfrm>
            <a:off x="4453128" y="4169663"/>
            <a:ext cx="325526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优化后参考一致 18/20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仍有错误，执行校验不可省</a:t>
            </a:r>
          </a:p>
        </p:txBody>
      </p:sp>
      <p:pic>
        <p:nvPicPr>
          <p:cNvPr id="11" name="ICON: Lucide shield-check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2532888"/>
            <a:ext cx="530352" cy="530352"/>
          </a:xfrm>
          <a:prstGeom prst="rect">
            <a:avLst/>
          </a:prstGeom>
        </p:spPr>
      </p:pic>
      <p:sp>
        <p:nvSpPr>
          <p:cNvPr id="12" name="TEXT: 应用落地"/>
          <p:cNvSpPr txBox="1"/>
          <p:nvPr/>
        </p:nvSpPr>
        <p:spPr>
          <a:xfrm>
            <a:off x="8266175" y="3401568"/>
            <a:ext cx="3255264" cy="5029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应用落地</a:t>
            </a:r>
          </a:p>
        </p:txBody>
      </p:sp>
      <p:sp>
        <p:nvSpPr>
          <p:cNvPr id="13" name="TEXT: 模型给建议，系统做校验 以真实业务结果检验收益"/>
          <p:cNvSpPr txBox="1"/>
          <p:nvPr/>
        </p:nvSpPr>
        <p:spPr>
          <a:xfrm>
            <a:off x="8266175" y="4169663"/>
            <a:ext cx="3255264" cy="10789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模型给建议，系统做校验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900" b="0">
                <a:solidFill>
                  <a:srgbClr val="DCE6F0"/>
                </a:solidFill>
                <a:latin typeface="Noto Sans CJK SC"/>
                <a:ea typeface="Noto Sans CJK SC"/>
                <a:cs typeface="Noto Sans CJK SC"/>
              </a:rPr>
              <a:t>以真实业务结果检验收益</a:t>
            </a:r>
          </a:p>
        </p:txBody>
      </p:sp>
      <p:sp>
        <p:nvSpPr>
          <p:cNvPr id="14" name="TEXT: 下一步：业务数据、重复采样、概率校准、吞吐与整体成本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B8C9DB"/>
                </a:solidFill>
                <a:latin typeface="Noto Sans CJK SC"/>
                <a:ea typeface="Noto Sans CJK SC"/>
                <a:cs typeface="Noto Sans CJK SC"/>
              </a:rPr>
              <a:t>下一步：业务数据、重复采样、概率校准、吞吐与整体成本。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3651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: 26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8CA6BF"/>
                </a:solidFill>
                <a:latin typeface="Noto Sans CJK SC"/>
                <a:ea typeface="Noto Sans CJK SC"/>
                <a:cs typeface="Noto Sans CJK SC"/>
              </a:rPr>
              <a:t>26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6 / 演示与复现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06 / 演示与复现</a:t>
            </a:r>
          </a:p>
        </p:txBody>
      </p:sp>
      <p:sp>
        <p:nvSpPr>
          <p:cNvPr id="3" name="TEXT: 打开 Demo，查看代码与实测记录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打开 Demo，查看代码与实测记录</a:t>
            </a:r>
          </a:p>
        </p:txBody>
      </p:sp>
      <p:sp>
        <p:nvSpPr>
          <p:cNvPr id="4" name="TEXT: 从同一业务输入开始，观察两模型的选择、速度与执行结果。"/>
          <p:cNvSpPr txBox="1"/>
          <p:nvPr/>
        </p:nvSpPr>
        <p:spPr>
          <a:xfrm>
            <a:off x="566928" y="1426464"/>
            <a:ext cx="10972800" cy="5120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从同一业务输入开始，观察两模型的选择、速度与执行结果。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103120"/>
            <a:ext cx="10972800" cy="15910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ICON: Lucide workflow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13432"/>
            <a:ext cx="420624" cy="420624"/>
          </a:xfrm>
          <a:prstGeom prst="rect">
            <a:avLst/>
          </a:prstGeom>
        </p:spPr>
      </p:pic>
      <p:sp>
        <p:nvSpPr>
          <p:cNvPr id="7" name="TEXT: 在线 Demo"/>
          <p:cNvSpPr txBox="1"/>
          <p:nvPr/>
        </p:nvSpPr>
        <p:spPr>
          <a:xfrm>
            <a:off x="1426464" y="2295144"/>
            <a:ext cx="74797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在线 Demo</a:t>
            </a:r>
          </a:p>
        </p:txBody>
      </p:sp>
      <p:sp>
        <p:nvSpPr>
          <p:cNvPr id="8" name="TEXT: https://d3i7ogfx5ml7dc.cloudfront.net/#crypto"/>
          <p:cNvSpPr txBox="1"/>
          <p:nvPr/>
        </p:nvSpPr>
        <p:spPr>
          <a:xfrm>
            <a:off x="859536" y="2852927"/>
            <a:ext cx="8887968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4"/>
              </a:rPr>
              <a:t>https://d3i7ogfx5ml7dc.cloudfront.net/#crypto</a:t>
            </a:r>
          </a:p>
        </p:txBody>
      </p:sp>
      <p:sp>
        <p:nvSpPr>
          <p:cNvPr id="9" name="TEXT: 加密支付业务台 · 使用现有账号登录"/>
          <p:cNvSpPr txBox="1"/>
          <p:nvPr/>
        </p:nvSpPr>
        <p:spPr>
          <a:xfrm>
            <a:off x="859536" y="3328415"/>
            <a:ext cx="888796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加密支付业务台 · 使用现有账号登录</a:t>
            </a:r>
          </a:p>
        </p:txBody>
      </p:sp>
      <p:pic>
        <p:nvPicPr>
          <p:cNvPr id="10" name="QR: 在线 Demo" descr="demo-qr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8088" y="2212848"/>
            <a:ext cx="1371600" cy="13716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" y="3968496"/>
            <a:ext cx="10972800" cy="1591056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CON: Lucide code-xml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178808"/>
            <a:ext cx="420624" cy="420624"/>
          </a:xfrm>
          <a:prstGeom prst="rect">
            <a:avLst/>
          </a:prstGeom>
        </p:spPr>
      </p:pic>
      <p:sp>
        <p:nvSpPr>
          <p:cNvPr id="13" name="TEXT: GitHub Repo"/>
          <p:cNvSpPr txBox="1"/>
          <p:nvPr/>
        </p:nvSpPr>
        <p:spPr>
          <a:xfrm>
            <a:off x="1426464" y="4160520"/>
            <a:ext cx="7479792" cy="41148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2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GitHub Repo</a:t>
            </a:r>
          </a:p>
        </p:txBody>
      </p:sp>
      <p:sp>
        <p:nvSpPr>
          <p:cNvPr id="14" name="TEXT: https://github.com/milan9527/StrandsDecider"/>
          <p:cNvSpPr txBox="1"/>
          <p:nvPr/>
        </p:nvSpPr>
        <p:spPr>
          <a:xfrm>
            <a:off x="859536" y="4718304"/>
            <a:ext cx="8887968" cy="4206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https://github.com/milan9527/StrandsDecider</a:t>
            </a:r>
          </a:p>
        </p:txBody>
      </p:sp>
      <p:sp>
        <p:nvSpPr>
          <p:cNvPr id="15" name="TEXT: 架构、代码、演示资料与实测记录 · 需仓库权限"/>
          <p:cNvSpPr txBox="1"/>
          <p:nvPr/>
        </p:nvSpPr>
        <p:spPr>
          <a:xfrm>
            <a:off x="859536" y="5193792"/>
            <a:ext cx="8887968" cy="2651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架构、代码、演示资料与实测记录 · 需仓库权限</a:t>
            </a:r>
          </a:p>
        </p:txBody>
      </p:sp>
      <p:pic>
        <p:nvPicPr>
          <p:cNvPr id="16" name="QR: GitHub Repo" descr="repo-qr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8088" y="4078224"/>
            <a:ext cx="1371600" cy="1371600"/>
          </a:xfrm>
          <a:prstGeom prst="rect">
            <a:avLst/>
          </a:prstGeom>
        </p:spPr>
      </p:pic>
      <p:sp>
        <p:nvSpPr>
          <p:cNvPr id="17" name="TEXT: 官方来源：Strands Decider 博客 / TypeSafe System One 文档 · 详见逐页讲稿。"/>
          <p:cNvSpPr txBox="1"/>
          <p:nvPr/>
        </p:nvSpPr>
        <p:spPr>
          <a:xfrm>
            <a:off x="566928" y="6080760"/>
            <a:ext cx="11018520" cy="28346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官方来源：Strands Decider 博客 / TypeSafe System One 文档 · 详见逐页讲稿。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: 决策模型 → 支付对比 → 应用结论"/>
          <p:cNvSpPr txBox="1"/>
          <p:nvPr/>
        </p:nvSpPr>
        <p:spPr>
          <a:xfrm>
            <a:off x="585216" y="6547104"/>
            <a:ext cx="9052560" cy="192024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8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决策模型 → 支付对比 → 应用结论</a:t>
            </a:r>
          </a:p>
        </p:txBody>
      </p:sp>
      <p:sp>
        <p:nvSpPr>
          <p:cNvPr id="20" name="TEXT: 27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27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5 / 优化流程实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05 / 优化流程实测</a:t>
            </a:r>
          </a:p>
        </p:txBody>
      </p:sp>
      <p:sp>
        <p:nvSpPr>
          <p:cNvPr id="3" name="TEXT: 优化示例：让退款审批只作用于退款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优化示例：让退款审批只作用于退款</a:t>
            </a:r>
          </a:p>
        </p:txBody>
      </p:sp>
      <p:sp>
        <p:nvSpPr>
          <p:cNvPr id="4" name="TEXT: USDC 收款 · 同一业务证据，调整输入字段与候选条件"/>
          <p:cNvSpPr txBox="1"/>
          <p:nvPr/>
        </p:nvSpPr>
        <p:spPr>
          <a:xfrm>
            <a:off x="566928" y="1426464"/>
            <a:ext cx="109728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USDC 收款 · 同一业务证据，调整输入字段与候选条件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: 真实界面入口"/>
          <p:cNvSpPr txBox="1"/>
          <p:nvPr/>
        </p:nvSpPr>
        <p:spPr>
          <a:xfrm>
            <a:off x="612648" y="2112264"/>
            <a:ext cx="1554480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真实界面入口</a:t>
            </a:r>
          </a:p>
        </p:txBody>
      </p:sp>
      <p:pic>
        <p:nvPicPr>
          <p:cNvPr id="7" name="IMAGE: optimized-selector.png" descr="optimized-sel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2013312"/>
            <a:ext cx="2971800" cy="636814"/>
          </a:xfrm>
          <a:prstGeom prst="rect">
            <a:avLst/>
          </a:prstGeom>
        </p:spPr>
      </p:pic>
      <p:pic>
        <p:nvPicPr>
          <p:cNvPr id="8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2148840"/>
            <a:ext cx="320040" cy="320040"/>
          </a:xfrm>
          <a:prstGeom prst="rect">
            <a:avLst/>
          </a:prstGeom>
        </p:spPr>
      </p:pic>
      <p:sp>
        <p:nvSpPr>
          <p:cNvPr id="9" name="TEXT: 精简字段 → 明确适用场景 → 重新判断"/>
          <p:cNvSpPr txBox="1"/>
          <p:nvPr/>
        </p:nvSpPr>
        <p:spPr>
          <a:xfrm>
            <a:off x="5971032" y="2148840"/>
            <a:ext cx="5577840" cy="34747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精简字段 → 明确适用场景 → 重新判断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889504"/>
            <a:ext cx="5340096" cy="2642616"/>
          </a:xfrm>
          <a:prstGeom prst="roundRect">
            <a:avLst>
              <a:gd name="adj" fmla="val 13000"/>
            </a:avLst>
          </a:prstGeom>
          <a:solidFill>
            <a:srgbClr val="FFF3E4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CON: Lucide layers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090672"/>
            <a:ext cx="320040" cy="320040"/>
          </a:xfrm>
          <a:prstGeom prst="rect">
            <a:avLst/>
          </a:prstGeom>
        </p:spPr>
      </p:pic>
      <p:sp>
        <p:nvSpPr>
          <p:cNvPr id="12" name="TEXT: 固定流程"/>
          <p:cNvSpPr txBox="1"/>
          <p:nvPr/>
        </p:nvSpPr>
        <p:spPr>
          <a:xfrm>
            <a:off x="1234440" y="3063240"/>
            <a:ext cx="448056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固定流程</a:t>
            </a:r>
          </a:p>
        </p:txBody>
      </p:sp>
      <p:sp>
        <p:nvSpPr>
          <p:cNvPr id="13" name="TEXT: 收款事实 + refund_approved=false 退款字段仍出现在普通收款输入中"/>
          <p:cNvSpPr txBox="1"/>
          <p:nvPr/>
        </p:nvSpPr>
        <p:spPr>
          <a:xfrm>
            <a:off x="795528" y="3639312"/>
            <a:ext cx="4937760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收款事实 + refund_approved=false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退款字段仍出现在普通收款输入中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8" y="4480560"/>
            <a:ext cx="4937760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: Decider：等待人工审批"/>
          <p:cNvSpPr txBox="1"/>
          <p:nvPr/>
        </p:nvSpPr>
        <p:spPr>
          <a:xfrm>
            <a:off x="795528" y="4645152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Decider：等待人工审批</a:t>
            </a:r>
          </a:p>
        </p:txBody>
      </p:sp>
      <p:sp>
        <p:nvSpPr>
          <p:cNvPr id="16" name="TEXT: 75.7 ms"/>
          <p:cNvSpPr txBox="1"/>
          <p:nvPr/>
        </p:nvSpPr>
        <p:spPr>
          <a:xfrm>
            <a:off x="4462272" y="4681728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75.7 ms</a:t>
            </a:r>
          </a:p>
        </p:txBody>
      </p:sp>
      <p:sp>
        <p:nvSpPr>
          <p:cNvPr id="17" name="TEXT: GPT：规则检查通过"/>
          <p:cNvSpPr txBox="1"/>
          <p:nvPr/>
        </p:nvSpPr>
        <p:spPr>
          <a:xfrm>
            <a:off x="795528" y="5074920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GPT：规则检查通过</a:t>
            </a:r>
          </a:p>
        </p:txBody>
      </p:sp>
      <p:sp>
        <p:nvSpPr>
          <p:cNvPr id="18" name="TEXT: 1,080.1 ms"/>
          <p:cNvSpPr txBox="1"/>
          <p:nvPr/>
        </p:nvSpPr>
        <p:spPr>
          <a:xfrm>
            <a:off x="4462272" y="5111496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1,080.1 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889504"/>
            <a:ext cx="5340096" cy="2642616"/>
          </a:xfrm>
          <a:prstGeom prst="roundRect">
            <a:avLst>
              <a:gd name="adj" fmla="val 13000"/>
            </a:avLst>
          </a:prstGeom>
          <a:solidFill>
            <a:srgbClr val="E8F5F1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ICON: Lucide list-filter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090672"/>
            <a:ext cx="320040" cy="320040"/>
          </a:xfrm>
          <a:prstGeom prst="rect">
            <a:avLst/>
          </a:prstGeom>
        </p:spPr>
      </p:pic>
      <p:sp>
        <p:nvSpPr>
          <p:cNvPr id="21" name="TEXT: 优化流程"/>
          <p:cNvSpPr txBox="1"/>
          <p:nvPr/>
        </p:nvSpPr>
        <p:spPr>
          <a:xfrm>
            <a:off x="6848856" y="3063240"/>
            <a:ext cx="4480560" cy="35661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21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优化流程</a:t>
            </a:r>
          </a:p>
        </p:txBody>
      </p:sp>
      <p:sp>
        <p:nvSpPr>
          <p:cNvPr id="22" name="TEXT: 收款事实，移除无关退款字段 候选明确：非退款不要求退款审批"/>
          <p:cNvSpPr txBox="1"/>
          <p:nvPr/>
        </p:nvSpPr>
        <p:spPr>
          <a:xfrm>
            <a:off x="6409944" y="3639312"/>
            <a:ext cx="4937760" cy="72237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收款事实，移除无关退款字段</a:t>
            </a:r>
          </a:p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候选明确：非退款不要求退款审批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9944" y="4480560"/>
            <a:ext cx="4937760" cy="0"/>
          </a:xfrm>
          <a:prstGeom prst="line">
            <a:avLst/>
          </a:prstGeom>
          <a:ln w="1016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: Decider：规则检查通过"/>
          <p:cNvSpPr txBox="1"/>
          <p:nvPr/>
        </p:nvSpPr>
        <p:spPr>
          <a:xfrm>
            <a:off x="6409944" y="4645152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Decider：规则检查通过</a:t>
            </a:r>
          </a:p>
        </p:txBody>
      </p:sp>
      <p:sp>
        <p:nvSpPr>
          <p:cNvPr id="25" name="TEXT: 80.2 ms"/>
          <p:cNvSpPr txBox="1"/>
          <p:nvPr/>
        </p:nvSpPr>
        <p:spPr>
          <a:xfrm>
            <a:off x="10076688" y="4681728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80.2 ms</a:t>
            </a:r>
          </a:p>
        </p:txBody>
      </p:sp>
      <p:sp>
        <p:nvSpPr>
          <p:cNvPr id="26" name="TEXT: GPT：规则检查通过"/>
          <p:cNvSpPr txBox="1"/>
          <p:nvPr/>
        </p:nvSpPr>
        <p:spPr>
          <a:xfrm>
            <a:off x="6409944" y="5074920"/>
            <a:ext cx="3657600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GPT：规则检查通过</a:t>
            </a:r>
          </a:p>
        </p:txBody>
      </p:sp>
      <p:sp>
        <p:nvSpPr>
          <p:cNvPr id="27" name="TEXT: 820.3 ms"/>
          <p:cNvSpPr txBox="1"/>
          <p:nvPr/>
        </p:nvSpPr>
        <p:spPr>
          <a:xfrm>
            <a:off x="10076688" y="5111496"/>
            <a:ext cx="1243584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2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820.3 ms</a:t>
            </a:r>
          </a:p>
        </p:txBody>
      </p:sp>
      <p:sp>
        <p:nvSpPr>
          <p:cNvPr id="28" name="TEXT: 本次优化改变输入与条件表述；候选 ID、模型权重和执行校验保持一致。"/>
          <p:cNvSpPr txBox="1"/>
          <p:nvPr/>
        </p:nvSpPr>
        <p:spPr>
          <a:xfrm>
            <a:off x="594360" y="5751576"/>
            <a:ext cx="109728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本次优化改变输入与条件表述；候选 ID、模型权重和执行校验保持一致。</a:t>
            </a:r>
          </a:p>
        </p:txBody>
      </p:sp>
      <p:sp>
        <p:nvSpPr>
          <p:cNvPr id="29" name="TEXT: 确认数仍为 3/12：两侧资金继续挂起。审批选择改善，不表示已经到账。"/>
          <p:cNvSpPr txBox="1"/>
          <p:nvPr/>
        </p:nvSpPr>
        <p:spPr>
          <a:xfrm>
            <a:off x="594360" y="6172200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确认数仍为 3/12：两侧资金继续挂起。审批选择改善，不表示已经到账。</a:t>
            </a:r>
          </a:p>
        </p:txBody>
      </p:sp>
      <p:sp>
        <p:nvSpPr>
          <p:cNvPr id="30" name="TEXT: 23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23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: STRANDS DECIDER   /   05 / 优化流程实测"/>
          <p:cNvSpPr txBox="1"/>
          <p:nvPr/>
        </p:nvSpPr>
        <p:spPr>
          <a:xfrm>
            <a:off x="548640" y="2468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0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STRANDS DECIDER   /   05 / 优化流程实测</a:t>
            </a:r>
          </a:p>
        </p:txBody>
      </p:sp>
      <p:sp>
        <p:nvSpPr>
          <p:cNvPr id="3" name="TEXT: 四场景实测：参考一致 14/20 → 18/20"/>
          <p:cNvSpPr txBox="1"/>
          <p:nvPr/>
        </p:nvSpPr>
        <p:spPr>
          <a:xfrm>
            <a:off x="548640" y="722376"/>
            <a:ext cx="11064240" cy="63093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30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四场景实测：参考一致 14/20 → 18/20</a:t>
            </a:r>
          </a:p>
        </p:txBody>
      </p:sp>
      <p:sp>
        <p:nvSpPr>
          <p:cNvPr id="4" name="TEXT: 固定与优化各 20 步 × 两模型 = 80 次真实调用，全部成功"/>
          <p:cNvSpPr txBox="1"/>
          <p:nvPr/>
        </p:nvSpPr>
        <p:spPr>
          <a:xfrm>
            <a:off x="566928" y="1426464"/>
            <a:ext cx="10972800" cy="39319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固定与优化各 20 步 × 两模型 = 80 次真实调用，全部成功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66928" y="6437376"/>
            <a:ext cx="11027664" cy="0"/>
          </a:xfrm>
          <a:prstGeom prst="line">
            <a:avLst/>
          </a:prstGeom>
          <a:ln w="7620">
            <a:solidFill>
              <a:srgbClr val="DC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" y="2011680"/>
            <a:ext cx="1842515" cy="42062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: 业务场景"/>
          <p:cNvSpPr txBox="1"/>
          <p:nvPr/>
        </p:nvSpPr>
        <p:spPr>
          <a:xfrm>
            <a:off x="676656" y="2112264"/>
            <a:ext cx="1691639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业务场景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2011680"/>
            <a:ext cx="1449324" cy="42062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: Decider 固定"/>
          <p:cNvSpPr txBox="1"/>
          <p:nvPr/>
        </p:nvSpPr>
        <p:spPr>
          <a:xfrm>
            <a:off x="2551175" y="2112264"/>
            <a:ext cx="12984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固定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50208" y="2011680"/>
            <a:ext cx="1449324" cy="42062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: Decider 优化"/>
          <p:cNvSpPr txBox="1"/>
          <p:nvPr/>
        </p:nvSpPr>
        <p:spPr>
          <a:xfrm>
            <a:off x="4032504" y="2112264"/>
            <a:ext cx="12984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Decider 优化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31536" y="2011680"/>
            <a:ext cx="1595628" cy="420624"/>
          </a:xfrm>
          <a:prstGeom prst="rect">
            <a:avLst/>
          </a:prstGeom>
          <a:solidFill>
            <a:srgbClr val="15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: GPT 固定 / 优化"/>
          <p:cNvSpPr txBox="1"/>
          <p:nvPr/>
        </p:nvSpPr>
        <p:spPr>
          <a:xfrm>
            <a:off x="5513832" y="2112264"/>
            <a:ext cx="144475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2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GPT 固定 / 优化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59736"/>
            <a:ext cx="18425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: USDC 未到账"/>
          <p:cNvSpPr txBox="1"/>
          <p:nvPr/>
        </p:nvSpPr>
        <p:spPr>
          <a:xfrm>
            <a:off x="676656" y="2560320"/>
            <a:ext cx="1691639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USDC 未到账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79" y="2459736"/>
            <a:ext cx="14493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: 4/5"/>
          <p:cNvSpPr txBox="1"/>
          <p:nvPr/>
        </p:nvSpPr>
        <p:spPr>
          <a:xfrm>
            <a:off x="2551175" y="2560320"/>
            <a:ext cx="12984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50208" y="2459736"/>
            <a:ext cx="14493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: 5/5"/>
          <p:cNvSpPr txBox="1"/>
          <p:nvPr/>
        </p:nvSpPr>
        <p:spPr>
          <a:xfrm>
            <a:off x="4032504" y="2560320"/>
            <a:ext cx="12984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1536" y="2459736"/>
            <a:ext cx="1595628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: 5/5 → 5/5"/>
          <p:cNvSpPr txBox="1"/>
          <p:nvPr/>
        </p:nvSpPr>
        <p:spPr>
          <a:xfrm>
            <a:off x="5513832" y="2560320"/>
            <a:ext cx="144475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907792"/>
            <a:ext cx="1842515" cy="420624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: USDT 少付"/>
          <p:cNvSpPr txBox="1"/>
          <p:nvPr/>
        </p:nvSpPr>
        <p:spPr>
          <a:xfrm>
            <a:off x="676656" y="3008376"/>
            <a:ext cx="1691639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USDT 少付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79" y="2907792"/>
            <a:ext cx="1449324" cy="420624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: 4/5"/>
          <p:cNvSpPr txBox="1"/>
          <p:nvPr/>
        </p:nvSpPr>
        <p:spPr>
          <a:xfrm>
            <a:off x="2551175" y="3008376"/>
            <a:ext cx="12984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50208" y="2907792"/>
            <a:ext cx="1449324" cy="420624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: 4/5"/>
          <p:cNvSpPr txBox="1"/>
          <p:nvPr/>
        </p:nvSpPr>
        <p:spPr>
          <a:xfrm>
            <a:off x="4032504" y="3008376"/>
            <a:ext cx="12984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31536" y="2907792"/>
            <a:ext cx="1595628" cy="420624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: 5/5 → 5/5"/>
          <p:cNvSpPr txBox="1"/>
          <p:nvPr/>
        </p:nvSpPr>
        <p:spPr>
          <a:xfrm>
            <a:off x="5513832" y="3008376"/>
            <a:ext cx="144475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355848"/>
            <a:ext cx="1842515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: 稳定币退款"/>
          <p:cNvSpPr txBox="1"/>
          <p:nvPr/>
        </p:nvSpPr>
        <p:spPr>
          <a:xfrm>
            <a:off x="676656" y="3456432"/>
            <a:ext cx="1691639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稳定币退款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79" y="3355848"/>
            <a:ext cx="14493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: 2/5"/>
          <p:cNvSpPr txBox="1"/>
          <p:nvPr/>
        </p:nvSpPr>
        <p:spPr>
          <a:xfrm>
            <a:off x="2551175" y="3456432"/>
            <a:ext cx="12984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2/5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50208" y="3355848"/>
            <a:ext cx="1449324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: 4/5"/>
          <p:cNvSpPr txBox="1"/>
          <p:nvPr/>
        </p:nvSpPr>
        <p:spPr>
          <a:xfrm>
            <a:off x="4032504" y="3456432"/>
            <a:ext cx="12984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31536" y="3355848"/>
            <a:ext cx="1595628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: 5/5 → 5/5"/>
          <p:cNvSpPr txBox="1"/>
          <p:nvPr/>
        </p:nvSpPr>
        <p:spPr>
          <a:xfrm>
            <a:off x="5513832" y="3456432"/>
            <a:ext cx="144475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3803904"/>
            <a:ext cx="1842515" cy="420624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: 商户结算"/>
          <p:cNvSpPr txBox="1"/>
          <p:nvPr/>
        </p:nvSpPr>
        <p:spPr>
          <a:xfrm>
            <a:off x="676656" y="3904488"/>
            <a:ext cx="1691639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0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商户结算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79" y="3803904"/>
            <a:ext cx="1449324" cy="420624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: 4/5"/>
          <p:cNvSpPr txBox="1"/>
          <p:nvPr/>
        </p:nvSpPr>
        <p:spPr>
          <a:xfrm>
            <a:off x="2551175" y="3904488"/>
            <a:ext cx="12984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4/5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50208" y="3803904"/>
            <a:ext cx="1449324" cy="420624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: 5/5"/>
          <p:cNvSpPr txBox="1"/>
          <p:nvPr/>
        </p:nvSpPr>
        <p:spPr>
          <a:xfrm>
            <a:off x="4032504" y="3904488"/>
            <a:ext cx="1298448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5/5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31536" y="3803904"/>
            <a:ext cx="1595628" cy="420624"/>
          </a:xfrm>
          <a:prstGeom prst="rect">
            <a:avLst/>
          </a:prstGeom>
          <a:solidFill>
            <a:srgbClr val="ED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: 5/5 → 5/5"/>
          <p:cNvSpPr txBox="1"/>
          <p:nvPr/>
        </p:nvSpPr>
        <p:spPr>
          <a:xfrm>
            <a:off x="5513832" y="3904488"/>
            <a:ext cx="1444752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5/5 → 5/5</a:t>
            </a:r>
          </a:p>
        </p:txBody>
      </p:sp>
      <p:pic>
        <p:nvPicPr>
          <p:cNvPr id="46" name="ICON: Lucide timer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2048256"/>
            <a:ext cx="320040" cy="320040"/>
          </a:xfrm>
          <a:prstGeom prst="rect">
            <a:avLst/>
          </a:prstGeom>
        </p:spPr>
      </p:pic>
      <p:sp>
        <p:nvSpPr>
          <p:cNvPr id="47" name="TEXT: 累计后端耗时 · 固定 → 优化"/>
          <p:cNvSpPr txBox="1"/>
          <p:nvPr/>
        </p:nvSpPr>
        <p:spPr>
          <a:xfrm>
            <a:off x="7900416" y="2039112"/>
            <a:ext cx="3657600" cy="31089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6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累计后端耗时 · 固定 → 优化</a:t>
            </a:r>
          </a:p>
        </p:txBody>
      </p:sp>
      <p:sp>
        <p:nvSpPr>
          <p:cNvPr id="48" name="TEXT: Decider"/>
          <p:cNvSpPr txBox="1"/>
          <p:nvPr/>
        </p:nvSpPr>
        <p:spPr>
          <a:xfrm>
            <a:off x="7479792" y="2624328"/>
            <a:ext cx="110642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Decider</a:t>
            </a:r>
          </a:p>
        </p:txBody>
      </p:sp>
      <p:sp>
        <p:nvSpPr>
          <p:cNvPr id="49" name="TEXT: 2.059 → 1.578 s"/>
          <p:cNvSpPr txBox="1"/>
          <p:nvPr/>
        </p:nvSpPr>
        <p:spPr>
          <a:xfrm>
            <a:off x="8705088" y="2624328"/>
            <a:ext cx="279806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087F72"/>
                </a:solidFill>
                <a:latin typeface="Noto Sans CJK SC"/>
                <a:ea typeface="Noto Sans CJK SC"/>
                <a:cs typeface="Noto Sans CJK SC"/>
              </a:rPr>
              <a:t>2.059 → 1.578 s</a:t>
            </a:r>
          </a:p>
        </p:txBody>
      </p:sp>
      <p:sp>
        <p:nvSpPr>
          <p:cNvPr id="50" name="TEXT: GPT"/>
          <p:cNvSpPr txBox="1"/>
          <p:nvPr/>
        </p:nvSpPr>
        <p:spPr>
          <a:xfrm>
            <a:off x="7479792" y="3145536"/>
            <a:ext cx="1106424" cy="27432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5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GPT</a:t>
            </a:r>
          </a:p>
        </p:txBody>
      </p:sp>
      <p:sp>
        <p:nvSpPr>
          <p:cNvPr id="51" name="TEXT: 18.694 → 23.174 s"/>
          <p:cNvSpPr txBox="1"/>
          <p:nvPr/>
        </p:nvSpPr>
        <p:spPr>
          <a:xfrm>
            <a:off x="8705088" y="3145536"/>
            <a:ext cx="2798064" cy="292608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700" b="1">
                <a:solidFill>
                  <a:srgbClr val="4669C4"/>
                </a:solidFill>
                <a:latin typeface="Noto Sans CJK SC"/>
                <a:ea typeface="Noto Sans CJK SC"/>
                <a:cs typeface="Noto Sans CJK SC"/>
              </a:rPr>
              <a:t>18.694 → 23.174 s</a:t>
            </a:r>
          </a:p>
        </p:txBody>
      </p:sp>
      <p:sp>
        <p:nvSpPr>
          <p:cNvPr id="52" name="TEXT: Decider 保护调整：4 次 → 1 次"/>
          <p:cNvSpPr txBox="1"/>
          <p:nvPr/>
        </p:nvSpPr>
        <p:spPr>
          <a:xfrm>
            <a:off x="7479792" y="3730752"/>
            <a:ext cx="402336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400" b="1">
                <a:solidFill>
                  <a:srgbClr val="203448"/>
                </a:solidFill>
                <a:latin typeface="Noto Sans CJK SC"/>
                <a:ea typeface="Noto Sans CJK SC"/>
                <a:cs typeface="Noto Sans CJK SC"/>
              </a:rPr>
              <a:t>Decider 保护调整：4 次 → 1 次</a:t>
            </a:r>
          </a:p>
        </p:txBody>
      </p:sp>
      <p:sp>
        <p:nvSpPr>
          <p:cNvPr id="53" name="TEXT: 仍有差异：少付核验、退款审批"/>
          <p:cNvSpPr txBox="1"/>
          <p:nvPr/>
        </p:nvSpPr>
        <p:spPr>
          <a:xfrm>
            <a:off x="7479792" y="4105656"/>
            <a:ext cx="4023360" cy="25603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300" b="0">
                <a:solidFill>
                  <a:srgbClr val="BE721F"/>
                </a:solidFill>
                <a:latin typeface="Noto Sans CJK SC"/>
                <a:ea typeface="Noto Sans CJK SC"/>
                <a:cs typeface="Noto Sans CJK SC"/>
              </a:rPr>
              <a:t>仍有差异：少付核验、退款审批</a:t>
            </a:r>
          </a:p>
        </p:txBody>
      </p:sp>
      <p:sp>
        <p:nvSpPr>
          <p:cNvPr id="54" name="TEXT: 真实界面 · USDC 优化流程的五步累计耗时（单场景）"/>
          <p:cNvSpPr txBox="1"/>
          <p:nvPr/>
        </p:nvSpPr>
        <p:spPr>
          <a:xfrm>
            <a:off x="612648" y="4498848"/>
            <a:ext cx="10972800" cy="219456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1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真实界面 · USDC 优化流程的五步累计耗时（单场景）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8111" y="4773168"/>
            <a:ext cx="10883585" cy="132588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0160">
            <a:solidFill>
              <a:srgbClr val="DC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IMAGE: optimized-pending-timings.png" descr="optimized-pending-tim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543" y="4800600"/>
            <a:ext cx="10828721" cy="1271016"/>
          </a:xfrm>
          <a:prstGeom prst="rect">
            <a:avLst/>
          </a:prstGeom>
        </p:spPr>
      </p:pic>
      <p:sp>
        <p:nvSpPr>
          <p:cNvPr id="57" name="TEXT: 参考一致不是通用准确率；每配置仅采集一次，耗时受调用顺序与缓存影响。"/>
          <p:cNvSpPr txBox="1"/>
          <p:nvPr/>
        </p:nvSpPr>
        <p:spPr>
          <a:xfrm>
            <a:off x="594360" y="6190488"/>
            <a:ext cx="10972800" cy="228600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>
              <a:lnSpc>
                <a:spcPct val="112000"/>
              </a:lnSpc>
              <a:spcAft>
                <a:spcPts val="500"/>
              </a:spcAft>
            </a:pPr>
            <a:r>
              <a:rPr sz="125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参考一致不是通用准确率；每配置仅采集一次，耗时受调用顺序与缓存影响。</a:t>
            </a:r>
          </a:p>
        </p:txBody>
      </p:sp>
      <p:sp>
        <p:nvSpPr>
          <p:cNvPr id="58" name="TEXT: 24 / 27"/>
          <p:cNvSpPr txBox="1"/>
          <p:nvPr/>
        </p:nvSpPr>
        <p:spPr>
          <a:xfrm>
            <a:off x="10753344" y="6528816"/>
            <a:ext cx="841248" cy="210312"/>
          </a:xfrm>
          <a:prstGeom prst="rect">
            <a:avLst/>
          </a:prstGeom>
          <a:noFill/>
        </p:spPr>
        <p:txBody>
          <a:bodyPr wrap="square" lIns="13716" rIns="13716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500"/>
              </a:spcAft>
            </a:pPr>
            <a:r>
              <a:rPr sz="1000" b="0">
                <a:solidFill>
                  <a:srgbClr val="64788A"/>
                </a:solidFill>
                <a:latin typeface="Noto Sans CJK SC"/>
                <a:ea typeface="Noto Sans CJK SC"/>
                <a:cs typeface="Noto Sans CJK SC"/>
              </a:rPr>
              <a:t>24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Decider &amp; Jev · 优化流程实测版 · 27页</dc:title>
  <dc:subject>EC2架构、决策对比与四场景输入优化实测</dc:subject>
  <dc:creator>Strands Decider Demo</dc:creator>
  <cp:keywords>Strands Decider, AWS, SageMaker, Bedrock, 加密支付, 真实模型对比</cp:keywords>
  <dc:description>v6 adds two slides using the observed 2026-10-11 EC2 optimization batch. Earlier 2026-10-10 measurements retain their original environment in notes.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