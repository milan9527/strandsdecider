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基于v9的52页重排为32页。合并机制、支付重复截图、路由解释、优化和选型结论；新增场景验证与RI。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合并原适用场景和评估边界。选择的语义正确性、执行完成状态、耗时费用分别记录。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输入按官方模板编码，模型得到隐藏表示，Pointer Head比较候选与答案位置后评分，用校准参数转成输出。去除LM Head的生成路径；约1M参数的头不等于整个模型只有1M。</a:t>
            </a:r>
          </a:p>
          <a:p>
            <a:r>
              <a:t>https://strandsagents.com/blog/introducing-strands-decider/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RT固定标签分类头适合标签稳定、有领域标注的数据。新增类别通常需调整分类头和训练。Decider接受请求中的动态候选；Jev提供托管决策接口，内部结构未公开，不能推断与Decider相同。GPT按应用要求生成候选ID，即便输出短仍使用生成式推理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合并原三页榜单介绍。综合分基于能力、校准、速度、成本四轴的调和平均与低分惩罚，不是简单准确率。这里无Strands v19和GPT-6.1 Sol同口径条目，不插入自测排名。</a:t>
            </a:r>
          </a:p>
          <a:p>
            <a:r>
              <a:t>原始快照：docs/presentations/v8/sources/jevbench-api-20261012.json</a:t>
            </a:r>
          </a:p>
          <a:p>
            <a:r>
              <a:t>评测链接：https://benchmarkheaven.com/jev-models/api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前后端分离，无Cognito，S3 Block Public Access。后端直接连接模型与DynamoDB。图中Lambda是Jev实际调用路径；没有额外画服务runtime或VPC endpoint节点。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支付数据：2026-10-12 presentation-v8-warm，3次预热另存，4场景×5节点×3模型=60次正式调用。Decider v19官方服务在g6.xlarge；Jev 1.13.0经应用的Lambda适配；Bedrock GPT-6.1 Sol low。计时为后端请求总耗时，预热不计入。与演示参考一致只是这20个节点的参考匹配，不是通用准确率。初始四场景都缺少资金完成条件，三模型各为0/4资金业务完成。执行保护不改写模型原始成绩。</a:t>
            </a:r>
          </a:p>
          <a:p>
            <a:r>
              <a:t>证据：docs/presentations/v8/live-observations.json</a:t>
            </a:r>
          </a:p>
          <a:p>
            <a:r>
              <a:t>截图保持实际输入输出，未修改内容。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支付数据：2026-10-12 presentation-v8-warm，3次预热另存，4场景×5节点×3模型=60次正式调用。Decider v19官方服务在g6.xlarge；Jev 1.13.0经应用的Lambda适配；Bedrock GPT-6.1 Sol low。计时为后端请求总耗时，预热不计入。与演示参考一致只是这20个节点的参考匹配，不是通用准确率。初始四场景都缺少资金完成条件，三模型各为0/4资金业务完成。执行保护不改写模型原始成绩。</a:t>
            </a:r>
          </a:p>
          <a:p>
            <a:r>
              <a:t>证据：docs/presentations/v8/live-observations.json</a:t>
            </a:r>
          </a:p>
          <a:p>
            <a:r>
              <a:t>截图保持实际输入输出，未修改内容。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支付数据：2026-10-12 presentation-v8-warm，3次预热另存，4场景×5节点×3模型=60次正式调用。Decider v19官方服务在g6.xlarge；Jev 1.13.0经应用的Lambda适配；Bedrock GPT-6.1 Sol low。计时为后端请求总耗时，预热不计入。与演示参考一致只是这20个节点的参考匹配，不是通用准确率。初始四场景都缺少资金完成条件，三模型各为0/4资金业务完成。执行保护不改写模型原始成绩。</a:t>
            </a:r>
          </a:p>
          <a:p>
            <a:r>
              <a:t>证据：docs/presentations/v8/live-observations.json</a:t>
            </a:r>
          </a:p>
          <a:p>
            <a:r>
              <a:t>截图保持实际输入输出，未修改内容。</a:t>
            </a:r>
          </a:p>
          <a:p>
            <a:r>
              <a:t>退款审批：address_verified=false，Decider approved，Jev/GPT verify_destination。少付：100应付、99.80实收，确认20/12已经足够，Decider仍选await_confirmations。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支付数据：2026-10-12 presentation-v8-warm，3次预热另存，4场景×5节点×3模型=60次正式调用。Decider v19官方服务在g6.xlarge；Jev 1.13.0经应用的Lambda适配；Bedrock GPT-6.1 Sol low。计时为后端请求总耗时，预热不计入。与演示参考一致只是这20个节点的参考匹配，不是通用准确率。初始四场景都缺少资金完成条件，三模型各为0/4资金业务完成。执行保护不改写模型原始成绩。</a:t>
            </a:r>
          </a:p>
          <a:p>
            <a:r>
              <a:t>证据：docs/presentations/v8/live-observations.json</a:t>
            </a:r>
          </a:p>
          <a:p>
            <a:r>
              <a:t>截图保持实际输入输出，未修改内容。</a:t>
            </a:r>
          </a:p>
          <a:p>
            <a:r>
              <a:t>闭环来自v8保留的v7 pending记录，不将其耗时加入本页支付预热批次。模拟确认3→12，重新核验，入账129USDC并关闭工单；Decider首次选择偏差保留。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2026-10-13 workflow-model-v1：四个任务，每模型先选流程、再选型号，共24次正式请求，另有6次预热。用户只输入任务，服务提供区域模型目录与第三方能力资料；没有用户指定优先级，也不强制榜单第一。目录124项，按流程形成22个文本或3个embedding候选。三侧输入指纹相同。Decider v19原版g6.xlarge、Jev 1.13.0、Bedrock GPT-6 Sol low。表中时间是两次backend_total_ms相加；没有执行所选下游模型。首次GPT分析40秒超时保存在initial-run，正式表使用随后完整批次；不能据此声称无失败或稳定SLA。</a:t>
            </a:r>
          </a:p>
          <a:p>
            <a:r>
              <a:t>证据：docs/results/workflow-routing-2026-10-13/summary.json</a:t>
            </a:r>
          </a:p>
          <a:p>
            <a:r>
              <a:t>报告：https://github.com/milan9527/StrandsDecider/blob/main/docs/MODEL_ROUTING_COMPARISON.md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2026-10-13 workflow-model-v1：四个任务，每模型先选流程、再选型号，共24次正式请求，另有6次预热。用户只输入任务，服务提供区域模型目录与第三方能力资料；没有用户指定优先级，也不强制榜单第一。目录124项，按流程形成22个文本或3个embedding候选。三侧输入指纹相同。Decider v19原版g6.xlarge、Jev 1.13.0、Bedrock GPT-6 Sol low。表中时间是两次backend_total_ms相加；没有执行所选下游模型。首次GPT分析40秒超时保存在initial-run，正式表使用随后完整批次；不能据此声称无失败或稳定SLA。</a:t>
            </a:r>
          </a:p>
          <a:p>
            <a:r>
              <a:t>证据：docs/results/workflow-routing-2026-10-13/summary.json</a:t>
            </a:r>
          </a:p>
          <a:p>
            <a:r>
              <a:t>报告：https://github.com/milan9527/StrandsDecider/blob/main/docs/MODEL_ROUTING_COMPARISON.md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2026-10-13 workflow-model-v1：四个任务，每模型先选流程、再选型号，共24次正式请求，另有6次预热。用户只输入任务，服务提供区域模型目录与第三方能力资料；没有用户指定优先级，也不强制榜单第一。目录124项，按流程形成22个文本或3个embedding候选。三侧输入指纹相同。Decider v19原版g6.xlarge、Jev 1.13.0、Bedrock GPT-6 Sol low。表中时间是两次backend_total_ms相加；没有执行所选下游模型。首次GPT分析40秒超时保存在initial-run，正式表使用随后完整批次；不能据此声称无失败或稳定SLA。</a:t>
            </a:r>
          </a:p>
          <a:p>
            <a:r>
              <a:t>证据：docs/results/workflow-routing-2026-10-13/summary.json</a:t>
            </a:r>
          </a:p>
          <a:p>
            <a:r>
              <a:t>报告：https://github.com/milan9527/StrandsDecider/blob/main/docs/MODEL_ROUTING_COMPARISON.md</a:t>
            </a:r>
          </a:p>
          <a:p>
            <a:r>
              <a:t>MIRACL中文分项English4.18/Multilingual60.65，均值30.65/59.23。代码Coding分项Sonnet5.5=91.37，Opus5=81.45。索引选择与多语言证据不符，但不能据四任务推出通用排名。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2026-10-12—13保存的真实调用，本次仅复核汇总，无新增模型调用。直接实验为Skills64、浏览器+金融178、两批政策路由224，总计466次。模型为Decider 2B hobson v19原版服务和Jev1.13.0；这批没有GPT，也没有vLLM。问题、任务、请求的计数单位不同，不汇总跨场景准确率；候选顺序反转和重复运行不算新增独立案例。Jev在独立验证中直连，支付经过Lambda；计时边界和输入不同，不能混算加速倍数。</a:t>
            </a:r>
          </a:p>
          <a:p>
            <a:r>
              <a:t>报告：https://github.com/milan9527/StrandsDecider/blob/main/validation/README.md</a:t>
            </a:r>
          </a:p>
          <a:p>
            <a:r>
              <a:t>原始索引：validation/model_comparison/summary.json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2026-10-12—13保存的真实调用，本次仅复核汇总，无新增模型调用。直接实验为Skills64、浏览器+金融178、两批政策路由224，总计466次。模型为Decider 2B hobson v19原版服务和Jev1.13.0；这批没有GPT，也没有vLLM。问题、任务、请求的计数单位不同，不汇总跨场景准确率；候选顺序反转和重复运行不算新增独立案例。Jev在独立验证中直连，支付经过Lambda；计时边界和输入不同，不能混算加速倍数。</a:t>
            </a:r>
          </a:p>
          <a:p>
            <a:r>
              <a:t>报告：https://github.com/milan9527/StrandsDecider/blob/main/validation/README.md</a:t>
            </a:r>
          </a:p>
          <a:p>
            <a:r>
              <a:t>原始索引：validation/model_comparison/summary.json</a:t>
            </a:r>
          </a:p>
          <a:p>
            <a:r>
              <a:t>证据：validation/jev_skills/scenario_summary.json。Decider queued任务尚无产物却finish，测试替换成assert True仍通过，缺发票地址时选一般咨询地址。一个评分1.4936与参考2相差0.5064，刚超容差；不能与错误放行等量解释。客户端RTT中位数Decider164.6ms/Jev119.9ms；P95911.1/163.8ms。没有正式预热阶段，Decider首次六问题请求13.511秒原样保留，具体原因未确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2026-10-12—13保存的真实调用，本次仅复核汇总，无新增模型调用。直接实验为Skills64、浏览器+金融178、两批政策路由224，总计466次。模型为Decider 2B hobson v19原版服务和Jev1.13.0；这批没有GPT，也没有vLLM。问题、任务、请求的计数单位不同，不汇总跨场景准确率；候选顺序反转和重复运行不算新增独立案例。Jev在独立验证中直连，支付经过Lambda；计时边界和输入不同，不能混算加速倍数。</a:t>
            </a:r>
          </a:p>
          <a:p>
            <a:r>
              <a:t>报告：https://github.com/milan9527/StrandsDecider/blob/main/validation/README.md</a:t>
            </a:r>
          </a:p>
          <a:p>
            <a:r>
              <a:t>原始索引：validation/model_comparison/summary.json</a:t>
            </a:r>
          </a:p>
          <a:p>
            <a:r>
              <a:t>使用scored-summary修订后结果：CFPB官方页面为60 calendar days，原匹配60 days漏判。根据保存页面将Jev8/10更正10/10，无模型重跑；修订与原记录均保留。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2026-10-12—13保存的真实调用，本次仅复核汇总，无新增模型调用。直接实验为Skills64、浏览器+金融178、两批政策路由224，总计466次。模型为Decider 2B hobson v19原版服务和Jev1.13.0；这批没有GPT，也没有vLLM。问题、任务、请求的计数单位不同，不汇总跨场景准确率；候选顺序反转和重复运行不算新增独立案例。Jev在独立验证中直连，支付经过Lambda；计时边界和输入不同，不能混算加速倍数。</a:t>
            </a:r>
          </a:p>
          <a:p>
            <a:r>
              <a:t>报告：https://github.com/milan9527/StrandsDecider/blob/main/validation/README.md</a:t>
            </a:r>
          </a:p>
          <a:p>
            <a:r>
              <a:t>原始索引：validation/model_comparison/summary.json</a:t>
            </a:r>
          </a:p>
          <a:p>
            <a:r>
              <a:t>Decider第二轮2步，在BankFind入口结束；Jev第二轮6步返回机构结果，Cert628。Jev第一轮10步，包含重复操作；完成率高不代表路径最优。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2026-10-12—13保存的真实调用，本次仅复核汇总，无新增模型调用。直接实验为Skills64、浏览器+金融178、两批政策路由224，总计466次。模型为Decider 2B hobson v19原版服务和Jev1.13.0；这批没有GPT，也没有vLLM。问题、任务、请求的计数单位不同，不汇总跨场景准确率；候选顺序反转和重复运行不算新增独立案例。Jev在独立验证中直连，支付经过Lambda；计时边界和输入不同，不能混算加速倍数。</a:t>
            </a:r>
          </a:p>
          <a:p>
            <a:r>
              <a:t>报告：https://github.com/milan9527/StrandsDecider/blob/main/validation/README.md</a:t>
            </a:r>
          </a:p>
          <a:p>
            <a:r>
              <a:t>原始索引：validation/model_comparison/summary.json</a:t>
            </a:r>
          </a:p>
          <a:p>
            <a:r>
              <a:t>新闻人工标签，其他业务输入由测试构造，无真实客户资金。财报正确收入FY2025=281724百万美元，FY2024=245122百万美元；Decider误认年份/单位。给定1EUR=1.1181USD，历史报表10000EUR=11181USD，Decider混为真实付款要求可执行报价。同一人、同一家受保银行、同一所有权类别合并300000美元，250000受保50000超限；两者均误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2026-10-12—13保存的真实调用，本次仅复核汇总，无新增模型调用。直接实验为Skills64、浏览器+金融178、两批政策路由224，总计466次。模型为Decider 2B hobson v19原版服务和Jev1.13.0；这批没有GPT，也没有vLLM。问题、任务、请求的计数单位不同，不汇总跨场景准确率；候选顺序反转和重复运行不算新增独立案例。Jev在独立验证中直连，支付经过Lambda；计时边界和输入不同，不能混算加速倍数。</a:t>
            </a:r>
          </a:p>
          <a:p>
            <a:r>
              <a:t>报告：https://github.com/milan9527/StrandsDecider/blob/main/validation/README.md</a:t>
            </a:r>
          </a:p>
          <a:p>
            <a:r>
              <a:t>原始索引：validation/model_comparison/summary.json</a:t>
            </a:r>
          </a:p>
          <a:p>
            <a:r>
              <a:t>Decider首轮40次存在合格候选的机会中37次false no_route；自然语言48/48全拒绝，其中仅8次符合参考。Jev也漏能力与总价条件。输入最大1485token&lt;4096，不能归因上下文超限。建议硬约束代码核验，但该组合方案尚未完成端到端复测。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2026-10-12—13保存的真实调用，本次仅复核汇总，无新增模型调用。直接实验为Skills64、浏览器+金融178、两批政策路由224，总计466次。模型为Decider 2B hobson v19原版服务和Jev1.13.0；这批没有GPT，也没有vLLM。问题、任务、请求的计数单位不同，不汇总跨场景准确率；候选顺序反转和重复运行不算新增独立案例。Jev在独立验证中直连，支付经过Lambda；计时边界和输入不同，不能混算加速倍数。</a:t>
            </a:r>
          </a:p>
          <a:p>
            <a:r>
              <a:t>报告：https://github.com/milan9527/StrandsDecider/blob/main/validation/README.md</a:t>
            </a:r>
          </a:p>
          <a:p>
            <a:r>
              <a:t>原始索引：validation/model_comparison/summary.json</a:t>
            </a:r>
          </a:p>
          <a:p>
            <a:r>
              <a:t>游戏原始来源已随validation/model_comparison/sources/tetris打包。固定3失败棋盘：Decider数字3/3次受支配动作，自然语言2/3；Jev两者0/3。二选一自然语言两者6/6，不能推广完整候选集合。历史规则版430/550程序代选，排除。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：validation/model_comparison/summary.json的historical_decider_input_optimization。原始提示退款地址等条件未限定业务类型，非退款也被视为缺少验证。优化用case_type限定条款，明确省略字段不适用，审批与到账分开，给出代码计算事实。没有微调权重；剩下少付和退款错误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2026-10-12—13保存的真实调用，本次仅复核汇总，无新增模型调用。直接实验为Skills64、浏览器+金融178、两批政策路由224，总计466次。模型为Decider 2B hobson v19原版服务和Jev1.13.0；这批没有GPT，也没有vLLM。问题、任务、请求的计数单位不同，不汇总跨场景准确率；候选顺序反转和重复运行不算新增独立案例。Jev在独立验证中直连，支付经过Lambda；计时边界和输入不同，不能混算加速倍数。</a:t>
            </a:r>
          </a:p>
          <a:p>
            <a:r>
              <a:t>报告：https://github.com/milan9527/StrandsDecider/blob/main/validation/README.md</a:t>
            </a:r>
          </a:p>
          <a:p>
            <a:r>
              <a:t>原始索引：validation/model_comparison/summary.json</a:t>
            </a:r>
          </a:p>
          <a:p>
            <a:r>
              <a:t>微调应保留官方模板、底座/LoRA/Pointer Head路径，使用领域标签、无匹配、缺证据、金额/年份反例，候选数量与顺序扰动，训练/验证/测试按模板或业务来源拆分防泄漏。独立评估准确、误放行、完成度、置信度校准与拒绝回退，再灰度；不只训练输出JSON形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性能证据来自独立StrandsDeciderVLLM项目；v9/sources/vllm/provenance.json保存来源提交与哈希。v19、vLLM0.31.0，BF16 torso/FP32 Pointer Head，单L4。原版对齐比较在g6.4xlarge同机，容器限制4vCPU/14GiB，回环HTTP；后续独立公网压测在g6.xlarge。20个固定支付输入，每次一个choice，固定worker收到完整响应后发下一个请求；失败不重试，预热另计。吞吐=成功数/正式总时长，失败占用总时长；分位数仅统计成功响应。相同输入反复调用只测性能，不扩充独立质量样本。数值对齐是对原版，不证明选择正确。</a:t>
            </a:r>
          </a:p>
          <a:p>
            <a:r>
              <a:t>性能报告：https://github.com/milan9527/StrandsDeciderVLLM/blob/main/docs/VLLM_PERFORMANCE.zh-CN.md</a:t>
            </a:r>
          </a:p>
          <a:p>
            <a:r>
              <a:t>Jev对比：https://github.com/milan9527/StrandsDeciderVLLM/blob/main/docs/JEV_CONCURRENCY.zh-CN.md</a:t>
            </a:r>
          </a:p>
          <a:p>
            <a:r>
              <a:t>导出合并LoRA并携带head/calibration/tokenizer；自定义pooler取候选/答案位置，全prefill后应用官方answer转换。严格比较choice与概率/置信度；容差0.02异常保留。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性能证据来自独立StrandsDeciderVLLM项目；v9/sources/vllm/provenance.json保存来源提交与哈希。v19、vLLM0.31.0，BF16 torso/FP32 Pointer Head，单L4。原版对齐比较在g6.4xlarge同机，容器限制4vCPU/14GiB，回环HTTP；后续独立公网压测在g6.xlarge。20个固定支付输入，每次一个choice，固定worker收到完整响应后发下一个请求；失败不重试，预热另计。吞吐=成功数/正式总时长，失败占用总时长；分位数仅统计成功响应。相同输入反复调用只测性能，不扩充独立质量样本。数值对齐是对原版，不证明选择正确。</a:t>
            </a:r>
          </a:p>
          <a:p>
            <a:r>
              <a:t>性能报告：https://github.com/milan9527/StrandsDeciderVLLM/blob/main/docs/VLLM_PERFORMANCE.zh-CN.md</a:t>
            </a:r>
          </a:p>
          <a:p>
            <a:r>
              <a:t>Jev对比：https://github.com/milan9527/StrandsDeciderVLLM/blob/main/docs/JEV_CONCURRENCY.zh-CN.md</a:t>
            </a:r>
          </a:p>
          <a:p>
            <a:r>
              <a:t>独立API公开入口https://d1e9udi8st2p3g.cloudfront.net，API key认证，EC2上systemd管理，ECR/私有S3模型产物/Secrets Manager。本页不是将主演示迁移到vLLM。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性能证据来自独立StrandsDeciderVLLM项目；v9/sources/vllm/provenance.json保存来源提交与哈希。v19、vLLM0.31.0，BF16 torso/FP32 Pointer Head，单L4。原版对齐比较在g6.4xlarge同机，容器限制4vCPU/14GiB，回环HTTP；后续独立公网压测在g6.xlarge。20个固定支付输入，每次一个choice，固定worker收到完整响应后发下一个请求；失败不重试，预热另计。吞吐=成功数/正式总时长，失败占用总时长；分位数仅统计成功响应。相同输入反复调用只测性能，不扩充独立质量样本。数值对齐是对原版，不证明选择正确。</a:t>
            </a:r>
          </a:p>
          <a:p>
            <a:r>
              <a:t>性能报告：https://github.com/milan9527/StrandsDeciderVLLM/blob/main/docs/VLLM_PERFORMANCE.zh-CN.md</a:t>
            </a:r>
          </a:p>
          <a:p>
            <a:r>
              <a:t>Jev对比：https://github.com/milan9527/StrandsDeciderVLLM/blob/main/docs/JEV_CONCURRENCY.zh-CN.md</a:t>
            </a:r>
          </a:p>
          <a:p>
            <a:r>
              <a:t>8并发原版14.76RPS/P95542.8ms；vLLM复测34.91RPS/P95237.6ms。更早测试的5次超时保留在原始报告，本图为标明的复测。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性能证据来自独立StrandsDeciderVLLM项目；v9/sources/vllm/provenance.json保存来源提交与哈希。v19、vLLM0.31.0，BF16 torso/FP32 Pointer Head，单L4。原版对齐比较在g6.4xlarge同机，容器限制4vCPU/14GiB，回环HTTP；后续独立公网压测在g6.xlarge。20个固定支付输入，每次一个choice，固定worker收到完整响应后发下一个请求；失败不重试，预热另计。吞吐=成功数/正式总时长，失败占用总时长；分位数仅统计成功响应。相同输入反复调用只测性能，不扩充独立质量样本。数值对齐是对原版，不证明选择正确。</a:t>
            </a:r>
          </a:p>
          <a:p>
            <a:r>
              <a:t>性能报告：https://github.com/milan9527/StrandsDeciderVLLM/blob/main/docs/VLLM_PERFORMANCE.zh-CN.md</a:t>
            </a:r>
          </a:p>
          <a:p>
            <a:r>
              <a:t>Jev对比：https://github.com/milan9527/StrandsDeciderVLLM/blob/main/docs/JEV_CONCURRENCY.zh-CN.md</a:t>
            </a:r>
          </a:p>
          <a:p>
            <a:r>
              <a:t>单次sweep10240成功；另一个重复批次12800成功但1次confidence差.0202超.02容差。batch三预算短输入总体无稳定吞吐收益，不能推广到长输入。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性能证据来自独立StrandsDeciderVLLM项目；v9/sources/vllm/provenance.json保存来源提交与哈希。v19、vLLM0.31.0，BF16 torso/FP32 Pointer Head，单L4。原版对齐比较在g6.4xlarge同机，容器限制4vCPU/14GiB，回环HTTP；后续独立公网压测在g6.xlarge。20个固定支付输入，每次一个choice，固定worker收到完整响应后发下一个请求；失败不重试，预热另计。吞吐=成功数/正式总时长，失败占用总时长；分位数仅统计成功响应。相同输入反复调用只测性能，不扩充独立质量样本。数值对齐是对原版，不证明选择正确。</a:t>
            </a:r>
          </a:p>
          <a:p>
            <a:r>
              <a:t>性能报告：https://github.com/milan9527/StrandsDeciderVLLM/blob/main/docs/VLLM_PERFORMANCE.zh-CN.md</a:t>
            </a:r>
          </a:p>
          <a:p>
            <a:r>
              <a:t>Jev对比：https://github.com/milan9527/StrandsDeciderVLLM/blob/main/docs/JEV_CONCURRENCY.zh-CN.md</a:t>
            </a:r>
          </a:p>
          <a:p>
            <a:r>
              <a:t>Decider10239/10240，1次HTTP502，10次confidence差.0202超.02容差；Jev10240/10240。每侧560预热另计。128并发出现尾延迟，不用短测替代长期SLA。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2026-10-15 AWS Price List实时查询，us-east-1/Linux/Shared/g6.2xlarge，On-Demand0.9776USD/h；展示Standard RI的1/3年六种付款方式，非Savings Plans或Convertible RI。折算月费=预付额/(12×年数)+小时费×730，AWS一年365天=8760h，三年1095天=26280h。全预付折算月费不是每月账单；无预付也承诺整个期限、停止实例仍付费。区域RI只提供匹配用量的计费优惠，不保证容量。未购买RI。Jev官网0.042USD/百万输入token，输出免费；实际支付10240次usage平均656.95输入token；四任务路由平均2805.75token/完整两步。以这些实测用量估算成本，不是账单或未来价格保证。仅EC2计算费与Jev调用费，未计EBS、网络、应用后端、运维、冗余、税、所选下游模型执行。g6.2xlarge仅为指定成本场景，未实测其容量；不把g6.xlarge吞吐当成它的实测。</a:t>
            </a:r>
          </a:p>
          <a:p>
            <a:r>
              <a:t>AWS定价源：sources/aws-g6.2xlarge-pricing.json</a:t>
            </a:r>
          </a:p>
          <a:p>
            <a:r>
              <a:t>公式与交点：sources/cost-calculation.json</a:t>
            </a:r>
          </a:p>
          <a:p>
            <a:r>
              <a:t>RI条款：https://docs.aws.amazon.com/AWSEC2/latest/UserGuide/ec2-reserved-instances.html</a:t>
            </a:r>
          </a:p>
          <a:p>
            <a:r>
              <a:t>范围：https://docs.aws.amazon.com/AWSEC2/latest/UserGuide/reserved-instances-scope.html</a:t>
            </a:r>
          </a:p>
          <a:p>
            <a:r>
              <a:t>Jev：https://typesafe.ai/blog/introducing-system-one-models-and-jev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2026-10-15 AWS Price List实时查询，us-east-1/Linux/Shared/g6.2xlarge，On-Demand0.9776USD/h；展示Standard RI的1/3年六种付款方式，非Savings Plans或Convertible RI。折算月费=预付额/(12×年数)+小时费×730，AWS一年365天=8760h，三年1095天=26280h。全预付折算月费不是每月账单；无预付也承诺整个期限、停止实例仍付费。区域RI只提供匹配用量的计费优惠，不保证容量。未购买RI。Jev官网0.042USD/百万输入token，输出免费；实际支付10240次usage平均656.95输入token；四任务路由平均2805.75token/完整两步。以这些实测用量估算成本，不是账单或未来价格保证。仅EC2计算费与Jev调用费，未计EBS、网络、应用后端、运维、冗余、税、所选下游模型执行。g6.2xlarge仅为指定成本场景，未实测其容量；不把g6.xlarge吞吐当成它的实测。</a:t>
            </a:r>
          </a:p>
          <a:p>
            <a:r>
              <a:t>AWS定价源：sources/aws-g6.2xlarge-pricing.json</a:t>
            </a:r>
          </a:p>
          <a:p>
            <a:r>
              <a:t>公式与交点：sources/cost-calculation.json</a:t>
            </a:r>
          </a:p>
          <a:p>
            <a:r>
              <a:t>RI条款：https://docs.aws.amazon.com/AWSEC2/latest/UserGuide/ec2-reserved-instances.html</a:t>
            </a:r>
          </a:p>
          <a:p>
            <a:r>
              <a:t>范围：https://docs.aws.amazon.com/AWSEC2/latest/UserGuide/reserved-instances-scope.html</a:t>
            </a:r>
          </a:p>
          <a:p>
            <a:r>
              <a:t>Jev：https://typesafe.ai/blog/introducing-system-one-models-and-jev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2026-10-15 AWS Price List实时查询，us-east-1/Linux/Shared/g6.2xlarge，On-Demand0.9776USD/h；展示Standard RI的1/3年六种付款方式，非Savings Plans或Convertible RI。折算月费=预付额/(12×年数)+小时费×730，AWS一年365天=8760h，三年1095天=26280h。全预付折算月费不是每月账单；无预付也承诺整个期限、停止实例仍付费。区域RI只提供匹配用量的计费优惠，不保证容量。未购买RI。Jev官网0.042USD/百万输入token，输出免费；实际支付10240次usage平均656.95输入token；四任务路由平均2805.75token/完整两步。以这些实测用量估算成本，不是账单或未来价格保证。仅EC2计算费与Jev调用费，未计EBS、网络、应用后端、运维、冗余、税、所选下游模型执行。g6.2xlarge仅为指定成本场景，未实测其容量；不把g6.xlarge吞吐当成它的实测。</a:t>
            </a:r>
          </a:p>
          <a:p>
            <a:r>
              <a:t>AWS定价源：sources/aws-g6.2xlarge-pricing.json</a:t>
            </a:r>
          </a:p>
          <a:p>
            <a:r>
              <a:t>公式与交点：sources/cost-calculation.json</a:t>
            </a:r>
          </a:p>
          <a:p>
            <a:r>
              <a:t>RI条款：https://docs.aws.amazon.com/AWSEC2/latest/UserGuide/ec2-reserved-instances.html</a:t>
            </a:r>
          </a:p>
          <a:p>
            <a:r>
              <a:t>范围：https://docs.aws.amazon.com/AWSEC2/latest/UserGuide/reserved-instances-scope.html</a:t>
            </a:r>
          </a:p>
          <a:p>
            <a:r>
              <a:t>Jev：https://typesafe.ai/blog/introducing-system-one-models-and-jev</a:t>
            </a:r>
          </a:p>
          <a:p>
            <a:r>
              <a:t>与可停机按需比较，RI年度运行小时交点=RI总额/(按需小时价×期限小时)。1年无预付约65.1%，1年全预付60.8%，3年全预付40.0%；这是可关机小时占比，不是GPU利用率。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2026-10-12—13保存的真实调用，本次仅复核汇总，无新增模型调用。直接实验为Skills64、浏览器+金融178、两批政策路由224，总计466次。模型为Decider 2B hobson v19原版服务和Jev1.13.0；这批没有GPT，也没有vLLM。问题、任务、请求的计数单位不同，不汇总跨场景准确率；候选顺序反转和重复运行不算新增独立案例。Jev在独立验证中直连，支付经过Lambda；计时边界和输入不同，不能混算加速倍数。</a:t>
            </a:r>
          </a:p>
          <a:p>
            <a:r>
              <a:t>报告：https://github.com/milan9527/StrandsDecider/blob/main/validation/README.md</a:t>
            </a:r>
          </a:p>
          <a:p>
            <a:r>
              <a:t>原始索引：validation/model_comparison/summary.json</a:t>
            </a:r>
          </a:p>
          <a:p>
            <a:r>
              <a:t>最终综合：分类与局部选择接近，Jev本批复杂证据/多步完成更好但也有金融和路由错误；Decider支持可控自托管，vLLM提升并发，RI降固定成本。GPT用于开放式生成和复杂异常，具体任务仍须回归。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Demo：https://d3i7ogfx5ml7dc.cloudfront.net</a:t>
            </a:r>
          </a:p>
          <a:p>
            <a:r>
              <a:t>主项目：https://github.com/milan9527/StrandsDecider</a:t>
            </a:r>
          </a:p>
          <a:p>
            <a:r>
              <a:t>vLLM：https://github.com/milan9527/StrandsDeciderVLLM</a:t>
            </a:r>
          </a:p>
          <a:p>
            <a:r>
              <a:t>验证：https://github.com/milan9527/StrandsDecider/blob/main/validation/README.md</a:t>
            </a:r>
          </a:p>
          <a:p>
            <a:r>
              <a:t>官方介绍：https://strandsagents.com/blog/introducing-strands-decider/</a:t>
            </a:r>
          </a:p>
          <a:p>
            <a:r>
              <a:t>评测：https://benchmarkheaven.com/jev-models/api</a:t>
            </a:r>
          </a:p>
          <a:p>
            <a:r>
              <a:t>价格与条款见sources。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benchmarkheaven.com/jev-models/api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7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7.pn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1.png"/><Relationship Id="rId4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32.png"/><Relationship Id="rId5" Type="http://schemas.openxmlformats.org/officeDocument/2006/relationships/image" Target="../media/image5.png"/><Relationship Id="rId6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2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3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Relationship Id="rId4" Type="http://schemas.openxmlformats.org/officeDocument/2006/relationships/image" Target="../media/image36.png"/><Relationship Id="rId5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d3i7ogfx5ml7dc.cloudfront.net" TargetMode="External"/><Relationship Id="rId4" Type="http://schemas.openxmlformats.org/officeDocument/2006/relationships/hyperlink" Target="https://github.com/milan9527/StrandsDecider" TargetMode="External"/><Relationship Id="rId5" Type="http://schemas.openxmlformats.org/officeDocument/2006/relationships/hyperlink" Target="https://github.com/milan9527/StrandsDeciderVLLM" TargetMode="External"/><Relationship Id="rId6" Type="http://schemas.openxmlformats.org/officeDocument/2006/relationships/hyperlink" Target="https://github.com/milan9527/StrandsDecider/blob/main/validation/README.md" TargetMode="External"/><Relationship Id="rId7" Type="http://schemas.openxmlformats.org/officeDocument/2006/relationships/hyperlink" Target="https://strandsagents.com/blog/introducing-strands-decider/" TargetMode="External"/><Relationship Id="rId8" Type="http://schemas.openxmlformats.org/officeDocument/2006/relationships/hyperlink" Target="https://benchmarkheaven.com/jev-models/api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1  从软件中的判断开始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01  从软件中的判断开始</a:t>
            </a:r>
          </a:p>
        </p:txBody>
      </p:sp>
      <p:sp>
        <p:nvSpPr>
          <p:cNvPr id="4" name="TEXT: 让决策模型接得住真实业务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让决策模型接得住真实业务</a:t>
            </a:r>
          </a:p>
        </p:txBody>
      </p:sp>
      <p:sp>
        <p:nvSpPr>
          <p:cNvPr id="5" name="TEXT: Strands Decider、Jev 与 GPT：从原理、业务验证，到 vLLM 部署与成本选择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Decider、Jev 与 GPT：从原理、业务验证，到 vLLM 部署与成本选择</a:t>
            </a:r>
          </a:p>
        </p:txBody>
      </p:sp>
      <p:sp>
        <p:nvSpPr>
          <p:cNvPr id="6" name="TEXT: v10 · 2026-10-15  |  实验来自保存的真实请求；价格按当日 AWS / Jev 公开口径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v10 · 2026-10-15  |  实验来自保存的真实请求；价格按当日 AWS / Jev 公开口径。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1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01 / 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3465576" cy="3291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list-filter-087F72.png" descr="icon-list-filter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313432"/>
            <a:ext cx="384048" cy="384048"/>
          </a:xfrm>
          <a:prstGeom prst="rect">
            <a:avLst/>
          </a:prstGeom>
        </p:spPr>
      </p:pic>
      <p:sp>
        <p:nvSpPr>
          <p:cNvPr id="12" name="TEXT: 选得对"/>
          <p:cNvSpPr txBox="1"/>
          <p:nvPr/>
        </p:nvSpPr>
        <p:spPr>
          <a:xfrm>
            <a:off x="868680" y="2935224"/>
            <a:ext cx="304495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选得对</a:t>
            </a:r>
          </a:p>
        </p:txBody>
      </p:sp>
      <p:sp>
        <p:nvSpPr>
          <p:cNvPr id="13" name="TEXT: 业务事实 → 候选动作 核对证据和完成条件"/>
          <p:cNvSpPr txBox="1"/>
          <p:nvPr/>
        </p:nvSpPr>
        <p:spPr>
          <a:xfrm>
            <a:off x="868680" y="3493008"/>
            <a:ext cx="3044952" cy="17190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业务事实 → 候选动作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核对证据和完成条件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2103120"/>
            <a:ext cx="3465576" cy="3291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MAGE: icon-timer-8055A4.png" descr="icon-timer-8055A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313432"/>
            <a:ext cx="384048" cy="384048"/>
          </a:xfrm>
          <a:prstGeom prst="rect">
            <a:avLst/>
          </a:prstGeom>
        </p:spPr>
      </p:pic>
      <p:sp>
        <p:nvSpPr>
          <p:cNvPr id="16" name="TEXT: 跑得动"/>
          <p:cNvSpPr txBox="1"/>
          <p:nvPr/>
        </p:nvSpPr>
        <p:spPr>
          <a:xfrm>
            <a:off x="4572000" y="2935224"/>
            <a:ext cx="304495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跑得动</a:t>
            </a:r>
          </a:p>
        </p:txBody>
      </p:sp>
      <p:sp>
        <p:nvSpPr>
          <p:cNvPr id="17" name="TEXT: 单次延迟 → 并发吞吐 看完整请求和尾延迟"/>
          <p:cNvSpPr txBox="1"/>
          <p:nvPr/>
        </p:nvSpPr>
        <p:spPr>
          <a:xfrm>
            <a:off x="4572000" y="3493008"/>
            <a:ext cx="3044952" cy="17190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单次延迟 → 并发吞吐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看完整请求和尾延迟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2103120"/>
            <a:ext cx="3465576" cy="3291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IMAGE: icon-banknote-4669C4.png" descr="icon-banknote-4669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2313432"/>
            <a:ext cx="384048" cy="384048"/>
          </a:xfrm>
          <a:prstGeom prst="rect">
            <a:avLst/>
          </a:prstGeom>
        </p:spPr>
      </p:pic>
      <p:sp>
        <p:nvSpPr>
          <p:cNvPr id="20" name="TEXT: 算得清"/>
          <p:cNvSpPr txBox="1"/>
          <p:nvPr/>
        </p:nvSpPr>
        <p:spPr>
          <a:xfrm>
            <a:off x="8275320" y="2935224"/>
            <a:ext cx="304495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算得清</a:t>
            </a:r>
          </a:p>
        </p:txBody>
      </p:sp>
      <p:sp>
        <p:nvSpPr>
          <p:cNvPr id="21" name="TEXT: 自托管 → 按量 API 加入 EC2 RI 长期承诺"/>
          <p:cNvSpPr txBox="1"/>
          <p:nvPr/>
        </p:nvSpPr>
        <p:spPr>
          <a:xfrm>
            <a:off x="8275320" y="3493008"/>
            <a:ext cx="3044952" cy="17190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自托管 → 按量 API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加入 EC2 RI 长期承诺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1  问题与方法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01  问题与方法</a:t>
            </a:r>
          </a:p>
        </p:txBody>
      </p:sp>
      <p:sp>
        <p:nvSpPr>
          <p:cNvPr id="4" name="TEXT: 业务流程里，很多步骤只需要一个选择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业务流程里，很多步骤只需要一个选择</a:t>
            </a:r>
          </a:p>
        </p:txBody>
      </p:sp>
      <p:sp>
        <p:nvSpPr>
          <p:cNvPr id="5" name="TEXT: 客服分流、证据核验、工具选择、模型路由：输出很短，判断会高频重复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客服分流、证据核验、工具选择、模型路由：输出很短，判断会高频重复。</a:t>
            </a:r>
          </a:p>
        </p:txBody>
      </p:sp>
      <p:sp>
        <p:nvSpPr>
          <p:cNvPr id="6" name="TEXT: 适用前提：可定义候选、可取得事实、可验证执行结果。开放式写作仍需要生成模型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适用前提：可定义候选、可取得事实、可验证执行结果。开放式写作仍需要生成模型。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2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02 / 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2503170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receipt-text-087F72.png" descr="icon-receipt-text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78608"/>
            <a:ext cx="283464" cy="283464"/>
          </a:xfrm>
          <a:prstGeom prst="rect">
            <a:avLst/>
          </a:prstGeom>
        </p:spPr>
      </p:pic>
      <p:sp>
        <p:nvSpPr>
          <p:cNvPr id="12" name="TEXT: 业务状态"/>
          <p:cNvSpPr txBox="1"/>
          <p:nvPr/>
        </p:nvSpPr>
        <p:spPr>
          <a:xfrm>
            <a:off x="82296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业务状态</a:t>
            </a:r>
          </a:p>
        </p:txBody>
      </p:sp>
      <p:sp>
        <p:nvSpPr>
          <p:cNvPr id="13" name="TEXT: 订单、页面或任务"/>
          <p:cNvSpPr txBox="1"/>
          <p:nvPr/>
        </p:nvSpPr>
        <p:spPr>
          <a:xfrm>
            <a:off x="822960" y="3429000"/>
            <a:ext cx="222885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订单、页面或任务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16401" y="3136391"/>
            <a:ext cx="219457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63289" y="2423160"/>
            <a:ext cx="2503170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MAGE: icon-brain-circuit-087F72.png" descr="icon-brain-circuit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449" y="2578608"/>
            <a:ext cx="283464" cy="283464"/>
          </a:xfrm>
          <a:prstGeom prst="rect">
            <a:avLst/>
          </a:prstGeom>
        </p:spPr>
      </p:pic>
      <p:sp>
        <p:nvSpPr>
          <p:cNvPr id="17" name="TEXT: 候选判断"/>
          <p:cNvSpPr txBox="1"/>
          <p:nvPr/>
        </p:nvSpPr>
        <p:spPr>
          <a:xfrm>
            <a:off x="3600449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候选判断</a:t>
            </a:r>
          </a:p>
        </p:txBody>
      </p:sp>
      <p:sp>
        <p:nvSpPr>
          <p:cNvPr id="18" name="TEXT: 选择 / 真值 / 评分"/>
          <p:cNvSpPr txBox="1"/>
          <p:nvPr/>
        </p:nvSpPr>
        <p:spPr>
          <a:xfrm>
            <a:off x="3600449" y="3429000"/>
            <a:ext cx="222885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选择 / 真值 / 评分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3892" y="3136391"/>
            <a:ext cx="219455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40779" y="2423160"/>
            <a:ext cx="2503170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MAGE: icon-workflow-087F72.png" descr="icon-workflow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2578608"/>
            <a:ext cx="283464" cy="283464"/>
          </a:xfrm>
          <a:prstGeom prst="rect">
            <a:avLst/>
          </a:prstGeom>
        </p:spPr>
      </p:pic>
      <p:sp>
        <p:nvSpPr>
          <p:cNvPr id="22" name="TEXT: 工具执行"/>
          <p:cNvSpPr txBox="1"/>
          <p:nvPr/>
        </p:nvSpPr>
        <p:spPr>
          <a:xfrm>
            <a:off x="637794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工具执行</a:t>
            </a:r>
          </a:p>
        </p:txBody>
      </p:sp>
      <p:sp>
        <p:nvSpPr>
          <p:cNvPr id="23" name="TEXT: 调用受控业务动作"/>
          <p:cNvSpPr txBox="1"/>
          <p:nvPr/>
        </p:nvSpPr>
        <p:spPr>
          <a:xfrm>
            <a:off x="6377940" y="3429000"/>
            <a:ext cx="222885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调用受控业务动作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71382" y="3136391"/>
            <a:ext cx="219456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18269" y="2423160"/>
            <a:ext cx="2503170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MAGE: icon-clipboard-check-087F72.png" descr="icon-clipboard-check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5430" y="2578608"/>
            <a:ext cx="283464" cy="283464"/>
          </a:xfrm>
          <a:prstGeom prst="rect">
            <a:avLst/>
          </a:prstGeom>
        </p:spPr>
      </p:pic>
      <p:sp>
        <p:nvSpPr>
          <p:cNvPr id="27" name="TEXT: 结果验收"/>
          <p:cNvSpPr txBox="1"/>
          <p:nvPr/>
        </p:nvSpPr>
        <p:spPr>
          <a:xfrm>
            <a:off x="915543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结果验收</a:t>
            </a:r>
          </a:p>
        </p:txBody>
      </p:sp>
      <p:sp>
        <p:nvSpPr>
          <p:cNvPr id="28" name="TEXT: 事实是否真正改变"/>
          <p:cNvSpPr txBox="1"/>
          <p:nvPr/>
        </p:nvSpPr>
        <p:spPr>
          <a:xfrm>
            <a:off x="9155430" y="3429000"/>
            <a:ext cx="222885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事实是否真正改变</a:t>
            </a:r>
          </a:p>
        </p:txBody>
      </p:sp>
      <p:sp>
        <p:nvSpPr>
          <p:cNvPr id="29" name="TEXT: 选择"/>
          <p:cNvSpPr txBox="1"/>
          <p:nvPr/>
        </p:nvSpPr>
        <p:spPr>
          <a:xfrm>
            <a:off x="685800" y="4526280"/>
            <a:ext cx="33832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选择</a:t>
            </a:r>
          </a:p>
        </p:txBody>
      </p:sp>
      <p:sp>
        <p:nvSpPr>
          <p:cNvPr id="30" name="TEXT: 与预先定义的参考比较"/>
          <p:cNvSpPr txBox="1"/>
          <p:nvPr/>
        </p:nvSpPr>
        <p:spPr>
          <a:xfrm>
            <a:off x="685800" y="5065776"/>
            <a:ext cx="33832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与预先定义的参考比较</a:t>
            </a:r>
          </a:p>
        </p:txBody>
      </p:sp>
      <p:sp>
        <p:nvSpPr>
          <p:cNvPr id="31" name="TEXT: 结果"/>
          <p:cNvSpPr txBox="1"/>
          <p:nvPr/>
        </p:nvSpPr>
        <p:spPr>
          <a:xfrm>
            <a:off x="4389120" y="4526280"/>
            <a:ext cx="33832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结果</a:t>
            </a:r>
          </a:p>
        </p:txBody>
      </p:sp>
      <p:sp>
        <p:nvSpPr>
          <p:cNvPr id="32" name="TEXT: 查看页面、账本或产物"/>
          <p:cNvSpPr txBox="1"/>
          <p:nvPr/>
        </p:nvSpPr>
        <p:spPr>
          <a:xfrm>
            <a:off x="4389120" y="5065776"/>
            <a:ext cx="33832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查看页面、账本或产物</a:t>
            </a:r>
          </a:p>
        </p:txBody>
      </p:sp>
      <p:sp>
        <p:nvSpPr>
          <p:cNvPr id="33" name="TEXT: 性能"/>
          <p:cNvSpPr txBox="1"/>
          <p:nvPr/>
        </p:nvSpPr>
        <p:spPr>
          <a:xfrm>
            <a:off x="8092440" y="4526280"/>
            <a:ext cx="33832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性能</a:t>
            </a:r>
          </a:p>
        </p:txBody>
      </p:sp>
      <p:sp>
        <p:nvSpPr>
          <p:cNvPr id="34" name="TEXT: 记录延迟、吞吐和成本"/>
          <p:cNvSpPr txBox="1"/>
          <p:nvPr/>
        </p:nvSpPr>
        <p:spPr>
          <a:xfrm>
            <a:off x="8092440" y="5065776"/>
            <a:ext cx="33832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记录延迟、吞吐和成本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2  模型原理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02  模型原理</a:t>
            </a:r>
          </a:p>
        </p:txBody>
      </p:sp>
      <p:sp>
        <p:nvSpPr>
          <p:cNvPr id="4" name="TEXT: Decider：读完上下文，直接给候选评分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Decider：读完上下文，直接给候选评分</a:t>
            </a:r>
          </a:p>
        </p:txBody>
      </p:sp>
      <p:sp>
        <p:nvSpPr>
          <p:cNvPr id="5" name="TEXT: 公开 v19：Qwen3.5-2B 底座 + LoRA + Pointer Head；不逐 token 生成答案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公开 v19：Qwen3.5-2B 底座 + LoRA + Pointer Head；不逐 token 生成答案。</a:t>
            </a:r>
          </a:p>
        </p:txBody>
      </p:sp>
      <p:sp>
        <p:nvSpPr>
          <p:cNvPr id="6" name="TEXT: 来源：Strands 官方介绍与 v19 实现。API 的 probability / confidence 不是业务正确率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来源：Strands 官方介绍与 v19 实现。API 的 probability / confidence 不是业务正确率。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3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/ 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2503170" cy="158191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receipt-text-087F72.png" descr="icon-receipt-text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78608"/>
            <a:ext cx="283464" cy="283464"/>
          </a:xfrm>
          <a:prstGeom prst="rect">
            <a:avLst/>
          </a:prstGeom>
        </p:spPr>
      </p:pic>
      <p:sp>
        <p:nvSpPr>
          <p:cNvPr id="12" name="TEXT: 提交业务事实"/>
          <p:cNvSpPr txBox="1"/>
          <p:nvPr/>
        </p:nvSpPr>
        <p:spPr>
          <a:xfrm>
            <a:off x="82296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提交业务事实</a:t>
            </a:r>
          </a:p>
        </p:txBody>
      </p:sp>
      <p:sp>
        <p:nvSpPr>
          <p:cNvPr id="13" name="TEXT: state + questions"/>
          <p:cNvSpPr txBox="1"/>
          <p:nvPr/>
        </p:nvSpPr>
        <p:spPr>
          <a:xfrm>
            <a:off x="822960" y="3429000"/>
            <a:ext cx="2228850" cy="55778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state + questions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16401" y="3136391"/>
            <a:ext cx="219457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63289" y="2423160"/>
            <a:ext cx="2503170" cy="158191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MAGE: icon-layers-087F72.png" descr="icon-layers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449" y="2578608"/>
            <a:ext cx="283464" cy="283464"/>
          </a:xfrm>
          <a:prstGeom prst="rect">
            <a:avLst/>
          </a:prstGeom>
        </p:spPr>
      </p:pic>
      <p:sp>
        <p:nvSpPr>
          <p:cNvPr id="17" name="TEXT: 单次前向计算"/>
          <p:cNvSpPr txBox="1"/>
          <p:nvPr/>
        </p:nvSpPr>
        <p:spPr>
          <a:xfrm>
            <a:off x="3600449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单次前向计算</a:t>
            </a:r>
          </a:p>
        </p:txBody>
      </p:sp>
      <p:sp>
        <p:nvSpPr>
          <p:cNvPr id="18" name="TEXT: 2B 底座 + rank-16 LoRA"/>
          <p:cNvSpPr txBox="1"/>
          <p:nvPr/>
        </p:nvSpPr>
        <p:spPr>
          <a:xfrm>
            <a:off x="3600449" y="3429000"/>
            <a:ext cx="2228850" cy="55778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2B 底座 + rank-16 LoRA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3892" y="3136391"/>
            <a:ext cx="219455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40779" y="2423160"/>
            <a:ext cx="2503170" cy="158191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MAGE: icon-list-filter-087F72.png" descr="icon-list-filter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2578608"/>
            <a:ext cx="283464" cy="283464"/>
          </a:xfrm>
          <a:prstGeom prst="rect">
            <a:avLst/>
          </a:prstGeom>
        </p:spPr>
      </p:pic>
      <p:sp>
        <p:nvSpPr>
          <p:cNvPr id="22" name="TEXT: Pointer Head"/>
          <p:cNvSpPr txBox="1"/>
          <p:nvPr/>
        </p:nvSpPr>
        <p:spPr>
          <a:xfrm>
            <a:off x="637794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Pointer Head</a:t>
            </a:r>
          </a:p>
        </p:txBody>
      </p:sp>
      <p:sp>
        <p:nvSpPr>
          <p:cNvPr id="23" name="TEXT: 对当前候选评分"/>
          <p:cNvSpPr txBox="1"/>
          <p:nvPr/>
        </p:nvSpPr>
        <p:spPr>
          <a:xfrm>
            <a:off x="6377940" y="3429000"/>
            <a:ext cx="2228850" cy="55778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对当前候选评分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71382" y="3136391"/>
            <a:ext cx="219456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18269" y="2423160"/>
            <a:ext cx="2503170" cy="158191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MAGE: icon-check-check-087F72.png" descr="icon-check-check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5430" y="2578608"/>
            <a:ext cx="283464" cy="283464"/>
          </a:xfrm>
          <a:prstGeom prst="rect">
            <a:avLst/>
          </a:prstGeom>
        </p:spPr>
      </p:pic>
      <p:sp>
        <p:nvSpPr>
          <p:cNvPr id="27" name="TEXT: 类型化结果"/>
          <p:cNvSpPr txBox="1"/>
          <p:nvPr/>
        </p:nvSpPr>
        <p:spPr>
          <a:xfrm>
            <a:off x="915543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类型化结果</a:t>
            </a:r>
          </a:p>
        </p:txBody>
      </p:sp>
      <p:sp>
        <p:nvSpPr>
          <p:cNvPr id="28" name="TEXT: choice / noul / score"/>
          <p:cNvSpPr txBox="1"/>
          <p:nvPr/>
        </p:nvSpPr>
        <p:spPr>
          <a:xfrm>
            <a:off x="9155430" y="3429000"/>
            <a:ext cx="2228850" cy="55778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choice / noul / score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462272"/>
            <a:ext cx="5257800" cy="10515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4462272"/>
            <a:ext cx="41148" cy="105156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共享上下文"/>
          <p:cNvSpPr txBox="1"/>
          <p:nvPr/>
        </p:nvSpPr>
        <p:spPr>
          <a:xfrm>
            <a:off x="850392" y="4553712"/>
            <a:ext cx="4928616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共享上下文</a:t>
            </a:r>
          </a:p>
        </p:txBody>
      </p:sp>
      <p:sp>
        <p:nvSpPr>
          <p:cNvPr id="32" name="TEXT: 同一请求可含多个独立判断，减少重复输入。"/>
          <p:cNvSpPr txBox="1"/>
          <p:nvPr/>
        </p:nvSpPr>
        <p:spPr>
          <a:xfrm>
            <a:off x="850392" y="4946904"/>
            <a:ext cx="4928616" cy="53949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同一请求可含多个独立判断，减少重复输入。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462272"/>
            <a:ext cx="5257800" cy="10515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4462272"/>
            <a:ext cx="41148" cy="1051560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依赖执行结果的下一步"/>
          <p:cNvSpPr txBox="1"/>
          <p:nvPr/>
        </p:nvSpPr>
        <p:spPr>
          <a:xfrm>
            <a:off x="6336792" y="4553712"/>
            <a:ext cx="4928616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依赖执行结果的下一步</a:t>
            </a:r>
          </a:p>
        </p:txBody>
      </p:sp>
      <p:sp>
        <p:nvSpPr>
          <p:cNvPr id="36" name="TEXT: 先执行并更新状态，再发起新判断。"/>
          <p:cNvSpPr txBox="1"/>
          <p:nvPr/>
        </p:nvSpPr>
        <p:spPr>
          <a:xfrm>
            <a:off x="6336792" y="4946904"/>
            <a:ext cx="4928616" cy="53949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先执行并更新状态，再发起新判断。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2  模型对照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02  模型对照</a:t>
            </a:r>
          </a:p>
        </p:txBody>
      </p:sp>
      <p:sp>
        <p:nvSpPr>
          <p:cNvPr id="4" name="TEXT: 相同候选问题，可以通过不同模型回答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相同候选问题，可以通过不同模型回答</a:t>
            </a:r>
          </a:p>
        </p:txBody>
      </p:sp>
      <p:sp>
        <p:nvSpPr>
          <p:cNvPr id="5" name="TEXT: 应用先定义问题和可执行选项；模型负责选择，执行器负责真正改变业务状态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应用先定义问题和可执行选项；模型负责选择，执行器负责真正改变业务状态。</a:t>
            </a:r>
          </a:p>
        </p:txBody>
      </p:sp>
      <p:sp>
        <p:nvSpPr>
          <p:cNvPr id="6" name="TEXT: BERT 的 NLI 用法也可比较文本候选；此处比较典型分类头，没有进行 BERT 实测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BERT 的 NLI 用法也可比较文本候选；此处比较典型分类头，没有进行 BERT 实测。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4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04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1217980" cy="617219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维度"/>
          <p:cNvSpPr txBox="1"/>
          <p:nvPr/>
        </p:nvSpPr>
        <p:spPr>
          <a:xfrm>
            <a:off x="731520" y="2107692"/>
            <a:ext cx="10241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维度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56232" y="2011680"/>
            <a:ext cx="2818180" cy="617219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BERT 分类器"/>
          <p:cNvSpPr txBox="1"/>
          <p:nvPr/>
        </p:nvSpPr>
        <p:spPr>
          <a:xfrm>
            <a:off x="1965960" y="2107692"/>
            <a:ext cx="26243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BERT 分类器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90872" y="2011680"/>
            <a:ext cx="3732580" cy="617219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Decider / Jev"/>
          <p:cNvSpPr txBox="1"/>
          <p:nvPr/>
        </p:nvSpPr>
        <p:spPr>
          <a:xfrm>
            <a:off x="4800600" y="2107692"/>
            <a:ext cx="3538727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 / Jev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39912" y="2011680"/>
            <a:ext cx="3092500" cy="617219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GPT"/>
          <p:cNvSpPr txBox="1"/>
          <p:nvPr/>
        </p:nvSpPr>
        <p:spPr>
          <a:xfrm>
            <a:off x="8549640" y="2107692"/>
            <a:ext cx="289864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2651760"/>
            <a:ext cx="121798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典型输出"/>
          <p:cNvSpPr txBox="1"/>
          <p:nvPr/>
        </p:nvSpPr>
        <p:spPr>
          <a:xfrm>
            <a:off x="731520" y="2747772"/>
            <a:ext cx="10241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典型输出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56232" y="2651760"/>
            <a:ext cx="281818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固定标签"/>
          <p:cNvSpPr txBox="1"/>
          <p:nvPr/>
        </p:nvSpPr>
        <p:spPr>
          <a:xfrm>
            <a:off x="1965960" y="2747772"/>
            <a:ext cx="26243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固定标签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90872" y="2651760"/>
            <a:ext cx="373258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候选 ID、真值、评分"/>
          <p:cNvSpPr txBox="1"/>
          <p:nvPr/>
        </p:nvSpPr>
        <p:spPr>
          <a:xfrm>
            <a:off x="4800600" y="2747772"/>
            <a:ext cx="3538727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候选 ID、真值、评分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39912" y="2651760"/>
            <a:ext cx="309250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文本或结构化 JSON"/>
          <p:cNvSpPr txBox="1"/>
          <p:nvPr/>
        </p:nvSpPr>
        <p:spPr>
          <a:xfrm>
            <a:off x="8549640" y="2747772"/>
            <a:ext cx="289864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文本或结构化 JSON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3291840"/>
            <a:ext cx="121798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新增任务"/>
          <p:cNvSpPr txBox="1"/>
          <p:nvPr/>
        </p:nvSpPr>
        <p:spPr>
          <a:xfrm>
            <a:off x="731520" y="3387852"/>
            <a:ext cx="10241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新增任务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56232" y="3291840"/>
            <a:ext cx="281818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标签与领域训练适配"/>
          <p:cNvSpPr txBox="1"/>
          <p:nvPr/>
        </p:nvSpPr>
        <p:spPr>
          <a:xfrm>
            <a:off x="1965960" y="3387852"/>
            <a:ext cx="26243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标签与领域训练适配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3291840"/>
            <a:ext cx="373258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提交事实、问题、候选"/>
          <p:cNvSpPr txBox="1"/>
          <p:nvPr/>
        </p:nvSpPr>
        <p:spPr>
          <a:xfrm>
            <a:off x="4800600" y="3387852"/>
            <a:ext cx="3538727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提交事实、问题、候选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39912" y="3291840"/>
            <a:ext cx="309250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提交指令与上下文"/>
          <p:cNvSpPr txBox="1"/>
          <p:nvPr/>
        </p:nvSpPr>
        <p:spPr>
          <a:xfrm>
            <a:off x="8549640" y="3387852"/>
            <a:ext cx="289864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提交指令与上下文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3931920"/>
            <a:ext cx="121798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实现"/>
          <p:cNvSpPr txBox="1"/>
          <p:nvPr/>
        </p:nvSpPr>
        <p:spPr>
          <a:xfrm>
            <a:off x="731520" y="4027932"/>
            <a:ext cx="10241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实现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56232" y="3931920"/>
            <a:ext cx="281818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编码器 + 分类头"/>
          <p:cNvSpPr txBox="1"/>
          <p:nvPr/>
        </p:nvSpPr>
        <p:spPr>
          <a:xfrm>
            <a:off x="1965960" y="4027932"/>
            <a:ext cx="26243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编码器 + 分类头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3931920"/>
            <a:ext cx="373258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Decider 评分头；Jev API"/>
          <p:cNvSpPr txBox="1"/>
          <p:nvPr/>
        </p:nvSpPr>
        <p:spPr>
          <a:xfrm>
            <a:off x="4800600" y="4027932"/>
            <a:ext cx="3538727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Decider 评分头；Jev API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39912" y="3931920"/>
            <a:ext cx="309250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生成式模型"/>
          <p:cNvSpPr txBox="1"/>
          <p:nvPr/>
        </p:nvSpPr>
        <p:spPr>
          <a:xfrm>
            <a:off x="8549640" y="4027932"/>
            <a:ext cx="289864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生成式模型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" y="4572000"/>
            <a:ext cx="121798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适合"/>
          <p:cNvSpPr txBox="1"/>
          <p:nvPr/>
        </p:nvSpPr>
        <p:spPr>
          <a:xfrm>
            <a:off x="731520" y="4668012"/>
            <a:ext cx="10241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适合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56232" y="4572000"/>
            <a:ext cx="281818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稳定标签的专用分类"/>
          <p:cNvSpPr txBox="1"/>
          <p:nvPr/>
        </p:nvSpPr>
        <p:spPr>
          <a:xfrm>
            <a:off x="1965960" y="4668012"/>
            <a:ext cx="26243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稳定标签的专用分类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4572000"/>
            <a:ext cx="373258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高频、有限动作的判断"/>
          <p:cNvSpPr txBox="1"/>
          <p:nvPr/>
        </p:nvSpPr>
        <p:spPr>
          <a:xfrm>
            <a:off x="4800600" y="4668012"/>
            <a:ext cx="3538727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高频、有限动作的判断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39912" y="4572000"/>
            <a:ext cx="309250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开放式分析、写作、代码"/>
          <p:cNvSpPr txBox="1"/>
          <p:nvPr/>
        </p:nvSpPr>
        <p:spPr>
          <a:xfrm>
            <a:off x="8549640" y="4668012"/>
            <a:ext cx="289864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开放式分析、写作、代码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" y="5513832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同一个 approved，可能来自分类头、候选评分或文本生成；都需要核对业务条件。"/>
          <p:cNvSpPr txBox="1"/>
          <p:nvPr/>
        </p:nvSpPr>
        <p:spPr>
          <a:xfrm>
            <a:off x="768096" y="5586984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同一个 approved，可能来自分类头、候选评分或文本生成；都需要核对业务条件。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2  外部参考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02  外部参考</a:t>
            </a:r>
          </a:p>
        </p:txBody>
      </p:sp>
      <p:sp>
        <p:nvSpPr>
          <p:cNvPr id="4" name="TEXT: JevBench：同时看能力、校准、速度与成本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JevBench：同时看能力、校准、速度与成本</a:t>
            </a:r>
          </a:p>
        </p:txBody>
      </p:sp>
      <p:sp>
        <p:nvSpPr>
          <p:cNvPr id="5" name="TEXT: 公开 API 榜单节选；综合分低，不代表回答正确率同样低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公开 API 榜单节选；综合分低，不代表回答正确率同样低。</a:t>
            </a:r>
          </a:p>
        </p:txBody>
      </p:sp>
      <p:sp>
        <p:nvSpPr>
          <p:cNvPr id="6" name="TEXT: 榜单 v1.7.46 快照：2026-10-12。第三方公布结果，本项目未重跑，也不是 AWS 官方评分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榜单 v1.7.46 快照：2026-10-12。第三方公布结果，本项目未重跑，也不是 AWS 官方评分。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5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05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4189780" cy="45262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模型"/>
          <p:cNvSpPr txBox="1"/>
          <p:nvPr/>
        </p:nvSpPr>
        <p:spPr>
          <a:xfrm>
            <a:off x="731520" y="2107692"/>
            <a:ext cx="399592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28031" y="2011680"/>
            <a:ext cx="2086660" cy="45262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综合分"/>
          <p:cNvSpPr txBox="1"/>
          <p:nvPr/>
        </p:nvSpPr>
        <p:spPr>
          <a:xfrm>
            <a:off x="4937759" y="2107692"/>
            <a:ext cx="189280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综合分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31151" y="2011680"/>
            <a:ext cx="2269540" cy="45262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能力轴分"/>
          <p:cNvSpPr txBox="1"/>
          <p:nvPr/>
        </p:nvSpPr>
        <p:spPr>
          <a:xfrm>
            <a:off x="7040879" y="2107692"/>
            <a:ext cx="207568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能力轴分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17151" y="2011680"/>
            <a:ext cx="2315260" cy="45262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延迟 P50"/>
          <p:cNvSpPr txBox="1"/>
          <p:nvPr/>
        </p:nvSpPr>
        <p:spPr>
          <a:xfrm>
            <a:off x="9326879" y="2107692"/>
            <a:ext cx="212140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延迟 P50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2487168"/>
            <a:ext cx="418978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Jev 1.13"/>
          <p:cNvSpPr txBox="1"/>
          <p:nvPr/>
        </p:nvSpPr>
        <p:spPr>
          <a:xfrm>
            <a:off x="731520" y="2583180"/>
            <a:ext cx="399592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 1.13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28031" y="2487168"/>
            <a:ext cx="208666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71.5"/>
          <p:cNvSpPr txBox="1"/>
          <p:nvPr/>
        </p:nvSpPr>
        <p:spPr>
          <a:xfrm>
            <a:off x="4937759" y="2583180"/>
            <a:ext cx="189280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71.5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31151" y="2487168"/>
            <a:ext cx="226954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63.6"/>
          <p:cNvSpPr txBox="1"/>
          <p:nvPr/>
        </p:nvSpPr>
        <p:spPr>
          <a:xfrm>
            <a:off x="7040879" y="2583180"/>
            <a:ext cx="207568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63.6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17151" y="2487168"/>
            <a:ext cx="231526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0.239 s"/>
          <p:cNvSpPr txBox="1"/>
          <p:nvPr/>
        </p:nvSpPr>
        <p:spPr>
          <a:xfrm>
            <a:off x="9326879" y="2583180"/>
            <a:ext cx="212140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0.239 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2962656"/>
            <a:ext cx="4189780" cy="4526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GPT-6 Luna low"/>
          <p:cNvSpPr txBox="1"/>
          <p:nvPr/>
        </p:nvSpPr>
        <p:spPr>
          <a:xfrm>
            <a:off x="731520" y="3058668"/>
            <a:ext cx="399592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GPT-6 Luna low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28031" y="2962656"/>
            <a:ext cx="2086660" cy="4526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40.5"/>
          <p:cNvSpPr txBox="1"/>
          <p:nvPr/>
        </p:nvSpPr>
        <p:spPr>
          <a:xfrm>
            <a:off x="4937759" y="3058668"/>
            <a:ext cx="189280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40.5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31151" y="2962656"/>
            <a:ext cx="2269540" cy="4526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96.6"/>
          <p:cNvSpPr txBox="1"/>
          <p:nvPr/>
        </p:nvSpPr>
        <p:spPr>
          <a:xfrm>
            <a:off x="7040879" y="3058668"/>
            <a:ext cx="207568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96.6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17151" y="2962656"/>
            <a:ext cx="2315260" cy="4526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1.854 s"/>
          <p:cNvSpPr txBox="1"/>
          <p:nvPr/>
        </p:nvSpPr>
        <p:spPr>
          <a:xfrm>
            <a:off x="9326879" y="3058668"/>
            <a:ext cx="212140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1.854 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3438144"/>
            <a:ext cx="418978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Gemini 3.1 Flash Lite"/>
          <p:cNvSpPr txBox="1"/>
          <p:nvPr/>
        </p:nvSpPr>
        <p:spPr>
          <a:xfrm>
            <a:off x="731520" y="3534156"/>
            <a:ext cx="399592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Gemini 3.1 Flash Lite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28031" y="3438144"/>
            <a:ext cx="208666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16.9"/>
          <p:cNvSpPr txBox="1"/>
          <p:nvPr/>
        </p:nvSpPr>
        <p:spPr>
          <a:xfrm>
            <a:off x="4937759" y="3534156"/>
            <a:ext cx="189280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16.9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31151" y="3438144"/>
            <a:ext cx="226954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58.6"/>
          <p:cNvSpPr txBox="1"/>
          <p:nvPr/>
        </p:nvSpPr>
        <p:spPr>
          <a:xfrm>
            <a:off x="7040879" y="3534156"/>
            <a:ext cx="207568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58.6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17151" y="3438144"/>
            <a:ext cx="231526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0.957 s"/>
          <p:cNvSpPr txBox="1"/>
          <p:nvPr/>
        </p:nvSpPr>
        <p:spPr>
          <a:xfrm>
            <a:off x="9326879" y="3534156"/>
            <a:ext cx="212140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0.957 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" y="3913632"/>
            <a:ext cx="4189780" cy="4526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DeepSeek V4.1 Flash"/>
          <p:cNvSpPr txBox="1"/>
          <p:nvPr/>
        </p:nvSpPr>
        <p:spPr>
          <a:xfrm>
            <a:off x="731520" y="4009644"/>
            <a:ext cx="399592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DeepSeek V4.1 Flash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28031" y="3913632"/>
            <a:ext cx="2086660" cy="4526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7.1"/>
          <p:cNvSpPr txBox="1"/>
          <p:nvPr/>
        </p:nvSpPr>
        <p:spPr>
          <a:xfrm>
            <a:off x="4937759" y="4009644"/>
            <a:ext cx="189280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31151" y="3913632"/>
            <a:ext cx="2269540" cy="4526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94.7"/>
          <p:cNvSpPr txBox="1"/>
          <p:nvPr/>
        </p:nvSpPr>
        <p:spPr>
          <a:xfrm>
            <a:off x="7040879" y="4009644"/>
            <a:ext cx="207568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94.7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17151" y="3913632"/>
            <a:ext cx="2315260" cy="4526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2.038 s"/>
          <p:cNvSpPr txBox="1"/>
          <p:nvPr/>
        </p:nvSpPr>
        <p:spPr>
          <a:xfrm>
            <a:off x="9326879" y="4009644"/>
            <a:ext cx="212140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2.038 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" y="4389120"/>
            <a:ext cx="418978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Qwen3.8 27B"/>
          <p:cNvSpPr txBox="1"/>
          <p:nvPr/>
        </p:nvSpPr>
        <p:spPr>
          <a:xfrm>
            <a:off x="731520" y="4485132"/>
            <a:ext cx="399592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Qwen3.8 27B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28031" y="4389120"/>
            <a:ext cx="208666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: 0.0"/>
          <p:cNvSpPr txBox="1"/>
          <p:nvPr/>
        </p:nvSpPr>
        <p:spPr>
          <a:xfrm>
            <a:off x="4937759" y="4485132"/>
            <a:ext cx="189280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31151" y="4389120"/>
            <a:ext cx="226954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: 96.4"/>
          <p:cNvSpPr txBox="1"/>
          <p:nvPr/>
        </p:nvSpPr>
        <p:spPr>
          <a:xfrm>
            <a:off x="7040879" y="4485132"/>
            <a:ext cx="207568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96.4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17151" y="4389120"/>
            <a:ext cx="231526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: 7.095 s"/>
          <p:cNvSpPr txBox="1"/>
          <p:nvPr/>
        </p:nvSpPr>
        <p:spPr>
          <a:xfrm>
            <a:off x="9326879" y="4485132"/>
            <a:ext cx="212140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7.095 s</a:t>
            </a:r>
          </a:p>
        </p:txBody>
      </p:sp>
      <p:sp>
        <p:nvSpPr>
          <p:cNvPr id="58" name="TEXT: 例如：Qwen 的能力轴高，但速度等轴拉低综合分。选型时应分别查看各轴。"/>
          <p:cNvSpPr txBox="1"/>
          <p:nvPr/>
        </p:nvSpPr>
        <p:spPr>
          <a:xfrm>
            <a:off x="731520" y="5093208"/>
            <a:ext cx="1078992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例如：Qwen 的能力轴高，但速度等轴拉低综合分。选型时应分别查看各轴。</a:t>
            </a:r>
          </a:p>
        </p:txBody>
      </p:sp>
      <p:sp>
        <p:nvSpPr>
          <p:cNvPr id="59" name="TEXT: 评测与方法：benchmarkheaven.com/jev-models/api"/>
          <p:cNvSpPr txBox="1"/>
          <p:nvPr/>
        </p:nvSpPr>
        <p:spPr>
          <a:xfrm>
            <a:off x="731520" y="5532120"/>
            <a:ext cx="10607040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3"/>
              </a:rPr>
              <a:t>评测与方法：benchmarkheaven.com/jev-models/api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3  演示架构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 演示架构</a:t>
            </a:r>
          </a:p>
        </p:txBody>
      </p:sp>
      <p:sp>
        <p:nvSpPr>
          <p:cNvPr id="4" name="TEXT: 同一业务后端，连接三个决策模型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同一业务后端，连接三个决策模型</a:t>
            </a:r>
          </a:p>
        </p:txBody>
      </p:sp>
      <p:sp>
        <p:nvSpPr>
          <p:cNvPr id="5" name="TEXT: 前端 S3 + CloudFront OAC；用户名登录；ECS 执行支付、路由与结果记录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前端 S3 + CloudFront OAC；用户名登录；ECS 执行支付、路由与结果记录。</a:t>
            </a:r>
          </a:p>
        </p:txBody>
      </p:sp>
      <p:sp>
        <p:nvSpPr>
          <p:cNvPr id="6" name="TEXT: 主演示使用原版 Decider g6.xlarge 常驻服务；独立 vLLM API 见第 24 页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主演示使用原版 Decider g6.xlarge 常驻服务；独立 vLLM API 见第 24 页。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6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06 / 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2011680"/>
            <a:ext cx="10817352" cy="3749039"/>
          </a:xfrm>
          <a:prstGeom prst="roundRect">
            <a:avLst>
              <a:gd name="adj" fmla="val 13000"/>
            </a:avLst>
          </a:prstGeom>
          <a:noFill/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AWS Cloud"/>
          <p:cNvSpPr txBox="1"/>
          <p:nvPr/>
        </p:nvSpPr>
        <p:spPr>
          <a:xfrm>
            <a:off x="868680" y="2103120"/>
            <a:ext cx="7315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AWS Cloud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36392" y="2487168"/>
            <a:ext cx="4553712" cy="3127248"/>
          </a:xfrm>
          <a:prstGeom prst="rect">
            <a:avLst/>
          </a:prstGeom>
          <a:noFill/>
          <a:ln w="10160">
            <a:solidFill>
              <a:srgbClr val="805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VPC · us-east-1"/>
          <p:cNvSpPr txBox="1"/>
          <p:nvPr/>
        </p:nvSpPr>
        <p:spPr>
          <a:xfrm>
            <a:off x="3310128" y="2624328"/>
            <a:ext cx="402336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VPC · us-east-1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11496" y="2926080"/>
            <a:ext cx="2404872" cy="2578608"/>
          </a:xfrm>
          <a:prstGeom prst="rect">
            <a:avLst/>
          </a:prstGeom>
          <a:solidFill>
            <a:srgbClr val="F0F8F7"/>
          </a:solidFill>
          <a:ln w="10160">
            <a:solidFill>
              <a:srgbClr val="70A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私有子网"/>
          <p:cNvSpPr txBox="1"/>
          <p:nvPr/>
        </p:nvSpPr>
        <p:spPr>
          <a:xfrm>
            <a:off x="5276088" y="3026664"/>
            <a:ext cx="201168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私有子网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" y="3337560"/>
            <a:ext cx="1920240" cy="9052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IMAGE: aws-cloudfront-087F72.png" descr="aws-cloudfront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3465576"/>
            <a:ext cx="338328" cy="338328"/>
          </a:xfrm>
          <a:prstGeom prst="rect">
            <a:avLst/>
          </a:prstGeom>
        </p:spPr>
      </p:pic>
      <p:sp>
        <p:nvSpPr>
          <p:cNvPr id="18" name="TEXT: CloudFront"/>
          <p:cNvSpPr txBox="1"/>
          <p:nvPr/>
        </p:nvSpPr>
        <p:spPr>
          <a:xfrm>
            <a:off x="1481328" y="3502152"/>
            <a:ext cx="1335024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CloudFront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" y="4572000"/>
            <a:ext cx="1920240" cy="9052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MAGE: aws-s3-087F72.png" descr="aws-s3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700016"/>
            <a:ext cx="338328" cy="338328"/>
          </a:xfrm>
          <a:prstGeom prst="rect">
            <a:avLst/>
          </a:prstGeom>
        </p:spPr>
      </p:pic>
      <p:sp>
        <p:nvSpPr>
          <p:cNvPr id="21" name="TEXT: S3 私有桶 OAC 访问"/>
          <p:cNvSpPr txBox="1"/>
          <p:nvPr/>
        </p:nvSpPr>
        <p:spPr>
          <a:xfrm>
            <a:off x="1481328" y="4736592"/>
            <a:ext cx="1335024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S3 私有桶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OAC 访问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3337560"/>
            <a:ext cx="1508760" cy="9052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IMAGE: aws-alb-087F72.png" descr="aws-alb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465576"/>
            <a:ext cx="338328" cy="338328"/>
          </a:xfrm>
          <a:prstGeom prst="rect">
            <a:avLst/>
          </a:prstGeom>
        </p:spPr>
      </p:pic>
      <p:sp>
        <p:nvSpPr>
          <p:cNvPr id="24" name="TEXT: ALB"/>
          <p:cNvSpPr txBox="1"/>
          <p:nvPr/>
        </p:nvSpPr>
        <p:spPr>
          <a:xfrm>
            <a:off x="3831335" y="3502152"/>
            <a:ext cx="923543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ALB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39512" y="3337560"/>
            <a:ext cx="2148840" cy="9052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MAGE: aws-fargate-087F72.png" descr="aws-fargate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0952" y="3465576"/>
            <a:ext cx="338328" cy="338328"/>
          </a:xfrm>
          <a:prstGeom prst="rect">
            <a:avLst/>
          </a:prstGeom>
        </p:spPr>
      </p:pic>
      <p:sp>
        <p:nvSpPr>
          <p:cNvPr id="27" name="TEXT: ECS Fargate 业务后端"/>
          <p:cNvSpPr txBox="1"/>
          <p:nvPr/>
        </p:nvSpPr>
        <p:spPr>
          <a:xfrm>
            <a:off x="5733288" y="3502152"/>
            <a:ext cx="1563624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ECS Fargate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业务后端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39512" y="4572000"/>
            <a:ext cx="2148840" cy="9052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IMAGE: aws-ec2-087F72.png" descr="aws-ec2-087F7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0952" y="4700016"/>
            <a:ext cx="338328" cy="338328"/>
          </a:xfrm>
          <a:prstGeom prst="rect">
            <a:avLst/>
          </a:prstGeom>
        </p:spPr>
      </p:pic>
      <p:sp>
        <p:nvSpPr>
          <p:cNvPr id="30" name="TEXT: EC2 g6.xlarge Decider v19"/>
          <p:cNvSpPr txBox="1"/>
          <p:nvPr/>
        </p:nvSpPr>
        <p:spPr>
          <a:xfrm>
            <a:off x="5733288" y="4736592"/>
            <a:ext cx="1563624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EC2 g6.xlarge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Decider v19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2715768"/>
            <a:ext cx="2871216" cy="9052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IMAGE: aws-dynamodb-087F72.png" descr="aws-dynamodb-087F7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1040" y="2843784"/>
            <a:ext cx="338328" cy="338328"/>
          </a:xfrm>
          <a:prstGeom prst="rect">
            <a:avLst/>
          </a:prstGeom>
        </p:spPr>
      </p:pic>
      <p:sp>
        <p:nvSpPr>
          <p:cNvPr id="33" name="TEXT: DynamoDB · 状态 / 记录"/>
          <p:cNvSpPr txBox="1"/>
          <p:nvPr/>
        </p:nvSpPr>
        <p:spPr>
          <a:xfrm>
            <a:off x="8723376" y="2880360"/>
            <a:ext cx="228600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DynamoDB · 状态 / 记录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3758184"/>
            <a:ext cx="2871216" cy="9052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IMAGE: aws-bedrock-087F72.png" descr="aws-bedrock-087F7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1040" y="3886200"/>
            <a:ext cx="338328" cy="338328"/>
          </a:xfrm>
          <a:prstGeom prst="rect">
            <a:avLst/>
          </a:prstGeom>
        </p:spPr>
      </p:pic>
      <p:sp>
        <p:nvSpPr>
          <p:cNvPr id="36" name="TEXT: Amazon Bedrock · GPT"/>
          <p:cNvSpPr txBox="1"/>
          <p:nvPr/>
        </p:nvSpPr>
        <p:spPr>
          <a:xfrm>
            <a:off x="8723376" y="3922776"/>
            <a:ext cx="228600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Amazon Bedrock · GPT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4800600"/>
            <a:ext cx="2871216" cy="9052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IMAGE: aws-lambda-087F72.png" descr="aws-lambda-087F7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1040" y="4928616"/>
            <a:ext cx="338328" cy="338328"/>
          </a:xfrm>
          <a:prstGeom prst="rect">
            <a:avLst/>
          </a:prstGeom>
        </p:spPr>
      </p:pic>
      <p:sp>
        <p:nvSpPr>
          <p:cNvPr id="39" name="TEXT: Lambda → Jev 公网 API"/>
          <p:cNvSpPr txBox="1"/>
          <p:nvPr/>
        </p:nvSpPr>
        <p:spPr>
          <a:xfrm>
            <a:off x="8723376" y="4965192"/>
            <a:ext cx="228600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Lambda → Jev 公网 API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938528" y="4261104"/>
            <a:ext cx="0" cy="283464"/>
          </a:xfrm>
          <a:prstGeom prst="line">
            <a:avLst/>
          </a:prstGeom>
          <a:ln w="1651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926080" y="3785615"/>
            <a:ext cx="384048" cy="0"/>
          </a:xfrm>
          <a:prstGeom prst="line">
            <a:avLst/>
          </a:prstGeom>
          <a:ln w="1651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864608" y="3785615"/>
            <a:ext cx="347472" cy="0"/>
          </a:xfrm>
          <a:prstGeom prst="line">
            <a:avLst/>
          </a:prstGeom>
          <a:ln w="1651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309360" y="4261104"/>
            <a:ext cx="0" cy="283464"/>
          </a:xfrm>
          <a:prstGeom prst="line">
            <a:avLst/>
          </a:prstGeom>
          <a:ln w="1651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406640" y="3785615"/>
            <a:ext cx="475487" cy="0"/>
          </a:xfrm>
          <a:prstGeom prst="line">
            <a:avLst/>
          </a:prstGeom>
          <a:ln w="1651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882127" y="3163824"/>
            <a:ext cx="0" cy="621791"/>
          </a:xfrm>
          <a:prstGeom prst="line">
            <a:avLst/>
          </a:prstGeom>
          <a:ln w="1651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882127" y="3163824"/>
            <a:ext cx="310897" cy="0"/>
          </a:xfrm>
          <a:prstGeom prst="line">
            <a:avLst/>
          </a:prstGeom>
          <a:ln w="1651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406640" y="3785615"/>
            <a:ext cx="475487" cy="0"/>
          </a:xfrm>
          <a:prstGeom prst="line">
            <a:avLst/>
          </a:prstGeom>
          <a:ln w="1651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882127" y="3785615"/>
            <a:ext cx="0" cy="420625"/>
          </a:xfrm>
          <a:prstGeom prst="line">
            <a:avLst/>
          </a:prstGeom>
          <a:ln w="1651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882127" y="4206240"/>
            <a:ext cx="310897" cy="0"/>
          </a:xfrm>
          <a:prstGeom prst="line">
            <a:avLst/>
          </a:prstGeom>
          <a:ln w="1651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406640" y="3785615"/>
            <a:ext cx="475487" cy="0"/>
          </a:xfrm>
          <a:prstGeom prst="line">
            <a:avLst/>
          </a:prstGeom>
          <a:ln w="1651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882127" y="3785615"/>
            <a:ext cx="0" cy="1463041"/>
          </a:xfrm>
          <a:prstGeom prst="line">
            <a:avLst/>
          </a:prstGeom>
          <a:ln w="1651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882127" y="5248656"/>
            <a:ext cx="310897" cy="0"/>
          </a:xfrm>
          <a:prstGeom prst="line">
            <a:avLst/>
          </a:prstGeom>
          <a:ln w="1651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: 浏览器 → HTTPS"/>
          <p:cNvSpPr txBox="1"/>
          <p:nvPr/>
        </p:nvSpPr>
        <p:spPr>
          <a:xfrm>
            <a:off x="987552" y="2770632"/>
            <a:ext cx="19202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浏览器 → HTTPS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3  支付流程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 支付流程</a:t>
            </a:r>
          </a:p>
        </p:txBody>
      </p:sp>
      <p:sp>
        <p:nvSpPr>
          <p:cNvPr id="4" name="TEXT: 四个场景，同样经过五个业务节点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四个场景，同样经过五个业务节点</a:t>
            </a:r>
          </a:p>
        </p:txBody>
      </p:sp>
      <p:sp>
        <p:nvSpPr>
          <p:cNvPr id="5" name="TEXT: 提交业务事实、问题与候选项；三个模型使用相同输入，分别推进各自的业务状态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提交业务事实、问题与候选项；三个模型使用相同输入，分别推进各自的业务状态。</a:t>
            </a:r>
          </a:p>
        </p:txBody>
      </p:sp>
      <p:sp>
        <p:nvSpPr>
          <p:cNvPr id="6" name="TEXT: 模型建议、实际执行动作、对话输入输出和最终业务结果分别记录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模型建议、实际执行动作、对话输入输出和最终业务结果分别记录。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7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07 / 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1947672" cy="14904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headset-087F72.png" descr="icon-headset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78608"/>
            <a:ext cx="283464" cy="283464"/>
          </a:xfrm>
          <a:prstGeom prst="rect">
            <a:avLst/>
          </a:prstGeom>
        </p:spPr>
      </p:pic>
      <p:sp>
        <p:nvSpPr>
          <p:cNvPr id="12" name="TEXT: 客服受理"/>
          <p:cNvSpPr txBox="1"/>
          <p:nvPr/>
        </p:nvSpPr>
        <p:spPr>
          <a:xfrm>
            <a:off x="822960" y="3008376"/>
            <a:ext cx="1673351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客服受理</a:t>
            </a:r>
          </a:p>
        </p:txBody>
      </p:sp>
      <p:sp>
        <p:nvSpPr>
          <p:cNvPr id="13" name="TEXT: 识别用户诉求"/>
          <p:cNvSpPr txBox="1"/>
          <p:nvPr/>
        </p:nvSpPr>
        <p:spPr>
          <a:xfrm>
            <a:off x="822960" y="3429000"/>
            <a:ext cx="1673351" cy="46634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识别用户诉求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60903" y="3136391"/>
            <a:ext cx="219457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07791" y="2423160"/>
            <a:ext cx="1947672" cy="14904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MAGE: icon-search-087F72.png" descr="icon-search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4951" y="2578608"/>
            <a:ext cx="283464" cy="283464"/>
          </a:xfrm>
          <a:prstGeom prst="rect">
            <a:avLst/>
          </a:prstGeom>
        </p:spPr>
      </p:pic>
      <p:sp>
        <p:nvSpPr>
          <p:cNvPr id="17" name="TEXT: 交易核验"/>
          <p:cNvSpPr txBox="1"/>
          <p:nvPr/>
        </p:nvSpPr>
        <p:spPr>
          <a:xfrm>
            <a:off x="3044951" y="3008376"/>
            <a:ext cx="1673351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交易核验</a:t>
            </a:r>
          </a:p>
        </p:txBody>
      </p:sp>
      <p:sp>
        <p:nvSpPr>
          <p:cNvPr id="18" name="TEXT: 确认数 / 金额"/>
          <p:cNvSpPr txBox="1"/>
          <p:nvPr/>
        </p:nvSpPr>
        <p:spPr>
          <a:xfrm>
            <a:off x="3044951" y="3429000"/>
            <a:ext cx="1673351" cy="46634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确认数 / 金额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82896" y="3136391"/>
            <a:ext cx="219455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29783" y="2423160"/>
            <a:ext cx="1947672" cy="14904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MAGE: icon-shield-check-087F72.png" descr="icon-shield-check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6944" y="2578608"/>
            <a:ext cx="283464" cy="283464"/>
          </a:xfrm>
          <a:prstGeom prst="rect">
            <a:avLst/>
          </a:prstGeom>
        </p:spPr>
      </p:pic>
      <p:sp>
        <p:nvSpPr>
          <p:cNvPr id="22" name="TEXT: 风控审批"/>
          <p:cNvSpPr txBox="1"/>
          <p:nvPr/>
        </p:nvSpPr>
        <p:spPr>
          <a:xfrm>
            <a:off x="5266944" y="3008376"/>
            <a:ext cx="1673351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风控审批</a:t>
            </a:r>
          </a:p>
        </p:txBody>
      </p:sp>
      <p:sp>
        <p:nvSpPr>
          <p:cNvPr id="23" name="TEXT: 风险 / 退款地址"/>
          <p:cNvSpPr txBox="1"/>
          <p:nvPr/>
        </p:nvSpPr>
        <p:spPr>
          <a:xfrm>
            <a:off x="5266944" y="3429000"/>
            <a:ext cx="1673351" cy="46634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风险 / 退款地址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04888" y="3136391"/>
            <a:ext cx="219456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51775" y="2423160"/>
            <a:ext cx="1947672" cy="14904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MAGE: icon-wallet-087F72.png" descr="icon-wallet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8936" y="2578608"/>
            <a:ext cx="283464" cy="283464"/>
          </a:xfrm>
          <a:prstGeom prst="rect">
            <a:avLst/>
          </a:prstGeom>
        </p:spPr>
      </p:pic>
      <p:sp>
        <p:nvSpPr>
          <p:cNvPr id="27" name="TEXT: 交易处置"/>
          <p:cNvSpPr txBox="1"/>
          <p:nvPr/>
        </p:nvSpPr>
        <p:spPr>
          <a:xfrm>
            <a:off x="7488936" y="3008376"/>
            <a:ext cx="1673351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交易处置</a:t>
            </a:r>
          </a:p>
        </p:txBody>
      </p:sp>
      <p:sp>
        <p:nvSpPr>
          <p:cNvPr id="28" name="TEXT: 等待 / 补款 / 入账"/>
          <p:cNvSpPr txBox="1"/>
          <p:nvPr/>
        </p:nvSpPr>
        <p:spPr>
          <a:xfrm>
            <a:off x="7488936" y="3429000"/>
            <a:ext cx="1673351" cy="46634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等待 / 补款 / 入账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26879" y="3136391"/>
            <a:ext cx="219457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73767" y="2423160"/>
            <a:ext cx="1947672" cy="14904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IMAGE: icon-receipt-text-087F72.png" descr="icon-receipt-text-087F7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0928" y="2578608"/>
            <a:ext cx="283464" cy="283464"/>
          </a:xfrm>
          <a:prstGeom prst="rect">
            <a:avLst/>
          </a:prstGeom>
        </p:spPr>
      </p:pic>
      <p:sp>
        <p:nvSpPr>
          <p:cNvPr id="32" name="TEXT: 客服回复"/>
          <p:cNvSpPr txBox="1"/>
          <p:nvPr/>
        </p:nvSpPr>
        <p:spPr>
          <a:xfrm>
            <a:off x="9710928" y="3008376"/>
            <a:ext cx="1673351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客服回复</a:t>
            </a:r>
          </a:p>
        </p:txBody>
      </p:sp>
      <p:sp>
        <p:nvSpPr>
          <p:cNvPr id="33" name="TEXT: 跟进 / 结案"/>
          <p:cNvSpPr txBox="1"/>
          <p:nvPr/>
        </p:nvSpPr>
        <p:spPr>
          <a:xfrm>
            <a:off x="9710928" y="3429000"/>
            <a:ext cx="1673351" cy="46634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跟进 / 结案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4944" y="4434840"/>
            <a:ext cx="2587752" cy="11338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94944" y="4434840"/>
            <a:ext cx="41148" cy="1133856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USDC 未到账"/>
          <p:cNvSpPr txBox="1"/>
          <p:nvPr/>
        </p:nvSpPr>
        <p:spPr>
          <a:xfrm>
            <a:off x="859536" y="4526279"/>
            <a:ext cx="225856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USDC 未到账</a:t>
            </a:r>
          </a:p>
        </p:txBody>
      </p:sp>
      <p:sp>
        <p:nvSpPr>
          <p:cNvPr id="37" name="TEXT: 129 USDC；确认数 3/12"/>
          <p:cNvSpPr txBox="1"/>
          <p:nvPr/>
        </p:nvSpPr>
        <p:spPr>
          <a:xfrm>
            <a:off x="859536" y="4919472"/>
            <a:ext cx="2258568" cy="6217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129 USDC；确认数 3/12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47287" y="4434840"/>
            <a:ext cx="2587752" cy="11338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47287" y="4434840"/>
            <a:ext cx="41148" cy="1133856"/>
          </a:xfrm>
          <a:prstGeom prst="rect">
            <a:avLst/>
          </a:prstGeom>
          <a:solidFill>
            <a:srgbClr val="8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USDT 少付"/>
          <p:cNvSpPr txBox="1"/>
          <p:nvPr/>
        </p:nvSpPr>
        <p:spPr>
          <a:xfrm>
            <a:off x="3611879" y="4526279"/>
            <a:ext cx="225856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USDT 少付</a:t>
            </a:r>
          </a:p>
        </p:txBody>
      </p:sp>
      <p:sp>
        <p:nvSpPr>
          <p:cNvPr id="41" name="TEXT: 应付 100；实收 99.80"/>
          <p:cNvSpPr txBox="1"/>
          <p:nvPr/>
        </p:nvSpPr>
        <p:spPr>
          <a:xfrm>
            <a:off x="3611879" y="4919472"/>
            <a:ext cx="2258568" cy="6217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应付 100；实收 99.80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9631" y="4434840"/>
            <a:ext cx="2587752" cy="11338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99631" y="4434840"/>
            <a:ext cx="41148" cy="1133856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稳定币退款"/>
          <p:cNvSpPr txBox="1"/>
          <p:nvPr/>
        </p:nvSpPr>
        <p:spPr>
          <a:xfrm>
            <a:off x="6364223" y="4526279"/>
            <a:ext cx="225856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稳定币退款</a:t>
            </a:r>
          </a:p>
        </p:txBody>
      </p:sp>
      <p:sp>
        <p:nvSpPr>
          <p:cNvPr id="45" name="TEXT: 退款地址尚未验证"/>
          <p:cNvSpPr txBox="1"/>
          <p:nvPr/>
        </p:nvSpPr>
        <p:spPr>
          <a:xfrm>
            <a:off x="6364223" y="4919472"/>
            <a:ext cx="2258568" cy="6217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退款地址尚未验证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51976" y="4434840"/>
            <a:ext cx="2587752" cy="11338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951976" y="4434840"/>
            <a:ext cx="41148" cy="1133856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: 商户结算"/>
          <p:cNvSpPr txBox="1"/>
          <p:nvPr/>
        </p:nvSpPr>
        <p:spPr>
          <a:xfrm>
            <a:off x="9116567" y="4526279"/>
            <a:ext cx="225856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商户结算</a:t>
            </a:r>
          </a:p>
        </p:txBody>
      </p:sp>
      <p:sp>
        <p:nvSpPr>
          <p:cNvPr id="49" name="TEXT: 已超过 60 分钟 SLA"/>
          <p:cNvSpPr txBox="1"/>
          <p:nvPr/>
        </p:nvSpPr>
        <p:spPr>
          <a:xfrm>
            <a:off x="9116567" y="4919472"/>
            <a:ext cx="2258568" cy="6217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已超过 60 分钟 SLA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3  支付实测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 支付实测</a:t>
            </a:r>
          </a:p>
        </p:txBody>
      </p:sp>
      <p:sp>
        <p:nvSpPr>
          <p:cNvPr id="4" name="TEXT: Decider 响应最快，两个节点仍选错动作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Decider 响应最快，两个节点仍选错动作</a:t>
            </a:r>
          </a:p>
        </p:txBody>
      </p:sp>
      <p:sp>
        <p:nvSpPr>
          <p:cNvPr id="5" name="TEXT: 每格为五个节点的请求耗时之和 · 与演示参考一致次数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每格为五个节点的请求耗时之和 · 与演示参考一致次数。</a:t>
            </a:r>
          </a:p>
        </p:txBody>
      </p:sp>
      <p:sp>
        <p:nvSpPr>
          <p:cNvPr id="6" name="TEXT: 2026-10-12 预热后批次，60 次正式调用。GPT 为 GPT-6.1 Sol low；不是最终资金完成率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2026-10-12 预热后批次，60 次正式调用。GPT 为 GPT-6.1 Sol low；不是最终资金完成率。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8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08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245242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场景"/>
          <p:cNvSpPr txBox="1"/>
          <p:nvPr/>
        </p:nvSpPr>
        <p:spPr>
          <a:xfrm>
            <a:off x="731520" y="2107692"/>
            <a:ext cx="225856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场景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90672" y="2011680"/>
            <a:ext cx="2799892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Decider"/>
          <p:cNvSpPr txBox="1"/>
          <p:nvPr/>
        </p:nvSpPr>
        <p:spPr>
          <a:xfrm>
            <a:off x="3200400" y="2107692"/>
            <a:ext cx="2606040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07024" y="2011680"/>
            <a:ext cx="2799892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Jev"/>
          <p:cNvSpPr txBox="1"/>
          <p:nvPr/>
        </p:nvSpPr>
        <p:spPr>
          <a:xfrm>
            <a:off x="6016752" y="2107692"/>
            <a:ext cx="2606040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23376" y="2011680"/>
            <a:ext cx="2809036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GPT"/>
          <p:cNvSpPr txBox="1"/>
          <p:nvPr/>
        </p:nvSpPr>
        <p:spPr>
          <a:xfrm>
            <a:off x="8833104" y="2107692"/>
            <a:ext cx="2615184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2578608"/>
            <a:ext cx="245242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USDC 未到账"/>
          <p:cNvSpPr txBox="1"/>
          <p:nvPr/>
        </p:nvSpPr>
        <p:spPr>
          <a:xfrm>
            <a:off x="731520" y="2674620"/>
            <a:ext cx="225856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USDC 未到账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90672" y="2578608"/>
            <a:ext cx="2799892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0.557 s  ·  5/5"/>
          <p:cNvSpPr txBox="1"/>
          <p:nvPr/>
        </p:nvSpPr>
        <p:spPr>
          <a:xfrm>
            <a:off x="3200400" y="2674620"/>
            <a:ext cx="2606040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0.557 s  ·  5/5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07024" y="2578608"/>
            <a:ext cx="2799892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2.318 s  ·  5/5"/>
          <p:cNvSpPr txBox="1"/>
          <p:nvPr/>
        </p:nvSpPr>
        <p:spPr>
          <a:xfrm>
            <a:off x="6016752" y="2674620"/>
            <a:ext cx="2606040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2.318 s  ·  5/5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23376" y="2578608"/>
            <a:ext cx="2809036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8.537 s  ·  5/5"/>
          <p:cNvSpPr txBox="1"/>
          <p:nvPr/>
        </p:nvSpPr>
        <p:spPr>
          <a:xfrm>
            <a:off x="8833104" y="2674620"/>
            <a:ext cx="2615184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8.537 s  ·  5/5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3145536"/>
            <a:ext cx="245242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USDT 少付"/>
          <p:cNvSpPr txBox="1"/>
          <p:nvPr/>
        </p:nvSpPr>
        <p:spPr>
          <a:xfrm>
            <a:off x="731520" y="3241548"/>
            <a:ext cx="225856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USDT 少付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90672" y="3145536"/>
            <a:ext cx="2799892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0.514 s  ·  4/5"/>
          <p:cNvSpPr txBox="1"/>
          <p:nvPr/>
        </p:nvSpPr>
        <p:spPr>
          <a:xfrm>
            <a:off x="3200400" y="3241548"/>
            <a:ext cx="2606040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0.514 s  ·  4/5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07024" y="3145536"/>
            <a:ext cx="2799892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1.896 s  ·  5/5"/>
          <p:cNvSpPr txBox="1"/>
          <p:nvPr/>
        </p:nvSpPr>
        <p:spPr>
          <a:xfrm>
            <a:off x="6016752" y="3241548"/>
            <a:ext cx="2606040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1.896 s  ·  5/5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23376" y="3145536"/>
            <a:ext cx="2809036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4.171 s  ·  5/5"/>
          <p:cNvSpPr txBox="1"/>
          <p:nvPr/>
        </p:nvSpPr>
        <p:spPr>
          <a:xfrm>
            <a:off x="8833104" y="3241548"/>
            <a:ext cx="2615184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4.171 s  ·  5/5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3712464"/>
            <a:ext cx="245242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稳定币退款"/>
          <p:cNvSpPr txBox="1"/>
          <p:nvPr/>
        </p:nvSpPr>
        <p:spPr>
          <a:xfrm>
            <a:off x="731520" y="3808476"/>
            <a:ext cx="225856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稳定币退款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90672" y="3712464"/>
            <a:ext cx="2799892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0.564 s  ·  4/5"/>
          <p:cNvSpPr txBox="1"/>
          <p:nvPr/>
        </p:nvSpPr>
        <p:spPr>
          <a:xfrm>
            <a:off x="3200400" y="3808476"/>
            <a:ext cx="2606040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0.564 s  ·  4/5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07024" y="3712464"/>
            <a:ext cx="2799892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2.112 s  ·  5/5"/>
          <p:cNvSpPr txBox="1"/>
          <p:nvPr/>
        </p:nvSpPr>
        <p:spPr>
          <a:xfrm>
            <a:off x="6016752" y="3808476"/>
            <a:ext cx="2606040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2.112 s  ·  5/5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23376" y="3712464"/>
            <a:ext cx="2809036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5.453 s  ·  5/5"/>
          <p:cNvSpPr txBox="1"/>
          <p:nvPr/>
        </p:nvSpPr>
        <p:spPr>
          <a:xfrm>
            <a:off x="8833104" y="3808476"/>
            <a:ext cx="2615184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5.453 s  ·  5/5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" y="4279392"/>
            <a:ext cx="245242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商户结算"/>
          <p:cNvSpPr txBox="1"/>
          <p:nvPr/>
        </p:nvSpPr>
        <p:spPr>
          <a:xfrm>
            <a:off x="731520" y="4375404"/>
            <a:ext cx="225856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商户结算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90672" y="4279392"/>
            <a:ext cx="2799892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0.408 s  ·  5/5"/>
          <p:cNvSpPr txBox="1"/>
          <p:nvPr/>
        </p:nvSpPr>
        <p:spPr>
          <a:xfrm>
            <a:off x="3200400" y="4375404"/>
            <a:ext cx="2606040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0.408 s  ·  5/5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07024" y="4279392"/>
            <a:ext cx="2799892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2.003 s  ·  5/5"/>
          <p:cNvSpPr txBox="1"/>
          <p:nvPr/>
        </p:nvSpPr>
        <p:spPr>
          <a:xfrm>
            <a:off x="6016752" y="4375404"/>
            <a:ext cx="2606040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2.003 s  ·  5/5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723376" y="4279392"/>
            <a:ext cx="2809036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4.173 s  ·  5/5"/>
          <p:cNvSpPr txBox="1"/>
          <p:nvPr/>
        </p:nvSpPr>
        <p:spPr>
          <a:xfrm>
            <a:off x="8833104" y="4375404"/>
            <a:ext cx="2615184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4.173 s  ·  5/5</a:t>
            </a:r>
          </a:p>
        </p:txBody>
      </p:sp>
      <p:sp>
        <p:nvSpPr>
          <p:cNvPr id="50" name="TEXT: 102.2 ms"/>
          <p:cNvSpPr txBox="1"/>
          <p:nvPr/>
        </p:nvSpPr>
        <p:spPr>
          <a:xfrm>
            <a:off x="731520" y="4974336"/>
            <a:ext cx="3291840" cy="5212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102.2 ms</a:t>
            </a:r>
          </a:p>
        </p:txBody>
      </p:sp>
      <p:sp>
        <p:nvSpPr>
          <p:cNvPr id="51" name="TEXT: 单节点平均 · 18/20 与参考一致"/>
          <p:cNvSpPr txBox="1"/>
          <p:nvPr/>
        </p:nvSpPr>
        <p:spPr>
          <a:xfrm>
            <a:off x="731520" y="5568696"/>
            <a:ext cx="34747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单节点平均 · 18/20 与参考一致</a:t>
            </a:r>
          </a:p>
        </p:txBody>
      </p:sp>
      <p:sp>
        <p:nvSpPr>
          <p:cNvPr id="52" name="TEXT: 416.5 ms"/>
          <p:cNvSpPr txBox="1"/>
          <p:nvPr/>
        </p:nvSpPr>
        <p:spPr>
          <a:xfrm>
            <a:off x="4434840" y="4974336"/>
            <a:ext cx="3291840" cy="5212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416.5 ms</a:t>
            </a:r>
          </a:p>
        </p:txBody>
      </p:sp>
      <p:sp>
        <p:nvSpPr>
          <p:cNvPr id="53" name="TEXT: 单节点平均 · 20/20 与参考一致"/>
          <p:cNvSpPr txBox="1"/>
          <p:nvPr/>
        </p:nvSpPr>
        <p:spPr>
          <a:xfrm>
            <a:off x="4434840" y="5568696"/>
            <a:ext cx="34747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单节点平均 · 20/20 与参考一致</a:t>
            </a:r>
          </a:p>
        </p:txBody>
      </p:sp>
      <p:sp>
        <p:nvSpPr>
          <p:cNvPr id="54" name="TEXT: 1116.7 ms"/>
          <p:cNvSpPr txBox="1"/>
          <p:nvPr/>
        </p:nvSpPr>
        <p:spPr>
          <a:xfrm>
            <a:off x="8138160" y="4974336"/>
            <a:ext cx="3291840" cy="5212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1116.7 ms</a:t>
            </a:r>
          </a:p>
        </p:txBody>
      </p:sp>
      <p:sp>
        <p:nvSpPr>
          <p:cNvPr id="55" name="TEXT: 单节点平均 · 20/20 与参考一致"/>
          <p:cNvSpPr txBox="1"/>
          <p:nvPr/>
        </p:nvSpPr>
        <p:spPr>
          <a:xfrm>
            <a:off x="8138160" y="5568696"/>
            <a:ext cx="34747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单节点平均 · 20/20 与参考一致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3  观察选择与执行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 观察选择与执行</a:t>
            </a:r>
          </a:p>
        </p:txBody>
      </p:sp>
      <p:sp>
        <p:nvSpPr>
          <p:cNvPr id="4" name="TEXT: 退款：模型批准了，执行器仍要求验证地址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退款：模型批准了，执行器仍要求验证地址</a:t>
            </a:r>
          </a:p>
        </p:txBody>
      </p:sp>
      <p:sp>
        <p:nvSpPr>
          <p:cNvPr id="5" name="TEXT: 真实界面保留三模型的原始输出；保护逻辑修正执行，不替模型“改成绩”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真实界面保留三模型的原始输出；保护逻辑修正执行，不替模型“改成绩”。</a:t>
            </a:r>
          </a:p>
        </p:txBody>
      </p:sp>
      <p:sp>
        <p:nvSpPr>
          <p:cNvPr id="6" name="TEXT: 实际截图：refund-decision.png；少付与退款都计作 Decider 选择偏差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实际截图：refund-decision.png；少付与退款都计作 Decider 选择偏差。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9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09 / 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68766" y="1911096"/>
            <a:ext cx="8060563" cy="314553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refund-decision.png" descr="refund-deci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198" y="1938528"/>
            <a:ext cx="8005699" cy="309067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94944" y="5166360"/>
            <a:ext cx="5257800" cy="81381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4944" y="5166360"/>
            <a:ext cx="41148" cy="813816"/>
          </a:xfrm>
          <a:prstGeom prst="rect">
            <a:avLst/>
          </a:prstGeom>
          <a:solidFill>
            <a:srgbClr val="BE7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退款偏差"/>
          <p:cNvSpPr txBox="1"/>
          <p:nvPr/>
        </p:nvSpPr>
        <p:spPr>
          <a:xfrm>
            <a:off x="859536" y="5257800"/>
            <a:ext cx="4928616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退款偏差</a:t>
            </a:r>
          </a:p>
        </p:txBody>
      </p:sp>
      <p:sp>
        <p:nvSpPr>
          <p:cNvPr id="15" name="TEXT: 地址未核验，却选择 approved。"/>
          <p:cNvSpPr txBox="1"/>
          <p:nvPr/>
        </p:nvSpPr>
        <p:spPr>
          <a:xfrm>
            <a:off x="859536" y="5650992"/>
            <a:ext cx="492861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地址未核验，却选择 approved。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5166360"/>
            <a:ext cx="5303520" cy="81381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5166360"/>
            <a:ext cx="41148" cy="813816"/>
          </a:xfrm>
          <a:prstGeom prst="rect">
            <a:avLst/>
          </a:prstGeom>
          <a:solidFill>
            <a:srgbClr val="BE7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少付偏差"/>
          <p:cNvSpPr txBox="1"/>
          <p:nvPr/>
        </p:nvSpPr>
        <p:spPr>
          <a:xfrm>
            <a:off x="6336792" y="5257800"/>
            <a:ext cx="4974336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少付偏差</a:t>
            </a:r>
          </a:p>
        </p:txBody>
      </p:sp>
      <p:sp>
        <p:nvSpPr>
          <p:cNvPr id="19" name="TEXT: 确认数已够，却等待更多确认。"/>
          <p:cNvSpPr txBox="1"/>
          <p:nvPr/>
        </p:nvSpPr>
        <p:spPr>
          <a:xfrm>
            <a:off x="6336792" y="5650992"/>
            <a:ext cx="49743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确认数已够，却等待更多确认。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3  业务闭环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 业务闭环</a:t>
            </a:r>
          </a:p>
        </p:txBody>
      </p:sp>
      <p:sp>
        <p:nvSpPr>
          <p:cNvPr id="4" name="TEXT: 闭环由新事实推动：确认到账，再入账和结案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闭环由新事实推动：确认到账，再入账和结案</a:t>
            </a:r>
          </a:p>
        </p:txBody>
      </p:sp>
      <p:sp>
        <p:nvSpPr>
          <p:cNvPr id="5" name="TEXT: USDC 沙盒：模拟器推进确认数，执行器更新订单；模型读取执行结果后重新选择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USDC 沙盒：模拟器推进确认数，执行器更新订单；模型读取执行结果后重新选择。</a:t>
            </a:r>
          </a:p>
        </p:txBody>
      </p:sp>
      <p:sp>
        <p:nvSpPr>
          <p:cNvPr id="6" name="TEXT: 保存的闭环批次：各模型 6 次决策 + 1 次模拟推进；不是链上真实资金交易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保存的闭环批次：各模型 6 次决策 + 1 次模拟推进；不是链上真实资金交易。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0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10 / 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2503170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timer-087F72.png" descr="icon-timer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78608"/>
            <a:ext cx="283464" cy="283464"/>
          </a:xfrm>
          <a:prstGeom prst="rect">
            <a:avLst/>
          </a:prstGeom>
        </p:spPr>
      </p:pic>
      <p:sp>
        <p:nvSpPr>
          <p:cNvPr id="12" name="TEXT: 等待确认"/>
          <p:cNvSpPr txBox="1"/>
          <p:nvPr/>
        </p:nvSpPr>
        <p:spPr>
          <a:xfrm>
            <a:off x="82296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等待确认</a:t>
            </a:r>
          </a:p>
        </p:txBody>
      </p:sp>
      <p:sp>
        <p:nvSpPr>
          <p:cNvPr id="13" name="TEXT: 当前 3 / 12"/>
          <p:cNvSpPr txBox="1"/>
          <p:nvPr/>
        </p:nvSpPr>
        <p:spPr>
          <a:xfrm>
            <a:off x="822960" y="3429000"/>
            <a:ext cx="222885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当前 3 / 12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16401" y="3136391"/>
            <a:ext cx="219457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63289" y="2423160"/>
            <a:ext cx="2503170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MAGE: icon-repeat-2-087F72.png" descr="icon-repeat-2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449" y="2578608"/>
            <a:ext cx="283464" cy="283464"/>
          </a:xfrm>
          <a:prstGeom prst="rect">
            <a:avLst/>
          </a:prstGeom>
        </p:spPr>
      </p:pic>
      <p:sp>
        <p:nvSpPr>
          <p:cNvPr id="17" name="TEXT: 推进模拟交易"/>
          <p:cNvSpPr txBox="1"/>
          <p:nvPr/>
        </p:nvSpPr>
        <p:spPr>
          <a:xfrm>
            <a:off x="3600449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推进模拟交易</a:t>
            </a:r>
          </a:p>
        </p:txBody>
      </p:sp>
      <p:sp>
        <p:nvSpPr>
          <p:cNvPr id="18" name="TEXT: 确认数变为 12 / 12"/>
          <p:cNvSpPr txBox="1"/>
          <p:nvPr/>
        </p:nvSpPr>
        <p:spPr>
          <a:xfrm>
            <a:off x="3600449" y="3429000"/>
            <a:ext cx="222885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确认数变为 12 / 12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3892" y="3136391"/>
            <a:ext cx="219455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40779" y="2423160"/>
            <a:ext cx="2503170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MAGE: icon-clipboard-check-087F72.png" descr="icon-clipboard-check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2578608"/>
            <a:ext cx="283464" cy="283464"/>
          </a:xfrm>
          <a:prstGeom prst="rect">
            <a:avLst/>
          </a:prstGeom>
        </p:spPr>
      </p:pic>
      <p:sp>
        <p:nvSpPr>
          <p:cNvPr id="22" name="TEXT: 重新核验"/>
          <p:cNvSpPr txBox="1"/>
          <p:nvPr/>
        </p:nvSpPr>
        <p:spPr>
          <a:xfrm>
            <a:off x="637794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重新核验</a:t>
            </a:r>
          </a:p>
        </p:txBody>
      </p:sp>
      <p:sp>
        <p:nvSpPr>
          <p:cNvPr id="23" name="TEXT: 金额足额且已确认"/>
          <p:cNvSpPr txBox="1"/>
          <p:nvPr/>
        </p:nvSpPr>
        <p:spPr>
          <a:xfrm>
            <a:off x="6377940" y="3429000"/>
            <a:ext cx="222885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金额足额且已确认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71382" y="3136391"/>
            <a:ext cx="219456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18269" y="2423160"/>
            <a:ext cx="2503170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MAGE: icon-circle-check-087F72.png" descr="icon-circle-check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5430" y="2578608"/>
            <a:ext cx="283464" cy="283464"/>
          </a:xfrm>
          <a:prstGeom prst="rect">
            <a:avLst/>
          </a:prstGeom>
        </p:spPr>
      </p:pic>
      <p:sp>
        <p:nvSpPr>
          <p:cNvPr id="27" name="TEXT: 入账并结案"/>
          <p:cNvSpPr txBox="1"/>
          <p:nvPr/>
        </p:nvSpPr>
        <p:spPr>
          <a:xfrm>
            <a:off x="915543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入账并结案</a:t>
            </a:r>
          </a:p>
        </p:txBody>
      </p:sp>
      <p:sp>
        <p:nvSpPr>
          <p:cNvPr id="28" name="TEXT: 129 USDC 已入账"/>
          <p:cNvSpPr txBox="1"/>
          <p:nvPr/>
        </p:nvSpPr>
        <p:spPr>
          <a:xfrm>
            <a:off x="9155430" y="3429000"/>
            <a:ext cx="222885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129 USDC 已入账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" y="4267903"/>
            <a:ext cx="10799064" cy="1156833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IMAGE: pending-loop-status.png" descr="pending-loop-statu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295335"/>
            <a:ext cx="10744200" cy="1101969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621792" y="5513832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五步都返回答案 ≠ 业务已完成。以入账记录、订单状态与工单状态验收。"/>
          <p:cNvSpPr txBox="1"/>
          <p:nvPr/>
        </p:nvSpPr>
        <p:spPr>
          <a:xfrm>
            <a:off x="768096" y="5586984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五步都返回答案 ≠ 业务已完成。以入账记录、订单状态与工单状态验收。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4  主演示：模型路由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04  主演示：模型路由</a:t>
            </a:r>
          </a:p>
        </p:txBody>
      </p:sp>
      <p:sp>
        <p:nvSpPr>
          <p:cNvPr id="4" name="TEXT: 用户只给任务，决策模型先选流程、再选型号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用户只给任务，决策模型先选流程、再选型号</a:t>
            </a:r>
          </a:p>
        </p:txBody>
      </p:sp>
      <p:sp>
        <p:nvSpPr>
          <p:cNvPr id="5" name="TEXT: 服务端补充可用模型与能力资料；三个决策模型比较同一份候选证据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服务端补充可用模型与能力资料；三个决策模型比较同一份候选证据。</a:t>
            </a:r>
          </a:p>
        </p:txBody>
      </p:sp>
      <p:sp>
        <p:nvSpPr>
          <p:cNvPr id="6" name="TEXT: 区域目录快照 124 项；文本流程 22 个候选，向量流程 3 个候选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区域目录快照 124 项；文本流程 22 个候选，向量流程 3 个候选。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1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11 / 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2503170" cy="16184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receipt-text-087F72.png" descr="icon-receipt-text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78608"/>
            <a:ext cx="283464" cy="283464"/>
          </a:xfrm>
          <a:prstGeom prst="rect">
            <a:avLst/>
          </a:prstGeom>
        </p:spPr>
      </p:pic>
      <p:sp>
        <p:nvSpPr>
          <p:cNvPr id="12" name="TEXT: 任务原文"/>
          <p:cNvSpPr txBox="1"/>
          <p:nvPr/>
        </p:nvSpPr>
        <p:spPr>
          <a:xfrm>
            <a:off x="82296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任务原文</a:t>
            </a:r>
          </a:p>
        </p:txBody>
      </p:sp>
      <p:sp>
        <p:nvSpPr>
          <p:cNvPr id="13" name="TEXT: 客服 / 代码 / 分析 / 索引"/>
          <p:cNvSpPr txBox="1"/>
          <p:nvPr/>
        </p:nvSpPr>
        <p:spPr>
          <a:xfrm>
            <a:off x="822960" y="3429000"/>
            <a:ext cx="2228850" cy="59435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客服 / 代码 / 分析 / 索引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16401" y="3136391"/>
            <a:ext cx="219457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63289" y="2423160"/>
            <a:ext cx="2503170" cy="16184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MAGE: icon-route-087F72.png" descr="icon-route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449" y="2578608"/>
            <a:ext cx="283464" cy="283464"/>
          </a:xfrm>
          <a:prstGeom prst="rect">
            <a:avLst/>
          </a:prstGeom>
        </p:spPr>
      </p:pic>
      <p:sp>
        <p:nvSpPr>
          <p:cNvPr id="17" name="TEXT: 第 1 次判断"/>
          <p:cNvSpPr txBox="1"/>
          <p:nvPr/>
        </p:nvSpPr>
        <p:spPr>
          <a:xfrm>
            <a:off x="3600449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第 1 次判断</a:t>
            </a:r>
          </a:p>
        </p:txBody>
      </p:sp>
      <p:sp>
        <p:nvSpPr>
          <p:cNvPr id="18" name="TEXT: 直接答复、代码、分析、向量"/>
          <p:cNvSpPr txBox="1"/>
          <p:nvPr/>
        </p:nvSpPr>
        <p:spPr>
          <a:xfrm>
            <a:off x="3600449" y="3429000"/>
            <a:ext cx="2228850" cy="59435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直接答复、代码、分析、向量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3892" y="3136391"/>
            <a:ext cx="219455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40779" y="2423160"/>
            <a:ext cx="2503170" cy="16184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MAGE: icon-layers-087F72.png" descr="icon-layers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2578608"/>
            <a:ext cx="283464" cy="283464"/>
          </a:xfrm>
          <a:prstGeom prst="rect">
            <a:avLst/>
          </a:prstGeom>
        </p:spPr>
      </p:pic>
      <p:sp>
        <p:nvSpPr>
          <p:cNvPr id="22" name="TEXT: 补充模型资料"/>
          <p:cNvSpPr txBox="1"/>
          <p:nvPr/>
        </p:nvSpPr>
        <p:spPr>
          <a:xfrm>
            <a:off x="637794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补充模型资料</a:t>
            </a:r>
          </a:p>
        </p:txBody>
      </p:sp>
      <p:sp>
        <p:nvSpPr>
          <p:cNvPr id="23" name="TEXT: 区域可用性 + 第三方排名"/>
          <p:cNvSpPr txBox="1"/>
          <p:nvPr/>
        </p:nvSpPr>
        <p:spPr>
          <a:xfrm>
            <a:off x="6377940" y="3429000"/>
            <a:ext cx="2228850" cy="59435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区域可用性 + 第三方排名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71382" y="3136391"/>
            <a:ext cx="219456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18269" y="2423160"/>
            <a:ext cx="2503170" cy="16184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MAGE: icon-list-filter-087F72.png" descr="icon-list-filter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5430" y="2578608"/>
            <a:ext cx="283464" cy="283464"/>
          </a:xfrm>
          <a:prstGeom prst="rect">
            <a:avLst/>
          </a:prstGeom>
        </p:spPr>
      </p:pic>
      <p:sp>
        <p:nvSpPr>
          <p:cNvPr id="27" name="TEXT: 第 2 次判断"/>
          <p:cNvSpPr txBox="1"/>
          <p:nvPr/>
        </p:nvSpPr>
        <p:spPr>
          <a:xfrm>
            <a:off x="915543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第 2 次判断</a:t>
            </a:r>
          </a:p>
        </p:txBody>
      </p:sp>
      <p:sp>
        <p:nvSpPr>
          <p:cNvPr id="28" name="TEXT: 从流程候选中选型号"/>
          <p:cNvSpPr txBox="1"/>
          <p:nvPr/>
        </p:nvSpPr>
        <p:spPr>
          <a:xfrm>
            <a:off x="9155430" y="3429000"/>
            <a:ext cx="2228850" cy="59435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从流程候选中选型号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590288"/>
            <a:ext cx="5266944" cy="96926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4590288"/>
            <a:ext cx="41148" cy="969264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候选事实"/>
          <p:cNvSpPr txBox="1"/>
          <p:nvPr/>
        </p:nvSpPr>
        <p:spPr>
          <a:xfrm>
            <a:off x="850392" y="4681727"/>
            <a:ext cx="4937759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候选事实</a:t>
            </a:r>
          </a:p>
        </p:txBody>
      </p:sp>
      <p:sp>
        <p:nvSpPr>
          <p:cNvPr id="32" name="TEXT: LiveBench 等文本证据；MTEB / MIRACL 向量证据。"/>
          <p:cNvSpPr txBox="1"/>
          <p:nvPr/>
        </p:nvSpPr>
        <p:spPr>
          <a:xfrm>
            <a:off x="850392" y="5074920"/>
            <a:ext cx="4937759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LiveBench 等文本证据；MTEB / MIRACL 向量证据。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590288"/>
            <a:ext cx="5276088" cy="96926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4590288"/>
            <a:ext cx="41148" cy="969264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本次测到的范围"/>
          <p:cNvSpPr txBox="1"/>
          <p:nvPr/>
        </p:nvSpPr>
        <p:spPr>
          <a:xfrm>
            <a:off x="6336792" y="4681727"/>
            <a:ext cx="4946903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本次测到的范围</a:t>
            </a:r>
          </a:p>
        </p:txBody>
      </p:sp>
      <p:sp>
        <p:nvSpPr>
          <p:cNvPr id="36" name="TEXT: 两次路由选择与耗时；尚未执行选中的下游模型。"/>
          <p:cNvSpPr txBox="1"/>
          <p:nvPr/>
        </p:nvSpPr>
        <p:spPr>
          <a:xfrm>
            <a:off x="6336792" y="5074920"/>
            <a:ext cx="4946903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两次路由选择与耗时；尚未执行选中的下游模型。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4  主演示：路由结果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04  主演示：路由结果</a:t>
            </a:r>
          </a:p>
        </p:txBody>
      </p:sp>
      <p:sp>
        <p:nvSpPr>
          <p:cNvPr id="4" name="TEXT: 流程判断一致，具体型号选择出现差异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流程判断一致，具体型号选择出现差异</a:t>
            </a:r>
          </a:p>
        </p:txBody>
      </p:sp>
      <p:sp>
        <p:nvSpPr>
          <p:cNvPr id="5" name="TEXT: 每格为所选型号与两次决策总耗时；GPT 决策器为 GPT-6 Sol low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每格为所选型号与两次决策总耗时；GPT 决策器为 GPT-6 Sol low。</a:t>
            </a:r>
          </a:p>
        </p:txBody>
      </p:sp>
      <p:sp>
        <p:nvSpPr>
          <p:cNvPr id="6" name="TEXT: 2026-10-13 · 四任务各测一次；型号选择差异不能直接当作下游任务准确率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2026-10-13 · 四任务各测一次；型号选择差异不能直接当作下游任务准确率。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2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12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1675180" cy="67208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任务"/>
          <p:cNvSpPr txBox="1"/>
          <p:nvPr/>
        </p:nvSpPr>
        <p:spPr>
          <a:xfrm>
            <a:off x="731520" y="2107692"/>
            <a:ext cx="1481328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任务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3432" y="2011680"/>
            <a:ext cx="3055924" cy="67208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Decider"/>
          <p:cNvSpPr txBox="1"/>
          <p:nvPr/>
        </p:nvSpPr>
        <p:spPr>
          <a:xfrm>
            <a:off x="2423160" y="2107692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85816" y="2011680"/>
            <a:ext cx="3055924" cy="67208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Jev"/>
          <p:cNvSpPr txBox="1"/>
          <p:nvPr/>
        </p:nvSpPr>
        <p:spPr>
          <a:xfrm>
            <a:off x="5495544" y="2107692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58200" y="2011680"/>
            <a:ext cx="3074212" cy="67208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GPT"/>
          <p:cNvSpPr txBox="1"/>
          <p:nvPr/>
        </p:nvSpPr>
        <p:spPr>
          <a:xfrm>
            <a:off x="8567928" y="2107692"/>
            <a:ext cx="2880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2706624"/>
            <a:ext cx="1675180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高频客服"/>
          <p:cNvSpPr txBox="1"/>
          <p:nvPr/>
        </p:nvSpPr>
        <p:spPr>
          <a:xfrm>
            <a:off x="731520" y="2802636"/>
            <a:ext cx="1481328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高频客服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3432" y="2706624"/>
            <a:ext cx="3055924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Opus 5 461.0 ms"/>
          <p:cNvSpPr txBox="1"/>
          <p:nvPr/>
        </p:nvSpPr>
        <p:spPr>
          <a:xfrm>
            <a:off x="2423160" y="2802636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Opus 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461.0 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85816" y="2706624"/>
            <a:ext cx="3055924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Opus 5.5 747.9 ms"/>
          <p:cNvSpPr txBox="1"/>
          <p:nvPr/>
        </p:nvSpPr>
        <p:spPr>
          <a:xfrm>
            <a:off x="5495544" y="2802636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Opus 5.5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747.9 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58200" y="2706624"/>
            <a:ext cx="3074212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GPT-6 Luna 1464.8 ms"/>
          <p:cNvSpPr txBox="1"/>
          <p:nvPr/>
        </p:nvSpPr>
        <p:spPr>
          <a:xfrm>
            <a:off x="8567928" y="2802636"/>
            <a:ext cx="2880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GPT-6 Luna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1464.8 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3401568"/>
            <a:ext cx="1675180" cy="67208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交易代码"/>
          <p:cNvSpPr txBox="1"/>
          <p:nvPr/>
        </p:nvSpPr>
        <p:spPr>
          <a:xfrm>
            <a:off x="731520" y="3497580"/>
            <a:ext cx="1481328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交易代码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3432" y="3401568"/>
            <a:ext cx="3055924" cy="67208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Opus 5 522.6 ms"/>
          <p:cNvSpPr txBox="1"/>
          <p:nvPr/>
        </p:nvSpPr>
        <p:spPr>
          <a:xfrm>
            <a:off x="2423160" y="3497580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Opus 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522.6 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85816" y="3401568"/>
            <a:ext cx="3055924" cy="67208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Sonnet 5.5 933.3 ms"/>
          <p:cNvSpPr txBox="1"/>
          <p:nvPr/>
        </p:nvSpPr>
        <p:spPr>
          <a:xfrm>
            <a:off x="5495544" y="3497580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Sonnet 5.5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933.3 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58200" y="3401568"/>
            <a:ext cx="3074212" cy="67208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Sonnet 5.5 6168.2 ms"/>
          <p:cNvSpPr txBox="1"/>
          <p:nvPr/>
        </p:nvSpPr>
        <p:spPr>
          <a:xfrm>
            <a:off x="8567928" y="3497580"/>
            <a:ext cx="2880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Sonnet 5.5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6168.2 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4096512"/>
            <a:ext cx="1675180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结算分析"/>
          <p:cNvSpPr txBox="1"/>
          <p:nvPr/>
        </p:nvSpPr>
        <p:spPr>
          <a:xfrm>
            <a:off x="731520" y="4192524"/>
            <a:ext cx="1481328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结算分析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13432" y="4096512"/>
            <a:ext cx="3055924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Opus 5 504.6 ms"/>
          <p:cNvSpPr txBox="1"/>
          <p:nvPr/>
        </p:nvSpPr>
        <p:spPr>
          <a:xfrm>
            <a:off x="2423160" y="4192524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Opus 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504.6 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85816" y="4096512"/>
            <a:ext cx="3055924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Opus 5.5 820.4 ms"/>
          <p:cNvSpPr txBox="1"/>
          <p:nvPr/>
        </p:nvSpPr>
        <p:spPr>
          <a:xfrm>
            <a:off x="5495544" y="4192524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Opus 5.5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820.4 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58200" y="4096512"/>
            <a:ext cx="3074212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GPT-6.1 Sol 12106.1 ms"/>
          <p:cNvSpPr txBox="1"/>
          <p:nvPr/>
        </p:nvSpPr>
        <p:spPr>
          <a:xfrm>
            <a:off x="8567928" y="4192524"/>
            <a:ext cx="2880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GPT-6.1 Sol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12106.1 ms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" y="4791456"/>
            <a:ext cx="1675180" cy="67208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中英文索引"/>
          <p:cNvSpPr txBox="1"/>
          <p:nvPr/>
        </p:nvSpPr>
        <p:spPr>
          <a:xfrm>
            <a:off x="731520" y="4887468"/>
            <a:ext cx="1481328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中英文索引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13432" y="4791456"/>
            <a:ext cx="3055924" cy="67208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Embed English 182.2 ms"/>
          <p:cNvSpPr txBox="1"/>
          <p:nvPr/>
        </p:nvSpPr>
        <p:spPr>
          <a:xfrm>
            <a:off x="2423160" y="4887468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Embed English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182.2 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85816" y="4791456"/>
            <a:ext cx="3055924" cy="67208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Embed Multilingual 801.7 ms"/>
          <p:cNvSpPr txBox="1"/>
          <p:nvPr/>
        </p:nvSpPr>
        <p:spPr>
          <a:xfrm>
            <a:off x="5495544" y="4887468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Embed Multilingual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801.7 ms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58200" y="4791456"/>
            <a:ext cx="3074212" cy="67208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Embed Multilingual 1900.8 ms"/>
          <p:cNvSpPr txBox="1"/>
          <p:nvPr/>
        </p:nvSpPr>
        <p:spPr>
          <a:xfrm>
            <a:off x="8567928" y="4887468"/>
            <a:ext cx="2880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Embed Multilingual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1900.8 ms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" y="5596128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代码任务：Jev / GPT 选 Sonnet 5.5；中英文索引：Decider 选了英文向量模型。"/>
          <p:cNvSpPr txBox="1"/>
          <p:nvPr/>
        </p:nvSpPr>
        <p:spPr>
          <a:xfrm>
            <a:off x="768096" y="5669280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代码任务：Jev / GPT 选 Sonnet 5.5；中英文索引：Decider 选了英文向量模型。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4  主演示：证据使用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04  主演示：证据使用</a:t>
            </a:r>
          </a:p>
        </p:txBody>
      </p:sp>
      <p:sp>
        <p:nvSpPr>
          <p:cNvPr id="4" name="TEXT: 拿到了同一上下文，仍可能没有选对证据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拿到了同一上下文，仍可能没有选对证据</a:t>
            </a:r>
          </a:p>
        </p:txBody>
      </p:sp>
      <p:sp>
        <p:nvSpPr>
          <p:cNvPr id="5" name="TEXT: 中英文工单索引的真实截图：三侧都选向量流程，Decider 选择 Embed English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中英文工单索引的真实截图：三侧都选向量流程，Decider 选择 Embed English。</a:t>
            </a:r>
          </a:p>
        </p:txBody>
      </p:sp>
      <p:sp>
        <p:nvSpPr>
          <p:cNvPr id="6" name="TEXT: 输入提供均值、型号名与配置信息；下方中文分项用于事后诊断，当时未逐项提供给模型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输入提供均值、型号名与配置信息；下方中文分项用于事后诊断，当时未逐项提供给模型。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3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13 / 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3212" y="2029968"/>
            <a:ext cx="10159102" cy="303580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routing-retrieval-results.png" descr="routing-retrieval-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644" y="2057400"/>
            <a:ext cx="10104238" cy="298094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94944" y="5129784"/>
            <a:ext cx="5248656" cy="822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4944" y="5129784"/>
            <a:ext cx="41148" cy="82296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中文检索证据"/>
          <p:cNvSpPr txBox="1"/>
          <p:nvPr/>
        </p:nvSpPr>
        <p:spPr>
          <a:xfrm>
            <a:off x="859536" y="5221224"/>
            <a:ext cx="4919472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中文检索证据</a:t>
            </a:r>
          </a:p>
        </p:txBody>
      </p:sp>
      <p:sp>
        <p:nvSpPr>
          <p:cNvPr id="15" name="TEXT: MIRACL 中文：English 4.18；Multilingual 60.65。"/>
          <p:cNvSpPr txBox="1"/>
          <p:nvPr/>
        </p:nvSpPr>
        <p:spPr>
          <a:xfrm>
            <a:off x="859536" y="5614416"/>
            <a:ext cx="4919472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8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MIRACL 中文：English 4.18；Multilingual 60.65。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5129784"/>
            <a:ext cx="5330952" cy="822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3056" y="5129784"/>
            <a:ext cx="41148" cy="822960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代码能力证据"/>
          <p:cNvSpPr txBox="1"/>
          <p:nvPr/>
        </p:nvSpPr>
        <p:spPr>
          <a:xfrm>
            <a:off x="6327648" y="5221224"/>
            <a:ext cx="500176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代码能力证据</a:t>
            </a:r>
          </a:p>
        </p:txBody>
      </p:sp>
      <p:sp>
        <p:nvSpPr>
          <p:cNvPr id="19" name="TEXT: Coding：Sonnet 5.5 为 91.37；Opus 5 为 81.45。"/>
          <p:cNvSpPr txBox="1"/>
          <p:nvPr/>
        </p:nvSpPr>
        <p:spPr>
          <a:xfrm>
            <a:off x="6327648" y="5614416"/>
            <a:ext cx="500176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8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Coding：Sonnet 5.5 为 91.37；Opus 5 为 81.45。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5  新增：场景验证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05  新增：场景验证</a:t>
            </a:r>
          </a:p>
        </p:txBody>
      </p:sp>
      <p:sp>
        <p:nvSpPr>
          <p:cNvPr id="4" name="TEXT: 从演示样例，扩展到 466 次有记录的调用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从演示样例，扩展到 466 次有记录的调用</a:t>
            </a:r>
          </a:p>
        </p:txBody>
      </p:sp>
      <p:sp>
        <p:nvSpPr>
          <p:cNvPr id="5" name="TEXT: Decider v19 原版服务 vs Jev 1.13.0；这轮验证没有 GPT，也没有使用 vLLM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v19 原版服务 vs Jev 1.13.0；这轮验证没有 GPT，也没有使用 vLLM。</a:t>
            </a:r>
          </a:p>
        </p:txBody>
      </p:sp>
      <p:sp>
        <p:nvSpPr>
          <p:cNvPr id="6" name="TEXT: 问题数、任务数与请求数不同，不计算跨场景总准确率；来源：validation/README.md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问题数、任务数与请求数不同，不计算跨场景总准确率；来源：validation/README.md。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4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14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1949500" cy="5532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实验"/>
          <p:cNvSpPr txBox="1"/>
          <p:nvPr/>
        </p:nvSpPr>
        <p:spPr>
          <a:xfrm>
            <a:off x="731520" y="2107692"/>
            <a:ext cx="175564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实验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7752" y="2011680"/>
            <a:ext cx="3046780" cy="5532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评分单位"/>
          <p:cNvSpPr txBox="1"/>
          <p:nvPr/>
        </p:nvSpPr>
        <p:spPr>
          <a:xfrm>
            <a:off x="2697480" y="2107692"/>
            <a:ext cx="285292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评分单位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50992" y="2011680"/>
            <a:ext cx="1995220" cy="5532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Decider"/>
          <p:cNvSpPr txBox="1"/>
          <p:nvPr/>
        </p:nvSpPr>
        <p:spPr>
          <a:xfrm>
            <a:off x="5760720" y="2107692"/>
            <a:ext cx="18013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62671" y="2011680"/>
            <a:ext cx="1995220" cy="5532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Jev"/>
          <p:cNvSpPr txBox="1"/>
          <p:nvPr/>
        </p:nvSpPr>
        <p:spPr>
          <a:xfrm>
            <a:off x="7772399" y="2107692"/>
            <a:ext cx="18013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74351" y="2011680"/>
            <a:ext cx="943660" cy="5532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真实调用"/>
          <p:cNvSpPr txBox="1"/>
          <p:nvPr/>
        </p:nvSpPr>
        <p:spPr>
          <a:xfrm>
            <a:off x="9784079" y="2107692"/>
            <a:ext cx="74980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真实调用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2587752"/>
            <a:ext cx="194950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Skills"/>
          <p:cNvSpPr txBox="1"/>
          <p:nvPr/>
        </p:nvSpPr>
        <p:spPr>
          <a:xfrm>
            <a:off x="731520" y="2683764"/>
            <a:ext cx="175564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Skills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87752" y="2587752"/>
            <a:ext cx="304678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65 个可判定问题"/>
          <p:cNvSpPr txBox="1"/>
          <p:nvPr/>
        </p:nvSpPr>
        <p:spPr>
          <a:xfrm>
            <a:off x="2697480" y="2683764"/>
            <a:ext cx="285292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65 个可判定问题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50992" y="2587752"/>
            <a:ext cx="199522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50/65"/>
          <p:cNvSpPr txBox="1"/>
          <p:nvPr/>
        </p:nvSpPr>
        <p:spPr>
          <a:xfrm>
            <a:off x="5760720" y="2683764"/>
            <a:ext cx="18013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50/65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62671" y="2587752"/>
            <a:ext cx="199522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65/65"/>
          <p:cNvSpPr txBox="1"/>
          <p:nvPr/>
        </p:nvSpPr>
        <p:spPr>
          <a:xfrm>
            <a:off x="7772399" y="2683764"/>
            <a:ext cx="18013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65/65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74351" y="2587752"/>
            <a:ext cx="94366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64"/>
          <p:cNvSpPr txBox="1"/>
          <p:nvPr/>
        </p:nvSpPr>
        <p:spPr>
          <a:xfrm>
            <a:off x="9784079" y="2683764"/>
            <a:ext cx="74980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" y="3163824"/>
            <a:ext cx="194950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真实浏览器"/>
          <p:cNvSpPr txBox="1"/>
          <p:nvPr/>
        </p:nvSpPr>
        <p:spPr>
          <a:xfrm>
            <a:off x="731520" y="3259836"/>
            <a:ext cx="175564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真实浏览器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87752" y="3163824"/>
            <a:ext cx="304678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5 任务 × 2 轮"/>
          <p:cNvSpPr txBox="1"/>
          <p:nvPr/>
        </p:nvSpPr>
        <p:spPr>
          <a:xfrm>
            <a:off x="2697480" y="3259836"/>
            <a:ext cx="285292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 任务 × 2 轮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50992" y="3163824"/>
            <a:ext cx="199522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4/10 完成"/>
          <p:cNvSpPr txBox="1"/>
          <p:nvPr/>
        </p:nvSpPr>
        <p:spPr>
          <a:xfrm>
            <a:off x="5760720" y="3259836"/>
            <a:ext cx="18013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4/10 完成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62671" y="3163824"/>
            <a:ext cx="199522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10/10 完成"/>
          <p:cNvSpPr txBox="1"/>
          <p:nvPr/>
        </p:nvSpPr>
        <p:spPr>
          <a:xfrm>
            <a:off x="7772399" y="3259836"/>
            <a:ext cx="18013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10/10 完成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74351" y="3163824"/>
            <a:ext cx="94366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58"/>
          <p:cNvSpPr txBox="1"/>
          <p:nvPr/>
        </p:nvSpPr>
        <p:spPr>
          <a:xfrm>
            <a:off x="9784079" y="3259836"/>
            <a:ext cx="74980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" y="3739896"/>
            <a:ext cx="194950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金融业务"/>
          <p:cNvSpPr txBox="1"/>
          <p:nvPr/>
        </p:nvSpPr>
        <p:spPr>
          <a:xfrm>
            <a:off x="731520" y="3835908"/>
            <a:ext cx="175564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金融业务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87752" y="3739896"/>
            <a:ext cx="304678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30 题，原始顺序"/>
          <p:cNvSpPr txBox="1"/>
          <p:nvPr/>
        </p:nvSpPr>
        <p:spPr>
          <a:xfrm>
            <a:off x="2697480" y="3835908"/>
            <a:ext cx="285292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30 题，原始顺序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50992" y="3739896"/>
            <a:ext cx="199522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22/30"/>
          <p:cNvSpPr txBox="1"/>
          <p:nvPr/>
        </p:nvSpPr>
        <p:spPr>
          <a:xfrm>
            <a:off x="5760720" y="3835908"/>
            <a:ext cx="18013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22/30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62671" y="3739896"/>
            <a:ext cx="199522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28/30"/>
          <p:cNvSpPr txBox="1"/>
          <p:nvPr/>
        </p:nvSpPr>
        <p:spPr>
          <a:xfrm>
            <a:off x="7772399" y="3835908"/>
            <a:ext cx="18013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28/30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74351" y="3739896"/>
            <a:ext cx="94366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120"/>
          <p:cNvSpPr txBox="1"/>
          <p:nvPr/>
        </p:nvSpPr>
        <p:spPr>
          <a:xfrm>
            <a:off x="9784079" y="3835908"/>
            <a:ext cx="74980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120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" y="4315968"/>
            <a:ext cx="194950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政策路由"/>
          <p:cNvSpPr txBox="1"/>
          <p:nvPr/>
        </p:nvSpPr>
        <p:spPr>
          <a:xfrm>
            <a:off x="731520" y="4411980"/>
            <a:ext cx="175564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政策路由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587752" y="4315968"/>
            <a:ext cx="304678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: 32 题 × 2 顺序"/>
          <p:cNvSpPr txBox="1"/>
          <p:nvPr/>
        </p:nvSpPr>
        <p:spPr>
          <a:xfrm>
            <a:off x="2697480" y="4411980"/>
            <a:ext cx="285292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32 题 × 2 顺序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50992" y="4315968"/>
            <a:ext cx="199522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: 25/64"/>
          <p:cNvSpPr txBox="1"/>
          <p:nvPr/>
        </p:nvSpPr>
        <p:spPr>
          <a:xfrm>
            <a:off x="5760720" y="4411980"/>
            <a:ext cx="18013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25/64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62671" y="4315968"/>
            <a:ext cx="199522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: 46/64"/>
          <p:cNvSpPr txBox="1"/>
          <p:nvPr/>
        </p:nvSpPr>
        <p:spPr>
          <a:xfrm>
            <a:off x="7772399" y="4411980"/>
            <a:ext cx="18013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46/64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74351" y="4315968"/>
            <a:ext cx="94366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: 224*"/>
          <p:cNvSpPr txBox="1"/>
          <p:nvPr/>
        </p:nvSpPr>
        <p:spPr>
          <a:xfrm>
            <a:off x="9784079" y="4411980"/>
            <a:ext cx="74980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224*</a:t>
            </a:r>
          </a:p>
        </p:txBody>
      </p:sp>
      <p:sp>
        <p:nvSpPr>
          <p:cNvPr id="60" name="TEXT: * 路由 224 次包含自然语言候选诊断；金融 120 次包含两种候选顺序。"/>
          <p:cNvSpPr txBox="1"/>
          <p:nvPr/>
        </p:nvSpPr>
        <p:spPr>
          <a:xfrm>
            <a:off x="749808" y="5202936"/>
            <a:ext cx="106984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* 路由 224 次包含自然语言候选诊断；金融 120 次包含两种候选顺序。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1792" y="5513832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: 有效返回 466/466，说明接口能完成请求；业务选择和任务完成需要另外评分。"/>
          <p:cNvSpPr txBox="1"/>
          <p:nvPr/>
        </p:nvSpPr>
        <p:spPr>
          <a:xfrm>
            <a:off x="768096" y="5586984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有效返回 466/466，说明接口能完成请求；业务选择和任务完成需要另外评分。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5  场景验证：Skills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05  场景验证：Skills</a:t>
            </a:r>
          </a:p>
        </p:txBody>
      </p:sp>
      <p:sp>
        <p:nvSpPr>
          <p:cNvPr id="4" name="TEXT: 分类与局部选择接近，证据核验拉开差距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分类与局部选择接近，证据核验拉开差距</a:t>
            </a:r>
          </a:p>
        </p:txBody>
      </p:sp>
      <p:sp>
        <p:nvSpPr>
          <p:cNvPr id="5" name="TEXT: 32 个输入包含多个独立问题；68 个返回中，3 个歧义问题只验协议、不计语义成绩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32 个输入包含多个独立问题；68 个返回中，3 个歧义问题只验协议、不计语义成绩。</a:t>
            </a:r>
          </a:p>
        </p:txBody>
      </p:sp>
      <p:sp>
        <p:nvSpPr>
          <p:cNvPr id="6" name="TEXT: 参考在调用前冻结；按业务用途事后归类。量表采用固定 ±0.5 容差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参考在调用前冻结；按业务用途事后归类。量表采用固定 ±0.5 容差。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5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15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5561380" cy="416051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业务用途"/>
          <p:cNvSpPr txBox="1"/>
          <p:nvPr/>
        </p:nvSpPr>
        <p:spPr>
          <a:xfrm>
            <a:off x="731520" y="2107692"/>
            <a:ext cx="5367527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业务用途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1" y="2011680"/>
            <a:ext cx="2635300" cy="416051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Decider"/>
          <p:cNvSpPr txBox="1"/>
          <p:nvPr/>
        </p:nvSpPr>
        <p:spPr>
          <a:xfrm>
            <a:off x="6309359" y="2107692"/>
            <a:ext cx="244144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51392" y="2011680"/>
            <a:ext cx="2681020" cy="416051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Jev"/>
          <p:cNvSpPr txBox="1"/>
          <p:nvPr/>
        </p:nvSpPr>
        <p:spPr>
          <a:xfrm>
            <a:off x="8961119" y="2107692"/>
            <a:ext cx="248716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2450592"/>
            <a:ext cx="5561380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分类 / 意图"/>
          <p:cNvSpPr txBox="1"/>
          <p:nvPr/>
        </p:nvSpPr>
        <p:spPr>
          <a:xfrm>
            <a:off x="731520" y="2546604"/>
            <a:ext cx="5367527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分类 / 意图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1" y="2450592"/>
            <a:ext cx="2635300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13/13"/>
          <p:cNvSpPr txBox="1"/>
          <p:nvPr/>
        </p:nvSpPr>
        <p:spPr>
          <a:xfrm>
            <a:off x="6309359" y="2546604"/>
            <a:ext cx="244144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13/13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51392" y="2450592"/>
            <a:ext cx="2681020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13/13"/>
          <p:cNvSpPr txBox="1"/>
          <p:nvPr/>
        </p:nvSpPr>
        <p:spPr>
          <a:xfrm>
            <a:off x="8961119" y="2546604"/>
            <a:ext cx="248716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13/13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" y="2889504"/>
            <a:ext cx="5561380" cy="416051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工具 / 局部动作"/>
          <p:cNvSpPr txBox="1"/>
          <p:nvPr/>
        </p:nvSpPr>
        <p:spPr>
          <a:xfrm>
            <a:off x="731520" y="2985516"/>
            <a:ext cx="5367527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工具 / 局部动作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9631" y="2889504"/>
            <a:ext cx="2635300" cy="416051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10/10"/>
          <p:cNvSpPr txBox="1"/>
          <p:nvPr/>
        </p:nvSpPr>
        <p:spPr>
          <a:xfrm>
            <a:off x="6309359" y="2985516"/>
            <a:ext cx="244144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10/10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51392" y="2889504"/>
            <a:ext cx="2681020" cy="416051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10/10"/>
          <p:cNvSpPr txBox="1"/>
          <p:nvPr/>
        </p:nvSpPr>
        <p:spPr>
          <a:xfrm>
            <a:off x="8961119" y="2985516"/>
            <a:ext cx="248716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10/10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" y="3328416"/>
            <a:ext cx="5561380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上下文筛选"/>
          <p:cNvSpPr txBox="1"/>
          <p:nvPr/>
        </p:nvSpPr>
        <p:spPr>
          <a:xfrm>
            <a:off x="731520" y="3424428"/>
            <a:ext cx="5367527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上下文筛选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9631" y="3328416"/>
            <a:ext cx="2635300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6/6"/>
          <p:cNvSpPr txBox="1"/>
          <p:nvPr/>
        </p:nvSpPr>
        <p:spPr>
          <a:xfrm>
            <a:off x="6309359" y="3424428"/>
            <a:ext cx="244144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6/6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51392" y="3328416"/>
            <a:ext cx="2681020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6/6"/>
          <p:cNvSpPr txBox="1"/>
          <p:nvPr/>
        </p:nvSpPr>
        <p:spPr>
          <a:xfrm>
            <a:off x="8961119" y="3424428"/>
            <a:ext cx="248716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6/6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3767328"/>
            <a:ext cx="5561380" cy="416051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恢复 / 完成检查"/>
          <p:cNvSpPr txBox="1"/>
          <p:nvPr/>
        </p:nvSpPr>
        <p:spPr>
          <a:xfrm>
            <a:off x="731520" y="3863340"/>
            <a:ext cx="5367527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恢复 / 完成检查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9631" y="3767328"/>
            <a:ext cx="2635300" cy="416051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7/8"/>
          <p:cNvSpPr txBox="1"/>
          <p:nvPr/>
        </p:nvSpPr>
        <p:spPr>
          <a:xfrm>
            <a:off x="6309359" y="3863340"/>
            <a:ext cx="244144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7/8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51392" y="3767328"/>
            <a:ext cx="2681020" cy="416051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8/8"/>
          <p:cNvSpPr txBox="1"/>
          <p:nvPr/>
        </p:nvSpPr>
        <p:spPr>
          <a:xfrm>
            <a:off x="8961119" y="3863340"/>
            <a:ext cx="248716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8/8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" y="4206240"/>
            <a:ext cx="5561380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证据核验"/>
          <p:cNvSpPr txBox="1"/>
          <p:nvPr/>
        </p:nvSpPr>
        <p:spPr>
          <a:xfrm>
            <a:off x="731520" y="4302252"/>
            <a:ext cx="5367527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证据核验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99631" y="4206240"/>
            <a:ext cx="2635300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11/20"/>
          <p:cNvSpPr txBox="1"/>
          <p:nvPr/>
        </p:nvSpPr>
        <p:spPr>
          <a:xfrm>
            <a:off x="6309359" y="4302252"/>
            <a:ext cx="244144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11/20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51392" y="4206240"/>
            <a:ext cx="2681020" cy="416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20/20"/>
          <p:cNvSpPr txBox="1"/>
          <p:nvPr/>
        </p:nvSpPr>
        <p:spPr>
          <a:xfrm>
            <a:off x="8961119" y="4302252"/>
            <a:ext cx="248716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20/20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" y="4645152"/>
            <a:ext cx="5561380" cy="416051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等级评分"/>
          <p:cNvSpPr txBox="1"/>
          <p:nvPr/>
        </p:nvSpPr>
        <p:spPr>
          <a:xfrm>
            <a:off x="731520" y="4741164"/>
            <a:ext cx="5367527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等级评分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99631" y="4645152"/>
            <a:ext cx="2635300" cy="416051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3/8"/>
          <p:cNvSpPr txBox="1"/>
          <p:nvPr/>
        </p:nvSpPr>
        <p:spPr>
          <a:xfrm>
            <a:off x="6309359" y="4741164"/>
            <a:ext cx="244144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3/8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851392" y="4645152"/>
            <a:ext cx="2681020" cy="416051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8/8"/>
          <p:cNvSpPr txBox="1"/>
          <p:nvPr/>
        </p:nvSpPr>
        <p:spPr>
          <a:xfrm>
            <a:off x="8961119" y="4741164"/>
            <a:ext cx="2487168" cy="2926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8/8</a:t>
            </a:r>
          </a:p>
        </p:txBody>
      </p:sp>
      <p:sp>
        <p:nvSpPr>
          <p:cNvPr id="52" name="TEXT: 本批客户端 RTT 中位数：Decider 164.6 ms；Jev 119.9 ms。"/>
          <p:cNvSpPr txBox="1"/>
          <p:nvPr/>
        </p:nvSpPr>
        <p:spPr>
          <a:xfrm>
            <a:off x="768096" y="5193792"/>
            <a:ext cx="1065276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本批客户端 RTT 中位数：Decider 164.6 ms；Jev 119.9 ms。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792" y="5550408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: 典型偏差：任务还在排队却选择结束；断言换成 assert True 仍支持完成。"/>
          <p:cNvSpPr txBox="1"/>
          <p:nvPr/>
        </p:nvSpPr>
        <p:spPr>
          <a:xfrm>
            <a:off x="768096" y="5623560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典型偏差：任务还在排队却选择结束；断言换成 assert True 仍支持完成。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5  场景验证：真实浏览器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05  场景验证：真实浏览器</a:t>
            </a:r>
          </a:p>
        </p:txBody>
      </p:sp>
      <p:sp>
        <p:nvSpPr>
          <p:cNvPr id="4" name="TEXT: 多步操作要验收目标页面，不能只看 finish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多步操作要验收目标页面，不能只看 finish</a:t>
            </a:r>
          </a:p>
        </p:txBody>
      </p:sp>
      <p:sp>
        <p:nvSpPr>
          <p:cNvPr id="5" name="TEXT: 模型读取页面文字与 DOM，Playwright 执行真实点击、填写与搜索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模型读取页面文字与 DOM，Playwright 执行真实点击、填写与搜索。</a:t>
            </a:r>
          </a:p>
        </p:txBody>
      </p:sp>
      <p:sp>
        <p:nvSpPr>
          <p:cNvPr id="6" name="TEXT: 每任务最多 12 步、150 秒；截图留证但不作为视觉输入。五任务各独立运行两次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每任务最多 12 步、150 秒；截图留证但不作为视觉输入。五任务各独立运行两次。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6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16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6292900" cy="48920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任务"/>
          <p:cNvSpPr txBox="1"/>
          <p:nvPr/>
        </p:nvSpPr>
        <p:spPr>
          <a:xfrm>
            <a:off x="731520" y="2107692"/>
            <a:ext cx="609904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任务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31152" y="2011680"/>
            <a:ext cx="2269540" cy="48920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Decider"/>
          <p:cNvSpPr txBox="1"/>
          <p:nvPr/>
        </p:nvSpPr>
        <p:spPr>
          <a:xfrm>
            <a:off x="7040880" y="2107692"/>
            <a:ext cx="207568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17152" y="2011680"/>
            <a:ext cx="2315260" cy="48920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Jev"/>
          <p:cNvSpPr txBox="1"/>
          <p:nvPr/>
        </p:nvSpPr>
        <p:spPr>
          <a:xfrm>
            <a:off x="9326880" y="2107692"/>
            <a:ext cx="212140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2523744"/>
            <a:ext cx="6292900" cy="489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Wikipedia：Basel III 搜索"/>
          <p:cNvSpPr txBox="1"/>
          <p:nvPr/>
        </p:nvSpPr>
        <p:spPr>
          <a:xfrm>
            <a:off x="731520" y="2619756"/>
            <a:ext cx="609904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Wikipedia：Basel III 搜索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31152" y="2523744"/>
            <a:ext cx="2269540" cy="489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0/2"/>
          <p:cNvSpPr txBox="1"/>
          <p:nvPr/>
        </p:nvSpPr>
        <p:spPr>
          <a:xfrm>
            <a:off x="7040880" y="2619756"/>
            <a:ext cx="207568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0/2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17152" y="2523744"/>
            <a:ext cx="2315260" cy="489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2/2"/>
          <p:cNvSpPr txBox="1"/>
          <p:nvPr/>
        </p:nvSpPr>
        <p:spPr>
          <a:xfrm>
            <a:off x="9326880" y="2619756"/>
            <a:ext cx="212140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2/2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" y="3035808"/>
            <a:ext cx="6292900" cy="48920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CFPB：信用卡账单争议"/>
          <p:cNvSpPr txBox="1"/>
          <p:nvPr/>
        </p:nvSpPr>
        <p:spPr>
          <a:xfrm>
            <a:off x="731520" y="3131820"/>
            <a:ext cx="609904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CFPB：信用卡账单争议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31152" y="3035808"/>
            <a:ext cx="2269540" cy="48920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0/2"/>
          <p:cNvSpPr txBox="1"/>
          <p:nvPr/>
        </p:nvSpPr>
        <p:spPr>
          <a:xfrm>
            <a:off x="7040880" y="3131820"/>
            <a:ext cx="207568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0/2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17152" y="3035808"/>
            <a:ext cx="2315260" cy="48920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2/2"/>
          <p:cNvSpPr txBox="1"/>
          <p:nvPr/>
        </p:nvSpPr>
        <p:spPr>
          <a:xfrm>
            <a:off x="9326880" y="3131820"/>
            <a:ext cx="212140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2/2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" y="3547872"/>
            <a:ext cx="6292900" cy="489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ECB：美元汇率详情"/>
          <p:cNvSpPr txBox="1"/>
          <p:nvPr/>
        </p:nvSpPr>
        <p:spPr>
          <a:xfrm>
            <a:off x="731520" y="3643884"/>
            <a:ext cx="609904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ECB：美元汇率详情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31152" y="3547872"/>
            <a:ext cx="2269540" cy="489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2/2"/>
          <p:cNvSpPr txBox="1"/>
          <p:nvPr/>
        </p:nvSpPr>
        <p:spPr>
          <a:xfrm>
            <a:off x="7040880" y="3643884"/>
            <a:ext cx="207568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2/2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17152" y="3547872"/>
            <a:ext cx="2315260" cy="489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2/2"/>
          <p:cNvSpPr txBox="1"/>
          <p:nvPr/>
        </p:nvSpPr>
        <p:spPr>
          <a:xfrm>
            <a:off x="9326880" y="3643884"/>
            <a:ext cx="212140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2/2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4059936"/>
            <a:ext cx="6292900" cy="48920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FDIC：保险 FAQ"/>
          <p:cNvSpPr txBox="1"/>
          <p:nvPr/>
        </p:nvSpPr>
        <p:spPr>
          <a:xfrm>
            <a:off x="731520" y="4155948"/>
            <a:ext cx="609904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FDIC：保险 FAQ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31152" y="4059936"/>
            <a:ext cx="2269540" cy="48920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2/2"/>
          <p:cNvSpPr txBox="1"/>
          <p:nvPr/>
        </p:nvSpPr>
        <p:spPr>
          <a:xfrm>
            <a:off x="7040880" y="4155948"/>
            <a:ext cx="207568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2/2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17152" y="4059936"/>
            <a:ext cx="2315260" cy="48920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2/2"/>
          <p:cNvSpPr txBox="1"/>
          <p:nvPr/>
        </p:nvSpPr>
        <p:spPr>
          <a:xfrm>
            <a:off x="9326880" y="4155948"/>
            <a:ext cx="212140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2/2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" y="4572000"/>
            <a:ext cx="6292900" cy="489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FDIC：银行机构查询"/>
          <p:cNvSpPr txBox="1"/>
          <p:nvPr/>
        </p:nvSpPr>
        <p:spPr>
          <a:xfrm>
            <a:off x="731520" y="4668012"/>
            <a:ext cx="609904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FDIC：银行机构查询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31152" y="4572000"/>
            <a:ext cx="2269540" cy="489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0/2"/>
          <p:cNvSpPr txBox="1"/>
          <p:nvPr/>
        </p:nvSpPr>
        <p:spPr>
          <a:xfrm>
            <a:off x="7040880" y="4668012"/>
            <a:ext cx="207568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0/2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17152" y="4572000"/>
            <a:ext cx="2315260" cy="489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2/2"/>
          <p:cNvSpPr txBox="1"/>
          <p:nvPr/>
        </p:nvSpPr>
        <p:spPr>
          <a:xfrm>
            <a:off x="9326880" y="4668012"/>
            <a:ext cx="212140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2/2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" y="5532120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Decider 6 次过早结束；没有 API 或浏览器动作错误来解释这些失败。"/>
          <p:cNvSpPr txBox="1"/>
          <p:nvPr/>
        </p:nvSpPr>
        <p:spPr>
          <a:xfrm>
            <a:off x="768096" y="5605272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 6 次过早结束；没有 API 或浏览器动作错误来解释这些失败。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5  真实过程截图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05  真实过程截图</a:t>
            </a:r>
          </a:p>
        </p:txBody>
      </p:sp>
      <p:sp>
        <p:nvSpPr>
          <p:cNvPr id="4" name="TEXT: 银行查询：停在入口页，与查到机构是两种结果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银行查询：停在入口页，与查到机构是两种结果</a:t>
            </a:r>
          </a:p>
        </p:txBody>
      </p:sp>
      <p:sp>
        <p:nvSpPr>
          <p:cNvPr id="5" name="TEXT: 同一任务：查找 JPMorgan Chase Bank；截图来自第二轮真实浏览器终点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同一任务：查找 JPMorgan Chase Bank；截图来自第二轮真实浏览器终点。</a:t>
            </a:r>
          </a:p>
        </p:txBody>
      </p:sp>
      <p:sp>
        <p:nvSpPr>
          <p:cNvPr id="6" name="TEXT: 原始页面截图仅裁切可读区域，完整图片与每步 URL / DOM / 动作保存在 validation/browser_financ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原始页面截图仅裁切可读区域，完整图片与每步 URL / DOM / 动作保存在 validation/browser_finance。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7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17 / 32</a:t>
            </a:r>
          </a:p>
        </p:txBody>
      </p:sp>
      <p:sp>
        <p:nvSpPr>
          <p:cNvPr id="10" name="TEXT: Decider · 2 步后结束"/>
          <p:cNvSpPr txBox="1"/>
          <p:nvPr/>
        </p:nvSpPr>
        <p:spPr>
          <a:xfrm>
            <a:off x="694944" y="1993392"/>
            <a:ext cx="52578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 · 2 步后结束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6293" y="2505456"/>
            <a:ext cx="4896813" cy="32278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MAGE: bank-search-decider.png" descr="bank-search-deci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725" y="2532888"/>
            <a:ext cx="4841949" cy="3172968"/>
          </a:xfrm>
          <a:prstGeom prst="rect">
            <a:avLst/>
          </a:prstGeom>
        </p:spPr>
      </p:pic>
      <p:sp>
        <p:nvSpPr>
          <p:cNvPr id="13" name="TEXT: 返回 BankFind 入口，没有提交查询"/>
          <p:cNvSpPr txBox="1"/>
          <p:nvPr/>
        </p:nvSpPr>
        <p:spPr>
          <a:xfrm>
            <a:off x="694944" y="5769864"/>
            <a:ext cx="525780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返回 BankFind 入口，没有提交查询</a:t>
            </a:r>
          </a:p>
        </p:txBody>
      </p:sp>
      <p:sp>
        <p:nvSpPr>
          <p:cNvPr id="14" name="TEXT: Jev · 6 步完成"/>
          <p:cNvSpPr txBox="1"/>
          <p:nvPr/>
        </p:nvSpPr>
        <p:spPr>
          <a:xfrm>
            <a:off x="6172200" y="1993392"/>
            <a:ext cx="52578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Jev · 6 步完成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79987" y="2505456"/>
            <a:ext cx="4623937" cy="32278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MAGE: bank-search-jev.png" descr="bank-search-je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419" y="2532888"/>
            <a:ext cx="4569073" cy="3172968"/>
          </a:xfrm>
          <a:prstGeom prst="rect">
            <a:avLst/>
          </a:prstGeom>
        </p:spPr>
      </p:pic>
      <p:sp>
        <p:nvSpPr>
          <p:cNvPr id="17" name="TEXT: 返回目标机构；FDIC Cert 628"/>
          <p:cNvSpPr txBox="1"/>
          <p:nvPr/>
        </p:nvSpPr>
        <p:spPr>
          <a:xfrm>
            <a:off x="6172200" y="5769864"/>
            <a:ext cx="525780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返回目标机构；FDIC Cert 628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5  场景验证：金融业务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05  场景验证：金融业务</a:t>
            </a:r>
          </a:p>
        </p:txBody>
      </p:sp>
      <p:sp>
        <p:nvSpPr>
          <p:cNvPr id="4" name="TEXT: 会分类，不代表能正确核验金额和条件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会分类，不代表能正确核验金额和条件</a:t>
            </a:r>
          </a:p>
        </p:txBody>
      </p:sp>
      <p:sp>
        <p:nvSpPr>
          <p:cNvPr id="5" name="TEXT: 新闻、财报、存款保险、汇率业务；30 道独立题，按原始候选顺序统计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新闻、财报、存款保险、汇率业务；30 道独立题，按原始候选顺序统计。</a:t>
            </a:r>
          </a:p>
        </p:txBody>
      </p:sp>
      <p:sp>
        <p:nvSpPr>
          <p:cNvPr id="6" name="TEXT: 反转顺序后 Decider 24/30、Jev 28/30；仍是同一批 30 道题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反转顺序后 Decider 24/30、Jev 28/30；仍是同一批 30 道题。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8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18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5652820" cy="498347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业务"/>
          <p:cNvSpPr txBox="1"/>
          <p:nvPr/>
        </p:nvSpPr>
        <p:spPr>
          <a:xfrm>
            <a:off x="731520" y="2107692"/>
            <a:ext cx="545896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业务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91072" y="2011680"/>
            <a:ext cx="2589580" cy="498347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Decider"/>
          <p:cNvSpPr txBox="1"/>
          <p:nvPr/>
        </p:nvSpPr>
        <p:spPr>
          <a:xfrm>
            <a:off x="6400800" y="2107692"/>
            <a:ext cx="239572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7112" y="2011680"/>
            <a:ext cx="2635300" cy="498347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Jev"/>
          <p:cNvSpPr txBox="1"/>
          <p:nvPr/>
        </p:nvSpPr>
        <p:spPr>
          <a:xfrm>
            <a:off x="9006840" y="2107692"/>
            <a:ext cx="244144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2532888"/>
            <a:ext cx="5652820" cy="4983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财经新闻分类"/>
          <p:cNvSpPr txBox="1"/>
          <p:nvPr/>
        </p:nvSpPr>
        <p:spPr>
          <a:xfrm>
            <a:off x="731520" y="2628900"/>
            <a:ext cx="545896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财经新闻分类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1072" y="2532888"/>
            <a:ext cx="2589580" cy="4983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11/12"/>
          <p:cNvSpPr txBox="1"/>
          <p:nvPr/>
        </p:nvSpPr>
        <p:spPr>
          <a:xfrm>
            <a:off x="6400800" y="2628900"/>
            <a:ext cx="239572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11/12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97112" y="2532888"/>
            <a:ext cx="2635300" cy="4983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11/12"/>
          <p:cNvSpPr txBox="1"/>
          <p:nvPr/>
        </p:nvSpPr>
        <p:spPr>
          <a:xfrm>
            <a:off x="9006840" y="2628900"/>
            <a:ext cx="244144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11/12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" y="3054096"/>
            <a:ext cx="5652820" cy="498347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财报证据核验"/>
          <p:cNvSpPr txBox="1"/>
          <p:nvPr/>
        </p:nvSpPr>
        <p:spPr>
          <a:xfrm>
            <a:off x="731520" y="3150108"/>
            <a:ext cx="545896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财报证据核验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91072" y="3054096"/>
            <a:ext cx="2589580" cy="498347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4/6"/>
          <p:cNvSpPr txBox="1"/>
          <p:nvPr/>
        </p:nvSpPr>
        <p:spPr>
          <a:xfrm>
            <a:off x="6400800" y="3150108"/>
            <a:ext cx="239572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4/6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97112" y="3054096"/>
            <a:ext cx="2635300" cy="498347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6/6"/>
          <p:cNvSpPr txBox="1"/>
          <p:nvPr/>
        </p:nvSpPr>
        <p:spPr>
          <a:xfrm>
            <a:off x="9006840" y="3150108"/>
            <a:ext cx="244144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6/6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" y="3575304"/>
            <a:ext cx="5652820" cy="4983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存款保险初筛"/>
          <p:cNvSpPr txBox="1"/>
          <p:nvPr/>
        </p:nvSpPr>
        <p:spPr>
          <a:xfrm>
            <a:off x="731520" y="3671316"/>
            <a:ext cx="545896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存款保险初筛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91072" y="3575304"/>
            <a:ext cx="2589580" cy="4983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5/6"/>
          <p:cNvSpPr txBox="1"/>
          <p:nvPr/>
        </p:nvSpPr>
        <p:spPr>
          <a:xfrm>
            <a:off x="6400800" y="3671316"/>
            <a:ext cx="239572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5/6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97112" y="3575304"/>
            <a:ext cx="2635300" cy="4983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5/6"/>
          <p:cNvSpPr txBox="1"/>
          <p:nvPr/>
        </p:nvSpPr>
        <p:spPr>
          <a:xfrm>
            <a:off x="9006840" y="3671316"/>
            <a:ext cx="244144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5/6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4096512"/>
            <a:ext cx="5652820" cy="498347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汇率报表 / 付款分流"/>
          <p:cNvSpPr txBox="1"/>
          <p:nvPr/>
        </p:nvSpPr>
        <p:spPr>
          <a:xfrm>
            <a:off x="731520" y="4192524"/>
            <a:ext cx="545896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汇率报表 / 付款分流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91072" y="4096512"/>
            <a:ext cx="2589580" cy="498347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2/6"/>
          <p:cNvSpPr txBox="1"/>
          <p:nvPr/>
        </p:nvSpPr>
        <p:spPr>
          <a:xfrm>
            <a:off x="6400800" y="4192524"/>
            <a:ext cx="239572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2/6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97112" y="4096512"/>
            <a:ext cx="2635300" cy="498347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6/6"/>
          <p:cNvSpPr txBox="1"/>
          <p:nvPr/>
        </p:nvSpPr>
        <p:spPr>
          <a:xfrm>
            <a:off x="9006840" y="4192524"/>
            <a:ext cx="244144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6/6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3232" y="4837176"/>
            <a:ext cx="10762488" cy="1097280"/>
          </a:xfrm>
          <a:prstGeom prst="roundRect">
            <a:avLst>
              <a:gd name="adj" fmla="val 13000"/>
            </a:avLst>
          </a:prstGeom>
          <a:solidFill>
            <a:srgbClr val="F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共同错误：同银行、同类别的 18 万 + 12 万美元账户"/>
          <p:cNvSpPr txBox="1"/>
          <p:nvPr/>
        </p:nvSpPr>
        <p:spPr>
          <a:xfrm>
            <a:off x="914400" y="4992624"/>
            <a:ext cx="10351008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共同错误：同银行、同类别的 18 万 + 12 万美元账户</a:t>
            </a:r>
          </a:p>
        </p:txBody>
      </p:sp>
      <p:sp>
        <p:nvSpPr>
          <p:cNvPr id="42" name="TEXT: 两个模型都选“全部受保”；应合并为 30 万，25 万受保、5 万超限。"/>
          <p:cNvSpPr txBox="1"/>
          <p:nvPr/>
        </p:nvSpPr>
        <p:spPr>
          <a:xfrm>
            <a:off x="914400" y="5486400"/>
            <a:ext cx="1035100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两个模型都选“全部受保”；应合并为 30 万，25 万受保、5 万超限。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5  场景验证：政策路由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05  场景验证：政策路由</a:t>
            </a:r>
          </a:p>
        </p:txBody>
      </p:sp>
      <p:sp>
        <p:nvSpPr>
          <p:cNvPr id="4" name="TEXT: 任务分流能做好，复合约束仍容易漏判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任务分流能做好，复合约束仍容易漏判</a:t>
            </a:r>
          </a:p>
        </p:txBody>
      </p:sp>
      <p:sp>
        <p:nvSpPr>
          <p:cNvPr id="5" name="TEXT: 独立于网页四任务实验：32 题 × 2 种顺序；自然语言对照只复测后 24 题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独立于网页四任务实验：32 题 × 2 种顺序；自然语言对照只复测后 24 题。</a:t>
            </a:r>
          </a:p>
        </p:txBody>
      </p:sp>
      <p:sp>
        <p:nvSpPr>
          <p:cNvPr id="6" name="TEXT: 能力 / 价格来自 OpenRouter 目录，健康 / 延迟等为题设；未调用 openrouter/auto 或下游模型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能力 / 价格来自 OpenRouter 目录，健康 / 延迟等为题设；未调用 openrouter/auto 或下游模型。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9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19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2452420" cy="562356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题型"/>
          <p:cNvSpPr txBox="1"/>
          <p:nvPr/>
        </p:nvSpPr>
        <p:spPr>
          <a:xfrm>
            <a:off x="731520" y="2107692"/>
            <a:ext cx="2258568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题型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90672" y="2011680"/>
            <a:ext cx="1949500" cy="562356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Decider 原始"/>
          <p:cNvSpPr txBox="1"/>
          <p:nvPr/>
        </p:nvSpPr>
        <p:spPr>
          <a:xfrm>
            <a:off x="3200400" y="2107692"/>
            <a:ext cx="1755648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 原始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56632" y="2011680"/>
            <a:ext cx="1858060" cy="562356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Jev 原始"/>
          <p:cNvSpPr txBox="1"/>
          <p:nvPr/>
        </p:nvSpPr>
        <p:spPr>
          <a:xfrm>
            <a:off x="5166360" y="2107692"/>
            <a:ext cx="1664207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 原始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31152" y="2011680"/>
            <a:ext cx="2562148" cy="562356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Decider 自然语言"/>
          <p:cNvSpPr txBox="1"/>
          <p:nvPr/>
        </p:nvSpPr>
        <p:spPr>
          <a:xfrm>
            <a:off x="7040880" y="2107692"/>
            <a:ext cx="2368296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 自然语言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2011680"/>
            <a:ext cx="2022652" cy="562356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Jev 自然语言"/>
          <p:cNvSpPr txBox="1"/>
          <p:nvPr/>
        </p:nvSpPr>
        <p:spPr>
          <a:xfrm>
            <a:off x="9619488" y="2107692"/>
            <a:ext cx="182880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 自然语言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2596896"/>
            <a:ext cx="2452420" cy="5623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任务语义分流"/>
          <p:cNvSpPr txBox="1"/>
          <p:nvPr/>
        </p:nvSpPr>
        <p:spPr>
          <a:xfrm>
            <a:off x="731520" y="2692908"/>
            <a:ext cx="2258568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任务语义分流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90672" y="2596896"/>
            <a:ext cx="1949500" cy="5623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16/16"/>
          <p:cNvSpPr txBox="1"/>
          <p:nvPr/>
        </p:nvSpPr>
        <p:spPr>
          <a:xfrm>
            <a:off x="3200400" y="2692908"/>
            <a:ext cx="1755648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16/16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56632" y="2596896"/>
            <a:ext cx="1858060" cy="5623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15/16"/>
          <p:cNvSpPr txBox="1"/>
          <p:nvPr/>
        </p:nvSpPr>
        <p:spPr>
          <a:xfrm>
            <a:off x="5166360" y="2692908"/>
            <a:ext cx="1664207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15/16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31152" y="2596896"/>
            <a:ext cx="2562148" cy="5623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—"/>
          <p:cNvSpPr txBox="1"/>
          <p:nvPr/>
        </p:nvSpPr>
        <p:spPr>
          <a:xfrm>
            <a:off x="7040880" y="2692908"/>
            <a:ext cx="2368296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0" y="2596896"/>
            <a:ext cx="2022652" cy="5623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—"/>
          <p:cNvSpPr txBox="1"/>
          <p:nvPr/>
        </p:nvSpPr>
        <p:spPr>
          <a:xfrm>
            <a:off x="9619488" y="2692908"/>
            <a:ext cx="182880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" y="3182112"/>
            <a:ext cx="2452420" cy="56235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能力 / 上下文"/>
          <p:cNvSpPr txBox="1"/>
          <p:nvPr/>
        </p:nvSpPr>
        <p:spPr>
          <a:xfrm>
            <a:off x="731520" y="3278124"/>
            <a:ext cx="2258568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能力 / 上下文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90672" y="3182112"/>
            <a:ext cx="1949500" cy="56235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3/16"/>
          <p:cNvSpPr txBox="1"/>
          <p:nvPr/>
        </p:nvSpPr>
        <p:spPr>
          <a:xfrm>
            <a:off x="3200400" y="3278124"/>
            <a:ext cx="1755648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3/16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56632" y="3182112"/>
            <a:ext cx="1858060" cy="56235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7/16"/>
          <p:cNvSpPr txBox="1"/>
          <p:nvPr/>
        </p:nvSpPr>
        <p:spPr>
          <a:xfrm>
            <a:off x="5166360" y="3278124"/>
            <a:ext cx="1664207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7/16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31152" y="3182112"/>
            <a:ext cx="2562148" cy="56235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2/16"/>
          <p:cNvSpPr txBox="1"/>
          <p:nvPr/>
        </p:nvSpPr>
        <p:spPr>
          <a:xfrm>
            <a:off x="7040880" y="3278124"/>
            <a:ext cx="2368296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2/16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09760" y="3182112"/>
            <a:ext cx="2022652" cy="56235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7/16"/>
          <p:cNvSpPr txBox="1"/>
          <p:nvPr/>
        </p:nvSpPr>
        <p:spPr>
          <a:xfrm>
            <a:off x="9619488" y="3278124"/>
            <a:ext cx="182880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7/16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" y="3767328"/>
            <a:ext cx="2452420" cy="5623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成本 / 预算"/>
          <p:cNvSpPr txBox="1"/>
          <p:nvPr/>
        </p:nvSpPr>
        <p:spPr>
          <a:xfrm>
            <a:off x="731520" y="3863340"/>
            <a:ext cx="2258568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成本 / 预算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90672" y="3767328"/>
            <a:ext cx="1949500" cy="5623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2/16"/>
          <p:cNvSpPr txBox="1"/>
          <p:nvPr/>
        </p:nvSpPr>
        <p:spPr>
          <a:xfrm>
            <a:off x="3200400" y="3863340"/>
            <a:ext cx="1755648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2/16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56632" y="3767328"/>
            <a:ext cx="1858060" cy="5623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9/16"/>
          <p:cNvSpPr txBox="1"/>
          <p:nvPr/>
        </p:nvSpPr>
        <p:spPr>
          <a:xfrm>
            <a:off x="5166360" y="3863340"/>
            <a:ext cx="1664207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9/16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31152" y="3767328"/>
            <a:ext cx="2562148" cy="5623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2/16"/>
          <p:cNvSpPr txBox="1"/>
          <p:nvPr/>
        </p:nvSpPr>
        <p:spPr>
          <a:xfrm>
            <a:off x="7040880" y="3863340"/>
            <a:ext cx="2368296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2/16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09760" y="3767328"/>
            <a:ext cx="2022652" cy="5623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9/16"/>
          <p:cNvSpPr txBox="1"/>
          <p:nvPr/>
        </p:nvSpPr>
        <p:spPr>
          <a:xfrm>
            <a:off x="9619488" y="3863340"/>
            <a:ext cx="182880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9/16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" y="4352544"/>
            <a:ext cx="2452420" cy="56235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可用性 / 回退"/>
          <p:cNvSpPr txBox="1"/>
          <p:nvPr/>
        </p:nvSpPr>
        <p:spPr>
          <a:xfrm>
            <a:off x="731520" y="4448556"/>
            <a:ext cx="2258568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可用性 / 回退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090672" y="4352544"/>
            <a:ext cx="1949500" cy="56235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: 4/16"/>
          <p:cNvSpPr txBox="1"/>
          <p:nvPr/>
        </p:nvSpPr>
        <p:spPr>
          <a:xfrm>
            <a:off x="3200400" y="4448556"/>
            <a:ext cx="1755648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4/16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56632" y="4352544"/>
            <a:ext cx="1858060" cy="56235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: 15/16"/>
          <p:cNvSpPr txBox="1"/>
          <p:nvPr/>
        </p:nvSpPr>
        <p:spPr>
          <a:xfrm>
            <a:off x="5166360" y="4448556"/>
            <a:ext cx="1664207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15/16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31152" y="4352544"/>
            <a:ext cx="2562148" cy="56235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: 4/16"/>
          <p:cNvSpPr txBox="1"/>
          <p:nvPr/>
        </p:nvSpPr>
        <p:spPr>
          <a:xfrm>
            <a:off x="7040880" y="4448556"/>
            <a:ext cx="2368296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4/16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509760" y="4352544"/>
            <a:ext cx="2022652" cy="56235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: 15/16"/>
          <p:cNvSpPr txBox="1"/>
          <p:nvPr/>
        </p:nvSpPr>
        <p:spPr>
          <a:xfrm>
            <a:off x="9619488" y="4448556"/>
            <a:ext cx="182880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15/16</a:t>
            </a:r>
          </a:p>
        </p:txBody>
      </p:sp>
      <p:sp>
        <p:nvSpPr>
          <p:cNvPr id="60" name="TEXT: 复合政策合计"/>
          <p:cNvSpPr txBox="1"/>
          <p:nvPr/>
        </p:nvSpPr>
        <p:spPr>
          <a:xfrm>
            <a:off x="822960" y="5157216"/>
            <a:ext cx="22860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复合政策合计</a:t>
            </a:r>
          </a:p>
        </p:txBody>
      </p:sp>
      <p:sp>
        <p:nvSpPr>
          <p:cNvPr id="61" name="TEXT: Decider 9/48 → 8/48     Jev 31/48 → 31/48"/>
          <p:cNvSpPr txBox="1"/>
          <p:nvPr/>
        </p:nvSpPr>
        <p:spPr>
          <a:xfrm>
            <a:off x="3246120" y="5166360"/>
            <a:ext cx="7955279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Decider 9/48 → 8/48     Jev 31/48 → 31/48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1792" y="5614416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: 把候选改成自然语言，没有修复多约束比较；Decider 在自然语言批次全部选择 no_route。"/>
          <p:cNvSpPr txBox="1"/>
          <p:nvPr/>
        </p:nvSpPr>
        <p:spPr>
          <a:xfrm>
            <a:off x="768096" y="5687568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2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把候选改成自然语言，没有修复多约束比较；Decider 在自然语言批次全部选择 no_route。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5  引用验证：动作规划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05  引用验证：动作规划</a:t>
            </a:r>
          </a:p>
        </p:txBody>
      </p:sp>
      <p:sp>
        <p:nvSpPr>
          <p:cNvPr id="4" name="TEXT: 俄罗斯方块：改写候选，也未消除动作差距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俄罗斯方块：改写候选，也未消除动作差距</a:t>
            </a:r>
          </a:p>
        </p:txBody>
      </p:sp>
      <p:sp>
        <p:nvSpPr>
          <p:cNvPr id="5" name="TEXT: 独立项目记录：同一 seed 42，每局最多 50 块；主比较全部由模型选择落点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独立项目记录：同一 seed 42，每局最多 50 块；主比较全部由模型选择落点。</a:t>
            </a:r>
          </a:p>
        </p:txBody>
      </p:sp>
      <p:sp>
        <p:nvSpPr>
          <p:cNvPr id="6" name="TEXT: 只有一个种子；走法不同会产生不同棋盘。此处为已有实验引用，不计入 466 次新目录调用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只有一个种子；走法不同会产生不同棋盘。此处为已有实验引用，不计入 466 次新目录调用。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0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20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3595420" cy="617219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候选表达"/>
          <p:cNvSpPr txBox="1"/>
          <p:nvPr/>
        </p:nvSpPr>
        <p:spPr>
          <a:xfrm>
            <a:off x="731520" y="2107692"/>
            <a:ext cx="340156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候选表达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3672" y="2011680"/>
            <a:ext cx="3641140" cy="617219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Decider"/>
          <p:cNvSpPr txBox="1"/>
          <p:nvPr/>
        </p:nvSpPr>
        <p:spPr>
          <a:xfrm>
            <a:off x="4343400" y="2107692"/>
            <a:ext cx="344728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91271" y="2011680"/>
            <a:ext cx="3641140" cy="617219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Jev"/>
          <p:cNvSpPr txBox="1"/>
          <p:nvPr/>
        </p:nvSpPr>
        <p:spPr>
          <a:xfrm>
            <a:off x="8000999" y="2107692"/>
            <a:ext cx="344728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2651760"/>
            <a:ext cx="359542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数字字段"/>
          <p:cNvSpPr txBox="1"/>
          <p:nvPr/>
        </p:nvSpPr>
        <p:spPr>
          <a:xfrm>
            <a:off x="731520" y="2747772"/>
            <a:ext cx="340156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数字字段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33672" y="2651760"/>
            <a:ext cx="364114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36 块 / 0 行"/>
          <p:cNvSpPr txBox="1"/>
          <p:nvPr/>
        </p:nvSpPr>
        <p:spPr>
          <a:xfrm>
            <a:off x="4343400" y="2747772"/>
            <a:ext cx="344728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36 块 / 0 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91271" y="2651760"/>
            <a:ext cx="364114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50 块 / 19 行"/>
          <p:cNvSpPr txBox="1"/>
          <p:nvPr/>
        </p:nvSpPr>
        <p:spPr>
          <a:xfrm>
            <a:off x="8000999" y="2747772"/>
            <a:ext cx="344728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50 块 / 19 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" y="3291840"/>
            <a:ext cx="359542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自然语言"/>
          <p:cNvSpPr txBox="1"/>
          <p:nvPr/>
        </p:nvSpPr>
        <p:spPr>
          <a:xfrm>
            <a:off x="731520" y="3387852"/>
            <a:ext cx="340156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自然语言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33672" y="3291840"/>
            <a:ext cx="364114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43 块 / 2 行"/>
          <p:cNvSpPr txBox="1"/>
          <p:nvPr/>
        </p:nvSpPr>
        <p:spPr>
          <a:xfrm>
            <a:off x="4343400" y="3387852"/>
            <a:ext cx="344728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43 块 / 2 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91271" y="3291840"/>
            <a:ext cx="364114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50 块 / 19 行"/>
          <p:cNvSpPr txBox="1"/>
          <p:nvPr/>
        </p:nvSpPr>
        <p:spPr>
          <a:xfrm>
            <a:off x="8000999" y="3387852"/>
            <a:ext cx="344728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50 块 / 19 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4306824"/>
            <a:ext cx="5239512" cy="13716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3232" y="4306824"/>
            <a:ext cx="41148" cy="1371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固定棋盘诊断"/>
          <p:cNvSpPr txBox="1"/>
          <p:nvPr/>
        </p:nvSpPr>
        <p:spPr>
          <a:xfrm>
            <a:off x="877824" y="4398264"/>
            <a:ext cx="491032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固定棋盘诊断</a:t>
            </a:r>
          </a:p>
        </p:txBody>
      </p:sp>
      <p:sp>
        <p:nvSpPr>
          <p:cNvPr id="31" name="TEXT: Decider：数字版 3/3 次选较差动作。 Jev：两种表达均 0/3。"/>
          <p:cNvSpPr txBox="1"/>
          <p:nvPr/>
        </p:nvSpPr>
        <p:spPr>
          <a:xfrm>
            <a:off x="877824" y="4791456"/>
            <a:ext cx="4910328" cy="8595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Decider：数字版 3/3 次选较差动作。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Jev：两种表达均 0/3。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306824"/>
            <a:ext cx="5303520" cy="13716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2200" y="4306824"/>
            <a:ext cx="41148" cy="1371600"/>
          </a:xfrm>
          <a:prstGeom prst="rect">
            <a:avLst/>
          </a:prstGeom>
          <a:solidFill>
            <a:srgbClr val="8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问题不只在字段形式"/>
          <p:cNvSpPr txBox="1"/>
          <p:nvPr/>
        </p:nvSpPr>
        <p:spPr>
          <a:xfrm>
            <a:off x="6336792" y="4398264"/>
            <a:ext cx="4974336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问题不只在字段形式</a:t>
            </a:r>
          </a:p>
        </p:txBody>
      </p:sp>
      <p:sp>
        <p:nvSpPr>
          <p:cNvPr id="35" name="TEXT: 要检查候选之间的多指标比较， 以及完成条件和顺序敏感性。"/>
          <p:cNvSpPr txBox="1"/>
          <p:nvPr/>
        </p:nvSpPr>
        <p:spPr>
          <a:xfrm>
            <a:off x="6336792" y="4791456"/>
            <a:ext cx="4974336" cy="8595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要检查候选之间的多指标比较，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以及完成条件和顺序敏感性。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6  已验证的输入优化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06  已验证的输入优化</a:t>
            </a:r>
          </a:p>
        </p:txBody>
      </p:sp>
      <p:sp>
        <p:nvSpPr>
          <p:cNvPr id="4" name="TEXT: 先讲清条件适用范围，20 个节点改善了 4 个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先讲清条件适用范围，20 个节点改善了 4 个</a:t>
            </a:r>
          </a:p>
        </p:txBody>
      </p:sp>
      <p:sp>
        <p:nvSpPr>
          <p:cNvPr id="5" name="TEXT: 支付实验：权重未变，只改输入与候选说明；参考一致次数 14/20 → 18/20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支付实验：权重未变，只改输入与候选说明；参考一致次数 14/20 → 18/20。</a:t>
            </a:r>
          </a:p>
        </p:txBody>
      </p:sp>
      <p:sp>
        <p:nvSpPr>
          <p:cNvPr id="6" name="TEXT: 2026-10-11 优化对照；20 个节点使用相同演示参考，未进行模型微调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2026-10-11 优化对照；20 个节点使用相同演示参考，未进行模型微调。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1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21 / 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103120"/>
            <a:ext cx="5221224" cy="34472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list-filter-BE721F.png" descr="icon-list-filter-BE721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313432"/>
            <a:ext cx="384048" cy="384048"/>
          </a:xfrm>
          <a:prstGeom prst="rect">
            <a:avLst/>
          </a:prstGeom>
        </p:spPr>
      </p:pic>
      <p:sp>
        <p:nvSpPr>
          <p:cNvPr id="12" name="TEXT: 优化前"/>
          <p:cNvSpPr txBox="1"/>
          <p:nvPr/>
        </p:nvSpPr>
        <p:spPr>
          <a:xfrm>
            <a:off x="923544" y="2935224"/>
            <a:ext cx="4800600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优化前</a:t>
            </a:r>
          </a:p>
        </p:txBody>
      </p:sp>
      <p:sp>
        <p:nvSpPr>
          <p:cNvPr id="13" name="TEXT: 地址是否验证？ 审批是否通过？  条件混在一起， 非退款也可能被拦截。"/>
          <p:cNvSpPr txBox="1"/>
          <p:nvPr/>
        </p:nvSpPr>
        <p:spPr>
          <a:xfrm>
            <a:off x="923544" y="3493008"/>
            <a:ext cx="4800600" cy="187451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地址是否验证？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审批是否通过？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条件混在一起，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非退款也可能被拦截。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103120"/>
            <a:ext cx="5303520" cy="34472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MAGE: icon-check-check-087F72.png" descr="icon-check-check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2313432"/>
            <a:ext cx="384048" cy="384048"/>
          </a:xfrm>
          <a:prstGeom prst="rect">
            <a:avLst/>
          </a:prstGeom>
        </p:spPr>
      </p:pic>
      <p:sp>
        <p:nvSpPr>
          <p:cNvPr id="16" name="TEXT: 优化后"/>
          <p:cNvSpPr txBox="1"/>
          <p:nvPr/>
        </p:nvSpPr>
        <p:spPr>
          <a:xfrm>
            <a:off x="6382512" y="2935224"/>
            <a:ext cx="4882896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优化后</a:t>
            </a:r>
          </a:p>
        </p:txBody>
      </p:sp>
      <p:sp>
        <p:nvSpPr>
          <p:cNvPr id="17" name="TEXT: 先确定 case_type。 仅 refund 检查退款地址。  省略字段表示“不适用”。 审批通过不等于到账。"/>
          <p:cNvSpPr txBox="1"/>
          <p:nvPr/>
        </p:nvSpPr>
        <p:spPr>
          <a:xfrm>
            <a:off x="6382512" y="3493008"/>
            <a:ext cx="4882896" cy="187451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先确定 case_type。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仅 refund 检查退款地址。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省略字段表示“不适用”。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审批通过不等于到账。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5669280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程序先计算金额差、确认是否足够等事实；模型在适用的业务条件中选择下一步。"/>
          <p:cNvSpPr txBox="1"/>
          <p:nvPr/>
        </p:nvSpPr>
        <p:spPr>
          <a:xfrm>
            <a:off x="768096" y="5742432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程序先计算金额差、确认是否足够等事实；模型在适用的业务条件中选择下一步。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6  后续优化路线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06  后续优化路线</a:t>
            </a:r>
          </a:p>
        </p:txBody>
      </p:sp>
      <p:sp>
        <p:nvSpPr>
          <p:cNvPr id="4" name="TEXT: 把失败样本留下，再决定是否需要微调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把失败样本留下，再决定是否需要微调</a:t>
            </a:r>
          </a:p>
        </p:txBody>
      </p:sp>
      <p:sp>
        <p:nvSpPr>
          <p:cNvPr id="5" name="TEXT: 按业务拆开语义判断与确定性检查，让模型负责它能可靠完成的部分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按业务拆开语义判断与确定性检查，让模型负责它能可靠完成的部分。</a:t>
            </a:r>
          </a:p>
        </p:txBody>
      </p:sp>
      <p:sp>
        <p:nvSpPr>
          <p:cNvPr id="6" name="TEXT: 下列为后续方案；尚未完成领域微调，也未宣称新的准确率或生产收益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下列为后续方案；尚未完成领域微调，也未宣称新的准确率或生产收益。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2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22 / 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2503170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clipboard-check-087F72.png" descr="icon-clipboard-check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78608"/>
            <a:ext cx="283464" cy="283464"/>
          </a:xfrm>
          <a:prstGeom prst="rect">
            <a:avLst/>
          </a:prstGeom>
        </p:spPr>
      </p:pic>
      <p:sp>
        <p:nvSpPr>
          <p:cNvPr id="12" name="TEXT: 冻结回归集"/>
          <p:cNvSpPr txBox="1"/>
          <p:nvPr/>
        </p:nvSpPr>
        <p:spPr>
          <a:xfrm>
            <a:off x="82296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冻结回归集</a:t>
            </a:r>
          </a:p>
        </p:txBody>
      </p:sp>
      <p:sp>
        <p:nvSpPr>
          <p:cNvPr id="13" name="TEXT: 缺证据 / 早结束 / 错算"/>
          <p:cNvSpPr txBox="1"/>
          <p:nvPr/>
        </p:nvSpPr>
        <p:spPr>
          <a:xfrm>
            <a:off x="822960" y="3429000"/>
            <a:ext cx="2228850" cy="6675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缺证据 / 早结束 / 错算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16401" y="3136391"/>
            <a:ext cx="219457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63289" y="2423160"/>
            <a:ext cx="2503170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MAGE: icon-code-xml-087F72.png" descr="icon-code-xml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449" y="2578608"/>
            <a:ext cx="283464" cy="283464"/>
          </a:xfrm>
          <a:prstGeom prst="rect">
            <a:avLst/>
          </a:prstGeom>
        </p:spPr>
      </p:pic>
      <p:sp>
        <p:nvSpPr>
          <p:cNvPr id="17" name="TEXT: 拆清业务条件"/>
          <p:cNvSpPr txBox="1"/>
          <p:nvPr/>
        </p:nvSpPr>
        <p:spPr>
          <a:xfrm>
            <a:off x="3600449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拆清业务条件</a:t>
            </a:r>
          </a:p>
        </p:txBody>
      </p:sp>
      <p:sp>
        <p:nvSpPr>
          <p:cNvPr id="18" name="TEXT: 金额、预算、能力用代码校验"/>
          <p:cNvSpPr txBox="1"/>
          <p:nvPr/>
        </p:nvSpPr>
        <p:spPr>
          <a:xfrm>
            <a:off x="3600449" y="3429000"/>
            <a:ext cx="2228850" cy="6675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金额、预算、能力用代码校验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3892" y="3136391"/>
            <a:ext cx="219455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40779" y="2423160"/>
            <a:ext cx="2503170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MAGE: icon-brain-circuit-087F72.png" descr="icon-brain-circuit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2578608"/>
            <a:ext cx="283464" cy="283464"/>
          </a:xfrm>
          <a:prstGeom prst="rect">
            <a:avLst/>
          </a:prstGeom>
        </p:spPr>
      </p:pic>
      <p:sp>
        <p:nvSpPr>
          <p:cNvPr id="22" name="TEXT: 再做领域训练"/>
          <p:cNvSpPr txBox="1"/>
          <p:nvPr/>
        </p:nvSpPr>
        <p:spPr>
          <a:xfrm>
            <a:off x="637794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再做领域训练</a:t>
            </a:r>
          </a:p>
        </p:txBody>
      </p:sp>
      <p:sp>
        <p:nvSpPr>
          <p:cNvPr id="23" name="TEXT: LoRA / 决策头，加入困难反例"/>
          <p:cNvSpPr txBox="1"/>
          <p:nvPr/>
        </p:nvSpPr>
        <p:spPr>
          <a:xfrm>
            <a:off x="6377940" y="3429000"/>
            <a:ext cx="2228850" cy="6675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LoRA / 决策头，加入困难反例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71382" y="3136391"/>
            <a:ext cx="219456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18269" y="2423160"/>
            <a:ext cx="2503170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MAGE: icon-shield-check-087F72.png" descr="icon-shield-check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5430" y="2578608"/>
            <a:ext cx="283464" cy="283464"/>
          </a:xfrm>
          <a:prstGeom prst="rect">
            <a:avLst/>
          </a:prstGeom>
        </p:spPr>
      </p:pic>
      <p:sp>
        <p:nvSpPr>
          <p:cNvPr id="27" name="TEXT: 独立验收上线"/>
          <p:cNvSpPr txBox="1"/>
          <p:nvPr/>
        </p:nvSpPr>
        <p:spPr>
          <a:xfrm>
            <a:off x="915543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独立验收上线</a:t>
            </a:r>
          </a:p>
        </p:txBody>
      </p:sp>
      <p:sp>
        <p:nvSpPr>
          <p:cNvPr id="28" name="TEXT: 完成度、校准、拒绝与回退"/>
          <p:cNvSpPr txBox="1"/>
          <p:nvPr/>
        </p:nvSpPr>
        <p:spPr>
          <a:xfrm>
            <a:off x="9155430" y="3429000"/>
            <a:ext cx="2228850" cy="6675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完成度、校准、拒绝与回退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4581144"/>
            <a:ext cx="5248656" cy="10241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4581144"/>
            <a:ext cx="41148" cy="1024128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浏览器 / 支付"/>
          <p:cNvSpPr txBox="1"/>
          <p:nvPr/>
        </p:nvSpPr>
        <p:spPr>
          <a:xfrm>
            <a:off x="877824" y="4672583"/>
            <a:ext cx="4919472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浏览器 / 支付</a:t>
            </a:r>
          </a:p>
        </p:txBody>
      </p:sp>
      <p:sp>
        <p:nvSpPr>
          <p:cNvPr id="32" name="TEXT: finish 前核验页面、产物或账本；缺证据继续收集。"/>
          <p:cNvSpPr txBox="1"/>
          <p:nvPr/>
        </p:nvSpPr>
        <p:spPr>
          <a:xfrm>
            <a:off x="877824" y="5065776"/>
            <a:ext cx="4919472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8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finish 前核验页面、产物或账本；缺证据继续收集。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581144"/>
            <a:ext cx="5303520" cy="10241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4581144"/>
            <a:ext cx="41148" cy="1024128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模型路由"/>
          <p:cNvSpPr txBox="1"/>
          <p:nvPr/>
        </p:nvSpPr>
        <p:spPr>
          <a:xfrm>
            <a:off x="6336792" y="4672583"/>
            <a:ext cx="4974336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模型路由</a:t>
            </a:r>
          </a:p>
        </p:txBody>
      </p:sp>
      <p:sp>
        <p:nvSpPr>
          <p:cNvPr id="36" name="TEXT: 语义分流交给模型；硬约束筛选后再排序和回退。"/>
          <p:cNvSpPr txBox="1"/>
          <p:nvPr/>
        </p:nvSpPr>
        <p:spPr>
          <a:xfrm>
            <a:off x="6336792" y="5065776"/>
            <a:ext cx="4974336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8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语义分流交给模型；硬约束筛选后再排序和回退。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7  vLLM 适配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07  vLLM 适配</a:t>
            </a:r>
          </a:p>
        </p:txBody>
      </p:sp>
      <p:sp>
        <p:nvSpPr>
          <p:cNvPr id="4" name="TEXT: 保留决策头，把单请求执行接到并发调度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保留决策头，把单请求执行接到并发调度</a:t>
            </a:r>
          </a:p>
        </p:txBody>
      </p:sp>
      <p:sp>
        <p:nvSpPr>
          <p:cNvPr id="5" name="TEXT: 这不是把 Decider 当聊天模型生成 JSON；适配使用官方模板、位置元数据与评分逻辑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这不是把 Decider 当聊天模型生成 JSON；适配使用官方模板、位置元数据与评分逻辑。</a:t>
            </a:r>
          </a:p>
        </p:txBody>
      </p:sp>
      <p:sp>
        <p:nvSpPr>
          <p:cNvPr id="6" name="TEXT: vLLM 0.31.0；BF16 底座 / FP32 Pointer Head；未开启前缀缓存、分块预填充或 CUDA Graph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vLLM 0.31.0；BF16 底座 / FP32 Pointer Head；未开启前缀缓存、分块预填充或 CUDA Graph。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3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23 / 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2503170" cy="16276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layers-087F72.png" descr="icon-layers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78608"/>
            <a:ext cx="283464" cy="283464"/>
          </a:xfrm>
          <a:prstGeom prst="rect">
            <a:avLst/>
          </a:prstGeom>
        </p:spPr>
      </p:pic>
      <p:sp>
        <p:nvSpPr>
          <p:cNvPr id="12" name="TEXT: 导出权重"/>
          <p:cNvSpPr txBox="1"/>
          <p:nvPr/>
        </p:nvSpPr>
        <p:spPr>
          <a:xfrm>
            <a:off x="82296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导出权重</a:t>
            </a:r>
          </a:p>
        </p:txBody>
      </p:sp>
      <p:sp>
        <p:nvSpPr>
          <p:cNvPr id="13" name="TEXT: 合并 LoRA，保存决策头"/>
          <p:cNvSpPr txBox="1"/>
          <p:nvPr/>
        </p:nvSpPr>
        <p:spPr>
          <a:xfrm>
            <a:off x="822960" y="3429000"/>
            <a:ext cx="2228850" cy="6035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合并 LoRA，保存决策头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16401" y="3136391"/>
            <a:ext cx="219457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63289" y="2423160"/>
            <a:ext cx="2503170" cy="16276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MAGE: icon-clipboard-check-087F72.png" descr="icon-clipboard-check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449" y="2578608"/>
            <a:ext cx="283464" cy="283464"/>
          </a:xfrm>
          <a:prstGeom prst="rect">
            <a:avLst/>
          </a:prstGeom>
        </p:spPr>
      </p:pic>
      <p:sp>
        <p:nvSpPr>
          <p:cNvPr id="17" name="TEXT: 校验产物"/>
          <p:cNvSpPr txBox="1"/>
          <p:nvPr/>
        </p:nvSpPr>
        <p:spPr>
          <a:xfrm>
            <a:off x="3600449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校验产物</a:t>
            </a:r>
          </a:p>
        </p:txBody>
      </p:sp>
      <p:sp>
        <p:nvSpPr>
          <p:cNvPr id="18" name="TEXT: 模板 / 分词器 / 校准参数"/>
          <p:cNvSpPr txBox="1"/>
          <p:nvPr/>
        </p:nvSpPr>
        <p:spPr>
          <a:xfrm>
            <a:off x="3600449" y="3429000"/>
            <a:ext cx="2228850" cy="6035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模板 / 分词器 / 校准参数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3892" y="3136391"/>
            <a:ext cx="219455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40779" y="2423160"/>
            <a:ext cx="2503170" cy="16276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MAGE: icon-workflow-087F72.png" descr="icon-workflow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2578608"/>
            <a:ext cx="283464" cy="283464"/>
          </a:xfrm>
          <a:prstGeom prst="rect">
            <a:avLst/>
          </a:prstGeom>
        </p:spPr>
      </p:pic>
      <p:sp>
        <p:nvSpPr>
          <p:cNvPr id="22" name="TEXT: 启动 API"/>
          <p:cNvSpPr txBox="1"/>
          <p:nvPr/>
        </p:nvSpPr>
        <p:spPr>
          <a:xfrm>
            <a:off x="637794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启动 API</a:t>
            </a:r>
          </a:p>
        </p:txBody>
      </p:sp>
      <p:sp>
        <p:nvSpPr>
          <p:cNvPr id="23" name="TEXT: 定制 Pooler + 并发调度"/>
          <p:cNvSpPr txBox="1"/>
          <p:nvPr/>
        </p:nvSpPr>
        <p:spPr>
          <a:xfrm>
            <a:off x="6377940" y="3429000"/>
            <a:ext cx="2228850" cy="6035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定制 Pooler + 并发调度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71382" y="3136391"/>
            <a:ext cx="219456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18269" y="2423160"/>
            <a:ext cx="2503170" cy="16276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MAGE: icon-check-check-087F72.png" descr="icon-check-check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5430" y="2578608"/>
            <a:ext cx="283464" cy="283464"/>
          </a:xfrm>
          <a:prstGeom prst="rect">
            <a:avLst/>
          </a:prstGeom>
        </p:spPr>
      </p:pic>
      <p:sp>
        <p:nvSpPr>
          <p:cNvPr id="27" name="TEXT: 对齐原版"/>
          <p:cNvSpPr txBox="1"/>
          <p:nvPr/>
        </p:nvSpPr>
        <p:spPr>
          <a:xfrm>
            <a:off x="915543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对齐原版</a:t>
            </a:r>
          </a:p>
        </p:txBody>
      </p:sp>
      <p:sp>
        <p:nvSpPr>
          <p:cNvPr id="28" name="TEXT: choice 与数值分别验收"/>
          <p:cNvSpPr txBox="1"/>
          <p:nvPr/>
        </p:nvSpPr>
        <p:spPr>
          <a:xfrm>
            <a:off x="9155430" y="3429000"/>
            <a:ext cx="2228850" cy="6035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choice 与数值分别验收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4535424"/>
            <a:ext cx="10771632" cy="1207008"/>
          </a:xfrm>
          <a:prstGeom prst="roundRect">
            <a:avLst>
              <a:gd name="adj" fmla="val 13000"/>
            </a:avLst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decider-vllm export  →  verify-artifacts  →  serve"/>
          <p:cNvSpPr txBox="1"/>
          <p:nvPr/>
        </p:nvSpPr>
        <p:spPr>
          <a:xfrm>
            <a:off x="960120" y="4709160"/>
            <a:ext cx="1028700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decider-vllm export  →  verify-artifacts  →  serve</a:t>
            </a:r>
          </a:p>
        </p:txBody>
      </p:sp>
      <p:sp>
        <p:nvSpPr>
          <p:cNvPr id="31" name="TEXT: serve --max-num-seqs 128 --max-num-batched-tokens 8192"/>
          <p:cNvSpPr txBox="1"/>
          <p:nvPr/>
        </p:nvSpPr>
        <p:spPr>
          <a:xfrm>
            <a:off x="960120" y="5257800"/>
            <a:ext cx="1028700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B8D9D3"/>
                </a:solidFill>
                <a:latin typeface="Noto Sans CJK SC"/>
                <a:ea typeface="Noto Sans CJK SC"/>
                <a:cs typeface="Noto Sans CJK SC"/>
              </a:rPr>
              <a:t>serve --max-num-seqs 128 --max-num-batched-tokens 8192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7  独立推理服务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07  独立推理服务</a:t>
            </a:r>
          </a:p>
        </p:txBody>
      </p:sp>
      <p:sp>
        <p:nvSpPr>
          <p:cNvPr id="4" name="TEXT: 公网 API，私网 EC2 源站，模型持续驻留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公网 API，私网 EC2 源站，模型持续驻留</a:t>
            </a:r>
          </a:p>
        </p:txBody>
      </p:sp>
      <p:sp>
        <p:nvSpPr>
          <p:cNvPr id="5" name="TEXT: 独立 StrandsDeciderVLLM 项目：g6.xlarge / 1 × NVIDIA L4；与主演示的原版实例分开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独立 StrandsDeciderVLLM 项目：g6.xlarge / 1 × NVIDIA L4；与主演示的原版实例分开。</a:t>
            </a:r>
          </a:p>
        </p:txBody>
      </p:sp>
      <p:sp>
        <p:nvSpPr>
          <p:cNvPr id="6" name="TEXT: API 使用访问密钥；CloudFront VPC Origin。图中省略网络端点，后端直接调用相关 AWS 服务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API 使用访问密钥；CloudFront VPC Origin。图中省略网络端点，后端直接调用相关 AWS 服务。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4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24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1488" y="2057400"/>
            <a:ext cx="8714232" cy="3118104"/>
          </a:xfrm>
          <a:prstGeom prst="rect">
            <a:avLst/>
          </a:prstGeom>
          <a:noFill/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AWS Cloud"/>
          <p:cNvSpPr txBox="1"/>
          <p:nvPr/>
        </p:nvSpPr>
        <p:spPr>
          <a:xfrm>
            <a:off x="2916936" y="2167128"/>
            <a:ext cx="283464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AWS Cloud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6360" y="2496312"/>
            <a:ext cx="6071616" cy="2459736"/>
          </a:xfrm>
          <a:prstGeom prst="rect">
            <a:avLst/>
          </a:prstGeom>
          <a:noFill/>
          <a:ln w="10160">
            <a:solidFill>
              <a:srgbClr val="805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VPC · us-east-1"/>
          <p:cNvSpPr txBox="1"/>
          <p:nvPr/>
        </p:nvSpPr>
        <p:spPr>
          <a:xfrm>
            <a:off x="5330952" y="2606040"/>
            <a:ext cx="53035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VPC · us-east-1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76672" y="2971800"/>
            <a:ext cx="5650992" cy="1792224"/>
          </a:xfrm>
          <a:prstGeom prst="rect">
            <a:avLst/>
          </a:prstGeom>
          <a:solidFill>
            <a:srgbClr val="F0F8F7"/>
          </a:solidFill>
          <a:ln w="10160">
            <a:solidFill>
              <a:srgbClr val="70A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私有源站"/>
          <p:cNvSpPr txBox="1"/>
          <p:nvPr/>
        </p:nvSpPr>
        <p:spPr>
          <a:xfrm>
            <a:off x="5504688" y="3063240"/>
            <a:ext cx="521208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私有源站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91256"/>
            <a:ext cx="1655064" cy="13898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IMAGE: icon-code-xml-087F72.png" descr="icon-code-xml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3328416"/>
            <a:ext cx="365760" cy="365760"/>
          </a:xfrm>
          <a:prstGeom prst="rect">
            <a:avLst/>
          </a:prstGeom>
        </p:spPr>
      </p:pic>
      <p:sp>
        <p:nvSpPr>
          <p:cNvPr id="18" name="TEXT: API 客户端"/>
          <p:cNvSpPr txBox="1"/>
          <p:nvPr/>
        </p:nvSpPr>
        <p:spPr>
          <a:xfrm>
            <a:off x="914400" y="3840480"/>
            <a:ext cx="128016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API 客户端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71800" y="3191256"/>
            <a:ext cx="1783080" cy="13898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MAGE: aws-cloudfront-087F72.png" descr="aws-cloudfront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3310128"/>
            <a:ext cx="411480" cy="411480"/>
          </a:xfrm>
          <a:prstGeom prst="rect">
            <a:avLst/>
          </a:prstGeom>
        </p:spPr>
      </p:pic>
      <p:sp>
        <p:nvSpPr>
          <p:cNvPr id="21" name="TEXT: CloudFront"/>
          <p:cNvSpPr txBox="1"/>
          <p:nvPr/>
        </p:nvSpPr>
        <p:spPr>
          <a:xfrm>
            <a:off x="3136392" y="3831336"/>
            <a:ext cx="1472184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CloudFront</a:t>
            </a:r>
          </a:p>
        </p:txBody>
      </p:sp>
      <p:sp>
        <p:nvSpPr>
          <p:cNvPr id="22" name="TEXT: VPC Origin"/>
          <p:cNvSpPr txBox="1"/>
          <p:nvPr/>
        </p:nvSpPr>
        <p:spPr>
          <a:xfrm>
            <a:off x="3163824" y="4251960"/>
            <a:ext cx="146304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VPC Origin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32704" y="3392424"/>
            <a:ext cx="3483864" cy="120700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IMAGE: aws-ec2-087F72.png" descr="aws-ec2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296" y="3538728"/>
            <a:ext cx="384048" cy="384048"/>
          </a:xfrm>
          <a:prstGeom prst="rect">
            <a:avLst/>
          </a:prstGeom>
        </p:spPr>
      </p:pic>
      <p:sp>
        <p:nvSpPr>
          <p:cNvPr id="25" name="TEXT: g6.xlarge · 1 × L4"/>
          <p:cNvSpPr txBox="1"/>
          <p:nvPr/>
        </p:nvSpPr>
        <p:spPr>
          <a:xfrm>
            <a:off x="6309360" y="3575304"/>
            <a:ext cx="2624328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g6.xlarge · 1 × L4</a:t>
            </a:r>
          </a:p>
        </p:txBody>
      </p:sp>
      <p:sp>
        <p:nvSpPr>
          <p:cNvPr id="26" name="TEXT: API 鉴权 → vLLM → 决策头"/>
          <p:cNvSpPr txBox="1"/>
          <p:nvPr/>
        </p:nvSpPr>
        <p:spPr>
          <a:xfrm>
            <a:off x="5815584" y="4123944"/>
            <a:ext cx="3108960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API 鉴权 → vLLM → 决策头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83496" y="3392424"/>
            <a:ext cx="1097280" cy="120700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IMAGE: aws-ebs-087F72.png" descr="aws-ebs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3536" y="3520440"/>
            <a:ext cx="374904" cy="374904"/>
          </a:xfrm>
          <a:prstGeom prst="rect">
            <a:avLst/>
          </a:prstGeom>
        </p:spPr>
      </p:pic>
      <p:sp>
        <p:nvSpPr>
          <p:cNvPr id="29" name="TEXT: EBS gp3 160 GB"/>
          <p:cNvSpPr txBox="1"/>
          <p:nvPr/>
        </p:nvSpPr>
        <p:spPr>
          <a:xfrm>
            <a:off x="9811512" y="4005072"/>
            <a:ext cx="868680" cy="5212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EBS gp3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160 GB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423160" y="3904487"/>
            <a:ext cx="521208" cy="0"/>
          </a:xfrm>
          <a:prstGeom prst="line">
            <a:avLst/>
          </a:prstGeom>
          <a:ln w="1778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791456" y="3904487"/>
            <a:ext cx="813816" cy="0"/>
          </a:xfrm>
          <a:prstGeom prst="line">
            <a:avLst/>
          </a:prstGeom>
          <a:ln w="1778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144000" y="3904487"/>
            <a:ext cx="512064" cy="0"/>
          </a:xfrm>
          <a:prstGeom prst="line">
            <a:avLst/>
          </a:prstGeom>
          <a:ln w="1778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21792" y="5413248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压测：固定 worker，完整响应后补发；每档预热另计、失败不重试。吞吐按成功请求 / 总时长计算。"/>
          <p:cNvSpPr txBox="1"/>
          <p:nvPr/>
        </p:nvSpPr>
        <p:spPr>
          <a:xfrm>
            <a:off x="768096" y="5486400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压测：固定 worker，完整响应后补发；每档预热另计、失败不重试。吞吐按成功请求 / 总时长计算。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7  原版与 vLLM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07  原版与 vLLM</a:t>
            </a:r>
          </a:p>
        </p:txBody>
      </p:sp>
      <p:sp>
        <p:nvSpPr>
          <p:cNvPr id="4" name="TEXT: 同一块 L4，8 并发吞吐提升约 2.36 倍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同一块 L4，8 并发吞吐提升约 2.36 倍</a:t>
            </a:r>
          </a:p>
        </p:txBody>
      </p:sp>
      <p:sp>
        <p:nvSpPr>
          <p:cNvPr id="5" name="TEXT: 同机实验：g6.4xlarge，两个容器均限制 4 vCPU / 14 GiB；回环 HTTP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同机实验：g6.4xlarge，两个容器均限制 4 vCPU / 14 GiB；回环 HTTP。</a:t>
            </a:r>
          </a:p>
        </p:txBody>
      </p:sp>
      <p:sp>
        <p:nvSpPr>
          <p:cNvPr id="6" name="TEXT: 每档 80 请求，预热另计。提升同时包含推理路径和调度变化，不能全部归因于批处理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每档 80 请求，预热另计。提升同时包含推理路径和调度变化，不能全部归因于批处理。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5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25 / 32</a:t>
            </a:r>
          </a:p>
        </p:txBody>
      </p:sp>
      <p:pic>
        <p:nvPicPr>
          <p:cNvPr id="10" name="IMAGE: original-vllm-rps.png" descr="original-vllm-r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490" y="1993392"/>
            <a:ext cx="7113563" cy="3749039"/>
          </a:xfrm>
          <a:prstGeom prst="rect">
            <a:avLst/>
          </a:prstGeom>
        </p:spPr>
      </p:pic>
      <p:sp>
        <p:nvSpPr>
          <p:cNvPr id="11" name="TEXT: 14.76 → 34.91"/>
          <p:cNvSpPr txBox="1"/>
          <p:nvPr/>
        </p:nvSpPr>
        <p:spPr>
          <a:xfrm>
            <a:off x="8430768" y="2532888"/>
            <a:ext cx="2999232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14.76 → 34.91</a:t>
            </a:r>
          </a:p>
        </p:txBody>
      </p:sp>
      <p:sp>
        <p:nvSpPr>
          <p:cNvPr id="12" name="TEXT: 成功请求 / 秒"/>
          <p:cNvSpPr txBox="1"/>
          <p:nvPr/>
        </p:nvSpPr>
        <p:spPr>
          <a:xfrm>
            <a:off x="8430768" y="3163824"/>
            <a:ext cx="29260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成功请求 / 秒</a:t>
            </a:r>
          </a:p>
        </p:txBody>
      </p:sp>
      <p:sp>
        <p:nvSpPr>
          <p:cNvPr id="13" name="TEXT: 542.8 → 237.6"/>
          <p:cNvSpPr txBox="1"/>
          <p:nvPr/>
        </p:nvSpPr>
        <p:spPr>
          <a:xfrm>
            <a:off x="8430768" y="4041648"/>
            <a:ext cx="3017520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542.8 → 237.6</a:t>
            </a:r>
          </a:p>
        </p:txBody>
      </p:sp>
      <p:sp>
        <p:nvSpPr>
          <p:cNvPr id="14" name="TEXT: P95 毫秒 · 8 并发"/>
          <p:cNvSpPr txBox="1"/>
          <p:nvPr/>
        </p:nvSpPr>
        <p:spPr>
          <a:xfrm>
            <a:off x="8430768" y="4672584"/>
            <a:ext cx="301752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P95 毫秒 · 8 并发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7  并发与批次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07  并发与批次</a:t>
            </a:r>
          </a:p>
        </p:txBody>
      </p:sp>
      <p:sp>
        <p:nvSpPr>
          <p:cNvPr id="4" name="TEXT: 超过 8 并发后，这批短输入主要在增加等待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超过 8 并发后，这批短输入主要在增加等待</a:t>
            </a:r>
          </a:p>
        </p:txBody>
      </p:sp>
      <p:sp>
        <p:nvSpPr>
          <p:cNvPr id="5" name="TEXT: g6.xlarge 公网 API；1–128 并发每档 1,280 请求。输入 304–445 token，均值 373.9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g6.xlarge 公网 API；1–128 并发每档 1,280 请求。输入 304–445 token，均值 373.9。</a:t>
            </a:r>
          </a:p>
        </p:txBody>
      </p:sp>
      <p:sp>
        <p:nvSpPr>
          <p:cNvPr id="6" name="TEXT: batch 参数是调度 token 预算，不是请求数。8192 / 16384 / 32768 合计 23,040 次均成功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batch 参数是调度 token 预算，不是请求数。8192 / 16384 / 32768 合计 23,040 次均成功。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6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26 / 32</a:t>
            </a:r>
          </a:p>
        </p:txBody>
      </p:sp>
      <p:pic>
        <p:nvPicPr>
          <p:cNvPr id="10" name="IMAGE: concurrency-sweep.png" descr="concurrency-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37937"/>
            <a:ext cx="6858000" cy="334107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571231" y="2322576"/>
            <a:ext cx="94366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并发"/>
          <p:cNvSpPr txBox="1"/>
          <p:nvPr/>
        </p:nvSpPr>
        <p:spPr>
          <a:xfrm>
            <a:off x="7680959" y="2418588"/>
            <a:ext cx="7498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并发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31352" y="2322576"/>
            <a:ext cx="140086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吞吐 / s"/>
          <p:cNvSpPr txBox="1"/>
          <p:nvPr/>
        </p:nvSpPr>
        <p:spPr>
          <a:xfrm>
            <a:off x="8641080" y="2418588"/>
            <a:ext cx="12070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吞吐 / 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48672" y="2322576"/>
            <a:ext cx="158374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P95 ms"/>
          <p:cNvSpPr txBox="1"/>
          <p:nvPr/>
        </p:nvSpPr>
        <p:spPr>
          <a:xfrm>
            <a:off x="10058400" y="2418588"/>
            <a:ext cx="138988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P95 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71231" y="2889504"/>
            <a:ext cx="94366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8"/>
          <p:cNvSpPr txBox="1"/>
          <p:nvPr/>
        </p:nvSpPr>
        <p:spPr>
          <a:xfrm>
            <a:off x="7680959" y="2985516"/>
            <a:ext cx="7498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31352" y="2889504"/>
            <a:ext cx="140086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33.84"/>
          <p:cNvSpPr txBox="1"/>
          <p:nvPr/>
        </p:nvSpPr>
        <p:spPr>
          <a:xfrm>
            <a:off x="8641080" y="2985516"/>
            <a:ext cx="12070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33.84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48672" y="2889504"/>
            <a:ext cx="158374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245.0"/>
          <p:cNvSpPr txBox="1"/>
          <p:nvPr/>
        </p:nvSpPr>
        <p:spPr>
          <a:xfrm>
            <a:off x="10058400" y="2985516"/>
            <a:ext cx="138988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245.0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71231" y="3456432"/>
            <a:ext cx="94366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128"/>
          <p:cNvSpPr txBox="1"/>
          <p:nvPr/>
        </p:nvSpPr>
        <p:spPr>
          <a:xfrm>
            <a:off x="7680959" y="3552444"/>
            <a:ext cx="7498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128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31352" y="3456432"/>
            <a:ext cx="140086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29.65"/>
          <p:cNvSpPr txBox="1"/>
          <p:nvPr/>
        </p:nvSpPr>
        <p:spPr>
          <a:xfrm>
            <a:off x="8641080" y="3552444"/>
            <a:ext cx="12070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29.65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48672" y="3456432"/>
            <a:ext cx="158374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4986.1"/>
          <p:cNvSpPr txBox="1"/>
          <p:nvPr/>
        </p:nvSpPr>
        <p:spPr>
          <a:xfrm>
            <a:off x="10058400" y="3552444"/>
            <a:ext cx="138988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4986.1</a:t>
            </a:r>
          </a:p>
        </p:txBody>
      </p:sp>
      <p:sp>
        <p:nvSpPr>
          <p:cNvPr id="29" name="TEXT: 更大的 token 预算 未提高这批短输入吞吐。 先找服务容量，再设排队上限。"/>
          <p:cNvSpPr txBox="1"/>
          <p:nvPr/>
        </p:nvSpPr>
        <p:spPr>
          <a:xfrm>
            <a:off x="7717536" y="4379976"/>
            <a:ext cx="3657600" cy="11338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更大的 token 预算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未提高这批短输入吞吐。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先找服务容量，再设排队上限。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7  vLLM vs Jev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07  vLLM vs Jev</a:t>
            </a:r>
          </a:p>
        </p:txBody>
      </p:sp>
      <p:sp>
        <p:nvSpPr>
          <p:cNvPr id="4" name="TEXT: 低并发 Decider 延迟低，Jev 在中并发吞吐更高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低并发 Decider 延迟低，Jev 在中并发吞吐更高</a:t>
            </a:r>
          </a:p>
        </p:txBody>
      </p:sp>
      <p:sp>
        <p:nvSpPr>
          <p:cNvPr id="5" name="TEXT: 相同 20 个支付输入循环提交；Decider 8192 token 预算；Jev 直连 API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相同 20 个支付输入循环提交；Decider 8192 token 预算；Jev 直连 API。</a:t>
            </a:r>
          </a:p>
        </p:txBody>
      </p:sp>
      <p:sp>
        <p:nvSpPr>
          <p:cNvPr id="6" name="TEXT: 2026-10-13，每模型 10,240 次正式尝试；P95 为成功响应端到端延迟，单位毫秒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2026-10-13，每模型 10,240 次正式尝试；P95 为成功响应端到端延迟，单位毫秒。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7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27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94366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并发"/>
          <p:cNvSpPr txBox="1"/>
          <p:nvPr/>
        </p:nvSpPr>
        <p:spPr>
          <a:xfrm>
            <a:off x="731520" y="2107692"/>
            <a:ext cx="7498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并发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81912" y="2011680"/>
            <a:ext cx="258958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Decider 请求/s"/>
          <p:cNvSpPr txBox="1"/>
          <p:nvPr/>
        </p:nvSpPr>
        <p:spPr>
          <a:xfrm>
            <a:off x="1691640" y="2107692"/>
            <a:ext cx="239572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 请求/s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87952" y="2011680"/>
            <a:ext cx="249814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Jev 请求/s"/>
          <p:cNvSpPr txBox="1"/>
          <p:nvPr/>
        </p:nvSpPr>
        <p:spPr>
          <a:xfrm>
            <a:off x="4297680" y="2107692"/>
            <a:ext cx="230428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 请求/s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02552" y="2011680"/>
            <a:ext cx="240670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Decider P95"/>
          <p:cNvSpPr txBox="1"/>
          <p:nvPr/>
        </p:nvSpPr>
        <p:spPr>
          <a:xfrm>
            <a:off x="6812280" y="2107692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 P95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25712" y="2011680"/>
            <a:ext cx="240670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Jev P95"/>
          <p:cNvSpPr txBox="1"/>
          <p:nvPr/>
        </p:nvSpPr>
        <p:spPr>
          <a:xfrm>
            <a:off x="9235440" y="2107692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 P95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2578608"/>
            <a:ext cx="94366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1"/>
          <p:cNvSpPr txBox="1"/>
          <p:nvPr/>
        </p:nvSpPr>
        <p:spPr>
          <a:xfrm>
            <a:off x="731520" y="2674620"/>
            <a:ext cx="7498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81912" y="2578608"/>
            <a:ext cx="258958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18.01"/>
          <p:cNvSpPr txBox="1"/>
          <p:nvPr/>
        </p:nvSpPr>
        <p:spPr>
          <a:xfrm>
            <a:off x="1691640" y="2674620"/>
            <a:ext cx="239572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18.01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87952" y="2578608"/>
            <a:ext cx="249814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7.90"/>
          <p:cNvSpPr txBox="1"/>
          <p:nvPr/>
        </p:nvSpPr>
        <p:spPr>
          <a:xfrm>
            <a:off x="4297680" y="2674620"/>
            <a:ext cx="230428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7.90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02552" y="2578608"/>
            <a:ext cx="240670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59.4"/>
          <p:cNvSpPr txBox="1"/>
          <p:nvPr/>
        </p:nvSpPr>
        <p:spPr>
          <a:xfrm>
            <a:off x="6812280" y="2674620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59.4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25712" y="2578608"/>
            <a:ext cx="240670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160.2"/>
          <p:cNvSpPr txBox="1"/>
          <p:nvPr/>
        </p:nvSpPr>
        <p:spPr>
          <a:xfrm>
            <a:off x="9235440" y="2674620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160.2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" y="3145536"/>
            <a:ext cx="94366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8"/>
          <p:cNvSpPr txBox="1"/>
          <p:nvPr/>
        </p:nvSpPr>
        <p:spPr>
          <a:xfrm>
            <a:off x="731520" y="3241548"/>
            <a:ext cx="7498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81912" y="3145536"/>
            <a:ext cx="258958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35.74"/>
          <p:cNvSpPr txBox="1"/>
          <p:nvPr/>
        </p:nvSpPr>
        <p:spPr>
          <a:xfrm>
            <a:off x="1691640" y="3241548"/>
            <a:ext cx="239572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35.74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87952" y="3145536"/>
            <a:ext cx="249814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61.83"/>
          <p:cNvSpPr txBox="1"/>
          <p:nvPr/>
        </p:nvSpPr>
        <p:spPr>
          <a:xfrm>
            <a:off x="4297680" y="3241548"/>
            <a:ext cx="230428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61.83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02552" y="3145536"/>
            <a:ext cx="240670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237.0"/>
          <p:cNvSpPr txBox="1"/>
          <p:nvPr/>
        </p:nvSpPr>
        <p:spPr>
          <a:xfrm>
            <a:off x="6812280" y="3241548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237.0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25712" y="3145536"/>
            <a:ext cx="240670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166.9"/>
          <p:cNvSpPr txBox="1"/>
          <p:nvPr/>
        </p:nvSpPr>
        <p:spPr>
          <a:xfrm>
            <a:off x="9235440" y="3241548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166.9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" y="3712464"/>
            <a:ext cx="94366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32"/>
          <p:cNvSpPr txBox="1"/>
          <p:nvPr/>
        </p:nvSpPr>
        <p:spPr>
          <a:xfrm>
            <a:off x="731520" y="3808476"/>
            <a:ext cx="7498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581912" y="3712464"/>
            <a:ext cx="258958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30.61"/>
          <p:cNvSpPr txBox="1"/>
          <p:nvPr/>
        </p:nvSpPr>
        <p:spPr>
          <a:xfrm>
            <a:off x="1691640" y="3808476"/>
            <a:ext cx="239572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30.61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87952" y="3712464"/>
            <a:ext cx="249814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240.94"/>
          <p:cNvSpPr txBox="1"/>
          <p:nvPr/>
        </p:nvSpPr>
        <p:spPr>
          <a:xfrm>
            <a:off x="4297680" y="3808476"/>
            <a:ext cx="230428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240.94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02552" y="3712464"/>
            <a:ext cx="240670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1073.1"/>
          <p:cNvSpPr txBox="1"/>
          <p:nvPr/>
        </p:nvSpPr>
        <p:spPr>
          <a:xfrm>
            <a:off x="6812280" y="3808476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1073.1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25712" y="3712464"/>
            <a:ext cx="240670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172.6"/>
          <p:cNvSpPr txBox="1"/>
          <p:nvPr/>
        </p:nvSpPr>
        <p:spPr>
          <a:xfrm>
            <a:off x="9235440" y="3808476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172.6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" y="4279392"/>
            <a:ext cx="94366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128"/>
          <p:cNvSpPr txBox="1"/>
          <p:nvPr/>
        </p:nvSpPr>
        <p:spPr>
          <a:xfrm>
            <a:off x="731520" y="4375404"/>
            <a:ext cx="7498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128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81912" y="4279392"/>
            <a:ext cx="258958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: 30.59"/>
          <p:cNvSpPr txBox="1"/>
          <p:nvPr/>
        </p:nvSpPr>
        <p:spPr>
          <a:xfrm>
            <a:off x="1691640" y="4375404"/>
            <a:ext cx="239572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30.59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87952" y="4279392"/>
            <a:ext cx="249814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: 52.56"/>
          <p:cNvSpPr txBox="1"/>
          <p:nvPr/>
        </p:nvSpPr>
        <p:spPr>
          <a:xfrm>
            <a:off x="4297680" y="4375404"/>
            <a:ext cx="230428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52.56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02552" y="4279392"/>
            <a:ext cx="240670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: 11236.8"/>
          <p:cNvSpPr txBox="1"/>
          <p:nvPr/>
        </p:nvSpPr>
        <p:spPr>
          <a:xfrm>
            <a:off x="6812280" y="4375404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11236.8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25712" y="4279392"/>
            <a:ext cx="240670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: 5502.5"/>
          <p:cNvSpPr txBox="1"/>
          <p:nvPr/>
        </p:nvSpPr>
        <p:spPr>
          <a:xfrm>
            <a:off x="9235440" y="4375404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5502.5</a:t>
            </a:r>
          </a:p>
        </p:txBody>
      </p:sp>
      <p:sp>
        <p:nvSpPr>
          <p:cNvPr id="60" name="TEXT: Decider：10,239/10,240 成功，1 次 502；10 次置信度差异略超数值对齐容差。"/>
          <p:cNvSpPr txBox="1"/>
          <p:nvPr/>
        </p:nvSpPr>
        <p:spPr>
          <a:xfrm>
            <a:off x="749808" y="5138928"/>
            <a:ext cx="10698480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Decider：10,239/10,240 成功，1 次 502；10 次置信度差异略超数值对齐容差。</a:t>
            </a:r>
          </a:p>
        </p:txBody>
      </p:sp>
      <p:sp>
        <p:nvSpPr>
          <p:cNvPr id="61" name="TEXT: Jev：10,240/10,240 成功；128 并发的吞吐回落，尾延迟也明显增加。"/>
          <p:cNvSpPr txBox="1"/>
          <p:nvPr/>
        </p:nvSpPr>
        <p:spPr>
          <a:xfrm>
            <a:off x="749808" y="5632704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Jev：10,240/10,240 成功；128 并发的吞吐回落，尾延迟也明显增加。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8  新增：EC2 RI 成本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08  新增：EC2 RI 成本</a:t>
            </a:r>
          </a:p>
        </p:txBody>
      </p:sp>
      <p:sp>
        <p:nvSpPr>
          <p:cNvPr id="4" name="TEXT: g6.2xlarge：RI 折算月费约降低 35%–60%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g6.2xlarge：RI 折算月费约降低 35%–60%</a:t>
            </a:r>
          </a:p>
        </p:txBody>
      </p:sp>
      <p:sp>
        <p:nvSpPr>
          <p:cNvPr id="5" name="TEXT: us-east-1 · Linux · Shared · Standard RI；按 730 小时/月，美元，单台计算费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us-east-1 · Linux · Shared · Standard RI；按 730 小时/月，美元，单台计算费。</a:t>
            </a:r>
          </a:p>
        </p:txBody>
      </p:sp>
      <p:sp>
        <p:nvSpPr>
          <p:cNvPr id="6" name="TEXT: 2026-10-15 AWS Price List；折算月费 = 预付额 / 期限月数 + 小时费 × 730。不是实际月账单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2026-10-15 AWS Price List；折算月费 = 预付额 / 期限月数 + 小时费 × 730。不是实际月账单。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8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28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3001060" cy="39776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购买方式"/>
          <p:cNvSpPr txBox="1"/>
          <p:nvPr/>
        </p:nvSpPr>
        <p:spPr>
          <a:xfrm>
            <a:off x="731520" y="2107692"/>
            <a:ext cx="28072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购买方式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39312" y="2011680"/>
            <a:ext cx="1812340" cy="39776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一次预付"/>
          <p:cNvSpPr txBox="1"/>
          <p:nvPr/>
        </p:nvSpPr>
        <p:spPr>
          <a:xfrm>
            <a:off x="3749039" y="2107692"/>
            <a:ext cx="161848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一次预付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68112" y="2011680"/>
            <a:ext cx="1995220" cy="39776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后续小时费"/>
          <p:cNvSpPr txBox="1"/>
          <p:nvPr/>
        </p:nvSpPr>
        <p:spPr>
          <a:xfrm>
            <a:off x="5577840" y="2107692"/>
            <a:ext cx="180136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后续小时费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79792" y="2011680"/>
            <a:ext cx="1995220" cy="39776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折算每月"/>
          <p:cNvSpPr txBox="1"/>
          <p:nvPr/>
        </p:nvSpPr>
        <p:spPr>
          <a:xfrm>
            <a:off x="7589519" y="2107692"/>
            <a:ext cx="180136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折算每月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91472" y="2011680"/>
            <a:ext cx="2040940" cy="39776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相对按需节省"/>
          <p:cNvSpPr txBox="1"/>
          <p:nvPr/>
        </p:nvSpPr>
        <p:spPr>
          <a:xfrm>
            <a:off x="9601199" y="2107692"/>
            <a:ext cx="184708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相对按需节省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2432304"/>
            <a:ext cx="3001060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按需"/>
          <p:cNvSpPr txBox="1"/>
          <p:nvPr/>
        </p:nvSpPr>
        <p:spPr>
          <a:xfrm>
            <a:off x="731520" y="2528316"/>
            <a:ext cx="28072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按需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39312" y="2432304"/>
            <a:ext cx="1812340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$0"/>
          <p:cNvSpPr txBox="1"/>
          <p:nvPr/>
        </p:nvSpPr>
        <p:spPr>
          <a:xfrm>
            <a:off x="3749039" y="2528316"/>
            <a:ext cx="161848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68112" y="2432304"/>
            <a:ext cx="1995220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$0.97760"/>
          <p:cNvSpPr txBox="1"/>
          <p:nvPr/>
        </p:nvSpPr>
        <p:spPr>
          <a:xfrm>
            <a:off x="5577840" y="2528316"/>
            <a:ext cx="180136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$0.97760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79792" y="2432304"/>
            <a:ext cx="1995220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$713.65"/>
          <p:cNvSpPr txBox="1"/>
          <p:nvPr/>
        </p:nvSpPr>
        <p:spPr>
          <a:xfrm>
            <a:off x="7589519" y="2528316"/>
            <a:ext cx="180136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$713.65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91472" y="2432304"/>
            <a:ext cx="2040940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—"/>
          <p:cNvSpPr txBox="1"/>
          <p:nvPr/>
        </p:nvSpPr>
        <p:spPr>
          <a:xfrm>
            <a:off x="9601199" y="2528316"/>
            <a:ext cx="184708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" y="2852928"/>
            <a:ext cx="3001060" cy="397764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1 年 无预付"/>
          <p:cNvSpPr txBox="1"/>
          <p:nvPr/>
        </p:nvSpPr>
        <p:spPr>
          <a:xfrm>
            <a:off x="731520" y="2948940"/>
            <a:ext cx="28072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 年 无预付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39312" y="2852928"/>
            <a:ext cx="1812340" cy="397764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$0"/>
          <p:cNvSpPr txBox="1"/>
          <p:nvPr/>
        </p:nvSpPr>
        <p:spPr>
          <a:xfrm>
            <a:off x="3749039" y="2948940"/>
            <a:ext cx="161848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68112" y="2852928"/>
            <a:ext cx="1995220" cy="397764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$0.63642"/>
          <p:cNvSpPr txBox="1"/>
          <p:nvPr/>
        </p:nvSpPr>
        <p:spPr>
          <a:xfrm>
            <a:off x="5577840" y="2948940"/>
            <a:ext cx="180136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$0.63642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79792" y="2852928"/>
            <a:ext cx="1995220" cy="397764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$464.59"/>
          <p:cNvSpPr txBox="1"/>
          <p:nvPr/>
        </p:nvSpPr>
        <p:spPr>
          <a:xfrm>
            <a:off x="7589519" y="2948940"/>
            <a:ext cx="180136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$464.59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91472" y="2852928"/>
            <a:ext cx="2040940" cy="397764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34.9%"/>
          <p:cNvSpPr txBox="1"/>
          <p:nvPr/>
        </p:nvSpPr>
        <p:spPr>
          <a:xfrm>
            <a:off x="9601199" y="2948940"/>
            <a:ext cx="184708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34.9%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" y="3273552"/>
            <a:ext cx="3001060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1 年 部分预付"/>
          <p:cNvSpPr txBox="1"/>
          <p:nvPr/>
        </p:nvSpPr>
        <p:spPr>
          <a:xfrm>
            <a:off x="731520" y="3369564"/>
            <a:ext cx="28072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 年 部分预付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39312" y="3273552"/>
            <a:ext cx="1812340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$2,655"/>
          <p:cNvSpPr txBox="1"/>
          <p:nvPr/>
        </p:nvSpPr>
        <p:spPr>
          <a:xfrm>
            <a:off x="3749039" y="3369564"/>
            <a:ext cx="161848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$2,655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68112" y="3273552"/>
            <a:ext cx="1995220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$0.30306"/>
          <p:cNvSpPr txBox="1"/>
          <p:nvPr/>
        </p:nvSpPr>
        <p:spPr>
          <a:xfrm>
            <a:off x="5577840" y="3369564"/>
            <a:ext cx="180136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$0.30306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79792" y="3273552"/>
            <a:ext cx="1995220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$442.48"/>
          <p:cNvSpPr txBox="1"/>
          <p:nvPr/>
        </p:nvSpPr>
        <p:spPr>
          <a:xfrm>
            <a:off x="7589519" y="3369564"/>
            <a:ext cx="180136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$442.48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491472" y="3273552"/>
            <a:ext cx="2040940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38.0%"/>
          <p:cNvSpPr txBox="1"/>
          <p:nvPr/>
        </p:nvSpPr>
        <p:spPr>
          <a:xfrm>
            <a:off x="9601199" y="3369564"/>
            <a:ext cx="184708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38.0%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" y="3694176"/>
            <a:ext cx="3001060" cy="39776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1 年 全预付"/>
          <p:cNvSpPr txBox="1"/>
          <p:nvPr/>
        </p:nvSpPr>
        <p:spPr>
          <a:xfrm>
            <a:off x="731520" y="3790188"/>
            <a:ext cx="28072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 年 全预付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39312" y="3694176"/>
            <a:ext cx="1812340" cy="39776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: $5,203"/>
          <p:cNvSpPr txBox="1"/>
          <p:nvPr/>
        </p:nvSpPr>
        <p:spPr>
          <a:xfrm>
            <a:off x="3749039" y="3790188"/>
            <a:ext cx="161848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$5,203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68112" y="3694176"/>
            <a:ext cx="1995220" cy="39776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: $0.00000"/>
          <p:cNvSpPr txBox="1"/>
          <p:nvPr/>
        </p:nvSpPr>
        <p:spPr>
          <a:xfrm>
            <a:off x="5577840" y="3790188"/>
            <a:ext cx="180136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$0.00000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79792" y="3694176"/>
            <a:ext cx="1995220" cy="39776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: $433.58"/>
          <p:cNvSpPr txBox="1"/>
          <p:nvPr/>
        </p:nvSpPr>
        <p:spPr>
          <a:xfrm>
            <a:off x="7589519" y="3790188"/>
            <a:ext cx="180136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$433.58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91472" y="3694176"/>
            <a:ext cx="2040940" cy="39776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: 39.2%"/>
          <p:cNvSpPr txBox="1"/>
          <p:nvPr/>
        </p:nvSpPr>
        <p:spPr>
          <a:xfrm>
            <a:off x="9601199" y="3790188"/>
            <a:ext cx="184708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39.2%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1792" y="4114800"/>
            <a:ext cx="3001060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: 3 年 无预付"/>
          <p:cNvSpPr txBox="1"/>
          <p:nvPr/>
        </p:nvSpPr>
        <p:spPr>
          <a:xfrm>
            <a:off x="731520" y="4210812"/>
            <a:ext cx="28072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 年 无预付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39312" y="4114800"/>
            <a:ext cx="1812340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: $0"/>
          <p:cNvSpPr txBox="1"/>
          <p:nvPr/>
        </p:nvSpPr>
        <p:spPr>
          <a:xfrm>
            <a:off x="3749039" y="4210812"/>
            <a:ext cx="161848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68112" y="4114800"/>
            <a:ext cx="1995220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: $0.44872"/>
          <p:cNvSpPr txBox="1"/>
          <p:nvPr/>
        </p:nvSpPr>
        <p:spPr>
          <a:xfrm>
            <a:off x="5577840" y="4210812"/>
            <a:ext cx="180136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$0.44872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79792" y="4114800"/>
            <a:ext cx="1995220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: $327.57"/>
          <p:cNvSpPr txBox="1"/>
          <p:nvPr/>
        </p:nvSpPr>
        <p:spPr>
          <a:xfrm>
            <a:off x="7589519" y="4210812"/>
            <a:ext cx="180136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$327.57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491472" y="4114800"/>
            <a:ext cx="2040940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: 54.1%"/>
          <p:cNvSpPr txBox="1"/>
          <p:nvPr/>
        </p:nvSpPr>
        <p:spPr>
          <a:xfrm>
            <a:off x="9601199" y="4210812"/>
            <a:ext cx="184708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54.1%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1792" y="4535424"/>
            <a:ext cx="3001060" cy="39776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: 3 年 部分预付"/>
          <p:cNvSpPr txBox="1"/>
          <p:nvPr/>
        </p:nvSpPr>
        <p:spPr>
          <a:xfrm>
            <a:off x="731520" y="4631436"/>
            <a:ext cx="28072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 年 部分预付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39312" y="4535424"/>
            <a:ext cx="1812340" cy="39776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: $5,459"/>
          <p:cNvSpPr txBox="1"/>
          <p:nvPr/>
        </p:nvSpPr>
        <p:spPr>
          <a:xfrm>
            <a:off x="3749039" y="4631436"/>
            <a:ext cx="161848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$5,459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68112" y="4535424"/>
            <a:ext cx="1995220" cy="39776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: $0.20774"/>
          <p:cNvSpPr txBox="1"/>
          <p:nvPr/>
        </p:nvSpPr>
        <p:spPr>
          <a:xfrm>
            <a:off x="5577840" y="4631436"/>
            <a:ext cx="180136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$0.20774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479792" y="4535424"/>
            <a:ext cx="1995220" cy="39776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: $303.29"/>
          <p:cNvSpPr txBox="1"/>
          <p:nvPr/>
        </p:nvSpPr>
        <p:spPr>
          <a:xfrm>
            <a:off x="7589519" y="4631436"/>
            <a:ext cx="180136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$303.29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491472" y="4535424"/>
            <a:ext cx="2040940" cy="39776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: 57.5%"/>
          <p:cNvSpPr txBox="1"/>
          <p:nvPr/>
        </p:nvSpPr>
        <p:spPr>
          <a:xfrm>
            <a:off x="9601199" y="4631436"/>
            <a:ext cx="184708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57.5%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1792" y="4956048"/>
            <a:ext cx="3001060" cy="397764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: 3 年 全预付"/>
          <p:cNvSpPr txBox="1"/>
          <p:nvPr/>
        </p:nvSpPr>
        <p:spPr>
          <a:xfrm>
            <a:off x="731520" y="5052060"/>
            <a:ext cx="28072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 年 全预付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39312" y="4956048"/>
            <a:ext cx="1812340" cy="397764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: $10,264"/>
          <p:cNvSpPr txBox="1"/>
          <p:nvPr/>
        </p:nvSpPr>
        <p:spPr>
          <a:xfrm>
            <a:off x="3749039" y="5052060"/>
            <a:ext cx="161848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$10,264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468112" y="4956048"/>
            <a:ext cx="1995220" cy="397764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: $0.00000"/>
          <p:cNvSpPr txBox="1"/>
          <p:nvPr/>
        </p:nvSpPr>
        <p:spPr>
          <a:xfrm>
            <a:off x="5577840" y="5052060"/>
            <a:ext cx="180136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$0.00000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479792" y="4956048"/>
            <a:ext cx="1995220" cy="397764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: $285.11"/>
          <p:cNvSpPr txBox="1"/>
          <p:nvPr/>
        </p:nvSpPr>
        <p:spPr>
          <a:xfrm>
            <a:off x="7589519" y="5052060"/>
            <a:ext cx="180136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$285.11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491472" y="4956048"/>
            <a:ext cx="2040940" cy="397764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: 60.0%"/>
          <p:cNvSpPr txBox="1"/>
          <p:nvPr/>
        </p:nvSpPr>
        <p:spPr>
          <a:xfrm>
            <a:off x="9601199" y="5052060"/>
            <a:ext cx="184708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60.0%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21792" y="5660136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: Jev 按量：$0.042 / 百万输入 token，输出免费。RI 承诺整个期限，闲置也继续付费。"/>
          <p:cNvSpPr txBox="1"/>
          <p:nvPr/>
        </p:nvSpPr>
        <p:spPr>
          <a:xfrm>
            <a:off x="768096" y="5733288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Jev 按量：$0.042 / 百万输入 token，输出免费。RI 承诺整个期限，闲置也继续付费。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8  Decider vs Jev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08  Decider vs Jev</a:t>
            </a:r>
          </a:p>
        </p:txBody>
      </p:sp>
      <p:sp>
        <p:nvSpPr>
          <p:cNvPr id="4" name="TEXT: 3 年全预付 RI：与 Jev 的交点约 1033 万次/月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3 年全预付 RI：与 Jev 的交点约 1033 万次/月</a:t>
            </a:r>
          </a:p>
        </p:txBody>
      </p:sp>
      <p:sp>
        <p:nvSpPr>
          <p:cNvPr id="5" name="TEXT: 单台能够承载时：低于交点，Jev 调用费更低；高于交点，EC2 计算费更低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单台能够承载时：低于交点，Jev 调用费更低；高于交点，EC2 计算费更低。</a:t>
            </a:r>
          </a:p>
        </p:txBody>
      </p:sp>
      <p:sp>
        <p:nvSpPr>
          <p:cNvPr id="6" name="TEXT: 交点仅表示费用相等，不代表该实例实测容量，也不代表结果质量相同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交点仅表示费用相等，不代表该实例实测容量，也不代表结果质量相同。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9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29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3001060" cy="498347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计算费方案"/>
          <p:cNvSpPr txBox="1"/>
          <p:nvPr/>
        </p:nvSpPr>
        <p:spPr>
          <a:xfrm>
            <a:off x="731520" y="2107692"/>
            <a:ext cx="280720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计算费方案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39312" y="2011680"/>
            <a:ext cx="1995220" cy="498347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折算每月"/>
          <p:cNvSpPr txBox="1"/>
          <p:nvPr/>
        </p:nvSpPr>
        <p:spPr>
          <a:xfrm>
            <a:off x="3749039" y="2107692"/>
            <a:ext cx="180136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折算每月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50992" y="2011680"/>
            <a:ext cx="2863900" cy="498347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支付决策 / 月"/>
          <p:cNvSpPr txBox="1"/>
          <p:nvPr/>
        </p:nvSpPr>
        <p:spPr>
          <a:xfrm>
            <a:off x="5760720" y="2107692"/>
            <a:ext cx="267004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支付决策 / 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31352" y="2011680"/>
            <a:ext cx="3001060" cy="498347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完整两步路由 / 月"/>
          <p:cNvSpPr txBox="1"/>
          <p:nvPr/>
        </p:nvSpPr>
        <p:spPr>
          <a:xfrm>
            <a:off x="8641080" y="2107692"/>
            <a:ext cx="280720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完整两步路由 / 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2532888"/>
            <a:ext cx="3001060" cy="4983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按需"/>
          <p:cNvSpPr txBox="1"/>
          <p:nvPr/>
        </p:nvSpPr>
        <p:spPr>
          <a:xfrm>
            <a:off x="731520" y="2628900"/>
            <a:ext cx="280720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按需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39312" y="2532888"/>
            <a:ext cx="1995220" cy="4983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$713.65"/>
          <p:cNvSpPr txBox="1"/>
          <p:nvPr/>
        </p:nvSpPr>
        <p:spPr>
          <a:xfrm>
            <a:off x="3749039" y="2628900"/>
            <a:ext cx="180136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$713.65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50992" y="2532888"/>
            <a:ext cx="2863900" cy="4983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2,586 万次"/>
          <p:cNvSpPr txBox="1"/>
          <p:nvPr/>
        </p:nvSpPr>
        <p:spPr>
          <a:xfrm>
            <a:off x="5760720" y="2628900"/>
            <a:ext cx="267004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2,586 万次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1352" y="2532888"/>
            <a:ext cx="3001060" cy="4983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606 万条"/>
          <p:cNvSpPr txBox="1"/>
          <p:nvPr/>
        </p:nvSpPr>
        <p:spPr>
          <a:xfrm>
            <a:off x="8641080" y="2628900"/>
            <a:ext cx="280720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606 万条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3054096"/>
            <a:ext cx="3001060" cy="498347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1 年 无预付"/>
          <p:cNvSpPr txBox="1"/>
          <p:nvPr/>
        </p:nvSpPr>
        <p:spPr>
          <a:xfrm>
            <a:off x="731520" y="3150108"/>
            <a:ext cx="280720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 年 无预付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39312" y="3054096"/>
            <a:ext cx="1995220" cy="498347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$464.59"/>
          <p:cNvSpPr txBox="1"/>
          <p:nvPr/>
        </p:nvSpPr>
        <p:spPr>
          <a:xfrm>
            <a:off x="3749039" y="3150108"/>
            <a:ext cx="180136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$464.59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50992" y="3054096"/>
            <a:ext cx="2863900" cy="498347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1,684 万次"/>
          <p:cNvSpPr txBox="1"/>
          <p:nvPr/>
        </p:nvSpPr>
        <p:spPr>
          <a:xfrm>
            <a:off x="5760720" y="3150108"/>
            <a:ext cx="267004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1,684 万次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31352" y="3054096"/>
            <a:ext cx="3001060" cy="498347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394 万条"/>
          <p:cNvSpPr txBox="1"/>
          <p:nvPr/>
        </p:nvSpPr>
        <p:spPr>
          <a:xfrm>
            <a:off x="8641080" y="3150108"/>
            <a:ext cx="280720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394 万条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3575304"/>
            <a:ext cx="3001060" cy="4983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1 年 全预付"/>
          <p:cNvSpPr txBox="1"/>
          <p:nvPr/>
        </p:nvSpPr>
        <p:spPr>
          <a:xfrm>
            <a:off x="731520" y="3671316"/>
            <a:ext cx="280720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 年 全预付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39312" y="3575304"/>
            <a:ext cx="1995220" cy="4983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$433.58"/>
          <p:cNvSpPr txBox="1"/>
          <p:nvPr/>
        </p:nvSpPr>
        <p:spPr>
          <a:xfrm>
            <a:off x="3749039" y="3671316"/>
            <a:ext cx="180136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$433.58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50992" y="3575304"/>
            <a:ext cx="2863900" cy="4983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1,571 万次"/>
          <p:cNvSpPr txBox="1"/>
          <p:nvPr/>
        </p:nvSpPr>
        <p:spPr>
          <a:xfrm>
            <a:off x="5760720" y="3671316"/>
            <a:ext cx="267004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1,571 万次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31352" y="3575304"/>
            <a:ext cx="3001060" cy="4983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368 万条"/>
          <p:cNvSpPr txBox="1"/>
          <p:nvPr/>
        </p:nvSpPr>
        <p:spPr>
          <a:xfrm>
            <a:off x="8641080" y="3671316"/>
            <a:ext cx="280720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368 万条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" y="4096512"/>
            <a:ext cx="3001060" cy="498347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3 年 全预付"/>
          <p:cNvSpPr txBox="1"/>
          <p:nvPr/>
        </p:nvSpPr>
        <p:spPr>
          <a:xfrm>
            <a:off x="731520" y="4192524"/>
            <a:ext cx="280720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 年 全预付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39312" y="4096512"/>
            <a:ext cx="1995220" cy="498347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$285.11"/>
          <p:cNvSpPr txBox="1"/>
          <p:nvPr/>
        </p:nvSpPr>
        <p:spPr>
          <a:xfrm>
            <a:off x="3749039" y="4192524"/>
            <a:ext cx="180136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$285.11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50992" y="4096512"/>
            <a:ext cx="2863900" cy="498347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1,033 万次"/>
          <p:cNvSpPr txBox="1"/>
          <p:nvPr/>
        </p:nvSpPr>
        <p:spPr>
          <a:xfrm>
            <a:off x="5760720" y="4192524"/>
            <a:ext cx="267004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1,033 万次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31352" y="4096512"/>
            <a:ext cx="3001060" cy="498347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242 万条"/>
          <p:cNvSpPr txBox="1"/>
          <p:nvPr/>
        </p:nvSpPr>
        <p:spPr>
          <a:xfrm>
            <a:off x="8641080" y="4192524"/>
            <a:ext cx="2807208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242 万条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13232" y="4864608"/>
            <a:ext cx="5266944" cy="98755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13232" y="4864608"/>
            <a:ext cx="41148" cy="987552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: 支付单次"/>
          <p:cNvSpPr txBox="1"/>
          <p:nvPr/>
        </p:nvSpPr>
        <p:spPr>
          <a:xfrm>
            <a:off x="877824" y="4956048"/>
            <a:ext cx="4937759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支付单次</a:t>
            </a:r>
          </a:p>
        </p:txBody>
      </p:sp>
      <p:sp>
        <p:nvSpPr>
          <p:cNvPr id="53" name="TEXT: 平均 656.95 输入 token → $27.59 / 百万次"/>
          <p:cNvSpPr txBox="1"/>
          <p:nvPr/>
        </p:nvSpPr>
        <p:spPr>
          <a:xfrm>
            <a:off x="877824" y="5349240"/>
            <a:ext cx="4937759" cy="4754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平均 656.95 输入 token → $27.59 / 百万次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81344" y="4864608"/>
            <a:ext cx="5303520" cy="98755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81344" y="4864608"/>
            <a:ext cx="41148" cy="987552"/>
          </a:xfrm>
          <a:prstGeom prst="rect">
            <a:avLst/>
          </a:prstGeom>
          <a:solidFill>
            <a:srgbClr val="8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: 两步路由"/>
          <p:cNvSpPr txBox="1"/>
          <p:nvPr/>
        </p:nvSpPr>
        <p:spPr>
          <a:xfrm>
            <a:off x="6345936" y="4956048"/>
            <a:ext cx="4974336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两步路由</a:t>
            </a:r>
          </a:p>
        </p:txBody>
      </p:sp>
      <p:sp>
        <p:nvSpPr>
          <p:cNvPr id="57" name="TEXT: 平均 2,805.75 token → $117.84 / 百万条流程"/>
          <p:cNvSpPr txBox="1"/>
          <p:nvPr/>
        </p:nvSpPr>
        <p:spPr>
          <a:xfrm>
            <a:off x="6345936" y="5349240"/>
            <a:ext cx="4974336" cy="4754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平均 2,805.75 token → $117.84 / 百万条流程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8  成本决策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08  成本决策</a:t>
            </a:r>
          </a:p>
        </p:txBody>
      </p:sp>
      <p:sp>
        <p:nvSpPr>
          <p:cNvPr id="4" name="TEXT: 长期稳定运行，才有理由承担 RI 的期限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长期稳定运行，才有理由承担 RI 的期限</a:t>
            </a:r>
          </a:p>
        </p:txBody>
      </p:sp>
      <p:sp>
        <p:nvSpPr>
          <p:cNvPr id="5" name="TEXT: 先确认业务质量和流量，再比较常驻成本；Jev 按实际输入用量付费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先确认业务质量和流量，再比较常驻成本；Jev 按实际输入用量付费。</a:t>
            </a:r>
          </a:p>
        </p:txBody>
      </p:sp>
      <p:sp>
        <p:nvSpPr>
          <p:cNvPr id="6" name="TEXT: 计算费外另有 EBS、网络、应用和运维。区域 RI 不预留容量；这里没有执行 RI 购买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计算费外另有 EBS、网络、应用和运维。区域 RI 不预留容量；这里没有执行 RI 购买。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30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30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4189780" cy="507491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RI 方式"/>
          <p:cNvSpPr txBox="1"/>
          <p:nvPr/>
        </p:nvSpPr>
        <p:spPr>
          <a:xfrm>
            <a:off x="731520" y="2107692"/>
            <a:ext cx="3995927" cy="38404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RI 方式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28031" y="2011680"/>
            <a:ext cx="6704380" cy="507491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相对可停机按需的运行时长交点"/>
          <p:cNvSpPr txBox="1"/>
          <p:nvPr/>
        </p:nvSpPr>
        <p:spPr>
          <a:xfrm>
            <a:off x="4937759" y="2107692"/>
            <a:ext cx="6510527" cy="38404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相对可停机按需的运行时长交点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2542032"/>
            <a:ext cx="4189780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1 年 无预付"/>
          <p:cNvSpPr txBox="1"/>
          <p:nvPr/>
        </p:nvSpPr>
        <p:spPr>
          <a:xfrm>
            <a:off x="731520" y="2638044"/>
            <a:ext cx="3995927" cy="38404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 年 无预付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28031" y="2542032"/>
            <a:ext cx="6704380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65.1% 的期限小时"/>
          <p:cNvSpPr txBox="1"/>
          <p:nvPr/>
        </p:nvSpPr>
        <p:spPr>
          <a:xfrm>
            <a:off x="4937759" y="2638044"/>
            <a:ext cx="6510527" cy="38404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65.1% 的期限小时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3072384"/>
            <a:ext cx="4189780" cy="507491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1 年 全预付"/>
          <p:cNvSpPr txBox="1"/>
          <p:nvPr/>
        </p:nvSpPr>
        <p:spPr>
          <a:xfrm>
            <a:off x="731520" y="3168396"/>
            <a:ext cx="3995927" cy="38404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 年 全预付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28031" y="3072384"/>
            <a:ext cx="6704380" cy="507491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60.8% 的期限小时"/>
          <p:cNvSpPr txBox="1"/>
          <p:nvPr/>
        </p:nvSpPr>
        <p:spPr>
          <a:xfrm>
            <a:off x="4937759" y="3168396"/>
            <a:ext cx="6510527" cy="38404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60.8% 的期限小时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" y="3602736"/>
            <a:ext cx="4189780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3 年 全预付"/>
          <p:cNvSpPr txBox="1"/>
          <p:nvPr/>
        </p:nvSpPr>
        <p:spPr>
          <a:xfrm>
            <a:off x="731520" y="3698748"/>
            <a:ext cx="3995927" cy="38404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 年 全预付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28031" y="3602736"/>
            <a:ext cx="6704380" cy="5074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40.0% 的期限小时"/>
          <p:cNvSpPr txBox="1"/>
          <p:nvPr/>
        </p:nvSpPr>
        <p:spPr>
          <a:xfrm>
            <a:off x="4937759" y="3698748"/>
            <a:ext cx="6510527" cy="38404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40.0% 的期限小时</a:t>
            </a:r>
          </a:p>
        </p:txBody>
      </p:sp>
      <p:sp>
        <p:nvSpPr>
          <p:cNvPr id="26" name="TEXT: 运行时长交点 ≠ GPU 利用率；前者比较“开机多久”，后者影响“每次决策成本”。"/>
          <p:cNvSpPr txBox="1"/>
          <p:nvPr/>
        </p:nvSpPr>
        <p:spPr>
          <a:xfrm>
            <a:off x="786384" y="4462272"/>
            <a:ext cx="1069848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运行时长交点 ≠ GPU 利用率；前者比较“开机多久”，后者影响“每次决策成本”。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5020056"/>
            <a:ext cx="5257800" cy="8503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020056"/>
            <a:ext cx="41148" cy="850392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稳定常驻且质量达标"/>
          <p:cNvSpPr txBox="1"/>
          <p:nvPr/>
        </p:nvSpPr>
        <p:spPr>
          <a:xfrm>
            <a:off x="877824" y="5111496"/>
            <a:ext cx="4928616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稳定常驻且质量达标</a:t>
            </a:r>
          </a:p>
        </p:txBody>
      </p:sp>
      <p:sp>
        <p:nvSpPr>
          <p:cNvPr id="30" name="TEXT: RI 降低固定费；仍需规划冗余与模型维护。"/>
          <p:cNvSpPr txBox="1"/>
          <p:nvPr/>
        </p:nvSpPr>
        <p:spPr>
          <a:xfrm>
            <a:off x="877824" y="5504688"/>
            <a:ext cx="4928616" cy="3383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RI 降低固定费；仍需规划冗余与模型维护。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81344" y="5020056"/>
            <a:ext cx="5303520" cy="8503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81344" y="5020056"/>
            <a:ext cx="41148" cy="850392"/>
          </a:xfrm>
          <a:prstGeom prst="rect">
            <a:avLst/>
          </a:prstGeom>
          <a:solidFill>
            <a:srgbClr val="8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流量少或波动大"/>
          <p:cNvSpPr txBox="1"/>
          <p:nvPr/>
        </p:nvSpPr>
        <p:spPr>
          <a:xfrm>
            <a:off x="6345936" y="5111496"/>
            <a:ext cx="4974336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流量少或波动大</a:t>
            </a:r>
          </a:p>
        </p:txBody>
      </p:sp>
      <p:sp>
        <p:nvSpPr>
          <p:cNvPr id="34" name="TEXT: 按量 API 避免长期闲置成本与预付款。"/>
          <p:cNvSpPr txBox="1"/>
          <p:nvPr/>
        </p:nvSpPr>
        <p:spPr>
          <a:xfrm>
            <a:off x="6345936" y="5504688"/>
            <a:ext cx="4974336" cy="3383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按量 API 避免长期闲置成本与预付款。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9  结论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09  结论</a:t>
            </a:r>
          </a:p>
        </p:txBody>
      </p:sp>
      <p:sp>
        <p:nvSpPr>
          <p:cNvPr id="4" name="TEXT: 用业务结果选模型，再用流量决定部署方式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用业务结果选模型，再用流量决定部署方式</a:t>
            </a:r>
          </a:p>
        </p:txBody>
      </p:sp>
      <p:sp>
        <p:nvSpPr>
          <p:cNvPr id="5" name="TEXT: 简单语义选择可以先试；证据、完成条件、多约束和金额计算需要更严格验收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简单语义选择可以先试；证据、完成条件、多约束和金额计算需要更严格验收。</a:t>
            </a:r>
          </a:p>
        </p:txBody>
      </p:sp>
      <p:sp>
        <p:nvSpPr>
          <p:cNvPr id="6" name="TEXT: 这些结论来自当前小样本；性能测试不替代质量验证，价格交点不替代容量测试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这些结论来自当前小样本；性能测试不替代质量验证，价格交点不替代容量测试。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31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31 / 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2103120"/>
            <a:ext cx="3465576" cy="346557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list-filter-087F72.png" descr="icon-list-filter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2313432"/>
            <a:ext cx="384048" cy="384048"/>
          </a:xfrm>
          <a:prstGeom prst="rect">
            <a:avLst/>
          </a:prstGeom>
        </p:spPr>
      </p:pic>
      <p:sp>
        <p:nvSpPr>
          <p:cNvPr id="12" name="TEXT: 先放入明确任务"/>
          <p:cNvSpPr txBox="1"/>
          <p:nvPr/>
        </p:nvSpPr>
        <p:spPr>
          <a:xfrm>
            <a:off x="905256" y="2935224"/>
            <a:ext cx="304495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先放入明确任务</a:t>
            </a:r>
          </a:p>
        </p:txBody>
      </p:sp>
      <p:sp>
        <p:nvSpPr>
          <p:cNvPr id="13" name="TEXT: 分类 / 工具选择 / 语义分流  固定候选、缺证据可拒绝。 以独立业务样本验收。"/>
          <p:cNvSpPr txBox="1"/>
          <p:nvPr/>
        </p:nvSpPr>
        <p:spPr>
          <a:xfrm>
            <a:off x="905256" y="3493008"/>
            <a:ext cx="3044952" cy="18928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分类 / 工具选择 / 语义分流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固定候选、缺证据可拒绝。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以独立业务样本验收。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103120"/>
            <a:ext cx="3465576" cy="346557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MAGE: icon-clipboard-check-8055A4.png" descr="icon-clipboard-check-8055A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2313432"/>
            <a:ext cx="384048" cy="384048"/>
          </a:xfrm>
          <a:prstGeom prst="rect">
            <a:avLst/>
          </a:prstGeom>
        </p:spPr>
      </p:pic>
      <p:sp>
        <p:nvSpPr>
          <p:cNvPr id="16" name="TEXT: 复杂流程看完成度"/>
          <p:cNvSpPr txBox="1"/>
          <p:nvPr/>
        </p:nvSpPr>
        <p:spPr>
          <a:xfrm>
            <a:off x="4599432" y="2935224"/>
            <a:ext cx="304495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复杂流程看完成度</a:t>
            </a:r>
          </a:p>
        </p:txBody>
      </p:sp>
      <p:sp>
        <p:nvSpPr>
          <p:cNvPr id="17" name="TEXT: 证据核验 / 浏览器 / 金融  Jev 本批表现更稳，仍有错。 确定性条件由程序复核。"/>
          <p:cNvSpPr txBox="1"/>
          <p:nvPr/>
        </p:nvSpPr>
        <p:spPr>
          <a:xfrm>
            <a:off x="4599432" y="3493008"/>
            <a:ext cx="3044952" cy="18928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证据核验 / 浏览器 / 金融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 本批表现更稳，仍有错。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确定性条件由程序复核。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2103120"/>
            <a:ext cx="3465576" cy="346557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IMAGE: icon-banknote-4669C4.png" descr="icon-banknote-4669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608" y="2313432"/>
            <a:ext cx="384048" cy="384048"/>
          </a:xfrm>
          <a:prstGeom prst="rect">
            <a:avLst/>
          </a:prstGeom>
        </p:spPr>
      </p:pic>
      <p:sp>
        <p:nvSpPr>
          <p:cNvPr id="20" name="TEXT: 规模确定后算成本"/>
          <p:cNvSpPr txBox="1"/>
          <p:nvPr/>
        </p:nvSpPr>
        <p:spPr>
          <a:xfrm>
            <a:off x="8293608" y="2935224"/>
            <a:ext cx="304495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规模确定后算成本</a:t>
            </a:r>
          </a:p>
        </p:txBody>
      </p:sp>
      <p:sp>
        <p:nvSpPr>
          <p:cNvPr id="21" name="TEXT: Decider 自托管 / Jev 按量  vLLM 改善并发，RI 降固定费。 同时计入运维与冗余。"/>
          <p:cNvSpPr txBox="1"/>
          <p:nvPr/>
        </p:nvSpPr>
        <p:spPr>
          <a:xfrm>
            <a:off x="8293608" y="3493008"/>
            <a:ext cx="3044952" cy="18928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Decider 自托管 / Jev 按量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vLLM 改善并发，RI 降固定费。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同时计入运维与冗余。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9  演示与资料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09  演示与资料</a:t>
            </a:r>
          </a:p>
        </p:txBody>
      </p:sp>
      <p:sp>
        <p:nvSpPr>
          <p:cNvPr id="4" name="TEXT: 打开演示，查看真实过程和原始记录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打开演示，查看真实过程和原始记录</a:t>
            </a:r>
          </a:p>
        </p:txBody>
      </p:sp>
      <p:sp>
        <p:nvSpPr>
          <p:cNvPr id="5" name="TEXT: 演示展示输入、原始选择、实际动作和结果；仓库保留验证脚本、截图与数据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演示展示输入、原始选择、实际动作和结果；仓库保留验证脚本、截图与数据。</a:t>
            </a:r>
          </a:p>
        </p:txBody>
      </p:sp>
      <p:sp>
        <p:nvSpPr>
          <p:cNvPr id="6" name="TEXT: PPT 内含逐页讲稿与来源；v9 保留，本版新增验证与 RI 后将 52 页重排为 32 页。"/>
          <p:cNvSpPr txBox="1"/>
          <p:nvPr/>
        </p:nvSpPr>
        <p:spPr>
          <a:xfrm>
            <a:off x="594360" y="6099048"/>
            <a:ext cx="1099108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PPT 内含逐页讲稿与来源；v9 保留，本版新增验证与 RI 后将 52 页重排为 32 页。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32 / 32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32 / 32</a:t>
            </a:r>
          </a:p>
        </p:txBody>
      </p:sp>
      <p:sp>
        <p:nvSpPr>
          <p:cNvPr id="10" name="TEXT: 在线演示"/>
          <p:cNvSpPr txBox="1"/>
          <p:nvPr/>
        </p:nvSpPr>
        <p:spPr>
          <a:xfrm>
            <a:off x="731520" y="2057400"/>
            <a:ext cx="292608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在线演示</a:t>
            </a:r>
          </a:p>
        </p:txBody>
      </p:sp>
      <p:sp>
        <p:nvSpPr>
          <p:cNvPr id="11" name="TEXT: https://d3i7ogfx5ml7dc.cloudfront.net"/>
          <p:cNvSpPr txBox="1"/>
          <p:nvPr/>
        </p:nvSpPr>
        <p:spPr>
          <a:xfrm>
            <a:off x="3703320" y="2057400"/>
            <a:ext cx="7726679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3"/>
              </a:rPr>
              <a:t>https://d3i7ogfx5ml7dc.cloudfront.net</a:t>
            </a:r>
          </a:p>
        </p:txBody>
      </p:sp>
      <p:sp>
        <p:nvSpPr>
          <p:cNvPr id="12" name="TEXT: 主项目"/>
          <p:cNvSpPr txBox="1"/>
          <p:nvPr/>
        </p:nvSpPr>
        <p:spPr>
          <a:xfrm>
            <a:off x="731520" y="2660904"/>
            <a:ext cx="292608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主项目</a:t>
            </a:r>
          </a:p>
        </p:txBody>
      </p:sp>
      <p:sp>
        <p:nvSpPr>
          <p:cNvPr id="13" name="TEXT: https://github.com/milan9527/StrandsDecider"/>
          <p:cNvSpPr txBox="1"/>
          <p:nvPr/>
        </p:nvSpPr>
        <p:spPr>
          <a:xfrm>
            <a:off x="3703320" y="2660904"/>
            <a:ext cx="7726679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4"/>
              </a:rPr>
              <a:t>https://github.com/milan9527/StrandsDecider</a:t>
            </a:r>
          </a:p>
        </p:txBody>
      </p:sp>
      <p:sp>
        <p:nvSpPr>
          <p:cNvPr id="14" name="TEXT: vLLM 适配与公共 API"/>
          <p:cNvSpPr txBox="1"/>
          <p:nvPr/>
        </p:nvSpPr>
        <p:spPr>
          <a:xfrm>
            <a:off x="731520" y="3264408"/>
            <a:ext cx="292608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vLLM 适配与公共 API</a:t>
            </a:r>
          </a:p>
        </p:txBody>
      </p:sp>
      <p:sp>
        <p:nvSpPr>
          <p:cNvPr id="15" name="TEXT: https://github.com/milan9527/StrandsDeciderVLLM"/>
          <p:cNvSpPr txBox="1"/>
          <p:nvPr/>
        </p:nvSpPr>
        <p:spPr>
          <a:xfrm>
            <a:off x="3703320" y="3264408"/>
            <a:ext cx="7726679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5"/>
              </a:rPr>
              <a:t>https://github.com/milan9527/StrandsDeciderVLLM</a:t>
            </a:r>
          </a:p>
        </p:txBody>
      </p:sp>
      <p:sp>
        <p:nvSpPr>
          <p:cNvPr id="16" name="TEXT: 场景验证结果与截图"/>
          <p:cNvSpPr txBox="1"/>
          <p:nvPr/>
        </p:nvSpPr>
        <p:spPr>
          <a:xfrm>
            <a:off x="731520" y="3867912"/>
            <a:ext cx="292608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场景验证结果与截图</a:t>
            </a:r>
          </a:p>
        </p:txBody>
      </p:sp>
      <p:sp>
        <p:nvSpPr>
          <p:cNvPr id="17" name="TEXT: https://github.com/milan9527/StrandsDecider/blob/main/validation/"/>
          <p:cNvSpPr txBox="1"/>
          <p:nvPr/>
        </p:nvSpPr>
        <p:spPr>
          <a:xfrm>
            <a:off x="3703320" y="3867912"/>
            <a:ext cx="7726679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6"/>
              </a:rPr>
              <a:t>https://github.com/milan9527/StrandsDecider/blob/main/validation/README.md</a:t>
            </a:r>
          </a:p>
        </p:txBody>
      </p:sp>
      <p:sp>
        <p:nvSpPr>
          <p:cNvPr id="18" name="TEXT: Strands Decider 官方介绍"/>
          <p:cNvSpPr txBox="1"/>
          <p:nvPr/>
        </p:nvSpPr>
        <p:spPr>
          <a:xfrm>
            <a:off x="731520" y="4471416"/>
            <a:ext cx="292608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官方介绍</a:t>
            </a:r>
          </a:p>
        </p:txBody>
      </p:sp>
      <p:sp>
        <p:nvSpPr>
          <p:cNvPr id="19" name="TEXT: https://strandsagents.com/blog/introducing-strands-decider/"/>
          <p:cNvSpPr txBox="1"/>
          <p:nvPr/>
        </p:nvSpPr>
        <p:spPr>
          <a:xfrm>
            <a:off x="3703320" y="4471416"/>
            <a:ext cx="7726679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7"/>
              </a:rPr>
              <a:t>https://strandsagents.com/blog/introducing-strands-decider/</a:t>
            </a:r>
          </a:p>
        </p:txBody>
      </p:sp>
      <p:sp>
        <p:nvSpPr>
          <p:cNvPr id="20" name="TEXT: JevBench 评测结果与方法"/>
          <p:cNvSpPr txBox="1"/>
          <p:nvPr/>
        </p:nvSpPr>
        <p:spPr>
          <a:xfrm>
            <a:off x="731520" y="5074920"/>
            <a:ext cx="292608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JevBench 评测结果与方法</a:t>
            </a:r>
          </a:p>
        </p:txBody>
      </p:sp>
      <p:sp>
        <p:nvSpPr>
          <p:cNvPr id="21" name="TEXT: https://benchmarkheaven.com/jev-models/api"/>
          <p:cNvSpPr txBox="1"/>
          <p:nvPr/>
        </p:nvSpPr>
        <p:spPr>
          <a:xfrm>
            <a:off x="3703320" y="5074920"/>
            <a:ext cx="7726679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8"/>
              </a:rPr>
              <a:t>https://benchmarkheaven.com/jev-models/api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Strands Decider：从决策原理到场景验证、vLLM与RI成本</dc:title>
  <dc:subject>Recorded Decider/Jev/GPT comparisons; EC2 Standard RI list prices</dc:subject>
  <dc:creator>milan9527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