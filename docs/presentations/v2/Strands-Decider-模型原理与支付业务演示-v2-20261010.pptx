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22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1" r:id="rId33"/>
    <p:sldId id="257" r:id="rId9"/>
    <p:sldId id="258" r:id="rId10"/>
    <p:sldId id="282" r:id="rId34"/>
    <p:sldId id="259" r:id="rId11"/>
    <p:sldId id="260" r:id="rId12"/>
    <p:sldId id="283" r:id="rId35"/>
    <p:sldId id="284" r:id="rId36"/>
    <p:sldId id="261" r:id="rId13"/>
    <p:sldId id="285" r:id="rId37"/>
    <p:sldId id="263" r:id="rId15"/>
    <p:sldId id="286" r:id="rId38"/>
    <p:sldId id="265" r:id="rId17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277" r:id="rId29"/>
    <p:sldId id="303" r:id="rId55"/>
    <p:sldId id="304" r:id="rId56"/>
    <p:sldId id="305" r:id="rId57"/>
    <p:sldId id="306" r:id="rId5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5" Type="http://schemas.openxmlformats.org/officeDocument/2006/relationships/slide" Target="slides/slide8.xml"/><Relationship Id="rId17" Type="http://schemas.openxmlformats.org/officeDocument/2006/relationships/slide" Target="slides/slide10.xml"/><Relationship Id="rId29" Type="http://schemas.openxmlformats.org/officeDocument/2006/relationships/slide" Target="slides/slide22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强调：候选项来自应用或开发者；模型负责根据语义与证据选择。金额计算等确定性判断仍适合代码。官方将这类模型称为 decision model / System One model。2B规模兼顾普通硬件上的实验与有意义的决策任务。</a:t>
            </a:r>
          </a:p>
          <a:p/>
          <a:p>
            <a:r>
              <a:t>来源：</a:t>
            </a:r>
          </a:p>
          <a:p>
            <a:r>
              <a:t>官方博客：https://strandsagents.com/blog/introducing-strands-decider/</a:t>
            </a:r>
          </a:p>
          <a:p>
            <a:r>
              <a:t>模型卡：https://huggingface.co/StrandsAgents/strands-decider-2B-hobson-v19</a:t>
            </a:r>
          </a:p>
          <a:p>
            <a:r>
              <a:t>锁定源码：https://github.com/strands-labs/strands-decider/tree/63d24ae286e50105fba0bd1db15b0e243aea4650/src/strands_decider</a:t>
            </a:r>
          </a:p>
          <a:p>
            <a:r>
              <a:t>项目：https://github.com/milan9527/StrandsDecider</a:t>
            </a:r>
          </a:p>
          <a:p>
            <a:r>
              <a:t>固定输入实测：docs/results/benchmark-2026-10-10.json</a:t>
            </a:r>
          </a:p>
          <a:p>
            <a:r>
              <a:t>闭环实测：docs/presentations/v2/loop-observations.json</a:t>
            </a:r>
          </a:p>
          <a:p>
            <a:r>
              <a:t>页面截图：docs/presentations/v2/capture-manifest.json</a:t>
            </a:r>
          </a:p>
          <a:p>
            <a:r>
              <a:t>BERT 原始论文：https://aclanthology.org/N19-1423/</a:t>
            </a:r>
          </a:p>
          <a:p>
            <a:r>
              <a:t>BERT 分类实现：https://github.com/google-research/bert/blob/master/run_classifier.py</a:t>
            </a:r>
          </a:p>
          <a:p>
            <a:r>
              <a:t>NLI 与零样本分类：https://aclanthology.org/D19-1404/</a:t>
            </a:r>
          </a:p>
          <a:p>
            <a:r>
              <a:t>版本：前端 crypto10 / API 20261010-loop1；2026-10-10 UTC。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模型主体读取 state、questions 和候选项。Pointer Head 对每个候选位置的隐藏状态与 &lt;answer&gt; 位置的隐藏状态评分。移除 LM head 后不再自由生成文本；一次并行前向过程即可产生结构化决策。这里只画原理级结构，公式框是语义示意，不声称是实现的完整公式。</a:t>
            </a:r>
          </a:p>
          <a:p/>
          <a:p>
            <a:r>
              <a:t>来源：</a:t>
            </a:r>
          </a:p>
          <a:p>
            <a:r>
              <a:t>官方博客：https://strandsagents.com/blog/introducing-strands-decider/</a:t>
            </a:r>
          </a:p>
          <a:p>
            <a:r>
              <a:t>模型卡：https://huggingface.co/StrandsAgents/strands-decider-2B-hobson-v19</a:t>
            </a:r>
          </a:p>
          <a:p>
            <a:r>
              <a:t>锁定源码：https://github.com/strands-labs/strands-decider/tree/63d24ae286e50105fba0bd1db15b0e243aea4650/src/strands_decider</a:t>
            </a:r>
          </a:p>
          <a:p>
            <a:r>
              <a:t>项目：https://github.com/milan9527/StrandsDecider</a:t>
            </a:r>
          </a:p>
          <a:p>
            <a:r>
              <a:t>固定输入实测：docs/results/benchmark-2026-10-10.json</a:t>
            </a:r>
          </a:p>
          <a:p>
            <a:r>
              <a:t>闭环实测：docs/presentations/v2/loop-observations.json</a:t>
            </a:r>
          </a:p>
          <a:p>
            <a:r>
              <a:t>页面截图：docs/presentations/v2/capture-manifest.json</a:t>
            </a:r>
          </a:p>
          <a:p>
            <a:r>
              <a:t>BERT 原始论文：https://aclanthology.org/N19-1423/</a:t>
            </a:r>
          </a:p>
          <a:p>
            <a:r>
              <a:t>BERT 分类实现：https://github.com/google-research/bert/blob/master/run_classifier.py</a:t>
            </a:r>
          </a:p>
          <a:p>
            <a:r>
              <a:t>NLI 与零样本分类：https://aclanthology.org/D19-1404/</a:t>
            </a:r>
          </a:p>
          <a:p>
            <a:r>
              <a:t>版本：前端 crypto10 / API 20261010-loop1；2026-10-10 UTC。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示例来自官方模型卡：Help! My payouts have been failing for 3 days!。choice billing=0.846、retail=0.090、sales=0.064，confidence=0.769。noul 输出0.829；score=1.10，对应calm/frustrated/depressed三个等级的分布。不要把 confidence 与最高候选概率混为一谈，业务阈值需要用自己的数据评估。</a:t>
            </a:r>
          </a:p>
          <a:p/>
          <a:p>
            <a:r>
              <a:t>来源：</a:t>
            </a:r>
          </a:p>
          <a:p>
            <a:r>
              <a:t>官方博客：https://strandsagents.com/blog/introducing-strands-decider/</a:t>
            </a:r>
          </a:p>
          <a:p>
            <a:r>
              <a:t>模型卡：https://huggingface.co/StrandsAgents/strands-decider-2B-hobson-v19</a:t>
            </a:r>
          </a:p>
          <a:p>
            <a:r>
              <a:t>锁定源码：https://github.com/strands-labs/strands-decider/tree/63d24ae286e50105fba0bd1db15b0e243aea4650/src/strands_decider</a:t>
            </a:r>
          </a:p>
          <a:p>
            <a:r>
              <a:t>项目：https://github.com/milan9527/StrandsDecider</a:t>
            </a:r>
          </a:p>
          <a:p>
            <a:r>
              <a:t>固定输入实测：docs/results/benchmark-2026-10-10.json</a:t>
            </a:r>
          </a:p>
          <a:p>
            <a:r>
              <a:t>闭环实测：docs/presentations/v2/loop-observations.json</a:t>
            </a:r>
          </a:p>
          <a:p>
            <a:r>
              <a:t>页面截图：docs/presentations/v2/capture-manifest.json</a:t>
            </a:r>
          </a:p>
          <a:p>
            <a:r>
              <a:t>BERT 原始论文：https://aclanthology.org/N19-1423/</a:t>
            </a:r>
          </a:p>
          <a:p>
            <a:r>
              <a:t>BERT 分类实现：https://github.com/google-research/bert/blob/master/run_classifier.py</a:t>
            </a:r>
          </a:p>
          <a:p>
            <a:r>
              <a:t>NLI 与零样本分类：https://aclanthology.org/D19-1404/</a:t>
            </a:r>
          </a:p>
          <a:p>
            <a:r>
              <a:t>版本：前端 crypto10 / API 20261010-loop1；2026-10-10 UTC。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普通生成式模型本身不要求固定候选项，本演示为了公平比较才约束 GPT 输出候选 ID JSON。Decider 的 confidence 不应直接当成此金融领域的可靠正确率。GPT 侧未返回与 Decider 同定义的校准候选概率，因此 UI 不伪造置信度。</a:t>
            </a:r>
          </a:p>
          <a:p/>
          <a:p>
            <a:r>
              <a:t>来源：</a:t>
            </a:r>
          </a:p>
          <a:p>
            <a:r>
              <a:t>官方博客：https://strandsagents.com/blog/introducing-strands-decider/</a:t>
            </a:r>
          </a:p>
          <a:p>
            <a:r>
              <a:t>模型卡：https://huggingface.co/StrandsAgents/strands-decider-2B-hobson-v19</a:t>
            </a:r>
          </a:p>
          <a:p>
            <a:r>
              <a:t>锁定源码：https://github.com/strands-labs/strands-decider/tree/63d24ae286e50105fba0bd1db15b0e243aea4650/src/strands_decider</a:t>
            </a:r>
          </a:p>
          <a:p>
            <a:r>
              <a:t>项目：https://github.com/milan9527/StrandsDecider</a:t>
            </a:r>
          </a:p>
          <a:p>
            <a:r>
              <a:t>固定输入实测：docs/results/benchmark-2026-10-10.json</a:t>
            </a:r>
          </a:p>
          <a:p>
            <a:r>
              <a:t>闭环实测：docs/presentations/v2/loop-observations.json</a:t>
            </a:r>
          </a:p>
          <a:p>
            <a:r>
              <a:t>页面截图：docs/presentations/v2/capture-manifest.json</a:t>
            </a:r>
          </a:p>
          <a:p>
            <a:r>
              <a:t>BERT 原始论文：https://aclanthology.org/N19-1423/</a:t>
            </a:r>
          </a:p>
          <a:p>
            <a:r>
              <a:t>BERT 分类实现：https://github.com/google-research/bert/blob/master/run_classifier.py</a:t>
            </a:r>
          </a:p>
          <a:p>
            <a:r>
              <a:t>NLI 与零样本分类：https://aclanthology.org/D19-1404/</a:t>
            </a:r>
          </a:p>
          <a:p>
            <a:r>
              <a:t>版本：前端 crypto10 / API 20261010-loop1；2026-10-10 UTC。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推荐先选影响有限、可回退的语义判断节点评估。混合系统可以让Decider处理常见路径，把复杂或低置信案例交给大模型或人工。本项目尚未实现自动按置信度回退，这一方案是后续建议。</a:t>
            </a:r>
          </a:p>
          <a:p/>
          <a:p>
            <a:r>
              <a:t>来源：</a:t>
            </a:r>
          </a:p>
          <a:p>
            <a:r>
              <a:t>官方博客：https://strandsagents.com/blog/introducing-strands-decider/</a:t>
            </a:r>
          </a:p>
          <a:p>
            <a:r>
              <a:t>模型卡：https://huggingface.co/StrandsAgents/strands-decider-2B-hobson-v19</a:t>
            </a:r>
          </a:p>
          <a:p>
            <a:r>
              <a:t>锁定源码：https://github.com/strands-labs/strands-decider/tree/63d24ae286e50105fba0bd1db15b0e243aea4650/src/strands_decider</a:t>
            </a:r>
          </a:p>
          <a:p>
            <a:r>
              <a:t>项目：https://github.com/milan9527/StrandsDecider</a:t>
            </a:r>
          </a:p>
          <a:p>
            <a:r>
              <a:t>固定输入实测：docs/results/benchmark-2026-10-10.json</a:t>
            </a:r>
          </a:p>
          <a:p>
            <a:r>
              <a:t>闭环实测：docs/presentations/v2/loop-observations.json</a:t>
            </a:r>
          </a:p>
          <a:p>
            <a:r>
              <a:t>页面截图：docs/presentations/v2/capture-manifest.json</a:t>
            </a:r>
          </a:p>
          <a:p>
            <a:r>
              <a:t>BERT 原始论文：https://aclanthology.org/N19-1423/</a:t>
            </a:r>
          </a:p>
          <a:p>
            <a:r>
              <a:t>BERT 分类实现：https://github.com/google-research/bert/blob/master/run_classifier.py</a:t>
            </a:r>
          </a:p>
          <a:p>
            <a:r>
              <a:t>NLI 与零样本分类：https://aclanthology.org/D19-1404/</a:t>
            </a:r>
          </a:p>
          <a:p>
            <a:r>
              <a:t>版本：前端 crypto10 / API 20261010-loop1；2026-10-10 UTC。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按项目当前架构简化：浏览器经CloudFront访问私有S3与VPC Origin，API经内网ALB进入ECS/Fargate。SageMaker/Bedrock/DynamoDB为应用VPC之外的托管服务。私有端点实际保留，图中省略。CloudFront为全球服务，Bedrock美国跨区域配置可路由到其他美国区域。GPU控制器详见下一页。图标来自AWS官方2026-07-31图标包。</a:t>
            </a:r>
          </a:p>
          <a:p/>
          <a:p>
            <a:r>
              <a:t>来源：</a:t>
            </a:r>
          </a:p>
          <a:p>
            <a:r>
              <a:t>官方博客：https://strandsagents.com/blog/introducing-strands-decider/</a:t>
            </a:r>
          </a:p>
          <a:p>
            <a:r>
              <a:t>模型卡：https://huggingface.co/StrandsAgents/strands-decider-2B-hobson-v19</a:t>
            </a:r>
          </a:p>
          <a:p>
            <a:r>
              <a:t>锁定源码：https://github.com/strands-labs/strands-decider/tree/63d24ae286e50105fba0bd1db15b0e243aea4650/src/strands_decider</a:t>
            </a:r>
          </a:p>
          <a:p>
            <a:r>
              <a:t>项目：https://github.com/milan9527/StrandsDecider</a:t>
            </a:r>
          </a:p>
          <a:p>
            <a:r>
              <a:t>固定输入实测：docs/results/benchmark-2026-10-10.json</a:t>
            </a:r>
          </a:p>
          <a:p>
            <a:r>
              <a:t>闭环实测：docs/presentations/v2/loop-observations.json</a:t>
            </a:r>
          </a:p>
          <a:p>
            <a:r>
              <a:t>页面截图：docs/presentations/v2/capture-manifest.json</a:t>
            </a:r>
          </a:p>
          <a:p>
            <a:r>
              <a:t>BERT 原始论文：https://aclanthology.org/N19-1423/</a:t>
            </a:r>
          </a:p>
          <a:p>
            <a:r>
              <a:t>BERT 分类实现：https://github.com/google-research/bert/blob/master/run_classifier.py</a:t>
            </a:r>
          </a:p>
          <a:p>
            <a:r>
              <a:t>NLI 与零样本分类：https://aclanthology.org/D19-1404/</a:t>
            </a:r>
          </a:p>
          <a:p>
            <a:r>
              <a:t>版本：前端 crypto10 / API 20261010-loop1；2026-10-10 UTC。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12次确认与60分钟SLA是本演示配置，不能当作行业通用标准。资产名称不等于接入真实钱包。所有订单、工单和账本均为模拟；模型是真实调用。金额比较由后端代码完成。</a:t>
            </a:r>
          </a:p>
          <a:p/>
          <a:p>
            <a:r>
              <a:t>来源：</a:t>
            </a:r>
          </a:p>
          <a:p>
            <a:r>
              <a:t>官方博客：https://strandsagents.com/blog/introducing-strands-decider/</a:t>
            </a:r>
          </a:p>
          <a:p>
            <a:r>
              <a:t>模型卡：https://huggingface.co/StrandsAgents/strands-decider-2B-hobson-v19</a:t>
            </a:r>
          </a:p>
          <a:p>
            <a:r>
              <a:t>锁定源码：https://github.com/strands-labs/strands-decider/tree/63d24ae286e50105fba0bd1db15b0e243aea4650/src/strands_decider</a:t>
            </a:r>
          </a:p>
          <a:p>
            <a:r>
              <a:t>项目：https://github.com/milan9527/StrandsDecider</a:t>
            </a:r>
          </a:p>
          <a:p>
            <a:r>
              <a:t>固定输入实测：docs/results/benchmark-2026-10-10.json</a:t>
            </a:r>
          </a:p>
          <a:p>
            <a:r>
              <a:t>闭环实测：docs/presentations/v2/loop-observations.json</a:t>
            </a:r>
          </a:p>
          <a:p>
            <a:r>
              <a:t>页面截图：docs/presentations/v2/capture-manifest.json</a:t>
            </a:r>
          </a:p>
          <a:p>
            <a:r>
              <a:t>BERT 原始论文：https://aclanthology.org/N19-1423/</a:t>
            </a:r>
          </a:p>
          <a:p>
            <a:r>
              <a:t>BERT 分类实现：https://github.com/google-research/bert/blob/master/run_classifier.py</a:t>
            </a:r>
          </a:p>
          <a:p>
            <a:r>
              <a:t>NLI 与零样本分类：https://aclanthology.org/D19-1404/</a:t>
            </a:r>
          </a:p>
          <a:p>
            <a:r>
              <a:t>版本：前端 crypto10 / API 20261010-loop1；2026-10-10 UTC。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步backend_total_ms是应用后端到模型适配调用的观测值，包含处理、通信、排队，不是纯GPU计算。两侧同一步并发，所以两个累计模型耗时不能相加当成浏览器一键流程时间。SageMaker按实例运行时间收费，Bedrock按模型用量；无足够输入量、利用率与可靠单价依据，不估算每次美元成本优劣。后续需要重复采样、P95/P99、吞吐、冷启动和业务分布上的校准。</a:t>
            </a:r>
          </a:p>
          <a:p/>
          <a:p>
            <a:r>
              <a:t>来源：</a:t>
            </a:r>
          </a:p>
          <a:p>
            <a:r>
              <a:t>官方博客：https://strandsagents.com/blog/introducing-strands-decider/</a:t>
            </a:r>
          </a:p>
          <a:p>
            <a:r>
              <a:t>模型卡：https://huggingface.co/StrandsAgents/strands-decider-2B-hobson-v19</a:t>
            </a:r>
          </a:p>
          <a:p>
            <a:r>
              <a:t>锁定源码：https://github.com/strands-labs/strands-decider/tree/63d24ae286e50105fba0bd1db15b0e243aea4650/src/strands_decider</a:t>
            </a:r>
          </a:p>
          <a:p>
            <a:r>
              <a:t>项目：https://github.com/milan9527/StrandsDecider</a:t>
            </a:r>
          </a:p>
          <a:p>
            <a:r>
              <a:t>固定输入实测：docs/results/benchmark-2026-10-10.json</a:t>
            </a:r>
          </a:p>
          <a:p>
            <a:r>
              <a:t>闭环实测：docs/presentations/v2/loop-observations.json</a:t>
            </a:r>
          </a:p>
          <a:p>
            <a:r>
              <a:t>页面截图：docs/presentations/v2/capture-manifest.json</a:t>
            </a:r>
          </a:p>
          <a:p>
            <a:r>
              <a:t>BERT 原始论文：https://aclanthology.org/N19-1423/</a:t>
            </a:r>
          </a:p>
          <a:p>
            <a:r>
              <a:t>BERT 分类实现：https://github.com/google-research/bert/blob/master/run_classifier.py</a:t>
            </a:r>
          </a:p>
          <a:p>
            <a:r>
              <a:t>NLI 与零样本分类：https://aclanthology.org/D19-1404/</a:t>
            </a:r>
          </a:p>
          <a:p>
            <a:r>
              <a:t>版本：前端 crypto10 / API 20261010-loop1；2026-10-10 UTC。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基于用户指定的25页原版创建新版，保留模型基础与AWS架构，合入BERT区别、演示参考、当前闭环与逐轮输入输出。原文件未覆盖。全部界面截图重新来自crypto10生产页面。</a:t>
            </a:r>
          </a:p>
          <a:p/>
          <a:p>
            <a:r>
              <a:t>来源：</a:t>
            </a:r>
          </a:p>
          <a:p>
            <a:r>
              <a:t>官方博客：https://strandsagents.com/blog/introducing-strands-decider/</a:t>
            </a:r>
          </a:p>
          <a:p>
            <a:r>
              <a:t>模型卡：https://huggingface.co/StrandsAgents/strands-decider-2B-hobson-v19</a:t>
            </a:r>
          </a:p>
          <a:p>
            <a:r>
              <a:t>锁定源码：https://github.com/strands-labs/strands-decider/tree/63d24ae286e50105fba0bd1db15b0e243aea4650/src/strands_decider</a:t>
            </a:r>
          </a:p>
          <a:p>
            <a:r>
              <a:t>项目：https://github.com/milan9527/StrandsDecider</a:t>
            </a:r>
          </a:p>
          <a:p>
            <a:r>
              <a:t>固定输入实测：docs/results/benchmark-2026-10-10.json</a:t>
            </a:r>
          </a:p>
          <a:p>
            <a:r>
              <a:t>闭环实测：docs/presentations/v2/loop-observations.json</a:t>
            </a:r>
          </a:p>
          <a:p>
            <a:r>
              <a:t>页面截图：docs/presentations/v2/capture-manifest.json</a:t>
            </a:r>
          </a:p>
          <a:p>
            <a:r>
              <a:t>BERT 原始论文：https://aclanthology.org/N19-1423/</a:t>
            </a:r>
          </a:p>
          <a:p>
            <a:r>
              <a:t>BERT 分类实现：https://github.com/google-research/bert/blob/master/run_classifier.py</a:t>
            </a:r>
          </a:p>
          <a:p>
            <a:r>
              <a:t>NLI 与零样本分类：https://aclanthology.org/D19-1404/</a:t>
            </a:r>
          </a:p>
          <a:p>
            <a:r>
              <a:t>版本：前端 crypto10 / API 20261010-loop1；2026-10-10 UTC。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mpting.py把state、instructions、带编号的候选名称与描述组织为文本，最后是&lt;answer&gt;。模型主体读取文本，PointerHead从&lt;answer&gt;位置取query，从每个候选描述末token的位置取key。LayerNorm后经可学习投影得到q、k，点积除以sqrt(pointer_dim)得到各候选logit。按问题类型使用温度T，再在有效候选上做softmax；choice取最大概率对应候选。choice的confidence是归一化最大概率，不是另一次推理，也不是自然语言解释。K&gt;1时为clip((K*p_max-1)/(K-1),0,1)，K=1时为1；score使用另一套有序分布统计，不能套此公式。单个choice直接评分；多问题可共享前缀缓存或批处理。本项目五个步骤分别发起调用，绝非整条业务流程只有一次前向。</a:t>
            </a:r>
          </a:p>
          <a:p/>
          <a:p>
            <a:r>
              <a:t>来源：</a:t>
            </a:r>
          </a:p>
          <a:p>
            <a:r>
              <a:t>官方博客：https://strandsagents.com/blog/introducing-strands-decider/</a:t>
            </a:r>
          </a:p>
          <a:p>
            <a:r>
              <a:t>模型卡：https://huggingface.co/StrandsAgents/strands-decider-2B-hobson-v19</a:t>
            </a:r>
          </a:p>
          <a:p>
            <a:r>
              <a:t>锁定源码：https://github.com/strands-labs/strands-decider/tree/63d24ae286e50105fba0bd1db15b0e243aea4650/src/strands_decider</a:t>
            </a:r>
          </a:p>
          <a:p>
            <a:r>
              <a:t>项目：https://github.com/milan9527/StrandsDecider</a:t>
            </a:r>
          </a:p>
          <a:p>
            <a:r>
              <a:t>固定输入实测：docs/results/benchmark-2026-10-10.json</a:t>
            </a:r>
          </a:p>
          <a:p>
            <a:r>
              <a:t>闭环实测：docs/presentations/v2/loop-observations.json</a:t>
            </a:r>
          </a:p>
          <a:p>
            <a:r>
              <a:t>页面截图：docs/presentations/v2/capture-manifest.json</a:t>
            </a:r>
          </a:p>
          <a:p>
            <a:r>
              <a:t>BERT 原始论文：https://aclanthology.org/N19-1423/</a:t>
            </a:r>
          </a:p>
          <a:p>
            <a:r>
              <a:t>BERT 分类实现：https://github.com/google-research/bert/blob/master/run_classifier.py</a:t>
            </a:r>
          </a:p>
          <a:p>
            <a:r>
              <a:t>NLI 与零样本分类：https://aclanthology.org/D19-1404/</a:t>
            </a:r>
          </a:p>
          <a:p>
            <a:r>
              <a:t>版本：前端 crypto10 / API 20261010-loop1；2026-10-10 UTC。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常见BERT监督分类器以[CLS]的池化表示作为输入，分类头W具有K个输出维度，对应预先定义的K个类别。输出维度的语义来自标签映射和监督训练；不是每次调用都通过自然语言给这些维度重新赋义。Decider的候选名称和适用条件随请求输入。PointerHead对每个候选位置使用共享的q/k投影，头的参数量不随K增长。候选数量仍受上下文长度和计算资源限制，不能理解为无限输入。两者都可直接做非自回归的分类评分，不必生成长文本。</a:t>
            </a:r>
          </a:p>
          <a:p/>
          <a:p>
            <a:r>
              <a:t>来源：</a:t>
            </a:r>
          </a:p>
          <a:p>
            <a:r>
              <a:t>官方博客：https://strandsagents.com/blog/introducing-strands-decider/</a:t>
            </a:r>
          </a:p>
          <a:p>
            <a:r>
              <a:t>模型卡：https://huggingface.co/StrandsAgents/strands-decider-2B-hobson-v19</a:t>
            </a:r>
          </a:p>
          <a:p>
            <a:r>
              <a:t>锁定源码：https://github.com/strands-labs/strands-decider/tree/63d24ae286e50105fba0bd1db15b0e243aea4650/src/strands_decider</a:t>
            </a:r>
          </a:p>
          <a:p>
            <a:r>
              <a:t>项目：https://github.com/milan9527/StrandsDecider</a:t>
            </a:r>
          </a:p>
          <a:p>
            <a:r>
              <a:t>固定输入实测：docs/results/benchmark-2026-10-10.json</a:t>
            </a:r>
          </a:p>
          <a:p>
            <a:r>
              <a:t>闭环实测：docs/presentations/v2/loop-observations.json</a:t>
            </a:r>
          </a:p>
          <a:p>
            <a:r>
              <a:t>页面截图：docs/presentations/v2/capture-manifest.json</a:t>
            </a:r>
          </a:p>
          <a:p>
            <a:r>
              <a:t>BERT 原始论文：https://aclanthology.org/N19-1423/</a:t>
            </a:r>
          </a:p>
          <a:p>
            <a:r>
              <a:t>BERT 分类实现：https://github.com/google-research/bert/blob/master/run_classifier.py</a:t>
            </a:r>
          </a:p>
          <a:p>
            <a:r>
              <a:t>NLI 与零样本分类：https://aclanthology.org/D19-1404/</a:t>
            </a:r>
          </a:p>
          <a:p>
            <a:r>
              <a:t>版本：前端 crypto10 / API 20261010-loop1；2026-10-10 UTC。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RT也可构造成文本对或NLI蕴含模型，逐个候选评分，实现动态候选或零样本分类；那不是这里比较的固定K类分类头。BERT-base约110M参数，Decider约2B；本项目没有部署或测试BERT，不能用Decider快于GPT的结果推导Decider快于BERT。固定标签、充足领域标注与大量请求时，应评估BERT等紧凑分类器；候选经常变化、希望以自然语言定义任务时可评估Decider。二者都可能违反业务约束，概率和阈值均应在业务域校准。新增候选无需扩头不意味着新任务能可靠零样本泛化。</a:t>
            </a:r>
          </a:p>
          <a:p/>
          <a:p>
            <a:r>
              <a:t>来源：</a:t>
            </a:r>
          </a:p>
          <a:p>
            <a:r>
              <a:t>官方博客：https://strandsagents.com/blog/introducing-strands-decider/</a:t>
            </a:r>
          </a:p>
          <a:p>
            <a:r>
              <a:t>模型卡：https://huggingface.co/StrandsAgents/strands-decider-2B-hobson-v19</a:t>
            </a:r>
          </a:p>
          <a:p>
            <a:r>
              <a:t>锁定源码：https://github.com/strands-labs/strands-decider/tree/63d24ae286e50105fba0bd1db15b0e243aea4650/src/strands_decider</a:t>
            </a:r>
          </a:p>
          <a:p>
            <a:r>
              <a:t>项目：https://github.com/milan9527/StrandsDecider</a:t>
            </a:r>
          </a:p>
          <a:p>
            <a:r>
              <a:t>固定输入实测：docs/results/benchmark-2026-10-10.json</a:t>
            </a:r>
          </a:p>
          <a:p>
            <a:r>
              <a:t>闭环实测：docs/presentations/v2/loop-observations.json</a:t>
            </a:r>
          </a:p>
          <a:p>
            <a:r>
              <a:t>页面截图：docs/presentations/v2/capture-manifest.json</a:t>
            </a:r>
          </a:p>
          <a:p>
            <a:r>
              <a:t>BERT 原始论文：https://aclanthology.org/N19-1423/</a:t>
            </a:r>
          </a:p>
          <a:p>
            <a:r>
              <a:t>BERT 分类实现：https://github.com/google-research/bert/blob/master/run_classifier.py</a:t>
            </a:r>
          </a:p>
          <a:p>
            <a:r>
              <a:t>NLI 与零样本分类：https://aclanthology.org/D19-1404/</a:t>
            </a:r>
          </a:p>
          <a:p>
            <a:r>
              <a:t>版本：前端 crypto10 / API 20261010-loop1；2026-10-10 UTC。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原版介绍了基础工作台和支付工作区。新版支付入口突出速度、逐轮输入输出、实际执行及客服对话；不是另起一个自主Agent产品。</a:t>
            </a:r>
          </a:p>
          <a:p/>
          <a:p>
            <a:r>
              <a:t>来源：</a:t>
            </a:r>
          </a:p>
          <a:p>
            <a:r>
              <a:t>官方博客：https://strandsagents.com/blog/introducing-strands-decider/</a:t>
            </a:r>
          </a:p>
          <a:p>
            <a:r>
              <a:t>模型卡：https://huggingface.co/StrandsAgents/strands-decider-2B-hobson-v19</a:t>
            </a:r>
          </a:p>
          <a:p>
            <a:r>
              <a:t>锁定源码：https://github.com/strands-labs/strands-decider/tree/63d24ae286e50105fba0bd1db15b0e243aea4650/src/strands_decider</a:t>
            </a:r>
          </a:p>
          <a:p>
            <a:r>
              <a:t>项目：https://github.com/milan9527/StrandsDecider</a:t>
            </a:r>
          </a:p>
          <a:p>
            <a:r>
              <a:t>固定输入实测：docs/results/benchmark-2026-10-10.json</a:t>
            </a:r>
          </a:p>
          <a:p>
            <a:r>
              <a:t>闭环实测：docs/presentations/v2/loop-observations.json</a:t>
            </a:r>
          </a:p>
          <a:p>
            <a:r>
              <a:t>页面截图：docs/presentations/v2/capture-manifest.json</a:t>
            </a:r>
          </a:p>
          <a:p>
            <a:r>
              <a:t>BERT 原始论文：https://aclanthology.org/N19-1423/</a:t>
            </a:r>
          </a:p>
          <a:p>
            <a:r>
              <a:t>BERT 分类实现：https://github.com/google-research/bert/blob/master/run_classifier.py</a:t>
            </a:r>
          </a:p>
          <a:p>
            <a:r>
              <a:t>NLI 与零样本分类：https://aclanthology.org/D19-1404/</a:t>
            </a:r>
          </a:p>
          <a:p>
            <a:r>
              <a:t>版本：前端 crypto10 / API 20261010-loop1；2026-10-10 UTC。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所有模块顶部都可打开GPU管理；真实运行前读取状态。未启动、启动中、停止中或状态未知时提示并阻止请求。管理员启动后自动刷新进度，就绪后返回原模块重新运行。非管理员查看状态并联系管理员。</a:t>
            </a:r>
          </a:p>
          <a:p/>
          <a:p>
            <a:r>
              <a:t>来源：</a:t>
            </a:r>
          </a:p>
          <a:p>
            <a:r>
              <a:t>官方博客：https://strandsagents.com/blog/introducing-strands-decider/</a:t>
            </a:r>
          </a:p>
          <a:p>
            <a:r>
              <a:t>模型卡：https://huggingface.co/StrandsAgents/strands-decider-2B-hobson-v19</a:t>
            </a:r>
          </a:p>
          <a:p>
            <a:r>
              <a:t>锁定源码：https://github.com/strands-labs/strands-decider/tree/63d24ae286e50105fba0bd1db15b0e243aea4650/src/strands_decider</a:t>
            </a:r>
          </a:p>
          <a:p>
            <a:r>
              <a:t>项目：https://github.com/milan9527/StrandsDecider</a:t>
            </a:r>
          </a:p>
          <a:p>
            <a:r>
              <a:t>固定输入实测：docs/results/benchmark-2026-10-10.json</a:t>
            </a:r>
          </a:p>
          <a:p>
            <a:r>
              <a:t>闭环实测：docs/presentations/v2/loop-observations.json</a:t>
            </a:r>
          </a:p>
          <a:p>
            <a:r>
              <a:t>页面截图：docs/presentations/v2/capture-manifest.json</a:t>
            </a:r>
          </a:p>
          <a:p>
            <a:r>
              <a:t>BERT 原始论文：https://aclanthology.org/N19-1423/</a:t>
            </a:r>
          </a:p>
          <a:p>
            <a:r>
              <a:t>BERT 分类实现：https://github.com/google-research/bert/blob/master/run_classifier.py</a:t>
            </a:r>
          </a:p>
          <a:p>
            <a:r>
              <a:t>NLI 与零样本分类：https://aclanthology.org/D19-1404/</a:t>
            </a:r>
          </a:p>
          <a:p>
            <a:r>
              <a:t>版本：前端 crypto10 / API 20261010-loop1；2026-10-10 UTC。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固定模式先冻结输入并收集五步建议，再执行两套方案。闭环则每轮判断、执行、读取实际结果，再提交带反馈的新请求。两侧分叉后输入可能不同，不能继续将全部轮次当作同输入准确率或延迟比较。</a:t>
            </a:r>
          </a:p>
          <a:p/>
          <a:p>
            <a:r>
              <a:t>来源：</a:t>
            </a:r>
          </a:p>
          <a:p>
            <a:r>
              <a:t>官方博客：https://strandsagents.com/blog/introducing-strands-decider/</a:t>
            </a:r>
          </a:p>
          <a:p>
            <a:r>
              <a:t>模型卡：https://huggingface.co/StrandsAgents/strands-decider-2B-hobson-v19</a:t>
            </a:r>
          </a:p>
          <a:p>
            <a:r>
              <a:t>锁定源码：https://github.com/strands-labs/strands-decider/tree/63d24ae286e50105fba0bd1db15b0e243aea4650/src/strands_decider</a:t>
            </a:r>
          </a:p>
          <a:p>
            <a:r>
              <a:t>项目：https://github.com/milan9527/StrandsDecider</a:t>
            </a:r>
          </a:p>
          <a:p>
            <a:r>
              <a:t>固定输入实测：docs/results/benchmark-2026-10-10.json</a:t>
            </a:r>
          </a:p>
          <a:p>
            <a:r>
              <a:t>闭环实测：docs/presentations/v2/loop-observations.json</a:t>
            </a:r>
          </a:p>
          <a:p>
            <a:r>
              <a:t>页面截图：docs/presentations/v2/capture-manifest.json</a:t>
            </a:r>
          </a:p>
          <a:p>
            <a:r>
              <a:t>BERT 原始论文：https://aclanthology.org/N19-1423/</a:t>
            </a:r>
          </a:p>
          <a:p>
            <a:r>
              <a:t>BERT 分类实现：https://github.com/google-research/bert/blob/master/run_classifier.py</a:t>
            </a:r>
          </a:p>
          <a:p>
            <a:r>
              <a:t>NLI 与零样本分类：https://aclanthology.org/D19-1404/</a:t>
            </a:r>
          </a:p>
          <a:p>
            <a:r>
              <a:t>版本：前端 crypto10 / API 20261010-loop1；2026-10-10 UTC。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S提供候选动作与适用条件，facts计算金额差额、足额、确认数等结构化事实，payload_for把这些事实与条件发给两模型。reference(s,stage)以确定性Python分支计算一个预期动作；matches_reference只是原始choice与这个动作是否相同。execution_action是另一层保护：检查实际执行时的资金条件与结案状态。普通支付没有risk_flag即可通过本阶段风控检查，是否已经足额并达到确认数是资金执行阶段再检查的条件。审批规则检查通过不等于立刻收款。参考不来自Decider或GPT，也不是行业统一标准。</a:t>
            </a:r>
          </a:p>
          <a:p/>
          <a:p>
            <a:r>
              <a:t>来源：</a:t>
            </a:r>
          </a:p>
          <a:p>
            <a:r>
              <a:t>官方博客：https://strandsagents.com/blog/introducing-strands-decider/</a:t>
            </a:r>
          </a:p>
          <a:p>
            <a:r>
              <a:t>模型卡：https://huggingface.co/StrandsAgents/strands-decider-2B-hobson-v19</a:t>
            </a:r>
          </a:p>
          <a:p>
            <a:r>
              <a:t>锁定源码：https://github.com/strands-labs/strands-decider/tree/63d24ae286e50105fba0bd1db15b0e243aea4650/src/strands_decider</a:t>
            </a:r>
          </a:p>
          <a:p>
            <a:r>
              <a:t>项目：https://github.com/milan9527/StrandsDecider</a:t>
            </a:r>
          </a:p>
          <a:p>
            <a:r>
              <a:t>固定输入实测：docs/results/benchmark-2026-10-10.json</a:t>
            </a:r>
          </a:p>
          <a:p>
            <a:r>
              <a:t>闭环实测：docs/presentations/v2/loop-observations.json</a:t>
            </a:r>
          </a:p>
          <a:p>
            <a:r>
              <a:t>页面截图：docs/presentations/v2/capture-manifest.json</a:t>
            </a:r>
          </a:p>
          <a:p>
            <a:r>
              <a:t>BERT 原始论文：https://aclanthology.org/N19-1423/</a:t>
            </a:r>
          </a:p>
          <a:p>
            <a:r>
              <a:t>BERT 分类实现：https://github.com/google-research/bert/blob/master/run_classifier.py</a:t>
            </a:r>
          </a:p>
          <a:p>
            <a:r>
              <a:t>NLI 与零样本分类：https://aclanthology.org/D19-1404/</a:t>
            </a:r>
          </a:p>
          <a:p>
            <a:r>
              <a:t>版本：前端 crypto10 / API 20261010-loop1；2026-10-10 UTC。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下表直接从本次导出读取。reference()由开发者独立计算，不是模型自己生成的规则。保守选择可以保留并继续，但未满足资金条件的动作仍会被调整。</a:t>
            </a:r>
          </a:p>
          <a:p/>
          <a:p>
            <a:r>
              <a:t>来源：</a:t>
            </a:r>
          </a:p>
          <a:p>
            <a:r>
              <a:t>官方博客：https://strandsagents.com/blog/introducing-strands-decider/</a:t>
            </a:r>
          </a:p>
          <a:p>
            <a:r>
              <a:t>模型卡：https://huggingface.co/StrandsAgents/strands-decider-2B-hobson-v19</a:t>
            </a:r>
          </a:p>
          <a:p>
            <a:r>
              <a:t>锁定源码：https://github.com/strands-labs/strands-decider/tree/63d24ae286e50105fba0bd1db15b0e243aea4650/src/strands_decider</a:t>
            </a:r>
          </a:p>
          <a:p>
            <a:r>
              <a:t>项目：https://github.com/milan9527/StrandsDecider</a:t>
            </a:r>
          </a:p>
          <a:p>
            <a:r>
              <a:t>固定输入实测：docs/results/benchmark-2026-10-10.json</a:t>
            </a:r>
          </a:p>
          <a:p>
            <a:r>
              <a:t>闭环实测：docs/presentations/v2/loop-observations.json</a:t>
            </a:r>
          </a:p>
          <a:p>
            <a:r>
              <a:t>页面截图：docs/presentations/v2/capture-manifest.json</a:t>
            </a:r>
          </a:p>
          <a:p>
            <a:r>
              <a:t>BERT 原始论文：https://aclanthology.org/N19-1423/</a:t>
            </a:r>
          </a:p>
          <a:p>
            <a:r>
              <a:t>BERT 分类实现：https://github.com/google-research/bert/blob/master/run_classifier.py</a:t>
            </a:r>
          </a:p>
          <a:p>
            <a:r>
              <a:t>NLI 与零样本分类：https://aclanthology.org/D19-1404/</a:t>
            </a:r>
          </a:p>
          <a:p>
            <a:r>
              <a:t>版本：前端 crypto10 / API 20261010-loop1；2026-10-10 UTC。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候选语义、字段干扰、条件组合、训练分布与业务校准都可能影响结果，但本项目没有进行归因消融。不要编造模型内部推理过程。BERT也会误分类，GPT也可能选择错误或请求失败。</a:t>
            </a:r>
          </a:p>
          <a:p/>
          <a:p>
            <a:r>
              <a:t>来源：</a:t>
            </a:r>
          </a:p>
          <a:p>
            <a:r>
              <a:t>官方博客：https://strandsagents.com/blog/introducing-strands-decider/</a:t>
            </a:r>
          </a:p>
          <a:p>
            <a:r>
              <a:t>模型卡：https://huggingface.co/StrandsAgents/strands-decider-2B-hobson-v19</a:t>
            </a:r>
          </a:p>
          <a:p>
            <a:r>
              <a:t>锁定源码：https://github.com/strands-labs/strands-decider/tree/63d24ae286e50105fba0bd1db15b0e243aea4650/src/strands_decider</a:t>
            </a:r>
          </a:p>
          <a:p>
            <a:r>
              <a:t>项目：https://github.com/milan9527/StrandsDecider</a:t>
            </a:r>
          </a:p>
          <a:p>
            <a:r>
              <a:t>固定输入实测：docs/results/benchmark-2026-10-10.json</a:t>
            </a:r>
          </a:p>
          <a:p>
            <a:r>
              <a:t>闭环实测：docs/presentations/v2/loop-observations.json</a:t>
            </a:r>
          </a:p>
          <a:p>
            <a:r>
              <a:t>页面截图：docs/presentations/v2/capture-manifest.json</a:t>
            </a:r>
          </a:p>
          <a:p>
            <a:r>
              <a:t>BERT 原始论文：https://aclanthology.org/N19-1423/</a:t>
            </a:r>
          </a:p>
          <a:p>
            <a:r>
              <a:t>BERT 分类实现：https://github.com/google-research/bert/blob/master/run_classifier.py</a:t>
            </a:r>
          </a:p>
          <a:p>
            <a:r>
              <a:t>NLI 与零样本分类：https://aclanthology.org/D19-1404/</a:t>
            </a:r>
          </a:p>
          <a:p>
            <a:r>
              <a:t>版本：前端 crypto10 / API 20261010-loop1；2026-10-10 UTC。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输入保存的是当时业务请求的快照，不会被后来的确认数、金额或消息修改覆盖。模型建议、实际执行和模板客服回复分别标记；原始业务请求与响应可展开。</a:t>
            </a:r>
          </a:p>
          <a:p/>
          <a:p>
            <a:r>
              <a:t>来源：</a:t>
            </a:r>
          </a:p>
          <a:p>
            <a:r>
              <a:t>官方博客：https://strandsagents.com/blog/introducing-strands-decider/</a:t>
            </a:r>
          </a:p>
          <a:p>
            <a:r>
              <a:t>模型卡：https://huggingface.co/StrandsAgents/strands-decider-2B-hobson-v19</a:t>
            </a:r>
          </a:p>
          <a:p>
            <a:r>
              <a:t>锁定源码：https://github.com/strands-labs/strands-decider/tree/63d24ae286e50105fba0bd1db15b0e243aea4650/src/strands_decider</a:t>
            </a:r>
          </a:p>
          <a:p>
            <a:r>
              <a:t>项目：https://github.com/milan9527/StrandsDecider</a:t>
            </a:r>
          </a:p>
          <a:p>
            <a:r>
              <a:t>固定输入实测：docs/results/benchmark-2026-10-10.json</a:t>
            </a:r>
          </a:p>
          <a:p>
            <a:r>
              <a:t>闭环实测：docs/presentations/v2/loop-observations.json</a:t>
            </a:r>
          </a:p>
          <a:p>
            <a:r>
              <a:t>页面截图：docs/presentations/v2/capture-manifest.json</a:t>
            </a:r>
          </a:p>
          <a:p>
            <a:r>
              <a:t>BERT 原始论文：https://aclanthology.org/N19-1423/</a:t>
            </a:r>
          </a:p>
          <a:p>
            <a:r>
              <a:t>BERT 分类实现：https://github.com/google-research/bert/blob/master/run_classifier.py</a:t>
            </a:r>
          </a:p>
          <a:p>
            <a:r>
              <a:t>NLI 与零样本分类：https://aclanthology.org/D19-1404/</a:t>
            </a:r>
          </a:p>
          <a:p>
            <a:r>
              <a:t>版本：前端 crypto10 / API 20261010-loop1；2026-10-10 UTC。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截图来自本次生产页面真实调用，没有用历史结果替换UI。模型每步后端耗时与整轮浏览器时间口径不同。</a:t>
            </a:r>
          </a:p>
          <a:p/>
          <a:p>
            <a:r>
              <a:t>来源：</a:t>
            </a:r>
          </a:p>
          <a:p>
            <a:r>
              <a:t>官方博客：https://strandsagents.com/blog/introducing-strands-decider/</a:t>
            </a:r>
          </a:p>
          <a:p>
            <a:r>
              <a:t>模型卡：https://huggingface.co/StrandsAgents/strands-decider-2B-hobson-v19</a:t>
            </a:r>
          </a:p>
          <a:p>
            <a:r>
              <a:t>锁定源码：https://github.com/strands-labs/strands-decider/tree/63d24ae286e50105fba0bd1db15b0e243aea4650/src/strands_decider</a:t>
            </a:r>
          </a:p>
          <a:p>
            <a:r>
              <a:t>项目：https://github.com/milan9527/StrandsDecider</a:t>
            </a:r>
          </a:p>
          <a:p>
            <a:r>
              <a:t>固定输入实测：docs/results/benchmark-2026-10-10.json</a:t>
            </a:r>
          </a:p>
          <a:p>
            <a:r>
              <a:t>闭环实测：docs/presentations/v2/loop-observations.json</a:t>
            </a:r>
          </a:p>
          <a:p>
            <a:r>
              <a:t>页面截图：docs/presentations/v2/capture-manifest.json</a:t>
            </a:r>
          </a:p>
          <a:p>
            <a:r>
              <a:t>BERT 原始论文：https://aclanthology.org/N19-1423/</a:t>
            </a:r>
          </a:p>
          <a:p>
            <a:r>
              <a:t>BERT 分类实现：https://github.com/google-research/bert/blob/master/run_classifier.py</a:t>
            </a:r>
          </a:p>
          <a:p>
            <a:r>
              <a:t>NLI 与零样本分类：https://aclanthology.org/D19-1404/</a:t>
            </a:r>
          </a:p>
          <a:p>
            <a:r>
              <a:t>版本：前端 crypto10 / API 20261010-loop1；2026-10-10 UTC。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业务完成必须同时确认目标订单状态、对应模拟账本、工单结案，并且无待复核状态。初始USDC确认数不足，因此两侧可处理五步，但没有资金记录。</a:t>
            </a:r>
          </a:p>
          <a:p/>
          <a:p>
            <a:r>
              <a:t>来源：</a:t>
            </a:r>
          </a:p>
          <a:p>
            <a:r>
              <a:t>官方博客：https://strandsagents.com/blog/introducing-strands-decider/</a:t>
            </a:r>
          </a:p>
          <a:p>
            <a:r>
              <a:t>模型卡：https://huggingface.co/StrandsAgents/strands-decider-2B-hobson-v19</a:t>
            </a:r>
          </a:p>
          <a:p>
            <a:r>
              <a:t>锁定源码：https://github.com/strands-labs/strands-decider/tree/63d24ae286e50105fba0bd1db15b0e243aea4650/src/strands_decider</a:t>
            </a:r>
          </a:p>
          <a:p>
            <a:r>
              <a:t>项目：https://github.com/milan9527/StrandsDecider</a:t>
            </a:r>
          </a:p>
          <a:p>
            <a:r>
              <a:t>固定输入实测：docs/results/benchmark-2026-10-10.json</a:t>
            </a:r>
          </a:p>
          <a:p>
            <a:r>
              <a:t>闭环实测：docs/presentations/v2/loop-observations.json</a:t>
            </a:r>
          </a:p>
          <a:p>
            <a:r>
              <a:t>页面截图：docs/presentations/v2/capture-manifest.json</a:t>
            </a:r>
          </a:p>
          <a:p>
            <a:r>
              <a:t>BERT 原始论文：https://aclanthology.org/N19-1423/</a:t>
            </a:r>
          </a:p>
          <a:p>
            <a:r>
              <a:t>BERT 分类实现：https://github.com/google-research/bert/blob/master/run_classifier.py</a:t>
            </a:r>
          </a:p>
          <a:p>
            <a:r>
              <a:t>NLI 与零样本分类：https://aclanthology.org/D19-1404/</a:t>
            </a:r>
          </a:p>
          <a:p>
            <a:r>
              <a:t>版本：前端 crypto10 / API 20261010-loop1；2026-10-10 UTC。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保留本次真实Decider与GPT原始建议。执行器检查实际条件，必要时采用hold；继续给出与真实状态一致的模板客服回复。</a:t>
            </a:r>
          </a:p>
          <a:p/>
          <a:p>
            <a:r>
              <a:t>来源：</a:t>
            </a:r>
          </a:p>
          <a:p>
            <a:r>
              <a:t>官方博客：https://strandsagents.com/blog/introducing-strands-decider/</a:t>
            </a:r>
          </a:p>
          <a:p>
            <a:r>
              <a:t>模型卡：https://huggingface.co/StrandsAgents/strands-decider-2B-hobson-v19</a:t>
            </a:r>
          </a:p>
          <a:p>
            <a:r>
              <a:t>锁定源码：https://github.com/strands-labs/strands-decider/tree/63d24ae286e50105fba0bd1db15b0e243aea4650/src/strands_decider</a:t>
            </a:r>
          </a:p>
          <a:p>
            <a:r>
              <a:t>项目：https://github.com/milan9527/StrandsDecider</a:t>
            </a:r>
          </a:p>
          <a:p>
            <a:r>
              <a:t>固定输入实测：docs/results/benchmark-2026-10-10.json</a:t>
            </a:r>
          </a:p>
          <a:p>
            <a:r>
              <a:t>闭环实测：docs/presentations/v2/loop-observations.json</a:t>
            </a:r>
          </a:p>
          <a:p>
            <a:r>
              <a:t>页面截图：docs/presentations/v2/capture-manifest.json</a:t>
            </a:r>
          </a:p>
          <a:p>
            <a:r>
              <a:t>BERT 原始论文：https://aclanthology.org/N19-1423/</a:t>
            </a:r>
          </a:p>
          <a:p>
            <a:r>
              <a:t>BERT 分类实现：https://github.com/google-research/bert/blob/master/run_classifier.py</a:t>
            </a:r>
          </a:p>
          <a:p>
            <a:r>
              <a:t>NLI 与零样本分类：https://aclanthology.org/D19-1404/</a:t>
            </a:r>
          </a:p>
          <a:p>
            <a:r>
              <a:t>版本：前端 crypto10 / API 20261010-loop1；2026-10-10 UTC。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左右均裁自同一张最新生产截图，只改变取景，没有替换业务数据。客服回复对应实际的3/12确认状态。点击模拟按钮后，固定模式重新开始；闭环等待时保留历史并续跑。</a:t>
            </a:r>
          </a:p>
          <a:p/>
          <a:p>
            <a:r>
              <a:t>来源：</a:t>
            </a:r>
          </a:p>
          <a:p>
            <a:r>
              <a:t>官方博客：https://strandsagents.com/blog/introducing-strands-decider/</a:t>
            </a:r>
          </a:p>
          <a:p>
            <a:r>
              <a:t>模型卡：https://huggingface.co/StrandsAgents/strands-decider-2B-hobson-v19</a:t>
            </a:r>
          </a:p>
          <a:p>
            <a:r>
              <a:t>锁定源码：https://github.com/strands-labs/strands-decider/tree/63d24ae286e50105fba0bd1db15b0e243aea4650/src/strands_decider</a:t>
            </a:r>
          </a:p>
          <a:p>
            <a:r>
              <a:t>项目：https://github.com/milan9527/StrandsDecider</a:t>
            </a:r>
          </a:p>
          <a:p>
            <a:r>
              <a:t>固定输入实测：docs/results/benchmark-2026-10-10.json</a:t>
            </a:r>
          </a:p>
          <a:p>
            <a:r>
              <a:t>闭环实测：docs/presentations/v2/loop-observations.json</a:t>
            </a:r>
          </a:p>
          <a:p>
            <a:r>
              <a:t>页面截图：docs/presentations/v2/capture-manifest.json</a:t>
            </a:r>
          </a:p>
          <a:p>
            <a:r>
              <a:t>BERT 原始论文：https://aclanthology.org/N19-1423/</a:t>
            </a:r>
          </a:p>
          <a:p>
            <a:r>
              <a:t>BERT 分类实现：https://github.com/google-research/bert/blob/master/run_classifier.py</a:t>
            </a:r>
          </a:p>
          <a:p>
            <a:r>
              <a:t>NLI 与零样本分类：https://aclanthology.org/D19-1404/</a:t>
            </a:r>
          </a:p>
          <a:p>
            <a:r>
              <a:t>版本：前端 crypto10 / API 20261010-loop1；2026-10-10 UTC。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 /api/crypto/loop/tick每次处理一个受限步骤。不能通过反复请求模型来补齐外部证据。每侧独立执行，模拟器事件不是模型执行真实审批或资金交易。</a:t>
            </a:r>
          </a:p>
          <a:p/>
          <a:p>
            <a:r>
              <a:t>来源：</a:t>
            </a:r>
          </a:p>
          <a:p>
            <a:r>
              <a:t>官方博客：https://strandsagents.com/blog/introducing-strands-decider/</a:t>
            </a:r>
          </a:p>
          <a:p>
            <a:r>
              <a:t>模型卡：https://huggingface.co/StrandsAgents/strands-decider-2B-hobson-v19</a:t>
            </a:r>
          </a:p>
          <a:p>
            <a:r>
              <a:t>锁定源码：https://github.com/strands-labs/strands-decider/tree/63d24ae286e50105fba0bd1db15b0e243aea4650/src/strands_decider</a:t>
            </a:r>
          </a:p>
          <a:p>
            <a:r>
              <a:t>项目：https://github.com/milan9527/StrandsDecider</a:t>
            </a:r>
          </a:p>
          <a:p>
            <a:r>
              <a:t>固定输入实测：docs/results/benchmark-2026-10-10.json</a:t>
            </a:r>
          </a:p>
          <a:p>
            <a:r>
              <a:t>闭环实测：docs/presentations/v2/loop-observations.json</a:t>
            </a:r>
          </a:p>
          <a:p>
            <a:r>
              <a:t>页面截图：docs/presentations/v2/capture-manifest.json</a:t>
            </a:r>
          </a:p>
          <a:p>
            <a:r>
              <a:t>BERT 原始论文：https://aclanthology.org/N19-1423/</a:t>
            </a:r>
          </a:p>
          <a:p>
            <a:r>
              <a:t>BERT 分类实现：https://github.com/google-research/bert/blob/master/run_classifier.py</a:t>
            </a:r>
          </a:p>
          <a:p>
            <a:r>
              <a:t>NLI 与零样本分类：https://aclanthology.org/D19-1404/</a:t>
            </a:r>
          </a:p>
          <a:p>
            <a:r>
              <a:t>版本：前端 crypto10 / API 20261010-loop1；2026-10-10 UTC。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截图显示闭环请求中的当前订单、工单状态与上一轮反馈。轮次编号仅表示各侧处理顺序，不代表后续输入相同。</a:t>
            </a:r>
          </a:p>
          <a:p/>
          <a:p>
            <a:r>
              <a:t>来源：</a:t>
            </a:r>
          </a:p>
          <a:p>
            <a:r>
              <a:t>官方博客：https://strandsagents.com/blog/introducing-strands-decider/</a:t>
            </a:r>
          </a:p>
          <a:p>
            <a:r>
              <a:t>模型卡：https://huggingface.co/StrandsAgents/strands-decider-2B-hobson-v19</a:t>
            </a:r>
          </a:p>
          <a:p>
            <a:r>
              <a:t>锁定源码：https://github.com/strands-labs/strands-decider/tree/63d24ae286e50105fba0bd1db15b0e243aea4650/src/strands_decider</a:t>
            </a:r>
          </a:p>
          <a:p>
            <a:r>
              <a:t>项目：https://github.com/milan9527/StrandsDecider</a:t>
            </a:r>
          </a:p>
          <a:p>
            <a:r>
              <a:t>固定输入实测：docs/results/benchmark-2026-10-10.json</a:t>
            </a:r>
          </a:p>
          <a:p>
            <a:r>
              <a:t>闭环实测：docs/presentations/v2/loop-observations.json</a:t>
            </a:r>
          </a:p>
          <a:p>
            <a:r>
              <a:t>页面截图：docs/presentations/v2/capture-manifest.json</a:t>
            </a:r>
          </a:p>
          <a:p>
            <a:r>
              <a:t>BERT 原始论文：https://aclanthology.org/N19-1423/</a:t>
            </a:r>
          </a:p>
          <a:p>
            <a:r>
              <a:t>BERT 分类实现：https://github.com/google-research/bert/blob/master/run_classifier.py</a:t>
            </a:r>
          </a:p>
          <a:p>
            <a:r>
              <a:t>NLI 与零样本分类：https://aclanthology.org/D19-1404/</a:t>
            </a:r>
          </a:p>
          <a:p>
            <a:r>
              <a:t>版本：前端 crypto10 / API 20261010-loop1；2026-10-10 UTC。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本页状态与结果直接读取本次生产导出。没有替换模型选择或强制业务完成。闭环包含模拟外部事件，但不是现实中的人工审批或真实交易。</a:t>
            </a:r>
          </a:p>
          <a:p/>
          <a:p>
            <a:r>
              <a:t>来源：</a:t>
            </a:r>
          </a:p>
          <a:p>
            <a:r>
              <a:t>官方博客：https://strandsagents.com/blog/introducing-strands-decider/</a:t>
            </a:r>
          </a:p>
          <a:p>
            <a:r>
              <a:t>模型卡：https://huggingface.co/StrandsAgents/strands-decider-2B-hobson-v19</a:t>
            </a:r>
          </a:p>
          <a:p>
            <a:r>
              <a:t>锁定源码：https://github.com/strands-labs/strands-decider/tree/63d24ae286e50105fba0bd1db15b0e243aea4650/src/strands_decider</a:t>
            </a:r>
          </a:p>
          <a:p>
            <a:r>
              <a:t>项目：https://github.com/milan9527/StrandsDecider</a:t>
            </a:r>
          </a:p>
          <a:p>
            <a:r>
              <a:t>固定输入实测：docs/results/benchmark-2026-10-10.json</a:t>
            </a:r>
          </a:p>
          <a:p>
            <a:r>
              <a:t>闭环实测：docs/presentations/v2/loop-observations.json</a:t>
            </a:r>
          </a:p>
          <a:p>
            <a:r>
              <a:t>页面截图：docs/presentations/v2/capture-manifest.json</a:t>
            </a:r>
          </a:p>
          <a:p>
            <a:r>
              <a:t>BERT 原始论文：https://aclanthology.org/N19-1423/</a:t>
            </a:r>
          </a:p>
          <a:p>
            <a:r>
              <a:t>BERT 分类实现：https://github.com/google-research/bert/blob/master/run_classifier.py</a:t>
            </a:r>
          </a:p>
          <a:p>
            <a:r>
              <a:t>NLI 与零样本分类：https://aclanthology.org/D19-1404/</a:t>
            </a:r>
          </a:p>
          <a:p>
            <a:r>
              <a:t>版本：前端 crypto10 / API 20261010-loop1；2026-10-10 UTC。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本页状态与结果直接读取本次生产导出。没有替换模型选择或强制业务完成。闭环包含模拟外部事件，但不是现实中的人工审批或真实交易。</a:t>
            </a:r>
          </a:p>
          <a:p/>
          <a:p>
            <a:r>
              <a:t>来源：</a:t>
            </a:r>
          </a:p>
          <a:p>
            <a:r>
              <a:t>官方博客：https://strandsagents.com/blog/introducing-strands-decider/</a:t>
            </a:r>
          </a:p>
          <a:p>
            <a:r>
              <a:t>模型卡：https://huggingface.co/StrandsAgents/strands-decider-2B-hobson-v19</a:t>
            </a:r>
          </a:p>
          <a:p>
            <a:r>
              <a:t>锁定源码：https://github.com/strands-labs/strands-decider/tree/63d24ae286e50105fba0bd1db15b0e243aea4650/src/strands_decider</a:t>
            </a:r>
          </a:p>
          <a:p>
            <a:r>
              <a:t>项目：https://github.com/milan9527/StrandsDecider</a:t>
            </a:r>
          </a:p>
          <a:p>
            <a:r>
              <a:t>固定输入实测：docs/results/benchmark-2026-10-10.json</a:t>
            </a:r>
          </a:p>
          <a:p>
            <a:r>
              <a:t>闭环实测：docs/presentations/v2/loop-observations.json</a:t>
            </a:r>
          </a:p>
          <a:p>
            <a:r>
              <a:t>页面截图：docs/presentations/v2/capture-manifest.json</a:t>
            </a:r>
          </a:p>
          <a:p>
            <a:r>
              <a:t>BERT 原始论文：https://aclanthology.org/N19-1423/</a:t>
            </a:r>
          </a:p>
          <a:p>
            <a:r>
              <a:t>BERT 分类实现：https://github.com/google-research/bert/blob/master/run_classifier.py</a:t>
            </a:r>
          </a:p>
          <a:p>
            <a:r>
              <a:t>NLI 与零样本分类：https://aclanthology.org/D19-1404/</a:t>
            </a:r>
          </a:p>
          <a:p>
            <a:r>
              <a:t>版本：前端 crypto10 / API 20261010-loop1；2026-10-10 UTC。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展示各侧最后一条控制反馈，用于解释为什么结束或暂停。连续无进展会触发转人工；这不是系统把参考答案补给Decider。</a:t>
            </a:r>
          </a:p>
          <a:p/>
          <a:p>
            <a:r>
              <a:t>来源：</a:t>
            </a:r>
          </a:p>
          <a:p>
            <a:r>
              <a:t>官方博客：https://strandsagents.com/blog/introducing-strands-decider/</a:t>
            </a:r>
          </a:p>
          <a:p>
            <a:r>
              <a:t>模型卡：https://huggingface.co/StrandsAgents/strands-decider-2B-hobson-v19</a:t>
            </a:r>
          </a:p>
          <a:p>
            <a:r>
              <a:t>锁定源码：https://github.com/strands-labs/strands-decider/tree/63d24ae286e50105fba0bd1db15b0e243aea4650/src/strands_decider</a:t>
            </a:r>
          </a:p>
          <a:p>
            <a:r>
              <a:t>项目：https://github.com/milan9527/StrandsDecider</a:t>
            </a:r>
          </a:p>
          <a:p>
            <a:r>
              <a:t>固定输入实测：docs/results/benchmark-2026-10-10.json</a:t>
            </a:r>
          </a:p>
          <a:p>
            <a:r>
              <a:t>闭环实测：docs/presentations/v2/loop-observations.json</a:t>
            </a:r>
          </a:p>
          <a:p>
            <a:r>
              <a:t>页面截图：docs/presentations/v2/capture-manifest.json</a:t>
            </a:r>
          </a:p>
          <a:p>
            <a:r>
              <a:t>BERT 原始论文：https://aclanthology.org/N19-1423/</a:t>
            </a:r>
          </a:p>
          <a:p>
            <a:r>
              <a:t>BERT 分类实现：https://github.com/google-research/bert/blob/master/run_classifier.py</a:t>
            </a:r>
          </a:p>
          <a:p>
            <a:r>
              <a:t>NLI 与零样本分类：https://aclanthology.org/D19-1404/</a:t>
            </a:r>
          </a:p>
          <a:p>
            <a:r>
              <a:t>版本：前端 crypto10 / API 20261010-loop1；2026-10-10 UTC。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完整数据包含一次Bedrock ReadTimeoutError。失败请求不进入速度合计，超时对用户等待的影响不能被这个成功请求统计替代。商户结算GPT侧因缺少完整方案未执行沙盒。</a:t>
            </a:r>
          </a:p>
          <a:p/>
          <a:p>
            <a:r>
              <a:t>来源：</a:t>
            </a:r>
          </a:p>
          <a:p>
            <a:r>
              <a:t>官方博客：https://strandsagents.com/blog/introducing-strands-decider/</a:t>
            </a:r>
          </a:p>
          <a:p>
            <a:r>
              <a:t>模型卡：https://huggingface.co/StrandsAgents/strands-decider-2B-hobson-v19</a:t>
            </a:r>
          </a:p>
          <a:p>
            <a:r>
              <a:t>锁定源码：https://github.com/strands-labs/strands-decider/tree/63d24ae286e50105fba0bd1db15b0e243aea4650/src/strands_decider</a:t>
            </a:r>
          </a:p>
          <a:p>
            <a:r>
              <a:t>项目：https://github.com/milan9527/StrandsDecider</a:t>
            </a:r>
          </a:p>
          <a:p>
            <a:r>
              <a:t>固定输入实测：docs/results/benchmark-2026-10-10.json</a:t>
            </a:r>
          </a:p>
          <a:p>
            <a:r>
              <a:t>闭环实测：docs/presentations/v2/loop-observations.json</a:t>
            </a:r>
          </a:p>
          <a:p>
            <a:r>
              <a:t>页面截图：docs/presentations/v2/capture-manifest.json</a:t>
            </a:r>
          </a:p>
          <a:p>
            <a:r>
              <a:t>BERT 原始论文：https://aclanthology.org/N19-1423/</a:t>
            </a:r>
          </a:p>
          <a:p>
            <a:r>
              <a:t>BERT 分类实现：https://github.com/google-research/bert/blob/master/run_classifier.py</a:t>
            </a:r>
          </a:p>
          <a:p>
            <a:r>
              <a:t>NLI 与零样本分类：https://aclanthology.org/D19-1404/</a:t>
            </a:r>
          </a:p>
          <a:p>
            <a:r>
              <a:t>版本：前端 crypto10 / API 20261010-loop1；2026-10-10 UTC。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不要因为GPT在历史固定案例中符合参考，就宣称它在每次调用中都能完整跑完。本次5步中返回4个GPT决策，1步失败；没有完整方案，因此该侧模拟执行没有启动。后续重试应保留此前错误。</a:t>
            </a:r>
          </a:p>
          <a:p/>
          <a:p>
            <a:r>
              <a:t>来源：</a:t>
            </a:r>
          </a:p>
          <a:p>
            <a:r>
              <a:t>官方博客：https://strandsagents.com/blog/introducing-strands-decider/</a:t>
            </a:r>
          </a:p>
          <a:p>
            <a:r>
              <a:t>模型卡：https://huggingface.co/StrandsAgents/strands-decider-2B-hobson-v19</a:t>
            </a:r>
          </a:p>
          <a:p>
            <a:r>
              <a:t>锁定源码：https://github.com/strands-labs/strands-decider/tree/63d24ae286e50105fba0bd1db15b0e243aea4650/src/strands_decider</a:t>
            </a:r>
          </a:p>
          <a:p>
            <a:r>
              <a:t>项目：https://github.com/milan9527/StrandsDecider</a:t>
            </a:r>
          </a:p>
          <a:p>
            <a:r>
              <a:t>固定输入实测：docs/results/benchmark-2026-10-10.json</a:t>
            </a:r>
          </a:p>
          <a:p>
            <a:r>
              <a:t>闭环实测：docs/presentations/v2/loop-observations.json</a:t>
            </a:r>
          </a:p>
          <a:p>
            <a:r>
              <a:t>页面截图：docs/presentations/v2/capture-manifest.json</a:t>
            </a:r>
          </a:p>
          <a:p>
            <a:r>
              <a:t>BERT 原始论文：https://aclanthology.org/N19-1423/</a:t>
            </a:r>
          </a:p>
          <a:p>
            <a:r>
              <a:t>BERT 分类实现：https://github.com/google-research/bert/blob/master/run_classifier.py</a:t>
            </a:r>
          </a:p>
          <a:p>
            <a:r>
              <a:t>NLI 与零样本分类：https://aclanthology.org/D19-1404/</a:t>
            </a:r>
          </a:p>
          <a:p>
            <a:r>
              <a:t>版本：前端 crypto10 / API 20261010-loop1；2026-10-10 UTC。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对话记录保存最近80轮，客户会话保存最近80条，刷新清除。每次输入做快照，不会随证据更新被改写。后台目前仍接收浏览器传回的沙盒状态，不能用它作为生产金融系统的状态或资金权限依据。</a:t>
            </a:r>
          </a:p>
          <a:p/>
          <a:p>
            <a:r>
              <a:t>来源：</a:t>
            </a:r>
          </a:p>
          <a:p>
            <a:r>
              <a:t>官方博客：https://strandsagents.com/blog/introducing-strands-decider/</a:t>
            </a:r>
          </a:p>
          <a:p>
            <a:r>
              <a:t>模型卡：https://huggingface.co/StrandsAgents/strands-decider-2B-hobson-v19</a:t>
            </a:r>
          </a:p>
          <a:p>
            <a:r>
              <a:t>锁定源码：https://github.com/strands-labs/strands-decider/tree/63d24ae286e50105fba0bd1db15b0e243aea4650/src/strands_decider</a:t>
            </a:r>
          </a:p>
          <a:p>
            <a:r>
              <a:t>项目：https://github.com/milan9527/StrandsDecider</a:t>
            </a:r>
          </a:p>
          <a:p>
            <a:r>
              <a:t>固定输入实测：docs/results/benchmark-2026-10-10.json</a:t>
            </a:r>
          </a:p>
          <a:p>
            <a:r>
              <a:t>闭环实测：docs/presentations/v2/loop-observations.json</a:t>
            </a:r>
          </a:p>
          <a:p>
            <a:r>
              <a:t>页面截图：docs/presentations/v2/capture-manifest.json</a:t>
            </a:r>
          </a:p>
          <a:p>
            <a:r>
              <a:t>BERT 原始论文：https://aclanthology.org/N19-1423/</a:t>
            </a:r>
          </a:p>
          <a:p>
            <a:r>
              <a:t>BERT 分类实现：https://github.com/google-research/bert/blob/master/run_classifier.py</a:t>
            </a:r>
          </a:p>
          <a:p>
            <a:r>
              <a:t>NLI 与零样本分类：https://aclanthology.org/D19-1404/</a:t>
            </a:r>
          </a:p>
          <a:p>
            <a:r>
              <a:t>版本：前端 crypto10 / API 20261010-loop1；2026-10-10 UTC。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可先用规则回放讲解交互，明确回放不产生模型速度。真实模式在GPU已就绪时运行。先固定初始USDC显示资金未落实，再选择闭环展示事件推进、重判和各自最终状态。最后展示历史输入不会被改写并导出记录。</a:t>
            </a:r>
          </a:p>
          <a:p/>
          <a:p>
            <a:r>
              <a:t>来源：</a:t>
            </a:r>
          </a:p>
          <a:p>
            <a:r>
              <a:t>官方博客：https://strandsagents.com/blog/introducing-strands-decider/</a:t>
            </a:r>
          </a:p>
          <a:p>
            <a:r>
              <a:t>模型卡：https://huggingface.co/StrandsAgents/strands-decider-2B-hobson-v19</a:t>
            </a:r>
          </a:p>
          <a:p>
            <a:r>
              <a:t>锁定源码：https://github.com/strands-labs/strands-decider/tree/63d24ae286e50105fba0bd1db15b0e243aea4650/src/strands_decider</a:t>
            </a:r>
          </a:p>
          <a:p>
            <a:r>
              <a:t>项目：https://github.com/milan9527/StrandsDecider</a:t>
            </a:r>
          </a:p>
          <a:p>
            <a:r>
              <a:t>固定输入实测：docs/results/benchmark-2026-10-10.json</a:t>
            </a:r>
          </a:p>
          <a:p>
            <a:r>
              <a:t>闭环实测：docs/presentations/v2/loop-observations.json</a:t>
            </a:r>
          </a:p>
          <a:p>
            <a:r>
              <a:t>页面截图：docs/presentations/v2/capture-manifest.json</a:t>
            </a:r>
          </a:p>
          <a:p>
            <a:r>
              <a:t>BERT 原始论文：https://aclanthology.org/N19-1423/</a:t>
            </a:r>
          </a:p>
          <a:p>
            <a:r>
              <a:t>BERT 分类实现：https://github.com/google-research/bert/blob/master/run_classifier.py</a:t>
            </a:r>
          </a:p>
          <a:p>
            <a:r>
              <a:t>NLI 与零样本分类：https://aclanthology.org/D19-1404/</a:t>
            </a:r>
          </a:p>
          <a:p>
            <a:r>
              <a:t>版本：前端 crypto10 / API 20261010-loop1；2026-10-10 UTC。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次数据只能支持这些案例上的观察。与BERT的比较是结构和任务适配方式，不是性能实测。普通大模型也存在超时或错误，闭环亦不保证成功。确定性规则由代码执行，模型处理语义选择；生产金融操作仍需外部授权与持久账务。</a:t>
            </a:r>
          </a:p>
          <a:p/>
          <a:p>
            <a:r>
              <a:t>来源：</a:t>
            </a:r>
          </a:p>
          <a:p>
            <a:r>
              <a:t>官方博客：https://strandsagents.com/blog/introducing-strands-decider/</a:t>
            </a:r>
          </a:p>
          <a:p>
            <a:r>
              <a:t>模型卡：https://huggingface.co/StrandsAgents/strands-decider-2B-hobson-v19</a:t>
            </a:r>
          </a:p>
          <a:p>
            <a:r>
              <a:t>锁定源码：https://github.com/strands-labs/strands-decider/tree/63d24ae286e50105fba0bd1db15b0e243aea4650/src/strands_decider</a:t>
            </a:r>
          </a:p>
          <a:p>
            <a:r>
              <a:t>项目：https://github.com/milan9527/StrandsDecider</a:t>
            </a:r>
          </a:p>
          <a:p>
            <a:r>
              <a:t>固定输入实测：docs/results/benchmark-2026-10-10.json</a:t>
            </a:r>
          </a:p>
          <a:p>
            <a:r>
              <a:t>闭环实测：docs/presentations/v2/loop-observations.json</a:t>
            </a:r>
          </a:p>
          <a:p>
            <a:r>
              <a:t>页面截图：docs/presentations/v2/capture-manifest.json</a:t>
            </a:r>
          </a:p>
          <a:p>
            <a:r>
              <a:t>BERT 原始论文：https://aclanthology.org/N19-1423/</a:t>
            </a:r>
          </a:p>
          <a:p>
            <a:r>
              <a:t>BERT 分类实现：https://github.com/google-research/bert/blob/master/run_classifier.py</a:t>
            </a:r>
          </a:p>
          <a:p>
            <a:r>
              <a:t>NLI 与零样本分类：https://aclanthology.org/D19-1404/</a:t>
            </a:r>
          </a:p>
          <a:p>
            <a:r>
              <a:t>版本：前端 crypto10 / API 20261010-loop1；2026-10-10 UTC。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原版SHA256：2cec652ba32a24853d0c4bf45b8bfae4854fb1c2bafcaf851f89140a7e624f55。补充判断机制与BERT内容来自此前扩展版，并再次核对锁定源码。最新统计只读取2026-10-10新采集结果，未混入旧PPT的7.49倍或README旧批次8.87倍。</a:t>
            </a:r>
          </a:p>
          <a:p/>
          <a:p>
            <a:r>
              <a:t>来源：</a:t>
            </a:r>
          </a:p>
          <a:p>
            <a:r>
              <a:t>官方博客：https://strandsagents.com/blog/introducing-strands-decider/</a:t>
            </a:r>
          </a:p>
          <a:p>
            <a:r>
              <a:t>模型卡：https://huggingface.co/StrandsAgents/strands-decider-2B-hobson-v19</a:t>
            </a:r>
          </a:p>
          <a:p>
            <a:r>
              <a:t>锁定源码：https://github.com/strands-labs/strands-decider/tree/63d24ae286e50105fba0bd1db15b0e243aea4650/src/strands_decider</a:t>
            </a:r>
          </a:p>
          <a:p>
            <a:r>
              <a:t>项目：https://github.com/milan9527/StrandsDecider</a:t>
            </a:r>
          </a:p>
          <a:p>
            <a:r>
              <a:t>固定输入实测：docs/results/benchmark-2026-10-10.json</a:t>
            </a:r>
          </a:p>
          <a:p>
            <a:r>
              <a:t>闭环实测：docs/presentations/v2/loop-observations.json</a:t>
            </a:r>
          </a:p>
          <a:p>
            <a:r>
              <a:t>页面截图：docs/presentations/v2/capture-manifest.json</a:t>
            </a:r>
          </a:p>
          <a:p>
            <a:r>
              <a:t>BERT 原始论文：https://aclanthology.org/N19-1423/</a:t>
            </a:r>
          </a:p>
          <a:p>
            <a:r>
              <a:t>BERT 分类实现：https://github.com/google-research/bert/blob/master/run_classifier.py</a:t>
            </a:r>
          </a:p>
          <a:p>
            <a:r>
              <a:t>NLI 与零样本分类：https://aclanthology.org/D19-1404/</a:t>
            </a:r>
          </a:p>
          <a:p>
            <a:r>
              <a:t>版本：前端 crypto10 / API 20261010-loop1；2026-10-10 UTC。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6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7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0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2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Relationship Id="rId3" Type="http://schemas.openxmlformats.org/officeDocument/2006/relationships/hyperlink" Target="https://strandsagents.com/blog/introducing-strands-decider/" TargetMode="External"/><Relationship Id="rId4" Type="http://schemas.openxmlformats.org/officeDocument/2006/relationships/hyperlink" Target="https://github.com/strands-labs/strands-decider/tree/63d24ae286e50105fba0bd1db15b0e243aea4650/src/strands_decider" TargetMode="External"/><Relationship Id="rId5" Type="http://schemas.openxmlformats.org/officeDocument/2006/relationships/hyperlink" Target="https://aclanthology.org/N19-1423/" TargetMode="External"/><Relationship Id="rId6" Type="http://schemas.openxmlformats.org/officeDocument/2006/relationships/hyperlink" Target="https://github.com/milan9527/StrandsDecider" TargetMode="External"/><Relationship Id="rId7" Type="http://schemas.openxmlformats.org/officeDocument/2006/relationships/hyperlink" Target="https://github.com/milan9527/StrandsDecider/tree/main/docs/presentations/v2" TargetMode="Externa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1 / 模型目的"/>
          <p:cNvSpPr txBox="1"/>
          <p:nvPr/>
        </p:nvSpPr>
        <p:spPr>
          <a:xfrm>
            <a:off x="530352" y="201168"/>
            <a:ext cx="1088136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01 / 模型目的</a:t>
            </a:r>
          </a:p>
        </p:txBody>
      </p:sp>
      <p:sp>
        <p:nvSpPr>
          <p:cNvPr id="3" name="TEXT: 把业务流程里的“下一步选择”独立出来"/>
          <p:cNvSpPr txBox="1"/>
          <p:nvPr/>
        </p:nvSpPr>
        <p:spPr>
          <a:xfrm>
            <a:off x="521207" y="612648"/>
            <a:ext cx="11109960" cy="5394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把业务流程里的“下一步选择”独立出来</a:t>
            </a:r>
          </a:p>
        </p:txBody>
      </p:sp>
      <p:sp>
        <p:nvSpPr>
          <p:cNvPr id="4" name="TEXT: 面向快速实验与本地开发的小型开源决策模型；支持 CPU / GPU，输出选项、是非或评分。"/>
          <p:cNvSpPr txBox="1"/>
          <p:nvPr/>
        </p:nvSpPr>
        <p:spPr>
          <a:xfrm>
            <a:off x="539496" y="1225296"/>
            <a:ext cx="109728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面向快速实验与本地开发的小型开源决策模型；支持 CPU / GPU，输出选项、是非或评分。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3529584" cy="32004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41148" cy="32004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: 高频、重复"/>
          <p:cNvSpPr txBox="1"/>
          <p:nvPr/>
        </p:nvSpPr>
        <p:spPr>
          <a:xfrm>
            <a:off x="731520" y="2039112"/>
            <a:ext cx="3163824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高频、重复</a:t>
            </a:r>
          </a:p>
        </p:txBody>
      </p:sp>
      <p:sp>
        <p:nvSpPr>
          <p:cNvPr id="8" name="TEXT: 这条消息属于哪个队列？ 下一步该调用哪个工具？ 证据是否足够继续？"/>
          <p:cNvSpPr txBox="1"/>
          <p:nvPr/>
        </p:nvSpPr>
        <p:spPr>
          <a:xfrm>
            <a:off x="731520" y="2633472"/>
            <a:ext cx="3163824" cy="23500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这条消息属于哪个队列？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下一步该调用哪个工具？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证据是否足够继续？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1874519"/>
            <a:ext cx="3529584" cy="32004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25112" y="1874519"/>
            <a:ext cx="41148" cy="32004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结构化输出"/>
          <p:cNvSpPr txBox="1"/>
          <p:nvPr/>
        </p:nvSpPr>
        <p:spPr>
          <a:xfrm>
            <a:off x="4507992" y="2039112"/>
            <a:ext cx="3163824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结构化输出</a:t>
            </a:r>
          </a:p>
        </p:txBody>
      </p:sp>
      <p:sp>
        <p:nvSpPr>
          <p:cNvPr id="12" name="TEXT: 在给定候选项中选一项 返回分布与 confidence 支持多个问题共享上下文"/>
          <p:cNvSpPr txBox="1"/>
          <p:nvPr/>
        </p:nvSpPr>
        <p:spPr>
          <a:xfrm>
            <a:off x="4507992" y="2633472"/>
            <a:ext cx="3163824" cy="23500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在给定候选项中选一项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返回分布与 confidence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支持多个问题共享上下文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874519"/>
            <a:ext cx="3529584" cy="32004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1583" y="1874519"/>
            <a:ext cx="41148" cy="32004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适合嵌入流程"/>
          <p:cNvSpPr txBox="1"/>
          <p:nvPr/>
        </p:nvSpPr>
        <p:spPr>
          <a:xfrm>
            <a:off x="8284463" y="2039112"/>
            <a:ext cx="3163824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适合嵌入流程</a:t>
            </a:r>
          </a:p>
        </p:txBody>
      </p:sp>
      <p:sp>
        <p:nvSpPr>
          <p:cNvPr id="16" name="TEXT: 将输出映射为应用动作 记录低置信与参考差异 保留升级到大模型或人工的入口"/>
          <p:cNvSpPr txBox="1"/>
          <p:nvPr/>
        </p:nvSpPr>
        <p:spPr>
          <a:xfrm>
            <a:off x="8284463" y="2633472"/>
            <a:ext cx="3163824" cy="23500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将输出映射为应用动作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记录低置信与参考差异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保留升级到大模型或人工的入口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404104"/>
            <a:ext cx="11082528" cy="612648"/>
          </a:xfrm>
          <a:prstGeom prst="roundRect">
            <a:avLst>
              <a:gd name="adj" fmla="val 13000"/>
            </a:avLst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自然语言理解与路径选择 → 模型    |    金额、权限与执行前置条件 → 应用代码"/>
          <p:cNvSpPr txBox="1"/>
          <p:nvPr/>
        </p:nvSpPr>
        <p:spPr>
          <a:xfrm>
            <a:off x="740664" y="5550408"/>
            <a:ext cx="106984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自然语言理解与路径选择 → 模型    |    金额、权限与执行前置条件 → 应用代码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473952"/>
            <a:ext cx="11073384" cy="0"/>
          </a:xfrm>
          <a:prstGeom prst="line">
            <a:avLst/>
          </a:prstGeom>
          <a:ln w="889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: 原版 / 扩展版沿用的原理与架构；已核对当前实现"/>
          <p:cNvSpPr txBox="1"/>
          <p:nvPr/>
        </p:nvSpPr>
        <p:spPr>
          <a:xfrm>
            <a:off x="566928" y="6556248"/>
            <a:ext cx="101955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1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原版 / 扩展版沿用的原理与架构；已核对当前实现</a:t>
            </a:r>
          </a:p>
        </p:txBody>
      </p:sp>
      <p:sp>
        <p:nvSpPr>
          <p:cNvPr id="21" name="TEXT: 02 / 34"/>
          <p:cNvSpPr txBox="1"/>
          <p:nvPr/>
        </p:nvSpPr>
        <p:spPr>
          <a:xfrm>
            <a:off x="10954512" y="6547104"/>
            <a:ext cx="658368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02 / 34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1 / 模型原理"/>
          <p:cNvSpPr txBox="1"/>
          <p:nvPr/>
        </p:nvSpPr>
        <p:spPr>
          <a:xfrm>
            <a:off x="530352" y="201168"/>
            <a:ext cx="1088136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01 / 模型原理</a:t>
            </a:r>
          </a:p>
        </p:txBody>
      </p:sp>
      <p:sp>
        <p:nvSpPr>
          <p:cNvPr id="3" name="TEXT: 原理：从文本生成头，切换到候选项评分头"/>
          <p:cNvSpPr txBox="1"/>
          <p:nvPr/>
        </p:nvSpPr>
        <p:spPr>
          <a:xfrm>
            <a:off x="521207" y="612648"/>
            <a:ext cx="11109960" cy="5394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原理：从文本生成头，切换到候选项评分头</a:t>
            </a:r>
          </a:p>
        </p:txBody>
      </p:sp>
      <p:sp>
        <p:nvSpPr>
          <p:cNvPr id="4" name="TEXT: 官方 v19：Qwen3.5-2B 主体 + rank-16 LoRA + 约百万参数的 Pointer Head。"/>
          <p:cNvSpPr txBox="1"/>
          <p:nvPr/>
        </p:nvSpPr>
        <p:spPr>
          <a:xfrm>
            <a:off x="539496" y="1225296"/>
            <a:ext cx="109728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官方 v19：Qwen3.5-2B 主体 + rank-16 LoRA + 约百万参数的 Pointer Head。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76272"/>
            <a:ext cx="2231136" cy="20116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76272"/>
            <a:ext cx="41148" cy="201168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: 业务输入"/>
          <p:cNvSpPr txBox="1"/>
          <p:nvPr/>
        </p:nvSpPr>
        <p:spPr>
          <a:xfrm>
            <a:off x="731520" y="2340864"/>
            <a:ext cx="1865376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业务输入</a:t>
            </a:r>
          </a:p>
        </p:txBody>
      </p:sp>
      <p:sp>
        <p:nvSpPr>
          <p:cNvPr id="8" name="TEXT: state / question options / criteria"/>
          <p:cNvSpPr txBox="1"/>
          <p:nvPr/>
        </p:nvSpPr>
        <p:spPr>
          <a:xfrm>
            <a:off x="731520" y="2935224"/>
            <a:ext cx="1865376" cy="11612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state / question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options / criteria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02636" y="3163824"/>
            <a:ext cx="205740" cy="0"/>
          </a:xfrm>
          <a:prstGeom prst="line">
            <a:avLst/>
          </a:prstGeom>
          <a:ln w="25400">
            <a:solidFill>
              <a:srgbClr val="087F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054096" y="2176272"/>
            <a:ext cx="2788920" cy="20116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54096" y="2176272"/>
            <a:ext cx="41148" cy="201168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预训练模型主体"/>
          <p:cNvSpPr txBox="1"/>
          <p:nvPr/>
        </p:nvSpPr>
        <p:spPr>
          <a:xfrm>
            <a:off x="3236976" y="2340864"/>
            <a:ext cx="242316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预训练模型主体</a:t>
            </a:r>
          </a:p>
        </p:txBody>
      </p:sp>
      <p:sp>
        <p:nvSpPr>
          <p:cNvPr id="13" name="TEXT: Qwen3.5-2B-Base rank-16 LoRA 微调"/>
          <p:cNvSpPr txBox="1"/>
          <p:nvPr/>
        </p:nvSpPr>
        <p:spPr>
          <a:xfrm>
            <a:off x="3236976" y="2935224"/>
            <a:ext cx="2423160" cy="11612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Qwen3.5-2B-Base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rank-16 LoRA 微调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65876" y="3163824"/>
            <a:ext cx="205740" cy="0"/>
          </a:xfrm>
          <a:prstGeom prst="line">
            <a:avLst/>
          </a:prstGeom>
          <a:ln w="25400">
            <a:solidFill>
              <a:srgbClr val="087F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117336" y="2176272"/>
            <a:ext cx="2788920" cy="20116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17336" y="2176272"/>
            <a:ext cx="41148" cy="2011680"/>
          </a:xfrm>
          <a:prstGeom prst="rect">
            <a:avLst/>
          </a:prstGeom>
          <a:solidFill>
            <a:srgbClr val="BE7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Pointer Head"/>
          <p:cNvSpPr txBox="1"/>
          <p:nvPr/>
        </p:nvSpPr>
        <p:spPr>
          <a:xfrm>
            <a:off x="6300216" y="2340864"/>
            <a:ext cx="242316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Pointer Head</a:t>
            </a:r>
          </a:p>
        </p:txBody>
      </p:sp>
      <p:sp>
        <p:nvSpPr>
          <p:cNvPr id="18" name="TEXT: 候选位置 ↔ &lt;answer&gt; 对每个候选项评分"/>
          <p:cNvSpPr txBox="1"/>
          <p:nvPr/>
        </p:nvSpPr>
        <p:spPr>
          <a:xfrm>
            <a:off x="6300216" y="2935224"/>
            <a:ext cx="2423160" cy="11612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候选位置 ↔ &lt;answer&gt;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对每个候选项评分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929115" y="3163824"/>
            <a:ext cx="205740" cy="0"/>
          </a:xfrm>
          <a:prstGeom prst="line">
            <a:avLst/>
          </a:prstGeom>
          <a:ln w="25400">
            <a:solidFill>
              <a:srgbClr val="BE721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180576" y="2176272"/>
            <a:ext cx="2240280" cy="20116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80576" y="2176272"/>
            <a:ext cx="41148" cy="2011680"/>
          </a:xfrm>
          <a:prstGeom prst="rect">
            <a:avLst/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结构化输出"/>
          <p:cNvSpPr txBox="1"/>
          <p:nvPr/>
        </p:nvSpPr>
        <p:spPr>
          <a:xfrm>
            <a:off x="9363455" y="2340864"/>
            <a:ext cx="187452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结构化输出</a:t>
            </a:r>
          </a:p>
        </p:txBody>
      </p:sp>
      <p:sp>
        <p:nvSpPr>
          <p:cNvPr id="23" name="TEXT: 选项分布与选择 是非概率 / 有序评分"/>
          <p:cNvSpPr txBox="1"/>
          <p:nvPr/>
        </p:nvSpPr>
        <p:spPr>
          <a:xfrm>
            <a:off x="9363455" y="2935224"/>
            <a:ext cx="1874520" cy="11612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选项分布与选择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是非概率 / 有序评分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68496" y="1728216"/>
            <a:ext cx="1828800" cy="274320"/>
          </a:xfrm>
          <a:prstGeom prst="roundRect">
            <a:avLst>
              <a:gd name="adj" fmla="val 13000"/>
            </a:avLst>
          </a:prstGeom>
          <a:solidFill>
            <a:srgbClr val="FF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移除 LM head"/>
          <p:cNvSpPr txBox="1"/>
          <p:nvPr/>
        </p:nvSpPr>
        <p:spPr>
          <a:xfrm>
            <a:off x="4005072" y="1769363"/>
            <a:ext cx="1755648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移除 LM head</a:t>
            </a:r>
          </a:p>
        </p:txBody>
      </p:sp>
      <p:sp>
        <p:nvSpPr>
          <p:cNvPr id="26" name="TEXT: 一次前向计算"/>
          <p:cNvSpPr txBox="1"/>
          <p:nvPr/>
        </p:nvSpPr>
        <p:spPr>
          <a:xfrm>
            <a:off x="621792" y="4617720"/>
            <a:ext cx="365760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一次前向计算</a:t>
            </a:r>
          </a:p>
        </p:txBody>
      </p:sp>
      <p:sp>
        <p:nvSpPr>
          <p:cNvPr id="27" name="TEXT: 共享状态，批量回答多个问题；减少逐 token 文本生成的开销。"/>
          <p:cNvSpPr txBox="1"/>
          <p:nvPr/>
        </p:nvSpPr>
        <p:spPr>
          <a:xfrm>
            <a:off x="4389120" y="4636008"/>
            <a:ext cx="6903720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共享状态，批量回答多个问题；减少逐 token 文本生成的开销。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" y="5879592"/>
            <a:ext cx="11100815" cy="475488"/>
          </a:xfrm>
          <a:prstGeom prst="roundRect">
            <a:avLst>
              <a:gd name="adj" fmla="val 13000"/>
            </a:avLst>
          </a:prstGeom>
          <a:solidFill>
            <a:srgbClr val="FF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能力边界：不擅长开放式长文本生成与复杂多步推理；任务变长、变复杂时需要重新评估。"/>
          <p:cNvSpPr txBox="1"/>
          <p:nvPr/>
        </p:nvSpPr>
        <p:spPr>
          <a:xfrm>
            <a:off x="548640" y="5971032"/>
            <a:ext cx="11064240" cy="3474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能力边界：不擅长开放式长文本生成与复杂多步推理；任务变长、变复杂时需要重新评估。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48640" y="6473952"/>
            <a:ext cx="11073384" cy="0"/>
          </a:xfrm>
          <a:prstGeom prst="line">
            <a:avLst/>
          </a:prstGeom>
          <a:ln w="889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: 原版 / 扩展版沿用的原理与架构；已核对当前实现"/>
          <p:cNvSpPr txBox="1"/>
          <p:nvPr/>
        </p:nvSpPr>
        <p:spPr>
          <a:xfrm>
            <a:off x="566928" y="6556248"/>
            <a:ext cx="101955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1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原版 / 扩展版沿用的原理与架构；已核对当前实现</a:t>
            </a:r>
          </a:p>
        </p:txBody>
      </p:sp>
      <p:sp>
        <p:nvSpPr>
          <p:cNvPr id="32" name="TEXT: 03 / 34"/>
          <p:cNvSpPr txBox="1"/>
          <p:nvPr/>
        </p:nvSpPr>
        <p:spPr>
          <a:xfrm>
            <a:off x="10954512" y="6547104"/>
            <a:ext cx="658368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03 / 34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1 / 输入与输出"/>
          <p:cNvSpPr txBox="1"/>
          <p:nvPr/>
        </p:nvSpPr>
        <p:spPr>
          <a:xfrm>
            <a:off x="530352" y="201168"/>
            <a:ext cx="1088136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01 / 输入与输出</a:t>
            </a:r>
          </a:p>
        </p:txBody>
      </p:sp>
      <p:sp>
        <p:nvSpPr>
          <p:cNvPr id="3" name="TEXT: 三种问题类型，表达三类业务判断"/>
          <p:cNvSpPr txBox="1"/>
          <p:nvPr/>
        </p:nvSpPr>
        <p:spPr>
          <a:xfrm>
            <a:off x="521207" y="612648"/>
            <a:ext cx="11109960" cy="5394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三种问题类型，表达三类业务判断</a:t>
            </a:r>
          </a:p>
        </p:txBody>
      </p:sp>
      <p:sp>
        <p:nvSpPr>
          <p:cNvPr id="4" name="TEXT: 同一份业务状态可以承载多个问题。候选名称与条件由应用提供。"/>
          <p:cNvSpPr txBox="1"/>
          <p:nvPr/>
        </p:nvSpPr>
        <p:spPr>
          <a:xfrm>
            <a:off x="539496" y="1225296"/>
            <a:ext cx="109728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同一份业务状态可以承载多个问题。候选名称与条件由应用提供。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92224"/>
            <a:ext cx="11064240" cy="640080"/>
          </a:xfrm>
          <a:prstGeom prst="roundRect">
            <a:avLst>
              <a:gd name="adj" fmla="val 13000"/>
            </a:avLst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共享 state：“Help! My payouts have been failing for 3 days!”"/>
          <p:cNvSpPr txBox="1"/>
          <p:nvPr/>
        </p:nvSpPr>
        <p:spPr>
          <a:xfrm>
            <a:off x="740664" y="1975104"/>
            <a:ext cx="10698480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共享 state：“Help! My payouts have been failing for 3 days!”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52344"/>
            <a:ext cx="3529584" cy="29718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choice · 多选一"/>
          <p:cNvSpPr txBox="1"/>
          <p:nvPr/>
        </p:nvSpPr>
        <p:spPr>
          <a:xfrm>
            <a:off x="713232" y="2953512"/>
            <a:ext cx="32004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choice · 多选一</a:t>
            </a:r>
          </a:p>
        </p:txBody>
      </p:sp>
      <p:sp>
        <p:nvSpPr>
          <p:cNvPr id="9" name="TEXT: 该由哪个团队处理？"/>
          <p:cNvSpPr txBox="1"/>
          <p:nvPr/>
        </p:nvSpPr>
        <p:spPr>
          <a:xfrm>
            <a:off x="713232" y="3566160"/>
            <a:ext cx="32004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该由哪个团队处理？</a:t>
            </a:r>
          </a:p>
        </p:txBody>
      </p:sp>
      <p:sp>
        <p:nvSpPr>
          <p:cNvPr id="10" name="TEXT: billing"/>
          <p:cNvSpPr txBox="1"/>
          <p:nvPr/>
        </p:nvSpPr>
        <p:spPr>
          <a:xfrm>
            <a:off x="713232" y="4059936"/>
            <a:ext cx="320040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5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billing</a:t>
            </a:r>
          </a:p>
        </p:txBody>
      </p:sp>
      <p:sp>
        <p:nvSpPr>
          <p:cNvPr id="11" name="TEXT: billing 0.846 / retail 0.090 sales 0.064 confidence = 0.769"/>
          <p:cNvSpPr txBox="1"/>
          <p:nvPr/>
        </p:nvSpPr>
        <p:spPr>
          <a:xfrm>
            <a:off x="713232" y="4718304"/>
            <a:ext cx="3200400" cy="8229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billing 0.846 / retail 0.090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sales 0.064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confidence = 0.769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2752344"/>
            <a:ext cx="3529584" cy="29718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noul · 是 / 否"/>
          <p:cNvSpPr txBox="1"/>
          <p:nvPr/>
        </p:nvSpPr>
        <p:spPr>
          <a:xfrm>
            <a:off x="4489704" y="2953512"/>
            <a:ext cx="32004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noul · 是 / 否</a:t>
            </a:r>
          </a:p>
        </p:txBody>
      </p:sp>
      <p:sp>
        <p:nvSpPr>
          <p:cNvPr id="14" name="TEXT: 是否表达了紧迫性？"/>
          <p:cNvSpPr txBox="1"/>
          <p:nvPr/>
        </p:nvSpPr>
        <p:spPr>
          <a:xfrm>
            <a:off x="4489704" y="3566160"/>
            <a:ext cx="32004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是否表达了紧迫性？</a:t>
            </a:r>
          </a:p>
        </p:txBody>
      </p:sp>
      <p:sp>
        <p:nvSpPr>
          <p:cNvPr id="15" name="TEXT: P(true) = 0.829"/>
          <p:cNvSpPr txBox="1"/>
          <p:nvPr/>
        </p:nvSpPr>
        <p:spPr>
          <a:xfrm>
            <a:off x="4489704" y="4059936"/>
            <a:ext cx="320040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5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P(true) = 0.829</a:t>
            </a:r>
          </a:p>
        </p:txBody>
      </p:sp>
      <p:sp>
        <p:nvSpPr>
          <p:cNvPr id="16" name="TEXT: 业务可将概率映射为升级条件 阈值需要独立验证 不是一段生成式解释"/>
          <p:cNvSpPr txBox="1"/>
          <p:nvPr/>
        </p:nvSpPr>
        <p:spPr>
          <a:xfrm>
            <a:off x="4489704" y="4718304"/>
            <a:ext cx="3200400" cy="8229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业务可将概率映射为升级条件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阈值需要独立验证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不是一段生成式解释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2752344"/>
            <a:ext cx="3529584" cy="29718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score · 有序等级"/>
          <p:cNvSpPr txBox="1"/>
          <p:nvPr/>
        </p:nvSpPr>
        <p:spPr>
          <a:xfrm>
            <a:off x="8266175" y="2953512"/>
            <a:ext cx="32004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1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score · 有序等级</a:t>
            </a:r>
          </a:p>
        </p:txBody>
      </p:sp>
      <p:sp>
        <p:nvSpPr>
          <p:cNvPr id="19" name="TEXT: 客户有多沮丧？"/>
          <p:cNvSpPr txBox="1"/>
          <p:nvPr/>
        </p:nvSpPr>
        <p:spPr>
          <a:xfrm>
            <a:off x="8266175" y="3566160"/>
            <a:ext cx="32004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客户有多沮丧？</a:t>
            </a:r>
          </a:p>
        </p:txBody>
      </p:sp>
      <p:sp>
        <p:nvSpPr>
          <p:cNvPr id="20" name="TEXT: score = 1.10"/>
          <p:cNvSpPr txBox="1"/>
          <p:nvPr/>
        </p:nvSpPr>
        <p:spPr>
          <a:xfrm>
            <a:off x="8266175" y="4059936"/>
            <a:ext cx="320040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500" b="1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score = 1.10</a:t>
            </a:r>
          </a:p>
        </p:txBody>
      </p:sp>
      <p:sp>
        <p:nvSpPr>
          <p:cNvPr id="21" name="TEXT: calm / frustrated / depressed 等级分布映射为评分 用于排序与优先级"/>
          <p:cNvSpPr txBox="1"/>
          <p:nvPr/>
        </p:nvSpPr>
        <p:spPr>
          <a:xfrm>
            <a:off x="8266175" y="4718304"/>
            <a:ext cx="3200400" cy="8229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calm / frustrated / depressed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等级分布映射为评分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用于排序与优先级</a:t>
            </a:r>
          </a:p>
        </p:txBody>
      </p:sp>
      <p:sp>
        <p:nvSpPr>
          <p:cNvPr id="22" name="TEXT: 本页数字来自官方示例；支付案例的实测结果在后续页面单独展示。"/>
          <p:cNvSpPr txBox="1"/>
          <p:nvPr/>
        </p:nvSpPr>
        <p:spPr>
          <a:xfrm>
            <a:off x="548640" y="5971032"/>
            <a:ext cx="11064240" cy="3474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本页数字来自官方示例；支付案例的实测结果在后续页面单独展示。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" y="6473952"/>
            <a:ext cx="11073384" cy="0"/>
          </a:xfrm>
          <a:prstGeom prst="line">
            <a:avLst/>
          </a:prstGeom>
          <a:ln w="889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: 原版 / 扩展版沿用的原理与架构；已核对当前实现"/>
          <p:cNvSpPr txBox="1"/>
          <p:nvPr/>
        </p:nvSpPr>
        <p:spPr>
          <a:xfrm>
            <a:off x="566928" y="6556248"/>
            <a:ext cx="101955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1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原版 / 扩展版沿用的原理与架构；已核对当前实现</a:t>
            </a:r>
          </a:p>
        </p:txBody>
      </p:sp>
      <p:sp>
        <p:nvSpPr>
          <p:cNvPr id="25" name="TEXT: 05 / 34"/>
          <p:cNvSpPr txBox="1"/>
          <p:nvPr/>
        </p:nvSpPr>
        <p:spPr>
          <a:xfrm>
            <a:off x="10954512" y="6547104"/>
            <a:ext cx="658368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05 / 34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1 / 模型对比"/>
          <p:cNvSpPr txBox="1"/>
          <p:nvPr/>
        </p:nvSpPr>
        <p:spPr>
          <a:xfrm>
            <a:off x="530352" y="201168"/>
            <a:ext cx="1088136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01 / 模型对比</a:t>
            </a:r>
          </a:p>
        </p:txBody>
      </p:sp>
      <p:sp>
        <p:nvSpPr>
          <p:cNvPr id="3" name="TEXT: Decider 与普通大模型：能力边界不同"/>
          <p:cNvSpPr txBox="1"/>
          <p:nvPr/>
        </p:nvSpPr>
        <p:spPr>
          <a:xfrm>
            <a:off x="521207" y="612648"/>
            <a:ext cx="11109960" cy="5394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Decider 与普通大模型：能力边界不同</a:t>
            </a:r>
          </a:p>
        </p:txBody>
      </p:sp>
      <p:sp>
        <p:nvSpPr>
          <p:cNvPr id="4" name="TEXT: 本项目让两者完成同一个有限候选决策任务，以便比较行为与耗时。"/>
          <p:cNvSpPr txBox="1"/>
          <p:nvPr/>
        </p:nvSpPr>
        <p:spPr>
          <a:xfrm>
            <a:off x="539496" y="1225296"/>
            <a:ext cx="109728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本项目让两者完成同一个有限候选决策任务，以便比较行为与耗时。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19656"/>
            <a:ext cx="2194560" cy="502920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维度"/>
          <p:cNvSpPr txBox="1"/>
          <p:nvPr/>
        </p:nvSpPr>
        <p:spPr>
          <a:xfrm>
            <a:off x="676656" y="1938528"/>
            <a:ext cx="196596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维度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2761488" y="1819656"/>
            <a:ext cx="4370832" cy="50292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Strands Decider"/>
          <p:cNvSpPr txBox="1"/>
          <p:nvPr/>
        </p:nvSpPr>
        <p:spPr>
          <a:xfrm>
            <a:off x="2889504" y="1938528"/>
            <a:ext cx="4142232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Strands Decider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7141464" y="1819656"/>
            <a:ext cx="4471416" cy="502920"/>
          </a:xfrm>
          <a:prstGeom prst="rect">
            <a:avLst/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普通生成式大模型 / GPT"/>
          <p:cNvSpPr txBox="1"/>
          <p:nvPr/>
        </p:nvSpPr>
        <p:spPr>
          <a:xfrm>
            <a:off x="7269479" y="1938528"/>
            <a:ext cx="4242816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普通生成式大模型 / GPT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50008"/>
            <a:ext cx="219456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输出空间"/>
          <p:cNvSpPr txBox="1"/>
          <p:nvPr/>
        </p:nvSpPr>
        <p:spPr>
          <a:xfrm>
            <a:off x="676656" y="2478024"/>
            <a:ext cx="1956815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输出空间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1488" y="2350008"/>
            <a:ext cx="4370832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从给定选项选择 / 是非 / 评分"/>
          <p:cNvSpPr txBox="1"/>
          <p:nvPr/>
        </p:nvSpPr>
        <p:spPr>
          <a:xfrm>
            <a:off x="2889504" y="2478024"/>
            <a:ext cx="413308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从给定选项选择 / 是非 / 评分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41464" y="2350008"/>
            <a:ext cx="4471416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可生成文本；本演示约束为候选 ID"/>
          <p:cNvSpPr txBox="1"/>
          <p:nvPr/>
        </p:nvSpPr>
        <p:spPr>
          <a:xfrm>
            <a:off x="7269479" y="2478024"/>
            <a:ext cx="4233672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可生成文本；本演示约束为候选 ID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907791"/>
            <a:ext cx="2194560" cy="530352"/>
          </a:xfrm>
          <a:prstGeom prst="rect">
            <a:avLst/>
          </a:prstGeom>
          <a:solidFill>
            <a:srgbClr val="ED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核心计算"/>
          <p:cNvSpPr txBox="1"/>
          <p:nvPr/>
        </p:nvSpPr>
        <p:spPr>
          <a:xfrm>
            <a:off x="676656" y="3035808"/>
            <a:ext cx="1956815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核心计算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61488" y="2907791"/>
            <a:ext cx="4370832" cy="530352"/>
          </a:xfrm>
          <a:prstGeom prst="rect">
            <a:avLst/>
          </a:prstGeom>
          <a:solidFill>
            <a:srgbClr val="ED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 模型主体 + Pointer Head 评分"/>
          <p:cNvSpPr txBox="1"/>
          <p:nvPr/>
        </p:nvSpPr>
        <p:spPr>
          <a:xfrm>
            <a:off x="2889504" y="3035808"/>
            <a:ext cx="413308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模型主体 + Pointer Head 评分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41464" y="2907791"/>
            <a:ext cx="4471416" cy="530352"/>
          </a:xfrm>
          <a:prstGeom prst="rect">
            <a:avLst/>
          </a:prstGeom>
          <a:solidFill>
            <a:srgbClr val="ED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生成式推理，再解析决策 JSON"/>
          <p:cNvSpPr txBox="1"/>
          <p:nvPr/>
        </p:nvSpPr>
        <p:spPr>
          <a:xfrm>
            <a:off x="7269479" y="3035808"/>
            <a:ext cx="4233672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生成式推理，再解析决策 JSON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465576"/>
            <a:ext cx="219456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: 结果观测"/>
          <p:cNvSpPr txBox="1"/>
          <p:nvPr/>
        </p:nvSpPr>
        <p:spPr>
          <a:xfrm>
            <a:off x="676656" y="3593592"/>
            <a:ext cx="1956815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结果观测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61488" y="3465576"/>
            <a:ext cx="4370832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choice、分布、confidence"/>
          <p:cNvSpPr txBox="1"/>
          <p:nvPr/>
        </p:nvSpPr>
        <p:spPr>
          <a:xfrm>
            <a:off x="2889504" y="3593592"/>
            <a:ext cx="413308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choice、分布、confidence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41464" y="3465576"/>
            <a:ext cx="4471416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choice、输入 / 输出 tokens"/>
          <p:cNvSpPr txBox="1"/>
          <p:nvPr/>
        </p:nvSpPr>
        <p:spPr>
          <a:xfrm>
            <a:off x="7269479" y="3593592"/>
            <a:ext cx="4233672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choice、输入 / 输出 tokens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023360"/>
            <a:ext cx="2194560" cy="530352"/>
          </a:xfrm>
          <a:prstGeom prst="rect">
            <a:avLst/>
          </a:prstGeom>
          <a:solidFill>
            <a:srgbClr val="ED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 强项"/>
          <p:cNvSpPr txBox="1"/>
          <p:nvPr/>
        </p:nvSpPr>
        <p:spPr>
          <a:xfrm>
            <a:off x="676656" y="4151376"/>
            <a:ext cx="1956815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强项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61488" y="4023360"/>
            <a:ext cx="4370832" cy="530352"/>
          </a:xfrm>
          <a:prstGeom prst="rect">
            <a:avLst/>
          </a:prstGeom>
          <a:solidFill>
            <a:srgbClr val="ED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: 高频、候选明确的语义判断"/>
          <p:cNvSpPr txBox="1"/>
          <p:nvPr/>
        </p:nvSpPr>
        <p:spPr>
          <a:xfrm>
            <a:off x="2889504" y="4151376"/>
            <a:ext cx="413308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高频、候选明确的语义判断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41464" y="4023360"/>
            <a:ext cx="4471416" cy="530352"/>
          </a:xfrm>
          <a:prstGeom prst="rect">
            <a:avLst/>
          </a:prstGeom>
          <a:solidFill>
            <a:srgbClr val="ED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: 复杂解释、规划、写作与开放式任务"/>
          <p:cNvSpPr txBox="1"/>
          <p:nvPr/>
        </p:nvSpPr>
        <p:spPr>
          <a:xfrm>
            <a:off x="7269479" y="4151376"/>
            <a:ext cx="4233672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复杂解释、规划、写作与开放式任务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581144"/>
            <a:ext cx="219456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: 运行方式"/>
          <p:cNvSpPr txBox="1"/>
          <p:nvPr/>
        </p:nvSpPr>
        <p:spPr>
          <a:xfrm>
            <a:off x="676656" y="4709159"/>
            <a:ext cx="1956815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运行方式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61488" y="4581144"/>
            <a:ext cx="4370832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: 本项目自行部署 SageMaker GPU"/>
          <p:cNvSpPr txBox="1"/>
          <p:nvPr/>
        </p:nvSpPr>
        <p:spPr>
          <a:xfrm>
            <a:off x="2889504" y="4709159"/>
            <a:ext cx="413308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本项目自行部署 SageMaker GPU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41464" y="4581144"/>
            <a:ext cx="4471416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: 本项目调用 Bedrock 托管模型"/>
          <p:cNvSpPr txBox="1"/>
          <p:nvPr/>
        </p:nvSpPr>
        <p:spPr>
          <a:xfrm>
            <a:off x="7269479" y="4709159"/>
            <a:ext cx="4233672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本项目调用 Bedrock 托管模型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138927"/>
            <a:ext cx="2194560" cy="530352"/>
          </a:xfrm>
          <a:prstGeom prst="rect">
            <a:avLst/>
          </a:prstGeom>
          <a:solidFill>
            <a:srgbClr val="ED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: 共同要求"/>
          <p:cNvSpPr txBox="1"/>
          <p:nvPr/>
        </p:nvSpPr>
        <p:spPr>
          <a:xfrm>
            <a:off x="676656" y="5266943"/>
            <a:ext cx="1956815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共同要求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61488" y="5138927"/>
            <a:ext cx="4370832" cy="530352"/>
          </a:xfrm>
          <a:prstGeom prst="rect">
            <a:avLst/>
          </a:prstGeom>
          <a:solidFill>
            <a:srgbClr val="ED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: 输入质量、评估、执行约束"/>
          <p:cNvSpPr txBox="1"/>
          <p:nvPr/>
        </p:nvSpPr>
        <p:spPr>
          <a:xfrm>
            <a:off x="2889504" y="5266943"/>
            <a:ext cx="413308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输入质量、评估、执行约束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41464" y="5138927"/>
            <a:ext cx="4471416" cy="530352"/>
          </a:xfrm>
          <a:prstGeom prst="rect">
            <a:avLst/>
          </a:prstGeom>
          <a:solidFill>
            <a:srgbClr val="ED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: 输入质量、评估、执行约束"/>
          <p:cNvSpPr txBox="1"/>
          <p:nvPr/>
        </p:nvSpPr>
        <p:spPr>
          <a:xfrm>
            <a:off x="7269479" y="5266943"/>
            <a:ext cx="4233672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输入质量、评估、执行约束</a:t>
            </a:r>
          </a:p>
        </p:txBody>
      </p:sp>
      <p:sp>
        <p:nvSpPr>
          <p:cNvPr id="47" name="TEXT: 本次没有比较自由对话、开放式 Agent 规划或客服长文本写作质量。"/>
          <p:cNvSpPr txBox="1"/>
          <p:nvPr/>
        </p:nvSpPr>
        <p:spPr>
          <a:xfrm>
            <a:off x="548640" y="5971032"/>
            <a:ext cx="11064240" cy="3474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本次没有比较自由对话、开放式 Agent 规划或客服长文本写作质量。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48640" y="6473952"/>
            <a:ext cx="11073384" cy="0"/>
          </a:xfrm>
          <a:prstGeom prst="line">
            <a:avLst/>
          </a:prstGeom>
          <a:ln w="889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: 原版 / 扩展版沿用的原理与架构；已核对当前实现"/>
          <p:cNvSpPr txBox="1"/>
          <p:nvPr/>
        </p:nvSpPr>
        <p:spPr>
          <a:xfrm>
            <a:off x="566928" y="6556248"/>
            <a:ext cx="101955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1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原版 / 扩展版沿用的原理与架构；已核对当前实现</a:t>
            </a:r>
          </a:p>
        </p:txBody>
      </p:sp>
      <p:sp>
        <p:nvSpPr>
          <p:cNvPr id="50" name="TEXT: 06 / 34"/>
          <p:cNvSpPr txBox="1"/>
          <p:nvPr/>
        </p:nvSpPr>
        <p:spPr>
          <a:xfrm>
            <a:off x="10954512" y="6547104"/>
            <a:ext cx="658368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06 / 34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1 / 应用选择"/>
          <p:cNvSpPr txBox="1"/>
          <p:nvPr/>
        </p:nvSpPr>
        <p:spPr>
          <a:xfrm>
            <a:off x="530352" y="201168"/>
            <a:ext cx="1088136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01 / 应用选择</a:t>
            </a:r>
          </a:p>
        </p:txBody>
      </p:sp>
      <p:sp>
        <p:nvSpPr>
          <p:cNvPr id="3" name="TEXT: 适用场景：候选清晰、调用频繁、结果可检查"/>
          <p:cNvSpPr txBox="1"/>
          <p:nvPr/>
        </p:nvSpPr>
        <p:spPr>
          <a:xfrm>
            <a:off x="521207" y="612648"/>
            <a:ext cx="11109960" cy="5394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适用场景：候选清晰、调用频繁、结果可检查</a:t>
            </a:r>
          </a:p>
        </p:txBody>
      </p:sp>
      <p:sp>
        <p:nvSpPr>
          <p:cNvPr id="4" name="TEXT: 官方列出的方向包括路由、工具选择、评估、守卫、记忆与上下文管理、策略分类。"/>
          <p:cNvSpPr txBox="1"/>
          <p:nvPr/>
        </p:nvSpPr>
        <p:spPr>
          <a:xfrm>
            <a:off x="539496" y="1225296"/>
            <a:ext cx="109728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官方列出的方向包括路由、工具选择、评估、守卫、记忆与上下文管理、策略分类。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37943"/>
            <a:ext cx="3529584" cy="144475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37943"/>
            <a:ext cx="41148" cy="1444752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: 模型 / 工具路由"/>
          <p:cNvSpPr txBox="1"/>
          <p:nvPr/>
        </p:nvSpPr>
        <p:spPr>
          <a:xfrm>
            <a:off x="731520" y="2002536"/>
            <a:ext cx="3163824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模型 / 工具路由</a:t>
            </a:r>
          </a:p>
        </p:txBody>
      </p:sp>
      <p:sp>
        <p:nvSpPr>
          <p:cNvPr id="8" name="TEXT: 选择模型档位、工具或业务队列"/>
          <p:cNvSpPr txBox="1"/>
          <p:nvPr/>
        </p:nvSpPr>
        <p:spPr>
          <a:xfrm>
            <a:off x="731520" y="2496311"/>
            <a:ext cx="3163824" cy="6949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选择模型档位、工具或业务队列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1837943"/>
            <a:ext cx="3529584" cy="144475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25112" y="1837943"/>
            <a:ext cx="41148" cy="1444752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工具调用前检查"/>
          <p:cNvSpPr txBox="1"/>
          <p:nvPr/>
        </p:nvSpPr>
        <p:spPr>
          <a:xfrm>
            <a:off x="4507992" y="2002536"/>
            <a:ext cx="3163824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工具调用前检查</a:t>
            </a:r>
          </a:p>
        </p:txBody>
      </p:sp>
      <p:sp>
        <p:nvSpPr>
          <p:cNvPr id="12" name="TEXT: 参数是否有依据？是否需要澄清？"/>
          <p:cNvSpPr txBox="1"/>
          <p:nvPr/>
        </p:nvSpPr>
        <p:spPr>
          <a:xfrm>
            <a:off x="4507992" y="2496311"/>
            <a:ext cx="3163824" cy="6949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参数是否有依据？是否需要澄清？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837943"/>
            <a:ext cx="3529584" cy="144475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1583" y="1837943"/>
            <a:ext cx="41148" cy="1444752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客服分流与升级"/>
          <p:cNvSpPr txBox="1"/>
          <p:nvPr/>
        </p:nvSpPr>
        <p:spPr>
          <a:xfrm>
            <a:off x="8284463" y="2002536"/>
            <a:ext cx="3163824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客服分流与升级</a:t>
            </a:r>
          </a:p>
        </p:txBody>
      </p:sp>
      <p:sp>
        <p:nvSpPr>
          <p:cNvPr id="16" name="TEXT: 识别诉求，选择继续跟进或转人工"/>
          <p:cNvSpPr txBox="1"/>
          <p:nvPr/>
        </p:nvSpPr>
        <p:spPr>
          <a:xfrm>
            <a:off x="8284463" y="2496311"/>
            <a:ext cx="3163824" cy="6949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识别诉求，选择继续跟进或转人工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520439"/>
            <a:ext cx="3529584" cy="144475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520439"/>
            <a:ext cx="41148" cy="1444752"/>
          </a:xfrm>
          <a:prstGeom prst="rect">
            <a:avLst/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策略分类与审核"/>
          <p:cNvSpPr txBox="1"/>
          <p:nvPr/>
        </p:nvSpPr>
        <p:spPr>
          <a:xfrm>
            <a:off x="731520" y="3685031"/>
            <a:ext cx="3163824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策略分类与审核</a:t>
            </a:r>
          </a:p>
        </p:txBody>
      </p:sp>
      <p:sp>
        <p:nvSpPr>
          <p:cNvPr id="20" name="TEXT: 将自然语言归入既定策略类别"/>
          <p:cNvSpPr txBox="1"/>
          <p:nvPr/>
        </p:nvSpPr>
        <p:spPr>
          <a:xfrm>
            <a:off x="731520" y="4178807"/>
            <a:ext cx="3163824" cy="6949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将自然语言归入既定策略类别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5112" y="3520439"/>
            <a:ext cx="3529584" cy="144475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25112" y="3520439"/>
            <a:ext cx="41148" cy="1444752"/>
          </a:xfrm>
          <a:prstGeom prst="rect">
            <a:avLst/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: RAG / 内容评估"/>
          <p:cNvSpPr txBox="1"/>
          <p:nvPr/>
        </p:nvSpPr>
        <p:spPr>
          <a:xfrm>
            <a:off x="4507992" y="3685031"/>
            <a:ext cx="3163824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RAG / 内容评估</a:t>
            </a:r>
          </a:p>
        </p:txBody>
      </p:sp>
      <p:sp>
        <p:nvSpPr>
          <p:cNvPr id="24" name="TEXT: 判断依据相关性、内容质量与覆盖度"/>
          <p:cNvSpPr txBox="1"/>
          <p:nvPr/>
        </p:nvSpPr>
        <p:spPr>
          <a:xfrm>
            <a:off x="4507992" y="4178807"/>
            <a:ext cx="3163824" cy="6949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判断依据相关性、内容质量与覆盖度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01583" y="3520439"/>
            <a:ext cx="3529584" cy="144475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01583" y="3520439"/>
            <a:ext cx="41148" cy="1444752"/>
          </a:xfrm>
          <a:prstGeom prst="rect">
            <a:avLst/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: 记忆与上下文管理"/>
          <p:cNvSpPr txBox="1"/>
          <p:nvPr/>
        </p:nvSpPr>
        <p:spPr>
          <a:xfrm>
            <a:off x="8284463" y="3685031"/>
            <a:ext cx="3163824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记忆与上下文管理</a:t>
            </a:r>
          </a:p>
        </p:txBody>
      </p:sp>
      <p:sp>
        <p:nvSpPr>
          <p:cNvPr id="28" name="TEXT: 选择哪些片段需要保留或取回"/>
          <p:cNvSpPr txBox="1"/>
          <p:nvPr/>
        </p:nvSpPr>
        <p:spPr>
          <a:xfrm>
            <a:off x="8284463" y="4178807"/>
            <a:ext cx="3163824" cy="6949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选择哪些片段需要保留或取回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449824"/>
            <a:ext cx="11064240" cy="585216"/>
          </a:xfrm>
          <a:prstGeom prst="roundRect">
            <a:avLst>
              <a:gd name="adj" fmla="val 13000"/>
            </a:avLst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 建议组合：确定性代码校验 → Decider 常规选择 → 复杂或低置信案例交给大模型 / 人工"/>
          <p:cNvSpPr txBox="1"/>
          <p:nvPr/>
        </p:nvSpPr>
        <p:spPr>
          <a:xfrm>
            <a:off x="740664" y="5614416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建议组合：确定性代码校验 → Decider 常规选择 → 复杂或低置信案例交给大模型 / 人工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48640" y="6473952"/>
            <a:ext cx="11073384" cy="0"/>
          </a:xfrm>
          <a:prstGeom prst="line">
            <a:avLst/>
          </a:prstGeom>
          <a:ln w="889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: 原版 / 扩展版沿用的原理与架构；已核对当前实现"/>
          <p:cNvSpPr txBox="1"/>
          <p:nvPr/>
        </p:nvSpPr>
        <p:spPr>
          <a:xfrm>
            <a:off x="566928" y="6556248"/>
            <a:ext cx="101955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1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原版 / 扩展版沿用的原理与架构；已核对当前实现</a:t>
            </a:r>
          </a:p>
        </p:txBody>
      </p:sp>
      <p:sp>
        <p:nvSpPr>
          <p:cNvPr id="33" name="TEXT: 09 / 34"/>
          <p:cNvSpPr txBox="1"/>
          <p:nvPr/>
        </p:nvSpPr>
        <p:spPr>
          <a:xfrm>
            <a:off x="10954512" y="6547104"/>
            <a:ext cx="658368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09 / 34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2 / 部署架构"/>
          <p:cNvSpPr txBox="1"/>
          <p:nvPr/>
        </p:nvSpPr>
        <p:spPr>
          <a:xfrm>
            <a:off x="530352" y="201168"/>
            <a:ext cx="1088136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02 / 部署架构</a:t>
            </a:r>
          </a:p>
        </p:txBody>
      </p:sp>
      <p:sp>
        <p:nvSpPr>
          <p:cNvPr id="3" name="TEXT: AWS 架构：后端直接调用三个业务服务"/>
          <p:cNvSpPr txBox="1"/>
          <p:nvPr/>
        </p:nvSpPr>
        <p:spPr>
          <a:xfrm>
            <a:off x="521207" y="612648"/>
            <a:ext cx="11109960" cy="5394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AWS 架构：后端直接调用三个业务服务</a:t>
            </a:r>
          </a:p>
        </p:txBody>
      </p:sp>
      <p:sp>
        <p:nvSpPr>
          <p:cNvPr id="4" name="TEXT: us-east-1 · AWS 官方服务图标 · 图中省略 Runtime / DynamoDB 私有端点节点。"/>
          <p:cNvSpPr txBox="1"/>
          <p:nvPr/>
        </p:nvSpPr>
        <p:spPr>
          <a:xfrm>
            <a:off x="539496" y="1225296"/>
            <a:ext cx="109728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us-east-1 · AWS 官方服务图标 · 图中省略 Runtime / DynamoDB 私有端点节点。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2395728" y="1755648"/>
            <a:ext cx="9217152" cy="4489704"/>
          </a:xfrm>
          <a:prstGeom prst="rect">
            <a:avLst/>
          </a:prstGeom>
          <a:noFill/>
          <a:ln w="10160">
            <a:solidFill>
              <a:srgbClr val="8595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AWS Cloud"/>
          <p:cNvSpPr txBox="1"/>
          <p:nvPr/>
        </p:nvSpPr>
        <p:spPr>
          <a:xfrm>
            <a:off x="2523744" y="1874519"/>
            <a:ext cx="173736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AWS Cloud</a:t>
            </a:r>
          </a:p>
        </p:txBody>
      </p:sp>
      <p:sp>
        <p:nvSpPr>
          <p:cNvPr id="7" name="Rectangle 6"/>
          <p:cNvSpPr/>
          <p:nvPr/>
        </p:nvSpPr>
        <p:spPr>
          <a:xfrm>
            <a:off x="4718304" y="1901952"/>
            <a:ext cx="6720840" cy="4169663"/>
          </a:xfrm>
          <a:prstGeom prst="rect">
            <a:avLst/>
          </a:prstGeom>
          <a:noFill/>
          <a:ln w="10160">
            <a:solidFill>
              <a:srgbClr val="00A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Region · us-east-1"/>
          <p:cNvSpPr txBox="1"/>
          <p:nvPr/>
        </p:nvSpPr>
        <p:spPr>
          <a:xfrm>
            <a:off x="4864608" y="1993392"/>
            <a:ext cx="27432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Region · us-east-1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3236976"/>
            <a:ext cx="3767328" cy="2395728"/>
          </a:xfrm>
          <a:prstGeom prst="rect">
            <a:avLst/>
          </a:prstGeom>
          <a:solidFill>
            <a:srgbClr val="F0F6F4"/>
          </a:solidFill>
          <a:ln w="10160">
            <a:solidFill>
              <a:srgbClr val="8C4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应用 VPC / 私有子网"/>
          <p:cNvSpPr txBox="1"/>
          <p:nvPr/>
        </p:nvSpPr>
        <p:spPr>
          <a:xfrm>
            <a:off x="5102352" y="3383280"/>
            <a:ext cx="338328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应用 VPC / 私有子网</a:t>
            </a:r>
          </a:p>
        </p:txBody>
      </p:sp>
      <p:pic>
        <p:nvPicPr>
          <p:cNvPr id="11" name="Picture 10" descr="aws-cl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785615"/>
            <a:ext cx="521207" cy="521207"/>
          </a:xfrm>
          <a:prstGeom prst="rect">
            <a:avLst/>
          </a:prstGeom>
        </p:spPr>
      </p:pic>
      <p:sp>
        <p:nvSpPr>
          <p:cNvPr id="12" name="TEXT: 浏览器"/>
          <p:cNvSpPr txBox="1"/>
          <p:nvPr/>
        </p:nvSpPr>
        <p:spPr>
          <a:xfrm>
            <a:off x="585216" y="4407407"/>
            <a:ext cx="1371600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4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浏览器</a:t>
            </a:r>
          </a:p>
        </p:txBody>
      </p:sp>
      <p:sp>
        <p:nvSpPr>
          <p:cNvPr id="13" name="TEXT: 用户名登录"/>
          <p:cNvSpPr txBox="1"/>
          <p:nvPr/>
        </p:nvSpPr>
        <p:spPr>
          <a:xfrm>
            <a:off x="530352" y="4809744"/>
            <a:ext cx="1481328" cy="5029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用户名登录</a:t>
            </a:r>
          </a:p>
        </p:txBody>
      </p:sp>
      <p:pic>
        <p:nvPicPr>
          <p:cNvPr id="14" name="Picture 13" descr="aws-cloud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4972" y="3785615"/>
            <a:ext cx="521207" cy="521207"/>
          </a:xfrm>
          <a:prstGeom prst="rect">
            <a:avLst/>
          </a:prstGeom>
        </p:spPr>
      </p:pic>
      <p:sp>
        <p:nvSpPr>
          <p:cNvPr id="15" name="TEXT: CloudFront"/>
          <p:cNvSpPr txBox="1"/>
          <p:nvPr/>
        </p:nvSpPr>
        <p:spPr>
          <a:xfrm>
            <a:off x="2642616" y="4407407"/>
            <a:ext cx="1645920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4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CloudFront</a:t>
            </a:r>
          </a:p>
        </p:txBody>
      </p:sp>
      <p:sp>
        <p:nvSpPr>
          <p:cNvPr id="16" name="TEXT: 全球 HTTPS 入口"/>
          <p:cNvSpPr txBox="1"/>
          <p:nvPr/>
        </p:nvSpPr>
        <p:spPr>
          <a:xfrm>
            <a:off x="2587752" y="4809744"/>
            <a:ext cx="1755648" cy="5029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全球 HTTPS 入口</a:t>
            </a:r>
          </a:p>
        </p:txBody>
      </p:sp>
      <p:pic>
        <p:nvPicPr>
          <p:cNvPr id="17" name="Picture 16" descr="aws-s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4304" y="2286000"/>
            <a:ext cx="521207" cy="521207"/>
          </a:xfrm>
          <a:prstGeom prst="rect">
            <a:avLst/>
          </a:prstGeom>
        </p:spPr>
      </p:pic>
      <p:sp>
        <p:nvSpPr>
          <p:cNvPr id="18" name="TEXT: Amazon S3"/>
          <p:cNvSpPr txBox="1"/>
          <p:nvPr/>
        </p:nvSpPr>
        <p:spPr>
          <a:xfrm>
            <a:off x="6336792" y="2907792"/>
            <a:ext cx="1856231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4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Amazon S3</a:t>
            </a:r>
          </a:p>
        </p:txBody>
      </p:sp>
      <p:pic>
        <p:nvPicPr>
          <p:cNvPr id="19" name="Picture 18" descr="aws-a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1264" y="3813048"/>
            <a:ext cx="521207" cy="521207"/>
          </a:xfrm>
          <a:prstGeom prst="rect">
            <a:avLst/>
          </a:prstGeom>
        </p:spPr>
      </p:pic>
      <p:sp>
        <p:nvSpPr>
          <p:cNvPr id="20" name="TEXT: 内网 ALB"/>
          <p:cNvSpPr txBox="1"/>
          <p:nvPr/>
        </p:nvSpPr>
        <p:spPr>
          <a:xfrm>
            <a:off x="5047488" y="4434840"/>
            <a:ext cx="1508760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4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内网 ALB</a:t>
            </a:r>
          </a:p>
        </p:txBody>
      </p:sp>
      <p:sp>
        <p:nvSpPr>
          <p:cNvPr id="21" name="TEXT: /api/*"/>
          <p:cNvSpPr txBox="1"/>
          <p:nvPr/>
        </p:nvSpPr>
        <p:spPr>
          <a:xfrm>
            <a:off x="4992624" y="4837176"/>
            <a:ext cx="1618488" cy="5029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/api/*</a:t>
            </a:r>
          </a:p>
        </p:txBody>
      </p:sp>
      <p:pic>
        <p:nvPicPr>
          <p:cNvPr id="22" name="Picture 21" descr="aws-ec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5783" y="3813048"/>
            <a:ext cx="521207" cy="521207"/>
          </a:xfrm>
          <a:prstGeom prst="rect">
            <a:avLst/>
          </a:prstGeom>
        </p:spPr>
      </p:pic>
      <p:sp>
        <p:nvSpPr>
          <p:cNvPr id="23" name="TEXT: ECS / Fargate"/>
          <p:cNvSpPr txBox="1"/>
          <p:nvPr/>
        </p:nvSpPr>
        <p:spPr>
          <a:xfrm>
            <a:off x="6876288" y="4434840"/>
            <a:ext cx="1600200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45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ECS / Fargate</a:t>
            </a:r>
          </a:p>
        </p:txBody>
      </p:sp>
      <p:sp>
        <p:nvSpPr>
          <p:cNvPr id="24" name="TEXT: FastAPI · 无公网 IP"/>
          <p:cNvSpPr txBox="1"/>
          <p:nvPr/>
        </p:nvSpPr>
        <p:spPr>
          <a:xfrm>
            <a:off x="6821424" y="4837176"/>
            <a:ext cx="1709928" cy="5029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FastAPI · 无公网 IP</a:t>
            </a:r>
          </a:p>
        </p:txBody>
      </p:sp>
      <p:pic>
        <p:nvPicPr>
          <p:cNvPr id="25" name="Picture 24" descr="aws-sagemak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17152" y="2441448"/>
            <a:ext cx="466344" cy="466344"/>
          </a:xfrm>
          <a:prstGeom prst="rect">
            <a:avLst/>
          </a:prstGeom>
        </p:spPr>
      </p:pic>
      <p:sp>
        <p:nvSpPr>
          <p:cNvPr id="26" name="TEXT: SageMaker AI"/>
          <p:cNvSpPr txBox="1"/>
          <p:nvPr/>
        </p:nvSpPr>
        <p:spPr>
          <a:xfrm>
            <a:off x="9848088" y="2468879"/>
            <a:ext cx="14447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SageMaker AI</a:t>
            </a:r>
          </a:p>
        </p:txBody>
      </p:sp>
      <p:sp>
        <p:nvSpPr>
          <p:cNvPr id="27" name="TEXT: Decider v19 · L4 GPU"/>
          <p:cNvSpPr txBox="1"/>
          <p:nvPr/>
        </p:nvSpPr>
        <p:spPr>
          <a:xfrm>
            <a:off x="9144000" y="3035808"/>
            <a:ext cx="214884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Decider v19 · L4 GPU</a:t>
            </a:r>
          </a:p>
        </p:txBody>
      </p:sp>
      <p:pic>
        <p:nvPicPr>
          <p:cNvPr id="28" name="Picture 27" descr="aws-bedroc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17152" y="3703320"/>
            <a:ext cx="466344" cy="466344"/>
          </a:xfrm>
          <a:prstGeom prst="rect">
            <a:avLst/>
          </a:prstGeom>
        </p:spPr>
      </p:pic>
      <p:sp>
        <p:nvSpPr>
          <p:cNvPr id="29" name="TEXT: Amazon Bedrock"/>
          <p:cNvSpPr txBox="1"/>
          <p:nvPr/>
        </p:nvSpPr>
        <p:spPr>
          <a:xfrm>
            <a:off x="9848088" y="3730752"/>
            <a:ext cx="14447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Amazon Bedrock</a:t>
            </a:r>
          </a:p>
        </p:txBody>
      </p:sp>
      <p:sp>
        <p:nvSpPr>
          <p:cNvPr id="30" name="TEXT: GPT-6.1 Sol · low"/>
          <p:cNvSpPr txBox="1"/>
          <p:nvPr/>
        </p:nvSpPr>
        <p:spPr>
          <a:xfrm>
            <a:off x="9144000" y="4297680"/>
            <a:ext cx="214884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GPT-6.1 Sol · low</a:t>
            </a:r>
          </a:p>
        </p:txBody>
      </p:sp>
      <p:pic>
        <p:nvPicPr>
          <p:cNvPr id="31" name="Picture 30" descr="aws-dynamod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17152" y="4956048"/>
            <a:ext cx="466344" cy="466344"/>
          </a:xfrm>
          <a:prstGeom prst="rect">
            <a:avLst/>
          </a:prstGeom>
        </p:spPr>
      </p:pic>
      <p:sp>
        <p:nvSpPr>
          <p:cNvPr id="32" name="TEXT: DynamoDB"/>
          <p:cNvSpPr txBox="1"/>
          <p:nvPr/>
        </p:nvSpPr>
        <p:spPr>
          <a:xfrm>
            <a:off x="9848088" y="4983480"/>
            <a:ext cx="14447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DynamoDB</a:t>
            </a:r>
          </a:p>
        </p:txBody>
      </p:sp>
      <p:sp>
        <p:nvSpPr>
          <p:cNvPr id="33" name="TEXT: 认证 / 会话 / GPU 状态"/>
          <p:cNvSpPr txBox="1"/>
          <p:nvPr/>
        </p:nvSpPr>
        <p:spPr>
          <a:xfrm>
            <a:off x="9144000" y="5550408"/>
            <a:ext cx="214884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认证 / 会话 / GPU 状态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947672" y="4261104"/>
            <a:ext cx="630936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325112" y="4261104"/>
            <a:ext cx="649224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: VPC Origin"/>
          <p:cNvSpPr txBox="1"/>
          <p:nvPr/>
        </p:nvSpPr>
        <p:spPr>
          <a:xfrm>
            <a:off x="4334256" y="3977639"/>
            <a:ext cx="630936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8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VPC Origin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537960" y="4261104"/>
            <a:ext cx="292608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3483864" y="2779776"/>
            <a:ext cx="0" cy="932687"/>
          </a:xfrm>
          <a:prstGeom prst="line">
            <a:avLst/>
          </a:prstGeom>
          <a:ln w="1905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483864" y="2779776"/>
            <a:ext cx="2798064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: 静态资源 · OAC"/>
          <p:cNvSpPr txBox="1"/>
          <p:nvPr/>
        </p:nvSpPr>
        <p:spPr>
          <a:xfrm>
            <a:off x="3730752" y="2468880"/>
            <a:ext cx="214884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静态资源 · OAC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485632" y="4087368"/>
            <a:ext cx="438912" cy="0"/>
          </a:xfrm>
          <a:prstGeom prst="line">
            <a:avLst/>
          </a:prstGeom>
          <a:ln w="19050">
            <a:solidFill>
              <a:srgbClr val="087F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8924544" y="2734056"/>
            <a:ext cx="0" cy="1353312"/>
          </a:xfrm>
          <a:prstGeom prst="line">
            <a:avLst/>
          </a:prstGeom>
          <a:ln w="19050">
            <a:solidFill>
              <a:srgbClr val="087F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924544" y="2734056"/>
            <a:ext cx="237744" cy="0"/>
          </a:xfrm>
          <a:prstGeom prst="line">
            <a:avLst/>
          </a:prstGeom>
          <a:ln w="19050">
            <a:solidFill>
              <a:srgbClr val="087F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485632" y="4270248"/>
            <a:ext cx="539496" cy="0"/>
          </a:xfrm>
          <a:prstGeom prst="line">
            <a:avLst/>
          </a:prstGeom>
          <a:ln w="19050">
            <a:solidFill>
              <a:srgbClr val="4669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9025128" y="3950208"/>
            <a:ext cx="0" cy="320040"/>
          </a:xfrm>
          <a:prstGeom prst="line">
            <a:avLst/>
          </a:prstGeom>
          <a:ln w="19050">
            <a:solidFill>
              <a:srgbClr val="4669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025128" y="3950208"/>
            <a:ext cx="137160" cy="0"/>
          </a:xfrm>
          <a:prstGeom prst="line">
            <a:avLst/>
          </a:prstGeom>
          <a:ln w="19050">
            <a:solidFill>
              <a:srgbClr val="4669C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485632" y="4462272"/>
            <a:ext cx="438912" cy="0"/>
          </a:xfrm>
          <a:prstGeom prst="line">
            <a:avLst/>
          </a:prstGeom>
          <a:ln w="1905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924544" y="4462272"/>
            <a:ext cx="0" cy="777240"/>
          </a:xfrm>
          <a:prstGeom prst="line">
            <a:avLst/>
          </a:prstGeom>
          <a:ln w="1905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8924544" y="5239512"/>
            <a:ext cx="237744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: S3 公共访问全阻止；后端无公网 IP。Bedrock 使用美国跨区域推理配置。"/>
          <p:cNvSpPr txBox="1"/>
          <p:nvPr/>
        </p:nvSpPr>
        <p:spPr>
          <a:xfrm>
            <a:off x="548640" y="6281928"/>
            <a:ext cx="11064240" cy="3474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S3 公共访问全阻止；后端无公网 IP。Bedrock 使用美国跨区域推理配置。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48640" y="6473952"/>
            <a:ext cx="11073384" cy="0"/>
          </a:xfrm>
          <a:prstGeom prst="line">
            <a:avLst/>
          </a:prstGeom>
          <a:ln w="889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: 原版 / 扩展版沿用的原理与架构；已核对当前实现"/>
          <p:cNvSpPr txBox="1"/>
          <p:nvPr/>
        </p:nvSpPr>
        <p:spPr>
          <a:xfrm>
            <a:off x="566928" y="6556248"/>
            <a:ext cx="101955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1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原版 / 扩展版沿用的原理与架构；已核对当前实现</a:t>
            </a:r>
          </a:p>
        </p:txBody>
      </p:sp>
      <p:sp>
        <p:nvSpPr>
          <p:cNvPr id="53" name="TEXT: 11 / 34"/>
          <p:cNvSpPr txBox="1"/>
          <p:nvPr/>
        </p:nvSpPr>
        <p:spPr>
          <a:xfrm>
            <a:off x="10954512" y="6547104"/>
            <a:ext cx="658368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11 / 34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3 / 场景设计"/>
          <p:cNvSpPr txBox="1"/>
          <p:nvPr/>
        </p:nvSpPr>
        <p:spPr>
          <a:xfrm>
            <a:off x="530352" y="201168"/>
            <a:ext cx="1088136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03 / 场景设计</a:t>
            </a:r>
          </a:p>
        </p:txBody>
      </p:sp>
      <p:sp>
        <p:nvSpPr>
          <p:cNvPr id="3" name="TEXT: 四种支付场景，覆盖客服到交易处置"/>
          <p:cNvSpPr txBox="1"/>
          <p:nvPr/>
        </p:nvSpPr>
        <p:spPr>
          <a:xfrm>
            <a:off x="521207" y="612648"/>
            <a:ext cx="11109960" cy="5394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四种支付场景，覆盖客服到交易处置</a:t>
            </a:r>
          </a:p>
        </p:txBody>
      </p:sp>
      <p:sp>
        <p:nvSpPr>
          <p:cNvPr id="4" name="TEXT: 每个案例可修改证据、执行模拟事件，再对比两种模型在新状态下的判断。"/>
          <p:cNvSpPr txBox="1"/>
          <p:nvPr/>
        </p:nvSpPr>
        <p:spPr>
          <a:xfrm>
            <a:off x="539496" y="1225296"/>
            <a:ext cx="109728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每个案例可修改证据、执行模拟事件，再对比两种模型在新状态下的判断。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37943"/>
            <a:ext cx="5431536" cy="168249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USDC 未到账"/>
          <p:cNvSpPr txBox="1"/>
          <p:nvPr/>
        </p:nvSpPr>
        <p:spPr>
          <a:xfrm>
            <a:off x="722376" y="1984248"/>
            <a:ext cx="5029200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USDC 未到账</a:t>
            </a:r>
          </a:p>
        </p:txBody>
      </p:sp>
      <p:sp>
        <p:nvSpPr>
          <p:cNvPr id="7" name="TEXT: 应付 / 到账 129 USDC 链上确认 3 / 12"/>
          <p:cNvSpPr txBox="1"/>
          <p:nvPr/>
        </p:nvSpPr>
        <p:spPr>
          <a:xfrm>
            <a:off x="722376" y="2496311"/>
            <a:ext cx="5029200" cy="6492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应付 / 到账 129 USDC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链上确认 3 / 12</a:t>
            </a:r>
          </a:p>
        </p:txBody>
      </p:sp>
      <p:sp>
        <p:nvSpPr>
          <p:cNvPr id="8" name="TEXT: 推进：模拟确认数达标"/>
          <p:cNvSpPr txBox="1"/>
          <p:nvPr/>
        </p:nvSpPr>
        <p:spPr>
          <a:xfrm>
            <a:off x="722376" y="3200400"/>
            <a:ext cx="502920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推进：模拟确认数达标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837943"/>
            <a:ext cx="5431536" cy="168249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USDT 少付"/>
          <p:cNvSpPr txBox="1"/>
          <p:nvPr/>
        </p:nvSpPr>
        <p:spPr>
          <a:xfrm>
            <a:off x="6373368" y="1984248"/>
            <a:ext cx="5029200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USDT 少付</a:t>
            </a:r>
          </a:p>
        </p:txBody>
      </p:sp>
      <p:sp>
        <p:nvSpPr>
          <p:cNvPr id="11" name="TEXT: 应付 100，到账 99.80 USDT 差额 0.20"/>
          <p:cNvSpPr txBox="1"/>
          <p:nvPr/>
        </p:nvSpPr>
        <p:spPr>
          <a:xfrm>
            <a:off x="6373368" y="2496311"/>
            <a:ext cx="5029200" cy="6492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应付 100，到账 99.80 USDT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差额 0.20</a:t>
            </a:r>
          </a:p>
        </p:txBody>
      </p:sp>
      <p:sp>
        <p:nvSpPr>
          <p:cNvPr id="12" name="TEXT: 推进：模拟补足差额"/>
          <p:cNvSpPr txBox="1"/>
          <p:nvPr/>
        </p:nvSpPr>
        <p:spPr>
          <a:xfrm>
            <a:off x="6373368" y="3200400"/>
            <a:ext cx="502920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推进：模拟补足差额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49039"/>
            <a:ext cx="5431536" cy="168249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稳定币退款"/>
          <p:cNvSpPr txBox="1"/>
          <p:nvPr/>
        </p:nvSpPr>
        <p:spPr>
          <a:xfrm>
            <a:off x="722376" y="3895344"/>
            <a:ext cx="5029200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稳定币退款</a:t>
            </a:r>
          </a:p>
        </p:txBody>
      </p:sp>
      <p:sp>
        <p:nvSpPr>
          <p:cNvPr id="15" name="TEXT: 申请退款 250 USDC 地址未验证，尚未审批"/>
          <p:cNvSpPr txBox="1"/>
          <p:nvPr/>
        </p:nvSpPr>
        <p:spPr>
          <a:xfrm>
            <a:off x="722376" y="4407407"/>
            <a:ext cx="5029200" cy="6492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申请退款 250 USDC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地址未验证，尚未审批</a:t>
            </a:r>
          </a:p>
        </p:txBody>
      </p:sp>
      <p:sp>
        <p:nvSpPr>
          <p:cNvPr id="16" name="TEXT: 推进：验证地址 → 审批通过"/>
          <p:cNvSpPr txBox="1"/>
          <p:nvPr/>
        </p:nvSpPr>
        <p:spPr>
          <a:xfrm>
            <a:off x="722376" y="5111496"/>
            <a:ext cx="502920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推进：验证地址 → 审批通过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1" y="3749039"/>
            <a:ext cx="5431536" cy="168249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商户结算延迟"/>
          <p:cNvSpPr txBox="1"/>
          <p:nvPr/>
        </p:nvSpPr>
        <p:spPr>
          <a:xfrm>
            <a:off x="6373368" y="3895344"/>
            <a:ext cx="5029200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商户结算延迟</a:t>
            </a:r>
          </a:p>
        </p:txBody>
      </p:sp>
      <p:sp>
        <p:nvSpPr>
          <p:cNvPr id="19" name="TEXT: 4,800 USDC，等待 120 分钟 演示 SLA 为 60 分钟"/>
          <p:cNvSpPr txBox="1"/>
          <p:nvPr/>
        </p:nvSpPr>
        <p:spPr>
          <a:xfrm>
            <a:off x="6373368" y="4407407"/>
            <a:ext cx="5029200" cy="6492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4,800 USDC，等待 120 分钟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演示 SLA 为 60 分钟</a:t>
            </a:r>
          </a:p>
        </p:txBody>
      </p:sp>
      <p:sp>
        <p:nvSpPr>
          <p:cNvPr id="20" name="TEXT: 推进：模拟结算到账"/>
          <p:cNvSpPr txBox="1"/>
          <p:nvPr/>
        </p:nvSpPr>
        <p:spPr>
          <a:xfrm>
            <a:off x="6373368" y="5111496"/>
            <a:ext cx="502920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推进：模拟结算到账</a:t>
            </a:r>
          </a:p>
        </p:txBody>
      </p:sp>
      <p:sp>
        <p:nvSpPr>
          <p:cNvPr id="21" name="TEXT: 模型真实调用；交易、订单、工单与账本均为沙盒模拟，不连接钱包、不广播链上交易。"/>
          <p:cNvSpPr txBox="1"/>
          <p:nvPr/>
        </p:nvSpPr>
        <p:spPr>
          <a:xfrm>
            <a:off x="548640" y="5971032"/>
            <a:ext cx="11064240" cy="3474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模型真实调用；交易、订单、工单与账本均为沙盒模拟，不连接钱包、不广播链上交易。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48640" y="6473952"/>
            <a:ext cx="11073384" cy="0"/>
          </a:xfrm>
          <a:prstGeom prst="line">
            <a:avLst/>
          </a:prstGeom>
          <a:ln w="889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: 原版 / 扩展版沿用的原理与架构；已核对当前实现"/>
          <p:cNvSpPr txBox="1"/>
          <p:nvPr/>
        </p:nvSpPr>
        <p:spPr>
          <a:xfrm>
            <a:off x="566928" y="6556248"/>
            <a:ext cx="101955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1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原版 / 扩展版沿用的原理与架构；已核对当前实现</a:t>
            </a:r>
          </a:p>
        </p:txBody>
      </p:sp>
      <p:sp>
        <p:nvSpPr>
          <p:cNvPr id="24" name="TEXT: 13 / 34"/>
          <p:cNvSpPr txBox="1"/>
          <p:nvPr/>
        </p:nvSpPr>
        <p:spPr>
          <a:xfrm>
            <a:off x="10954512" y="6547104"/>
            <a:ext cx="658368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13 / 34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4 / 对比边界"/>
          <p:cNvSpPr txBox="1"/>
          <p:nvPr/>
        </p:nvSpPr>
        <p:spPr>
          <a:xfrm>
            <a:off x="530352" y="201168"/>
            <a:ext cx="1088136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04 / 对比边界</a:t>
            </a:r>
          </a:p>
        </p:txBody>
      </p:sp>
      <p:sp>
        <p:nvSpPr>
          <p:cNvPr id="3" name="TEXT: 计时与成本：先说清口径，再判断收益"/>
          <p:cNvSpPr txBox="1"/>
          <p:nvPr/>
        </p:nvSpPr>
        <p:spPr>
          <a:xfrm>
            <a:off x="521207" y="612648"/>
            <a:ext cx="11109960" cy="5394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计时与成本：先说清口径，再判断收益</a:t>
            </a:r>
          </a:p>
        </p:txBody>
      </p:sp>
      <p:sp>
        <p:nvSpPr>
          <p:cNvPr id="4" name="TEXT: 本项目已经展示多种计时；它们回答的问题不同。"/>
          <p:cNvSpPr txBox="1"/>
          <p:nvPr/>
        </p:nvSpPr>
        <p:spPr>
          <a:xfrm>
            <a:off x="539496" y="1225296"/>
            <a:ext cx="109728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本项目已经展示多种计时；它们回答的问题不同。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56231"/>
            <a:ext cx="3529584" cy="344728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56231"/>
            <a:ext cx="41148" cy="3447288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: 每步 / 累计后端耗时"/>
          <p:cNvSpPr txBox="1"/>
          <p:nvPr/>
        </p:nvSpPr>
        <p:spPr>
          <a:xfrm>
            <a:off x="731520" y="2020824"/>
            <a:ext cx="3163824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每步 / 累计后端耗时</a:t>
            </a:r>
          </a:p>
        </p:txBody>
      </p:sp>
      <p:sp>
        <p:nvSpPr>
          <p:cNvPr id="8" name="TEXT: 观察模型调用开销 包括通信、处理和排队 五步分别求和 用于同输入配对比较"/>
          <p:cNvSpPr txBox="1"/>
          <p:nvPr/>
        </p:nvSpPr>
        <p:spPr>
          <a:xfrm>
            <a:off x="731520" y="2615184"/>
            <a:ext cx="3163824" cy="2596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观察模型调用开销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包括通信、处理和排队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五步分别求和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用于同输入配对比较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1856231"/>
            <a:ext cx="3529584" cy="344728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25112" y="1856231"/>
            <a:ext cx="41148" cy="3447288"/>
          </a:xfrm>
          <a:prstGeom prst="rect">
            <a:avLst/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浏览器经过时间"/>
          <p:cNvSpPr txBox="1"/>
          <p:nvPr/>
        </p:nvSpPr>
        <p:spPr>
          <a:xfrm>
            <a:off x="4507992" y="2020824"/>
            <a:ext cx="3163824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浏览器经过时间</a:t>
            </a:r>
          </a:p>
        </p:txBody>
      </p:sp>
      <p:sp>
        <p:nvSpPr>
          <p:cNvPr id="12" name="TEXT: 观察实际交互等待 同一步的两模型并发 整轮还含沙盒执行 与累计模型耗时分开显示"/>
          <p:cNvSpPr txBox="1"/>
          <p:nvPr/>
        </p:nvSpPr>
        <p:spPr>
          <a:xfrm>
            <a:off x="4507992" y="2615184"/>
            <a:ext cx="3163824" cy="2596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观察实际交互等待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同一步的两模型并发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整轮还含沙盒执行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与累计模型耗时分开显示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856231"/>
            <a:ext cx="3529584" cy="344728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1583" y="1856231"/>
            <a:ext cx="41148" cy="3447288"/>
          </a:xfrm>
          <a:prstGeom prst="rect">
            <a:avLst/>
          </a:prstGeom>
          <a:solidFill>
            <a:srgbClr val="BE7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计费与运行成本"/>
          <p:cNvSpPr txBox="1"/>
          <p:nvPr/>
        </p:nvSpPr>
        <p:spPr>
          <a:xfrm>
            <a:off x="8284463" y="2020824"/>
            <a:ext cx="3163824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计费与运行成本</a:t>
            </a:r>
          </a:p>
        </p:txBody>
      </p:sp>
      <p:sp>
        <p:nvSpPr>
          <p:cNvPr id="16" name="TEXT: SageMaker：GPU 运行时间 Bedrock：模型用量 另计 API、网络与存储 需要结合利用率评估"/>
          <p:cNvSpPr txBox="1"/>
          <p:nvPr/>
        </p:nvSpPr>
        <p:spPr>
          <a:xfrm>
            <a:off x="8284463" y="2615184"/>
            <a:ext cx="3163824" cy="2596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SageMaker：GPU 运行时间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Bedrock：模型用量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另计 API、网络与存储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需要结合利用率评估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" y="5879592"/>
            <a:ext cx="11100815" cy="475488"/>
          </a:xfrm>
          <a:prstGeom prst="roundRect">
            <a:avLst>
              <a:gd name="adj" fmla="val 13000"/>
            </a:avLst>
          </a:prstGeom>
          <a:solidFill>
            <a:srgbClr val="FF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本轮没有测量 P95 / P99、并发吞吐、长期稳定性或每次决策的美元成本。"/>
          <p:cNvSpPr txBox="1"/>
          <p:nvPr/>
        </p:nvSpPr>
        <p:spPr>
          <a:xfrm>
            <a:off x="548640" y="5971032"/>
            <a:ext cx="11064240" cy="3474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本轮没有测量 P95 / P99、并发吞吐、长期稳定性或每次决策的美元成本。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473952"/>
            <a:ext cx="11073384" cy="0"/>
          </a:xfrm>
          <a:prstGeom prst="line">
            <a:avLst/>
          </a:prstGeom>
          <a:ln w="889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: 原版 / 扩展版沿用的原理与架构；已核对当前实现"/>
          <p:cNvSpPr txBox="1"/>
          <p:nvPr/>
        </p:nvSpPr>
        <p:spPr>
          <a:xfrm>
            <a:off x="566928" y="6556248"/>
            <a:ext cx="101955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1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原版 / 扩展版沿用的原理与架构；已核对当前实现</a:t>
            </a:r>
          </a:p>
        </p:txBody>
      </p:sp>
      <p:sp>
        <p:nvSpPr>
          <p:cNvPr id="21" name="TEXT: 30 / 34"/>
          <p:cNvSpPr txBox="1"/>
          <p:nvPr/>
        </p:nvSpPr>
        <p:spPr>
          <a:xfrm>
            <a:off x="10954512" y="6547104"/>
            <a:ext cx="658368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30 / 34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/ v2 · 2026.10.10"/>
          <p:cNvSpPr txBox="1"/>
          <p:nvPr/>
        </p:nvSpPr>
        <p:spPr>
          <a:xfrm>
            <a:off x="530352" y="201168"/>
            <a:ext cx="1088136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/ v2 · 2026.10.10</a:t>
            </a:r>
          </a:p>
        </p:txBody>
      </p:sp>
      <p:sp>
        <p:nvSpPr>
          <p:cNvPr id="3" name="TEXT: Strands Decider 模型原理与支付业务演示"/>
          <p:cNvSpPr txBox="1"/>
          <p:nvPr/>
        </p:nvSpPr>
        <p:spPr>
          <a:xfrm>
            <a:off x="521207" y="612648"/>
            <a:ext cx="11109960" cy="12344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Strands Decider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模型原理与支付业务演示</a:t>
            </a:r>
          </a:p>
        </p:txBody>
      </p:sp>
      <p:sp>
        <p:nvSpPr>
          <p:cNvPr id="4" name="TEXT: 从模型选择，到实际执行，再到可观察的反馈闭环"/>
          <p:cNvSpPr txBox="1"/>
          <p:nvPr/>
        </p:nvSpPr>
        <p:spPr>
          <a:xfrm>
            <a:off x="557784" y="2011680"/>
            <a:ext cx="10607040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从模型选择，到实际执行，再到可观察的反馈闭环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246120"/>
            <a:ext cx="3529584" cy="1856231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3246120"/>
            <a:ext cx="41148" cy="1856231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: 模型"/>
          <p:cNvSpPr txBox="1"/>
          <p:nvPr/>
        </p:nvSpPr>
        <p:spPr>
          <a:xfrm>
            <a:off x="731520" y="3410712"/>
            <a:ext cx="3163824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模型</a:t>
            </a:r>
          </a:p>
        </p:txBody>
      </p:sp>
      <p:sp>
        <p:nvSpPr>
          <p:cNvPr id="8" name="TEXT: Pointer Head / 动态候选 Decider、GPT 与 BERT 的区别"/>
          <p:cNvSpPr txBox="1"/>
          <p:nvPr/>
        </p:nvSpPr>
        <p:spPr>
          <a:xfrm>
            <a:off x="731520" y="4005072"/>
            <a:ext cx="3163824" cy="1005839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Pointer Head / 动态候选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Decider、GPT 与 BERT 的区别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3246120"/>
            <a:ext cx="3529584" cy="1856231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25112" y="3246120"/>
            <a:ext cx="41148" cy="1856231"/>
          </a:xfrm>
          <a:prstGeom prst="rect">
            <a:avLst/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项目"/>
          <p:cNvSpPr txBox="1"/>
          <p:nvPr/>
        </p:nvSpPr>
        <p:spPr>
          <a:xfrm>
            <a:off x="4507992" y="3410712"/>
            <a:ext cx="3163824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项目</a:t>
            </a:r>
          </a:p>
        </p:txBody>
      </p:sp>
      <p:sp>
        <p:nvSpPr>
          <p:cNvPr id="12" name="TEXT: 私有 S3 + CloudFront OAC ECS + SageMaker + Bedrock"/>
          <p:cNvSpPr txBox="1"/>
          <p:nvPr/>
        </p:nvSpPr>
        <p:spPr>
          <a:xfrm>
            <a:off x="4507992" y="4005072"/>
            <a:ext cx="3163824" cy="1005839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私有 S3 + CloudFront OAC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ECS + SageMaker + Bedrock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3246120"/>
            <a:ext cx="3529584" cy="1856231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1583" y="3246120"/>
            <a:ext cx="41148" cy="1856231"/>
          </a:xfrm>
          <a:prstGeom prst="rect">
            <a:avLst/>
          </a:prstGeom>
          <a:solidFill>
            <a:srgbClr val="BE7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新版演示"/>
          <p:cNvSpPr txBox="1"/>
          <p:nvPr/>
        </p:nvSpPr>
        <p:spPr>
          <a:xfrm>
            <a:off x="8284463" y="3410712"/>
            <a:ext cx="3163824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新版演示</a:t>
            </a:r>
          </a:p>
        </p:txBody>
      </p:sp>
      <p:sp>
        <p:nvSpPr>
          <p:cNvPr id="16" name="TEXT: 逐轮输入输出 / 公共 GPU 窗口 真实固定对比 + 自主闭环"/>
          <p:cNvSpPr txBox="1"/>
          <p:nvPr/>
        </p:nvSpPr>
        <p:spPr>
          <a:xfrm>
            <a:off x="8284463" y="4005072"/>
            <a:ext cx="3163824" cy="1005839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逐轮输入输出 / 公共 GPU 窗口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真实固定对比 + 自主闭环</a:t>
            </a:r>
          </a:p>
        </p:txBody>
      </p:sp>
      <p:sp>
        <p:nvSpPr>
          <p:cNvPr id="17" name="TEXT: 基于原版新建 · 原始 PPT 保留 · 前端 crypto10 · 真实截图与观测均标注来源"/>
          <p:cNvSpPr txBox="1"/>
          <p:nvPr/>
        </p:nvSpPr>
        <p:spPr>
          <a:xfrm>
            <a:off x="548640" y="5971032"/>
            <a:ext cx="11064240" cy="3474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基于原版新建 · 原始 PPT 保留 · 前端 crypto10 · 真实截图与观测均标注来源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473952"/>
            <a:ext cx="11073384" cy="0"/>
          </a:xfrm>
          <a:prstGeom prst="line">
            <a:avLst/>
          </a:prstGeom>
          <a:ln w="889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: 当前项目实现 · crypto10 / 20261010-loop1"/>
          <p:cNvSpPr txBox="1"/>
          <p:nvPr/>
        </p:nvSpPr>
        <p:spPr>
          <a:xfrm>
            <a:off x="566928" y="6556248"/>
            <a:ext cx="101955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1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当前项目实现 · crypto10 / 20261010-loop1</a:t>
            </a:r>
          </a:p>
        </p:txBody>
      </p:sp>
      <p:sp>
        <p:nvSpPr>
          <p:cNvPr id="20" name="TEXT: 01 / 34"/>
          <p:cNvSpPr txBox="1"/>
          <p:nvPr/>
        </p:nvSpPr>
        <p:spPr>
          <a:xfrm>
            <a:off x="10954512" y="6547104"/>
            <a:ext cx="658368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01 / 34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1 / 判断过程"/>
          <p:cNvSpPr txBox="1"/>
          <p:nvPr/>
        </p:nvSpPr>
        <p:spPr>
          <a:xfrm>
            <a:off x="530352" y="201168"/>
            <a:ext cx="1088136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01 / 判断过程</a:t>
            </a:r>
          </a:p>
        </p:txBody>
      </p:sp>
      <p:sp>
        <p:nvSpPr>
          <p:cNvPr id="3" name="TEXT: 一个 choice 判断，怎样从输入变成输出？"/>
          <p:cNvSpPr txBox="1"/>
          <p:nvPr/>
        </p:nvSpPr>
        <p:spPr>
          <a:xfrm>
            <a:off x="521207" y="612648"/>
            <a:ext cx="11109960" cy="5394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一个 choice 判断，怎样从输入变成输出？</a:t>
            </a:r>
          </a:p>
        </p:txBody>
      </p:sp>
      <p:sp>
        <p:nvSpPr>
          <p:cNvPr id="4" name="TEXT: 以下是官方代码可核对的计算步骤；它不会输出逐条推导的自然语言思维链。"/>
          <p:cNvSpPr txBox="1"/>
          <p:nvPr/>
        </p:nvSpPr>
        <p:spPr>
          <a:xfrm>
            <a:off x="539496" y="1225296"/>
            <a:ext cx="109728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以下是官方代码可核对的计算步骤；它不会输出逐条推导的自然语言思维链。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37943"/>
            <a:ext cx="2093976" cy="124358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01"/>
          <p:cNvSpPr txBox="1"/>
          <p:nvPr/>
        </p:nvSpPr>
        <p:spPr>
          <a:xfrm>
            <a:off x="685800" y="1965960"/>
            <a:ext cx="411480" cy="3474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7" name="TEXT: 组织输入"/>
          <p:cNvSpPr txBox="1"/>
          <p:nvPr/>
        </p:nvSpPr>
        <p:spPr>
          <a:xfrm>
            <a:off x="1188719" y="2002536"/>
            <a:ext cx="134416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组织输入</a:t>
            </a:r>
          </a:p>
        </p:txBody>
      </p:sp>
      <p:sp>
        <p:nvSpPr>
          <p:cNvPr id="8" name="TEXT: 状态 + 问题 候选名称与条件"/>
          <p:cNvSpPr txBox="1"/>
          <p:nvPr/>
        </p:nvSpPr>
        <p:spPr>
          <a:xfrm>
            <a:off x="685800" y="2478024"/>
            <a:ext cx="1819656" cy="4754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状态 + 问题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候选名称与条件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51760" y="2450592"/>
            <a:ext cx="118872" cy="0"/>
          </a:xfrm>
          <a:prstGeom prst="line">
            <a:avLst/>
          </a:prstGeom>
          <a:ln w="19050">
            <a:solidFill>
              <a:srgbClr val="087F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88920" y="1837943"/>
            <a:ext cx="2093976" cy="124358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02"/>
          <p:cNvSpPr txBox="1"/>
          <p:nvPr/>
        </p:nvSpPr>
        <p:spPr>
          <a:xfrm>
            <a:off x="2926080" y="1965960"/>
            <a:ext cx="411480" cy="3474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2" name="TEXT: 模型编码"/>
          <p:cNvSpPr txBox="1"/>
          <p:nvPr/>
        </p:nvSpPr>
        <p:spPr>
          <a:xfrm>
            <a:off x="3429000" y="2002536"/>
            <a:ext cx="134416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模型编码</a:t>
            </a:r>
          </a:p>
        </p:txBody>
      </p:sp>
      <p:sp>
        <p:nvSpPr>
          <p:cNvPr id="13" name="TEXT: 读取上下文 得到各位置表示"/>
          <p:cNvSpPr txBox="1"/>
          <p:nvPr/>
        </p:nvSpPr>
        <p:spPr>
          <a:xfrm>
            <a:off x="2926080" y="2478024"/>
            <a:ext cx="1819656" cy="4754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读取上下文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得到各位置表示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92040" y="2450592"/>
            <a:ext cx="118872" cy="0"/>
          </a:xfrm>
          <a:prstGeom prst="line">
            <a:avLst/>
          </a:prstGeom>
          <a:ln w="19050">
            <a:solidFill>
              <a:srgbClr val="087F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029200" y="1837943"/>
            <a:ext cx="2093976" cy="124358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03"/>
          <p:cNvSpPr txBox="1"/>
          <p:nvPr/>
        </p:nvSpPr>
        <p:spPr>
          <a:xfrm>
            <a:off x="5166360" y="1965960"/>
            <a:ext cx="411480" cy="3474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17" name="TEXT: 候选评分"/>
          <p:cNvSpPr txBox="1"/>
          <p:nvPr/>
        </p:nvSpPr>
        <p:spPr>
          <a:xfrm>
            <a:off x="5669280" y="2002536"/>
            <a:ext cx="134416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候选评分</a:t>
            </a:r>
          </a:p>
        </p:txBody>
      </p:sp>
      <p:sp>
        <p:nvSpPr>
          <p:cNvPr id="18" name="TEXT: answer 与选项 通过 Pointer Head"/>
          <p:cNvSpPr txBox="1"/>
          <p:nvPr/>
        </p:nvSpPr>
        <p:spPr>
          <a:xfrm>
            <a:off x="5166360" y="2478024"/>
            <a:ext cx="1819656" cy="4754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answer 与选项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通过 Pointer Head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32320" y="2450592"/>
            <a:ext cx="118872" cy="0"/>
          </a:xfrm>
          <a:prstGeom prst="line">
            <a:avLst/>
          </a:prstGeom>
          <a:ln w="19050">
            <a:solidFill>
              <a:srgbClr val="087F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269480" y="1837943"/>
            <a:ext cx="2093976" cy="124358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 04"/>
          <p:cNvSpPr txBox="1"/>
          <p:nvPr/>
        </p:nvSpPr>
        <p:spPr>
          <a:xfrm>
            <a:off x="7406640" y="1965960"/>
            <a:ext cx="411480" cy="3474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22" name="TEXT: 概率归一化"/>
          <p:cNvSpPr txBox="1"/>
          <p:nvPr/>
        </p:nvSpPr>
        <p:spPr>
          <a:xfrm>
            <a:off x="7909560" y="2002536"/>
            <a:ext cx="134416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概率归一化</a:t>
            </a:r>
          </a:p>
        </p:txBody>
      </p:sp>
      <p:sp>
        <p:nvSpPr>
          <p:cNvPr id="23" name="TEXT: 温度校准 T softmax 得到分布"/>
          <p:cNvSpPr txBox="1"/>
          <p:nvPr/>
        </p:nvSpPr>
        <p:spPr>
          <a:xfrm>
            <a:off x="7406640" y="2478024"/>
            <a:ext cx="1819656" cy="4754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温度校准 T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softmax 得到分布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372600" y="2450592"/>
            <a:ext cx="118872" cy="0"/>
          </a:xfrm>
          <a:prstGeom prst="line">
            <a:avLst/>
          </a:prstGeom>
          <a:ln w="19050">
            <a:solidFill>
              <a:srgbClr val="087F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509760" y="1837943"/>
            <a:ext cx="2093976" cy="124358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05"/>
          <p:cNvSpPr txBox="1"/>
          <p:nvPr/>
        </p:nvSpPr>
        <p:spPr>
          <a:xfrm>
            <a:off x="9646920" y="1965960"/>
            <a:ext cx="411480" cy="3474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27" name="TEXT: 选择与统计"/>
          <p:cNvSpPr txBox="1"/>
          <p:nvPr/>
        </p:nvSpPr>
        <p:spPr>
          <a:xfrm>
            <a:off x="10149840" y="2002536"/>
            <a:ext cx="134416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选择与统计</a:t>
            </a:r>
          </a:p>
        </p:txBody>
      </p:sp>
      <p:sp>
        <p:nvSpPr>
          <p:cNvPr id="28" name="TEXT: 取最大概率候选 计算 confidence"/>
          <p:cNvSpPr txBox="1"/>
          <p:nvPr/>
        </p:nvSpPr>
        <p:spPr>
          <a:xfrm>
            <a:off x="9646920" y="2478024"/>
            <a:ext cx="1819656" cy="4754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取最大概率候选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计算 confidence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502152"/>
            <a:ext cx="5367528" cy="199339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3502152"/>
            <a:ext cx="41148" cy="1993392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候选分布决定 choice"/>
          <p:cNvSpPr txBox="1"/>
          <p:nvPr/>
        </p:nvSpPr>
        <p:spPr>
          <a:xfrm>
            <a:off x="731520" y="3666744"/>
            <a:ext cx="5001768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候选分布决定 choice</a:t>
            </a:r>
          </a:p>
        </p:txBody>
      </p:sp>
      <p:sp>
        <p:nvSpPr>
          <p:cNvPr id="32" name="TEXT: 候选得分 → p = softmax(logits / T) choice = 概率最大的候选项 不需要生成、再解析一段答案文本"/>
          <p:cNvSpPr txBox="1"/>
          <p:nvPr/>
        </p:nvSpPr>
        <p:spPr>
          <a:xfrm>
            <a:off x="731520" y="4261104"/>
            <a:ext cx="5001768" cy="11430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候选得分 → p = softmax(logits / T)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choice = 概率最大的候选项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不需要生成、再解析一段答案文本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54496" y="3502152"/>
            <a:ext cx="5367528" cy="199339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54496" y="3502152"/>
            <a:ext cx="41148" cy="1993392"/>
          </a:xfrm>
          <a:prstGeom prst="rect">
            <a:avLst/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confidence 来自输出分布"/>
          <p:cNvSpPr txBox="1"/>
          <p:nvPr/>
        </p:nvSpPr>
        <p:spPr>
          <a:xfrm>
            <a:off x="6437376" y="3666744"/>
            <a:ext cx="5001768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confidence 来自输出分布</a:t>
            </a:r>
          </a:p>
        </p:txBody>
      </p:sp>
      <p:sp>
        <p:nvSpPr>
          <p:cNvPr id="36" name="TEXT: choice：归一化最大候选概率 (K × p_max − 1) / (K − 1)，K &gt; 1 表示相对集中程度；仍需业务域校准"/>
          <p:cNvSpPr txBox="1"/>
          <p:nvPr/>
        </p:nvSpPr>
        <p:spPr>
          <a:xfrm>
            <a:off x="6437376" y="4261104"/>
            <a:ext cx="5001768" cy="11430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choice：归一化最大候选概率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(K × p_max − 1) / (K − 1)，K &gt; 1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表示相对集中程度；仍需业务域校准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30352" y="5879592"/>
            <a:ext cx="11100815" cy="475488"/>
          </a:xfrm>
          <a:prstGeom prst="roundRect">
            <a:avLst>
              <a:gd name="adj" fmla="val 13000"/>
            </a:avLst>
          </a:prstGeom>
          <a:solidFill>
            <a:srgbClr val="FF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: 候选描述是模型读取的文本条件；它们不会自动变成必须满足的程序约束。"/>
          <p:cNvSpPr txBox="1"/>
          <p:nvPr/>
        </p:nvSpPr>
        <p:spPr>
          <a:xfrm>
            <a:off x="548640" y="5971032"/>
            <a:ext cx="11064240" cy="3474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候选描述是模型读取的文本条件；它们不会自动变成必须满足的程序约束。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48640" y="6473952"/>
            <a:ext cx="11073384" cy="0"/>
          </a:xfrm>
          <a:prstGeom prst="line">
            <a:avLst/>
          </a:prstGeom>
          <a:ln w="889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: 原版 / 扩展版沿用的原理与架构；已核对当前实现"/>
          <p:cNvSpPr txBox="1"/>
          <p:nvPr/>
        </p:nvSpPr>
        <p:spPr>
          <a:xfrm>
            <a:off x="566928" y="6556248"/>
            <a:ext cx="101955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1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原版 / 扩展版沿用的原理与架构；已核对当前实现</a:t>
            </a:r>
          </a:p>
        </p:txBody>
      </p:sp>
      <p:sp>
        <p:nvSpPr>
          <p:cNvPr id="41" name="TEXT: 04 / 34"/>
          <p:cNvSpPr txBox="1"/>
          <p:nvPr/>
        </p:nvSpPr>
        <p:spPr>
          <a:xfrm>
            <a:off x="10954512" y="6547104"/>
            <a:ext cx="658368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04 / 34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1 / 与 BERT 对比"/>
          <p:cNvSpPr txBox="1"/>
          <p:nvPr/>
        </p:nvSpPr>
        <p:spPr>
          <a:xfrm>
            <a:off x="530352" y="201168"/>
            <a:ext cx="1088136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01 / 与 BERT 对比</a:t>
            </a:r>
          </a:p>
        </p:txBody>
      </p:sp>
      <p:sp>
        <p:nvSpPr>
          <p:cNvPr id="3" name="TEXT: 与 BERT 分类器的关键区别：标签含义放在哪里？"/>
          <p:cNvSpPr txBox="1"/>
          <p:nvPr/>
        </p:nvSpPr>
        <p:spPr>
          <a:xfrm>
            <a:off x="521207" y="612648"/>
            <a:ext cx="11109960" cy="5394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与 BERT 分类器的关键区别：标签含义放在哪里？</a:t>
            </a:r>
          </a:p>
        </p:txBody>
      </p:sp>
      <p:sp>
        <p:nvSpPr>
          <p:cNvPr id="4" name="TEXT: 这里比较常见的“BERT 编码器 + 固定标签分类头”；BERT 本身属于深度学习。"/>
          <p:cNvSpPr txBox="1"/>
          <p:nvPr/>
        </p:nvSpPr>
        <p:spPr>
          <a:xfrm>
            <a:off x="539496" y="1225296"/>
            <a:ext cx="109728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这里比较常见的“BERT 编码器 + 固定标签分类头”；BERT 本身属于深度学习。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19656"/>
            <a:ext cx="5358384" cy="3639312"/>
          </a:xfrm>
          <a:prstGeom prst="roundRect">
            <a:avLst>
              <a:gd name="adj" fmla="val 13000"/>
            </a:avLst>
          </a:prstGeom>
          <a:solidFill>
            <a:srgbClr val="EDF1FC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63640" y="1819656"/>
            <a:ext cx="5358384" cy="3639312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: 常见 BERT 监督分类"/>
          <p:cNvSpPr txBox="1"/>
          <p:nvPr/>
        </p:nvSpPr>
        <p:spPr>
          <a:xfrm>
            <a:off x="740664" y="2011680"/>
            <a:ext cx="4937760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常见 BERT 监督分类</a:t>
            </a:r>
          </a:p>
        </p:txBody>
      </p:sp>
      <p:sp>
        <p:nvSpPr>
          <p:cNvPr id="8" name="TEXT: Decider 动态候选评分"/>
          <p:cNvSpPr txBox="1"/>
          <p:nvPr/>
        </p:nvSpPr>
        <p:spPr>
          <a:xfrm>
            <a:off x="6455664" y="2011680"/>
            <a:ext cx="4937760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Decider 动态候选评分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706624"/>
            <a:ext cx="4946904" cy="4114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输入文本 / 文本对"/>
          <p:cNvSpPr txBox="1"/>
          <p:nvPr/>
        </p:nvSpPr>
        <p:spPr>
          <a:xfrm>
            <a:off x="841247" y="2788920"/>
            <a:ext cx="475488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输入文本 / 文本对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18688" y="3127248"/>
            <a:ext cx="0" cy="118872"/>
          </a:xfrm>
          <a:prstGeom prst="line">
            <a:avLst/>
          </a:prstGeom>
          <a:ln w="19050">
            <a:solidFill>
              <a:srgbClr val="4669C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49808" y="3282696"/>
            <a:ext cx="4946904" cy="4114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BERT → [CLS] 池化表示"/>
          <p:cNvSpPr txBox="1"/>
          <p:nvPr/>
        </p:nvSpPr>
        <p:spPr>
          <a:xfrm>
            <a:off x="841247" y="3364991"/>
            <a:ext cx="475488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BERT → [CLS] 池化表示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18688" y="3703320"/>
            <a:ext cx="0" cy="118871"/>
          </a:xfrm>
          <a:prstGeom prst="line">
            <a:avLst/>
          </a:prstGeom>
          <a:ln w="19050">
            <a:solidFill>
              <a:srgbClr val="4669C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49808" y="3858768"/>
            <a:ext cx="4946904" cy="4114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固定 K 维分类头：z = W h + b"/>
          <p:cNvSpPr txBox="1"/>
          <p:nvPr/>
        </p:nvSpPr>
        <p:spPr>
          <a:xfrm>
            <a:off x="841247" y="3941063"/>
            <a:ext cx="475488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55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固定 K 维分类头：z = W h + b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218688" y="4279392"/>
            <a:ext cx="0" cy="118872"/>
          </a:xfrm>
          <a:prstGeom prst="line">
            <a:avLst/>
          </a:prstGeom>
          <a:ln w="19050">
            <a:solidFill>
              <a:srgbClr val="4669C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49808" y="4434840"/>
            <a:ext cx="4946904" cy="4114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类别 1 / 类别 2 / … / 类别 K"/>
          <p:cNvSpPr txBox="1"/>
          <p:nvPr/>
        </p:nvSpPr>
        <p:spPr>
          <a:xfrm>
            <a:off x="841247" y="4517136"/>
            <a:ext cx="475488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类别 1 / 类别 2 / … / 类别 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64808" y="2706624"/>
            <a:ext cx="4946904" cy="4114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 状态 + 问题 + 本次候选及条件"/>
          <p:cNvSpPr txBox="1"/>
          <p:nvPr/>
        </p:nvSpPr>
        <p:spPr>
          <a:xfrm>
            <a:off x="6556248" y="2788920"/>
            <a:ext cx="475488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状态 + 问题 + 本次候选及条件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933688" y="3127248"/>
            <a:ext cx="0" cy="118872"/>
          </a:xfrm>
          <a:prstGeom prst="line">
            <a:avLst/>
          </a:prstGeom>
          <a:ln w="19050">
            <a:solidFill>
              <a:srgbClr val="087F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464808" y="3282696"/>
            <a:ext cx="4946904" cy="4114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: Qwen 主体 → answer / 候选表示"/>
          <p:cNvSpPr txBox="1"/>
          <p:nvPr/>
        </p:nvSpPr>
        <p:spPr>
          <a:xfrm>
            <a:off x="6556248" y="3364991"/>
            <a:ext cx="475488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Qwen 主体 → answer / 候选表示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933688" y="3703320"/>
            <a:ext cx="0" cy="118871"/>
          </a:xfrm>
          <a:prstGeom prst="line">
            <a:avLst/>
          </a:prstGeom>
          <a:ln w="19050">
            <a:solidFill>
              <a:srgbClr val="087F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464808" y="3858768"/>
            <a:ext cx="4946904" cy="4114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: 共享 Pointer Head：逐候选评分"/>
          <p:cNvSpPr txBox="1"/>
          <p:nvPr/>
        </p:nvSpPr>
        <p:spPr>
          <a:xfrm>
            <a:off x="6556248" y="3941063"/>
            <a:ext cx="475488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5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共享 Pointer Head：逐候选评分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933688" y="4279392"/>
            <a:ext cx="0" cy="118872"/>
          </a:xfrm>
          <a:prstGeom prst="line">
            <a:avLst/>
          </a:prstGeom>
          <a:ln w="19050">
            <a:solidFill>
              <a:srgbClr val="087F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464808" y="4434840"/>
            <a:ext cx="4946904" cy="4114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 本次候选 A / B / … 的概率与选择"/>
          <p:cNvSpPr txBox="1"/>
          <p:nvPr/>
        </p:nvSpPr>
        <p:spPr>
          <a:xfrm>
            <a:off x="6556248" y="4517136"/>
            <a:ext cx="475488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本次候选 A / B / … 的概率与选择</a:t>
            </a:r>
          </a:p>
        </p:txBody>
      </p:sp>
      <p:sp>
        <p:nvSpPr>
          <p:cNvPr id="31" name="TEXT: 共同点：神经网络打分、概率输出与数据驱动训练。Decider 不是确定性规则引擎。"/>
          <p:cNvSpPr txBox="1"/>
          <p:nvPr/>
        </p:nvSpPr>
        <p:spPr>
          <a:xfrm>
            <a:off x="548640" y="5971032"/>
            <a:ext cx="11064240" cy="3474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共同点：神经网络打分、概率输出与数据驱动训练。Decider 不是确定性规则引擎。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48640" y="6473952"/>
            <a:ext cx="11073384" cy="0"/>
          </a:xfrm>
          <a:prstGeom prst="line">
            <a:avLst/>
          </a:prstGeom>
          <a:ln w="889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: 原版 / 扩展版沿用的原理与架构；已核对当前实现"/>
          <p:cNvSpPr txBox="1"/>
          <p:nvPr/>
        </p:nvSpPr>
        <p:spPr>
          <a:xfrm>
            <a:off x="566928" y="6556248"/>
            <a:ext cx="101955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1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原版 / 扩展版沿用的原理与架构；已核对当前实现</a:t>
            </a:r>
          </a:p>
        </p:txBody>
      </p:sp>
      <p:sp>
        <p:nvSpPr>
          <p:cNvPr id="34" name="TEXT: 07 / 34"/>
          <p:cNvSpPr txBox="1"/>
          <p:nvPr/>
        </p:nvSpPr>
        <p:spPr>
          <a:xfrm>
            <a:off x="10954512" y="6547104"/>
            <a:ext cx="658368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07 / 34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1 / 与 BERT 对比"/>
          <p:cNvSpPr txBox="1"/>
          <p:nvPr/>
        </p:nvSpPr>
        <p:spPr>
          <a:xfrm>
            <a:off x="530352" y="201168"/>
            <a:ext cx="1088136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01 / 与 BERT 对比</a:t>
            </a:r>
          </a:p>
        </p:txBody>
      </p:sp>
      <p:sp>
        <p:nvSpPr>
          <p:cNvPr id="3" name="TEXT: BERT 与 Decider：任务适配方式不同，需按业务实测"/>
          <p:cNvSpPr txBox="1"/>
          <p:nvPr/>
        </p:nvSpPr>
        <p:spPr>
          <a:xfrm>
            <a:off x="521207" y="612648"/>
            <a:ext cx="11109960" cy="5394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BERT 与 Decider：任务适配方式不同，需按业务实测</a:t>
            </a:r>
          </a:p>
        </p:txBody>
      </p:sp>
      <p:sp>
        <p:nvSpPr>
          <p:cNvPr id="4" name="TEXT: 下表比较典型方案，不代表 BERT 只能做固定分类，也不构成性能排名。"/>
          <p:cNvSpPr txBox="1"/>
          <p:nvPr/>
        </p:nvSpPr>
        <p:spPr>
          <a:xfrm>
            <a:off x="539496" y="1225296"/>
            <a:ext cx="109728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下表比较典型方案，不代表 BERT 只能做固定分类，也不构成性能排名。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10512"/>
            <a:ext cx="1527048" cy="466344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维度"/>
          <p:cNvSpPr txBox="1"/>
          <p:nvPr/>
        </p:nvSpPr>
        <p:spPr>
          <a:xfrm>
            <a:off x="640080" y="1929384"/>
            <a:ext cx="134416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维度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2093976" y="1810512"/>
            <a:ext cx="4745736" cy="466344"/>
          </a:xfrm>
          <a:prstGeom prst="rect">
            <a:avLst/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常见 BERT 固定标签分类器"/>
          <p:cNvSpPr txBox="1"/>
          <p:nvPr/>
        </p:nvSpPr>
        <p:spPr>
          <a:xfrm>
            <a:off x="2185416" y="1929384"/>
            <a:ext cx="4562856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常见 BERT 固定标签分类器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1810512"/>
            <a:ext cx="4764024" cy="466344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Strands Decider v19"/>
          <p:cNvSpPr txBox="1"/>
          <p:nvPr/>
        </p:nvSpPr>
        <p:spPr>
          <a:xfrm>
            <a:off x="6949440" y="1929384"/>
            <a:ext cx="4581144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Strands Decider v19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13432"/>
            <a:ext cx="1527048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主体与规模"/>
          <p:cNvSpPr txBox="1"/>
          <p:nvPr/>
        </p:nvSpPr>
        <p:spPr>
          <a:xfrm>
            <a:off x="640080" y="2432303"/>
            <a:ext cx="1344168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主体与规模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93976" y="2313432"/>
            <a:ext cx="4745736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双向编码器；BERT-base 约 110M"/>
          <p:cNvSpPr txBox="1"/>
          <p:nvPr/>
        </p:nvSpPr>
        <p:spPr>
          <a:xfrm>
            <a:off x="2185416" y="2432303"/>
            <a:ext cx="4562856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双向编码器；BERT-base 约 110M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2313432"/>
            <a:ext cx="4764024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Qwen3.5-2B 主体 + LoRA + Pointer Head"/>
          <p:cNvSpPr txBox="1"/>
          <p:nvPr/>
        </p:nvSpPr>
        <p:spPr>
          <a:xfrm>
            <a:off x="6949440" y="2432303"/>
            <a:ext cx="4581144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Qwen3.5-2B 主体 + LoRA + Pointer Head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798063"/>
            <a:ext cx="1527048" cy="457200"/>
          </a:xfrm>
          <a:prstGeom prst="rect">
            <a:avLst/>
          </a:prstGeom>
          <a:solidFill>
            <a:srgbClr val="ED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任务定义"/>
          <p:cNvSpPr txBox="1"/>
          <p:nvPr/>
        </p:nvSpPr>
        <p:spPr>
          <a:xfrm>
            <a:off x="640080" y="2916935"/>
            <a:ext cx="1344168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任务定义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93976" y="2798063"/>
            <a:ext cx="4745736" cy="457200"/>
          </a:xfrm>
          <a:prstGeom prst="rect">
            <a:avLst/>
          </a:prstGeom>
          <a:solidFill>
            <a:srgbClr val="ED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 常见方案：标签含义由映射与训练确定"/>
          <p:cNvSpPr txBox="1"/>
          <p:nvPr/>
        </p:nvSpPr>
        <p:spPr>
          <a:xfrm>
            <a:off x="2185416" y="2916935"/>
            <a:ext cx="4562856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常见方案：标签含义由映射与训练确定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2798063"/>
            <a:ext cx="4764024" cy="457200"/>
          </a:xfrm>
          <a:prstGeom prst="rect">
            <a:avLst/>
          </a:prstGeom>
          <a:solidFill>
            <a:srgbClr val="ED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问题、候选名称与条件随本次请求输入"/>
          <p:cNvSpPr txBox="1"/>
          <p:nvPr/>
        </p:nvSpPr>
        <p:spPr>
          <a:xfrm>
            <a:off x="6949440" y="2916935"/>
            <a:ext cx="4581144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问题、候选名称与条件随本次请求输入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282696"/>
            <a:ext cx="1527048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: 分类头"/>
          <p:cNvSpPr txBox="1"/>
          <p:nvPr/>
        </p:nvSpPr>
        <p:spPr>
          <a:xfrm>
            <a:off x="640080" y="3401568"/>
            <a:ext cx="1344168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分类头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93976" y="3282696"/>
            <a:ext cx="4745736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固定 K 类输出，分类头维度依赖 K"/>
          <p:cNvSpPr txBox="1"/>
          <p:nvPr/>
        </p:nvSpPr>
        <p:spPr>
          <a:xfrm>
            <a:off x="2185416" y="3401568"/>
            <a:ext cx="4562856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固定 K 类输出，分类头维度依赖 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3282696"/>
            <a:ext cx="4764024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共享投影评分；头的参数量不随 K 增长"/>
          <p:cNvSpPr txBox="1"/>
          <p:nvPr/>
        </p:nvSpPr>
        <p:spPr>
          <a:xfrm>
            <a:off x="6949440" y="3401568"/>
            <a:ext cx="4581144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共享投影评分；头的参数量不随 K 增长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767328"/>
            <a:ext cx="1527048" cy="457200"/>
          </a:xfrm>
          <a:prstGeom prst="rect">
            <a:avLst/>
          </a:prstGeom>
          <a:solidFill>
            <a:srgbClr val="ED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 新增候选"/>
          <p:cNvSpPr txBox="1"/>
          <p:nvPr/>
        </p:nvSpPr>
        <p:spPr>
          <a:xfrm>
            <a:off x="640080" y="3886200"/>
            <a:ext cx="1344168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新增候选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93976" y="3767328"/>
            <a:ext cx="4745736" cy="457200"/>
          </a:xfrm>
          <a:prstGeom prst="rect">
            <a:avLst/>
          </a:prstGeom>
          <a:solidFill>
            <a:srgbClr val="ED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: 通常需要扩展分类头、补标注与再训练"/>
          <p:cNvSpPr txBox="1"/>
          <p:nvPr/>
        </p:nvSpPr>
        <p:spPr>
          <a:xfrm>
            <a:off x="2185416" y="3886200"/>
            <a:ext cx="4562856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通常需要扩展分类头、补标注与再训练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3767328"/>
            <a:ext cx="4764024" cy="457200"/>
          </a:xfrm>
          <a:prstGeom prst="rect">
            <a:avLst/>
          </a:prstGeom>
          <a:solidFill>
            <a:srgbClr val="ED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: 可改请求中的候选；仍需验证新任务效果"/>
          <p:cNvSpPr txBox="1"/>
          <p:nvPr/>
        </p:nvSpPr>
        <p:spPr>
          <a:xfrm>
            <a:off x="6949440" y="3886200"/>
            <a:ext cx="4581144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可改请求中的候选；仍需验证新任务效果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251960"/>
            <a:ext cx="1527048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: 领域适配"/>
          <p:cNvSpPr txBox="1"/>
          <p:nvPr/>
        </p:nvSpPr>
        <p:spPr>
          <a:xfrm>
            <a:off x="640080" y="4370832"/>
            <a:ext cx="1344168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领域适配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093976" y="4251960"/>
            <a:ext cx="4745736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: 常用领域标注进行监督微调"/>
          <p:cNvSpPr txBox="1"/>
          <p:nvPr/>
        </p:nvSpPr>
        <p:spPr>
          <a:xfrm>
            <a:off x="2185416" y="4370832"/>
            <a:ext cx="4562856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常用领域标注进行监督微调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0" y="4251960"/>
            <a:ext cx="4764024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: 已有通用决策训练；领域微调仍可能必要"/>
          <p:cNvSpPr txBox="1"/>
          <p:nvPr/>
        </p:nvSpPr>
        <p:spPr>
          <a:xfrm>
            <a:off x="6949440" y="4370832"/>
            <a:ext cx="4581144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已有通用决策训练；领域微调仍可能必要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736592"/>
            <a:ext cx="1527048" cy="457200"/>
          </a:xfrm>
          <a:prstGeom prst="rect">
            <a:avLst/>
          </a:prstGeom>
          <a:solidFill>
            <a:srgbClr val="ED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: 概率输出"/>
          <p:cNvSpPr txBox="1"/>
          <p:nvPr/>
        </p:nvSpPr>
        <p:spPr>
          <a:xfrm>
            <a:off x="640080" y="4855464"/>
            <a:ext cx="1344168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概率输出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93976" y="4736592"/>
            <a:ext cx="4745736" cy="457200"/>
          </a:xfrm>
          <a:prstGeom prst="rect">
            <a:avLst/>
          </a:prstGeom>
          <a:solidFill>
            <a:srgbClr val="ED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: softmax 分布；可另外校准"/>
          <p:cNvSpPr txBox="1"/>
          <p:nvPr/>
        </p:nvSpPr>
        <p:spPr>
          <a:xfrm>
            <a:off x="2185416" y="4855464"/>
            <a:ext cx="4562856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softmax 分布；可另外校准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58000" y="4736592"/>
            <a:ext cx="4764024" cy="457200"/>
          </a:xfrm>
          <a:prstGeom prst="rect">
            <a:avLst/>
          </a:prstGeom>
          <a:solidFill>
            <a:srgbClr val="ED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: 温度校准分布；choice confidence 为统计量"/>
          <p:cNvSpPr txBox="1"/>
          <p:nvPr/>
        </p:nvSpPr>
        <p:spPr>
          <a:xfrm>
            <a:off x="6949440" y="4855464"/>
            <a:ext cx="4581144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温度校准分布；choice confidence 为统计量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5221224"/>
            <a:ext cx="1527048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: 适用重点"/>
          <p:cNvSpPr txBox="1"/>
          <p:nvPr/>
        </p:nvSpPr>
        <p:spPr>
          <a:xfrm>
            <a:off x="640080" y="5340096"/>
            <a:ext cx="1344168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适用重点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093976" y="5221224"/>
            <a:ext cx="4745736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: 标签稳定、领域数据充分、追求轻量部署"/>
          <p:cNvSpPr txBox="1"/>
          <p:nvPr/>
        </p:nvSpPr>
        <p:spPr>
          <a:xfrm>
            <a:off x="2185416" y="5340096"/>
            <a:ext cx="4562856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标签稳定、领域数据充分、追求轻量部署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58000" y="5221224"/>
            <a:ext cx="4764024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: 候选与任务多变、希望以自然语言配置"/>
          <p:cNvSpPr txBox="1"/>
          <p:nvPr/>
        </p:nvSpPr>
        <p:spPr>
          <a:xfrm>
            <a:off x="6949440" y="5340096"/>
            <a:ext cx="4581144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候选与任务多变、希望以自然语言配置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30352" y="5879592"/>
            <a:ext cx="11100815" cy="475488"/>
          </a:xfrm>
          <a:prstGeom prst="roundRect">
            <a:avLst>
              <a:gd name="adj" fmla="val 13000"/>
            </a:avLst>
          </a:prstGeom>
          <a:solidFill>
            <a:srgbClr val="FF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: BERT 也能用文本对 / 蕴含方式支持动态候选；本项目未实测 BERT 的速度、质量或成本。"/>
          <p:cNvSpPr txBox="1"/>
          <p:nvPr/>
        </p:nvSpPr>
        <p:spPr>
          <a:xfrm>
            <a:off x="548640" y="5971032"/>
            <a:ext cx="11064240" cy="3474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BERT 也能用文本对 / 蕴含方式支持动态候选；本项目未实测 BERT 的速度、质量或成本。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48640" y="6473952"/>
            <a:ext cx="11073384" cy="0"/>
          </a:xfrm>
          <a:prstGeom prst="line">
            <a:avLst/>
          </a:prstGeom>
          <a:ln w="889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: 原版 / 扩展版沿用的原理与架构；已核对当前实现"/>
          <p:cNvSpPr txBox="1"/>
          <p:nvPr/>
        </p:nvSpPr>
        <p:spPr>
          <a:xfrm>
            <a:off x="566928" y="6556248"/>
            <a:ext cx="101955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1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原版 / 扩展版沿用的原理与架构；已核对当前实现</a:t>
            </a:r>
          </a:p>
        </p:txBody>
      </p:sp>
      <p:sp>
        <p:nvSpPr>
          <p:cNvPr id="57" name="TEXT: 08 / 34"/>
          <p:cNvSpPr txBox="1"/>
          <p:nvPr/>
        </p:nvSpPr>
        <p:spPr>
          <a:xfrm>
            <a:off x="10954512" y="6547104"/>
            <a:ext cx="658368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08 / 34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3 / 当前演示 · 线上真实截图"/>
          <p:cNvSpPr txBox="1"/>
          <p:nvPr/>
        </p:nvSpPr>
        <p:spPr>
          <a:xfrm>
            <a:off x="530352" y="201168"/>
            <a:ext cx="1088136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03 / 当前演示 · 线上真实截图</a:t>
            </a:r>
          </a:p>
        </p:txBody>
      </p:sp>
      <p:sp>
        <p:nvSpPr>
          <p:cNvPr id="3" name="TEXT: 当前演示入口：先选测试方式，再开始对比"/>
          <p:cNvSpPr txBox="1"/>
          <p:nvPr/>
        </p:nvSpPr>
        <p:spPr>
          <a:xfrm>
            <a:off x="521207" y="612648"/>
            <a:ext cx="11109960" cy="5394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当前演示入口：先选测试方式，再开始对比</a:t>
            </a:r>
          </a:p>
        </p:txBody>
      </p:sp>
      <p:sp>
        <p:nvSpPr>
          <p:cNvPr id="4" name="TEXT: 固定流程 / 自主闭环 / 仅比较决策，使用同一个「开始对比」入口。"/>
          <p:cNvSpPr txBox="1"/>
          <p:nvPr/>
        </p:nvSpPr>
        <p:spPr>
          <a:xfrm>
            <a:off x="539496" y="1225296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固定流程 / 自主闭环 / 仅比较决策，使用同一个「开始对比」入口。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75401" y="1783080"/>
            <a:ext cx="6421797" cy="435254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MAGE: overview.png" descr="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2833" y="1810512"/>
            <a:ext cx="6366933" cy="4297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098280" y="2212848"/>
            <a:ext cx="54864" cy="54864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顶部选择场景与测试方式"/>
          <p:cNvSpPr txBox="1"/>
          <p:nvPr/>
        </p:nvSpPr>
        <p:spPr>
          <a:xfrm>
            <a:off x="9281159" y="2103120"/>
            <a:ext cx="2331720" cy="9509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顶部选择场景与测试方式</a:t>
            </a:r>
          </a:p>
        </p:txBody>
      </p:sp>
      <p:sp>
        <p:nvSpPr>
          <p:cNvPr id="9" name="Rectangle 8"/>
          <p:cNvSpPr/>
          <p:nvPr/>
        </p:nvSpPr>
        <p:spPr>
          <a:xfrm>
            <a:off x="9098280" y="3218688"/>
            <a:ext cx="54864" cy="54864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耗时卡片下方直接看输入 / 输出"/>
          <p:cNvSpPr txBox="1"/>
          <p:nvPr/>
        </p:nvSpPr>
        <p:spPr>
          <a:xfrm>
            <a:off x="9281159" y="3108960"/>
            <a:ext cx="2331720" cy="9509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耗时卡片下方直接看输入 / 输出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98280" y="4224528"/>
            <a:ext cx="54864" cy="54864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客户对话与模拟事件默认可见"/>
          <p:cNvSpPr txBox="1"/>
          <p:nvPr/>
        </p:nvSpPr>
        <p:spPr>
          <a:xfrm>
            <a:off x="9281159" y="4114800"/>
            <a:ext cx="2331720" cy="9509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客户对话与模拟事件默认可见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6473952"/>
            <a:ext cx="11073384" cy="0"/>
          </a:xfrm>
          <a:prstGeom prst="line">
            <a:avLst/>
          </a:prstGeom>
          <a:ln w="889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: 2026-10-10 UTC · 线上原始界面 · 无业务数据替换"/>
          <p:cNvSpPr txBox="1"/>
          <p:nvPr/>
        </p:nvSpPr>
        <p:spPr>
          <a:xfrm>
            <a:off x="566928" y="6556248"/>
            <a:ext cx="101955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1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2026-10-10 UTC · 线上原始界面 · 无业务数据替换</a:t>
            </a:r>
          </a:p>
        </p:txBody>
      </p:sp>
      <p:sp>
        <p:nvSpPr>
          <p:cNvPr id="15" name="TEXT: 10 / 34"/>
          <p:cNvSpPr txBox="1"/>
          <p:nvPr/>
        </p:nvSpPr>
        <p:spPr>
          <a:xfrm>
            <a:off x="10954512" y="6547104"/>
            <a:ext cx="658368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10 / 34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3 / 当前演示 · 线上真实截图"/>
          <p:cNvSpPr txBox="1"/>
          <p:nvPr/>
        </p:nvSpPr>
        <p:spPr>
          <a:xfrm>
            <a:off x="530352" y="201168"/>
            <a:ext cx="1088136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03 / 当前演示 · 线上真实截图</a:t>
            </a:r>
          </a:p>
        </p:txBody>
      </p:sp>
      <p:sp>
        <p:nvSpPr>
          <p:cNvPr id="3" name="TEXT: GPU 管理：所有模块共用一个弹窗"/>
          <p:cNvSpPr txBox="1"/>
          <p:nvPr/>
        </p:nvSpPr>
        <p:spPr>
          <a:xfrm>
            <a:off x="521207" y="612648"/>
            <a:ext cx="11109960" cy="5394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GPU 管理：所有模块共用一个弹窗</a:t>
            </a:r>
          </a:p>
        </p:txBody>
      </p:sp>
      <p:sp>
        <p:nvSpPr>
          <p:cNvPr id="4" name="TEXT: 本次采集时 GPU 已就绪；只复用现有实例，没有发起启停。"/>
          <p:cNvSpPr txBox="1"/>
          <p:nvPr/>
        </p:nvSpPr>
        <p:spPr>
          <a:xfrm>
            <a:off x="539496" y="1225296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本次采集时 GPU 已就绪；只复用现有实例，没有发起启停。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9059" y="1783080"/>
            <a:ext cx="6614480" cy="435254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MAGE: gpu-dialog.png" descr="gpu-dial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491" y="1810512"/>
            <a:ext cx="6559616" cy="4297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098280" y="2212848"/>
            <a:ext cx="54864" cy="54864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真实推理前检查状态"/>
          <p:cNvSpPr txBox="1"/>
          <p:nvPr/>
        </p:nvSpPr>
        <p:spPr>
          <a:xfrm>
            <a:off x="9281159" y="2103120"/>
            <a:ext cx="2331720" cy="9509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真实推理前检查状态</a:t>
            </a:r>
          </a:p>
        </p:txBody>
      </p:sp>
      <p:sp>
        <p:nvSpPr>
          <p:cNvPr id="9" name="Rectangle 8"/>
          <p:cNvSpPr/>
          <p:nvPr/>
        </p:nvSpPr>
        <p:spPr>
          <a:xfrm>
            <a:off x="9098280" y="3218688"/>
            <a:ext cx="54864" cy="54864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唯一一组启动 / 停止按钮"/>
          <p:cNvSpPr txBox="1"/>
          <p:nvPr/>
        </p:nvSpPr>
        <p:spPr>
          <a:xfrm>
            <a:off x="9281159" y="3108960"/>
            <a:ext cx="2331720" cy="9509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唯一一组启动 / 停止按钮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98280" y="4224528"/>
            <a:ext cx="54864" cy="54864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闲置 30 分钟删除 Endpoint"/>
          <p:cNvSpPr txBox="1"/>
          <p:nvPr/>
        </p:nvSpPr>
        <p:spPr>
          <a:xfrm>
            <a:off x="9281159" y="4114800"/>
            <a:ext cx="2331720" cy="9509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闲置 30 分钟删除 Endpoint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6473952"/>
            <a:ext cx="11073384" cy="0"/>
          </a:xfrm>
          <a:prstGeom prst="line">
            <a:avLst/>
          </a:prstGeom>
          <a:ln w="889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: 2026-10-10 UTC · 线上原始界面 · 无业务数据替换"/>
          <p:cNvSpPr txBox="1"/>
          <p:nvPr/>
        </p:nvSpPr>
        <p:spPr>
          <a:xfrm>
            <a:off x="566928" y="6556248"/>
            <a:ext cx="101955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1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2026-10-10 UTC · 线上原始界面 · 无业务数据替换</a:t>
            </a:r>
          </a:p>
        </p:txBody>
      </p:sp>
      <p:sp>
        <p:nvSpPr>
          <p:cNvPr id="15" name="TEXT: 12 / 34"/>
          <p:cNvSpPr txBox="1"/>
          <p:nvPr/>
        </p:nvSpPr>
        <p:spPr>
          <a:xfrm>
            <a:off x="10954512" y="6547104"/>
            <a:ext cx="658368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12 / 34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3 / 测试设计"/>
          <p:cNvSpPr txBox="1"/>
          <p:nvPr/>
        </p:nvSpPr>
        <p:spPr>
          <a:xfrm>
            <a:off x="530352" y="201168"/>
            <a:ext cx="1088136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03 / 测试设计</a:t>
            </a:r>
          </a:p>
        </p:txBody>
      </p:sp>
      <p:sp>
        <p:nvSpPr>
          <p:cNvPr id="3" name="TEXT: 两种对比方式，回答不同的问题"/>
          <p:cNvSpPr txBox="1"/>
          <p:nvPr/>
        </p:nvSpPr>
        <p:spPr>
          <a:xfrm>
            <a:off x="521207" y="612648"/>
            <a:ext cx="11109960" cy="5394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两种对比方式，回答不同的问题</a:t>
            </a:r>
          </a:p>
        </p:txBody>
      </p:sp>
      <p:sp>
        <p:nvSpPr>
          <p:cNvPr id="4" name="TEXT: 固定流程比较同一输入；自主闭环比较各自实际完成业务的过程。"/>
          <p:cNvSpPr txBox="1"/>
          <p:nvPr/>
        </p:nvSpPr>
        <p:spPr>
          <a:xfrm>
            <a:off x="539496" y="1225296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固定流程比较同一输入；自主闭环比较各自实际完成业务的过程。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74519"/>
            <a:ext cx="1618488" cy="438912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维度"/>
          <p:cNvSpPr txBox="1"/>
          <p:nvPr/>
        </p:nvSpPr>
        <p:spPr>
          <a:xfrm>
            <a:off x="640080" y="1965960"/>
            <a:ext cx="146304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维度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1874519"/>
            <a:ext cx="4681728" cy="438912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固定输入流程"/>
          <p:cNvSpPr txBox="1"/>
          <p:nvPr/>
        </p:nvSpPr>
        <p:spPr>
          <a:xfrm>
            <a:off x="2286000" y="1965960"/>
            <a:ext cx="452628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固定输入流程</a:t>
            </a:r>
          </a:p>
        </p:txBody>
      </p:sp>
      <p:sp>
        <p:nvSpPr>
          <p:cNvPr id="9" name="Rectangle 8"/>
          <p:cNvSpPr/>
          <p:nvPr/>
        </p:nvSpPr>
        <p:spPr>
          <a:xfrm>
            <a:off x="6903720" y="1874519"/>
            <a:ext cx="4681728" cy="438912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自主闭环"/>
          <p:cNvSpPr txBox="1"/>
          <p:nvPr/>
        </p:nvSpPr>
        <p:spPr>
          <a:xfrm>
            <a:off x="6995160" y="1965960"/>
            <a:ext cx="452628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自主闭环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68296"/>
            <a:ext cx="1618488" cy="5760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模型输入"/>
          <p:cNvSpPr txBox="1"/>
          <p:nvPr/>
        </p:nvSpPr>
        <p:spPr>
          <a:xfrm>
            <a:off x="640080" y="2450591"/>
            <a:ext cx="1463040" cy="4937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模型输入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94560" y="2368296"/>
            <a:ext cx="4681728" cy="5760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每步使用冻结业务证据"/>
          <p:cNvSpPr txBox="1"/>
          <p:nvPr/>
        </p:nvSpPr>
        <p:spPr>
          <a:xfrm>
            <a:off x="2286000" y="2450591"/>
            <a:ext cx="4526280" cy="4937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每步使用冻结业务证据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03720" y="2368296"/>
            <a:ext cx="4681728" cy="5760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使用本侧最新状态 + 执行反馈"/>
          <p:cNvSpPr txBox="1"/>
          <p:nvPr/>
        </p:nvSpPr>
        <p:spPr>
          <a:xfrm>
            <a:off x="6995160" y="2450591"/>
            <a:ext cx="4526280" cy="4937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使用本侧最新状态 + 执行反馈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971800"/>
            <a:ext cx="1618488" cy="576072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执行时机"/>
          <p:cNvSpPr txBox="1"/>
          <p:nvPr/>
        </p:nvSpPr>
        <p:spPr>
          <a:xfrm>
            <a:off x="640080" y="3054096"/>
            <a:ext cx="1463040" cy="4937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执行时机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94560" y="2971800"/>
            <a:ext cx="4681728" cy="576072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 收齐建议后按序执行"/>
          <p:cNvSpPr txBox="1"/>
          <p:nvPr/>
        </p:nvSpPr>
        <p:spPr>
          <a:xfrm>
            <a:off x="2286000" y="3054096"/>
            <a:ext cx="4526280" cy="4937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收齐建议后按序执行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2971800"/>
            <a:ext cx="4681728" cy="576072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每次判断后立即执行并读取结果"/>
          <p:cNvSpPr txBox="1"/>
          <p:nvPr/>
        </p:nvSpPr>
        <p:spPr>
          <a:xfrm>
            <a:off x="6995160" y="3054096"/>
            <a:ext cx="4526280" cy="4937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每次判断后立即执行并读取结果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575304"/>
            <a:ext cx="1618488" cy="5760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: 外部事件"/>
          <p:cNvSpPr txBox="1"/>
          <p:nvPr/>
        </p:nvSpPr>
        <p:spPr>
          <a:xfrm>
            <a:off x="640080" y="3657600"/>
            <a:ext cx="1463040" cy="4937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外部事件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94560" y="3575304"/>
            <a:ext cx="4681728" cy="5760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推进证据后重新开始"/>
          <p:cNvSpPr txBox="1"/>
          <p:nvPr/>
        </p:nvSpPr>
        <p:spPr>
          <a:xfrm>
            <a:off x="2286000" y="3657600"/>
            <a:ext cx="4526280" cy="4937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推进证据后重新开始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03720" y="3575304"/>
            <a:ext cx="4681728" cy="5760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等待事件后恢复本次工作流"/>
          <p:cNvSpPr txBox="1"/>
          <p:nvPr/>
        </p:nvSpPr>
        <p:spPr>
          <a:xfrm>
            <a:off x="6995160" y="3657600"/>
            <a:ext cx="4526280" cy="4937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等待事件后恢复本次工作流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178808"/>
            <a:ext cx="1618488" cy="576072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 对比指标"/>
          <p:cNvSpPr txBox="1"/>
          <p:nvPr/>
        </p:nvSpPr>
        <p:spPr>
          <a:xfrm>
            <a:off x="640080" y="4261104"/>
            <a:ext cx="1463040" cy="4937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对比指标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4178808"/>
            <a:ext cx="4681728" cy="576072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: 成功且同 input_hash 的配对决策"/>
          <p:cNvSpPr txBox="1"/>
          <p:nvPr/>
        </p:nvSpPr>
        <p:spPr>
          <a:xfrm>
            <a:off x="2286000" y="4261104"/>
            <a:ext cx="4526280" cy="4937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成功且同 input_hash 的配对决策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03720" y="4178808"/>
            <a:ext cx="4681728" cy="576072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: 完成状态、调用数、总耗时与重判"/>
          <p:cNvSpPr txBox="1"/>
          <p:nvPr/>
        </p:nvSpPr>
        <p:spPr>
          <a:xfrm>
            <a:off x="6995160" y="4261104"/>
            <a:ext cx="4526280" cy="4937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完成状态、调用数、总耗时与重判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782312"/>
            <a:ext cx="1618488" cy="5760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: 业务结果"/>
          <p:cNvSpPr txBox="1"/>
          <p:nvPr/>
        </p:nvSpPr>
        <p:spPr>
          <a:xfrm>
            <a:off x="640080" y="4864608"/>
            <a:ext cx="1463040" cy="4937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业务结果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4782312"/>
            <a:ext cx="4681728" cy="5760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: 处理五步也可能没有资金动作"/>
          <p:cNvSpPr txBox="1"/>
          <p:nvPr/>
        </p:nvSpPr>
        <p:spPr>
          <a:xfrm>
            <a:off x="2286000" y="4864608"/>
            <a:ext cx="4526280" cy="4937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处理五步也可能没有资金动作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03720" y="4782312"/>
            <a:ext cx="4681728" cy="5760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: 可完成、等待、失败或转人工"/>
          <p:cNvSpPr txBox="1"/>
          <p:nvPr/>
        </p:nvSpPr>
        <p:spPr>
          <a:xfrm>
            <a:off x="6995160" y="4864608"/>
            <a:ext cx="4526280" cy="4937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可完成、等待、失败或转人工</a:t>
            </a:r>
          </a:p>
        </p:txBody>
      </p:sp>
      <p:sp>
        <p:nvSpPr>
          <p:cNvPr id="41" name="TEXT: 闭环是一个对比测试选项；候选、执行保护与调用预算在两侧相同。"/>
          <p:cNvSpPr txBox="1"/>
          <p:nvPr/>
        </p:nvSpPr>
        <p:spPr>
          <a:xfrm>
            <a:off x="548640" y="5971032"/>
            <a:ext cx="11064240" cy="3474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闭环是一个对比测试选项；候选、执行保护与调用预算在两侧相同。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48640" y="6473952"/>
            <a:ext cx="11073384" cy="0"/>
          </a:xfrm>
          <a:prstGeom prst="line">
            <a:avLst/>
          </a:prstGeom>
          <a:ln w="889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: 当前项目实现 · crypto10 / 20261010-loop1"/>
          <p:cNvSpPr txBox="1"/>
          <p:nvPr/>
        </p:nvSpPr>
        <p:spPr>
          <a:xfrm>
            <a:off x="566928" y="6556248"/>
            <a:ext cx="101955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1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当前项目实现 · crypto10 / 20261010-loop1</a:t>
            </a:r>
          </a:p>
        </p:txBody>
      </p:sp>
      <p:sp>
        <p:nvSpPr>
          <p:cNvPr id="44" name="TEXT: 14 / 34"/>
          <p:cNvSpPr txBox="1"/>
          <p:nvPr/>
        </p:nvSpPr>
        <p:spPr>
          <a:xfrm>
            <a:off x="10954512" y="6547104"/>
            <a:ext cx="658368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14 / 34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3 / 演示参考"/>
          <p:cNvSpPr txBox="1"/>
          <p:nvPr/>
        </p:nvSpPr>
        <p:spPr>
          <a:xfrm>
            <a:off x="530352" y="201168"/>
            <a:ext cx="1088136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03 / 演示参考</a:t>
            </a:r>
          </a:p>
        </p:txBody>
      </p:sp>
      <p:sp>
        <p:nvSpPr>
          <p:cNvPr id="3" name="TEXT: 什么是“演示参考”？它是开发者写出的业务基准"/>
          <p:cNvSpPr txBox="1"/>
          <p:nvPr/>
        </p:nvSpPr>
        <p:spPr>
          <a:xfrm>
            <a:off x="521207" y="612648"/>
            <a:ext cx="11109960" cy="5394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什么是“演示参考”？它是开发者写出的业务基准</a:t>
            </a:r>
          </a:p>
        </p:txBody>
      </p:sp>
      <p:sp>
        <p:nvSpPr>
          <p:cNvPr id="4" name="TEXT: 代码入口：app/crypto.py。参考答案独立计算，用于比较模型输出；不直接填入模型请求。"/>
          <p:cNvSpPr txBox="1"/>
          <p:nvPr/>
        </p:nvSpPr>
        <p:spPr>
          <a:xfrm>
            <a:off x="539496" y="1225296"/>
            <a:ext cx="109728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代码入口：app/crypto.py。参考答案独立计算，用于比较模型输出；不直接填入模型请求。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37943"/>
            <a:ext cx="3529584" cy="301752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37943"/>
            <a:ext cx="41148" cy="301752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: 候选条件 · OPTIONS"/>
          <p:cNvSpPr txBox="1"/>
          <p:nvPr/>
        </p:nvSpPr>
        <p:spPr>
          <a:xfrm>
            <a:off x="731520" y="2002536"/>
            <a:ext cx="3163824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候选条件 · OPTIONS</a:t>
            </a:r>
          </a:p>
        </p:txBody>
      </p:sp>
      <p:sp>
        <p:nvSpPr>
          <p:cNvPr id="8" name="TEXT: 开发者提供可选动作与描述 两模型读取相同事实和条件 模型负责从候选项中选择"/>
          <p:cNvSpPr txBox="1"/>
          <p:nvPr/>
        </p:nvSpPr>
        <p:spPr>
          <a:xfrm>
            <a:off x="731520" y="2596896"/>
            <a:ext cx="3163824" cy="216712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开发者提供可选动作与描述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两模型读取相同事实和条件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模型负责从候选项中选择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1837943"/>
            <a:ext cx="3529584" cy="301752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25112" y="1837943"/>
            <a:ext cx="41148" cy="3017520"/>
          </a:xfrm>
          <a:prstGeom prst="rect">
            <a:avLst/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演示参考 · reference()"/>
          <p:cNvSpPr txBox="1"/>
          <p:nvPr/>
        </p:nvSpPr>
        <p:spPr>
          <a:xfrm>
            <a:off x="4507992" y="2002536"/>
            <a:ext cx="3163824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演示参考 · reference()</a:t>
            </a:r>
          </a:p>
        </p:txBody>
      </p:sp>
      <p:sp>
        <p:nvSpPr>
          <p:cNvPr id="12" name="TEXT: 代码计算本步骤的预期动作 例如：少付 → 挂起并跟进 用于统计参考一致与差异"/>
          <p:cNvSpPr txBox="1"/>
          <p:nvPr/>
        </p:nvSpPr>
        <p:spPr>
          <a:xfrm>
            <a:off x="4507992" y="2596896"/>
            <a:ext cx="3163824" cy="216712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代码计算本步骤的预期动作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例如：少付 → 挂起并跟进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用于统计参考一致与差异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837943"/>
            <a:ext cx="3529584" cy="301752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1583" y="1837943"/>
            <a:ext cx="41148" cy="3017520"/>
          </a:xfrm>
          <a:prstGeom prst="rect">
            <a:avLst/>
          </a:prstGeom>
          <a:solidFill>
            <a:srgbClr val="BE7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执行保护"/>
          <p:cNvSpPr txBox="1"/>
          <p:nvPr/>
        </p:nvSpPr>
        <p:spPr>
          <a:xfrm>
            <a:off x="8284463" y="2002536"/>
            <a:ext cx="3163824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执行保护</a:t>
            </a:r>
          </a:p>
        </p:txBody>
      </p:sp>
      <p:sp>
        <p:nvSpPr>
          <p:cNvPr id="16" name="TEXT: 根据实际状态校验资金和结案 未满足条件 → 调整实际动作 保留模型的原始建议与原因"/>
          <p:cNvSpPr txBox="1"/>
          <p:nvPr/>
        </p:nvSpPr>
        <p:spPr>
          <a:xfrm>
            <a:off x="8284463" y="2596896"/>
            <a:ext cx="3163824" cy="216712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根据实际状态校验资金和结案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未满足条件 → 调整实际动作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保留模型的原始建议与原因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7784" y="5166360"/>
            <a:ext cx="11055096" cy="612648"/>
          </a:xfrm>
          <a:prstGeom prst="roundRect">
            <a:avLst>
              <a:gd name="adj" fmla="val 13000"/>
            </a:avLst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参考一致 = 原始模型 choice 与 reference_choice 相同；它衡量本演示策略符合度。"/>
          <p:cNvSpPr txBox="1"/>
          <p:nvPr/>
        </p:nvSpPr>
        <p:spPr>
          <a:xfrm>
            <a:off x="768096" y="5340096"/>
            <a:ext cx="10607040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参考一致 = 原始模型 choice 与 reference_choice 相同；它衡量本演示策略符合度。</a:t>
            </a:r>
          </a:p>
        </p:txBody>
      </p:sp>
      <p:sp>
        <p:nvSpPr>
          <p:cNvPr id="19" name="TEXT: 参考由开发者定义；通过风控审批检查，也仍需满足确认数与足额条件才能执行收款。"/>
          <p:cNvSpPr txBox="1"/>
          <p:nvPr/>
        </p:nvSpPr>
        <p:spPr>
          <a:xfrm>
            <a:off x="548640" y="5971032"/>
            <a:ext cx="11064240" cy="3474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参考由开发者定义；通过风控审批检查，也仍需满足确认数与足额条件才能执行收款。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6473952"/>
            <a:ext cx="11073384" cy="0"/>
          </a:xfrm>
          <a:prstGeom prst="line">
            <a:avLst/>
          </a:prstGeom>
          <a:ln w="889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: 原版 / 扩展版沿用的原理与架构；已核对当前实现"/>
          <p:cNvSpPr txBox="1"/>
          <p:nvPr/>
        </p:nvSpPr>
        <p:spPr>
          <a:xfrm>
            <a:off x="566928" y="6556248"/>
            <a:ext cx="101955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1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原版 / 扩展版沿用的原理与架构；已核对当前实现</a:t>
            </a:r>
          </a:p>
        </p:txBody>
      </p:sp>
      <p:sp>
        <p:nvSpPr>
          <p:cNvPr id="22" name="TEXT: 15 / 34"/>
          <p:cNvSpPr txBox="1"/>
          <p:nvPr/>
        </p:nvSpPr>
        <p:spPr>
          <a:xfrm>
            <a:off x="10954512" y="6547104"/>
            <a:ext cx="658368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15 / 34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3 / 本次真实观测"/>
          <p:cNvSpPr txBox="1"/>
          <p:nvPr/>
        </p:nvSpPr>
        <p:spPr>
          <a:xfrm>
            <a:off x="530352" y="201168"/>
            <a:ext cx="1088136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03 / 本次真实观测</a:t>
            </a:r>
          </a:p>
        </p:txBody>
      </p:sp>
      <p:sp>
        <p:nvSpPr>
          <p:cNvPr id="3" name="TEXT: Decider 执行差异：原始选择与实际动作分别保留"/>
          <p:cNvSpPr txBox="1"/>
          <p:nvPr/>
        </p:nvSpPr>
        <p:spPr>
          <a:xfrm>
            <a:off x="521207" y="612648"/>
            <a:ext cx="11109960" cy="5394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Decider 执行差异：原始选择与实际动作分别保留</a:t>
            </a:r>
          </a:p>
        </p:txBody>
      </p:sp>
      <p:sp>
        <p:nvSpPr>
          <p:cNvPr id="4" name="TEXT: 本次固定流程中有 6 次 Decider 参考差异；保护调整不计为模型判断正确。"/>
          <p:cNvSpPr txBox="1"/>
          <p:nvPr/>
        </p:nvSpPr>
        <p:spPr>
          <a:xfrm>
            <a:off x="539496" y="1225296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本次固定流程中有 6 次 Decider 参考差异；保护调整不计为模型判断正确。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74519"/>
            <a:ext cx="2715768" cy="438912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场景 / 步骤"/>
          <p:cNvSpPr txBox="1"/>
          <p:nvPr/>
        </p:nvSpPr>
        <p:spPr>
          <a:xfrm>
            <a:off x="640080" y="1965960"/>
            <a:ext cx="256032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场景 / 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874519"/>
            <a:ext cx="2624328" cy="438912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演示参考"/>
          <p:cNvSpPr txBox="1"/>
          <p:nvPr/>
        </p:nvSpPr>
        <p:spPr>
          <a:xfrm>
            <a:off x="3383280" y="1965960"/>
            <a:ext cx="2468879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演示参考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874519"/>
            <a:ext cx="2624328" cy="438912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Decider 建议"/>
          <p:cNvSpPr txBox="1"/>
          <p:nvPr/>
        </p:nvSpPr>
        <p:spPr>
          <a:xfrm>
            <a:off x="6035040" y="1965960"/>
            <a:ext cx="2468879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 建议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60" y="1874519"/>
            <a:ext cx="2990088" cy="438912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实际采用"/>
          <p:cNvSpPr txBox="1"/>
          <p:nvPr/>
        </p:nvSpPr>
        <p:spPr>
          <a:xfrm>
            <a:off x="8686800" y="1965960"/>
            <a:ext cx="2834639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实际采用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68296"/>
            <a:ext cx="2715768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USDC 未到账 风控审批"/>
          <p:cNvSpPr txBox="1"/>
          <p:nvPr/>
        </p:nvSpPr>
        <p:spPr>
          <a:xfrm>
            <a:off x="640080" y="2450591"/>
            <a:ext cx="256032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USDC 未到账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风控审批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2368296"/>
            <a:ext cx="2624328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规则检查通过"/>
          <p:cNvSpPr txBox="1"/>
          <p:nvPr/>
        </p:nvSpPr>
        <p:spPr>
          <a:xfrm>
            <a:off x="3383280" y="2450591"/>
            <a:ext cx="2468879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规则检查通过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2368296"/>
            <a:ext cx="2624328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等待人工审批"/>
          <p:cNvSpPr txBox="1"/>
          <p:nvPr/>
        </p:nvSpPr>
        <p:spPr>
          <a:xfrm>
            <a:off x="6035040" y="2450591"/>
            <a:ext cx="2468879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等待人工审批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5360" y="2368296"/>
            <a:ext cx="2990088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 等待人工审批 保留原建议"/>
          <p:cNvSpPr txBox="1"/>
          <p:nvPr/>
        </p:nvSpPr>
        <p:spPr>
          <a:xfrm>
            <a:off x="8686800" y="2450591"/>
            <a:ext cx="2834639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等待人工审批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保留原建议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962656"/>
            <a:ext cx="2715768" cy="56692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USDT 少付 业务处置"/>
          <p:cNvSpPr txBox="1"/>
          <p:nvPr/>
        </p:nvSpPr>
        <p:spPr>
          <a:xfrm>
            <a:off x="640080" y="3044951"/>
            <a:ext cx="256032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USDT 少付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业务处置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91840" y="2962656"/>
            <a:ext cx="2624328" cy="56692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: 挂起并跟进"/>
          <p:cNvSpPr txBox="1"/>
          <p:nvPr/>
        </p:nvSpPr>
        <p:spPr>
          <a:xfrm>
            <a:off x="3383280" y="3044951"/>
            <a:ext cx="2468879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挂起并跟进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2962656"/>
            <a:ext cx="2624328" cy="56692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确认订单收款"/>
          <p:cNvSpPr txBox="1"/>
          <p:nvPr/>
        </p:nvSpPr>
        <p:spPr>
          <a:xfrm>
            <a:off x="6035040" y="3044951"/>
            <a:ext cx="2468879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确认订单收款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95360" y="2962656"/>
            <a:ext cx="2990088" cy="56692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挂起并跟进 保护调整"/>
          <p:cNvSpPr txBox="1"/>
          <p:nvPr/>
        </p:nvSpPr>
        <p:spPr>
          <a:xfrm>
            <a:off x="8686800" y="3044951"/>
            <a:ext cx="2834639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挂起并跟进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保护调整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557015"/>
            <a:ext cx="2715768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 稳定币退款 风控审批"/>
          <p:cNvSpPr txBox="1"/>
          <p:nvPr/>
        </p:nvSpPr>
        <p:spPr>
          <a:xfrm>
            <a:off x="640080" y="3639311"/>
            <a:ext cx="256032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稳定币退款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风控审批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91840" y="3557015"/>
            <a:ext cx="2624328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: 验证退款地址"/>
          <p:cNvSpPr txBox="1"/>
          <p:nvPr/>
        </p:nvSpPr>
        <p:spPr>
          <a:xfrm>
            <a:off x="3383280" y="3639311"/>
            <a:ext cx="2468879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验证退款地址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3557015"/>
            <a:ext cx="2624328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: 等待人工审批"/>
          <p:cNvSpPr txBox="1"/>
          <p:nvPr/>
        </p:nvSpPr>
        <p:spPr>
          <a:xfrm>
            <a:off x="6035040" y="3639311"/>
            <a:ext cx="2468879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等待人工审批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95360" y="3557015"/>
            <a:ext cx="2990088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: 等待人工审批 保留原建议"/>
          <p:cNvSpPr txBox="1"/>
          <p:nvPr/>
        </p:nvSpPr>
        <p:spPr>
          <a:xfrm>
            <a:off x="8686800" y="3639311"/>
            <a:ext cx="2834639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等待人工审批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保留原建议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151376"/>
            <a:ext cx="2715768" cy="56692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: 稳定币退款 业务处置"/>
          <p:cNvSpPr txBox="1"/>
          <p:nvPr/>
        </p:nvSpPr>
        <p:spPr>
          <a:xfrm>
            <a:off x="640080" y="4233672"/>
            <a:ext cx="256032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稳定币退款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业务处置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91840" y="4151376"/>
            <a:ext cx="2624328" cy="56692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: 挂起并跟进"/>
          <p:cNvSpPr txBox="1"/>
          <p:nvPr/>
        </p:nvSpPr>
        <p:spPr>
          <a:xfrm>
            <a:off x="3383280" y="4233672"/>
            <a:ext cx="2468879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挂起并跟进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0" y="4151376"/>
            <a:ext cx="2624328" cy="56692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: 提交模拟退款"/>
          <p:cNvSpPr txBox="1"/>
          <p:nvPr/>
        </p:nvSpPr>
        <p:spPr>
          <a:xfrm>
            <a:off x="6035040" y="4233672"/>
            <a:ext cx="2468879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提交模拟退款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95360" y="4151376"/>
            <a:ext cx="2990088" cy="56692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: 挂起并跟进 保护调整"/>
          <p:cNvSpPr txBox="1"/>
          <p:nvPr/>
        </p:nvSpPr>
        <p:spPr>
          <a:xfrm>
            <a:off x="8686800" y="4233672"/>
            <a:ext cx="2834639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挂起并跟进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保护调整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4745736"/>
            <a:ext cx="2715768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: 稳定币退款 回复结案"/>
          <p:cNvSpPr txBox="1"/>
          <p:nvPr/>
        </p:nvSpPr>
        <p:spPr>
          <a:xfrm>
            <a:off x="640080" y="4828031"/>
            <a:ext cx="256032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稳定币退款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回复结案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91840" y="4745736"/>
            <a:ext cx="2624328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: 回复并持续跟进"/>
          <p:cNvSpPr txBox="1"/>
          <p:nvPr/>
        </p:nvSpPr>
        <p:spPr>
          <a:xfrm>
            <a:off x="3383280" y="4828031"/>
            <a:ext cx="2468879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回复并持续跟进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3600" y="4745736"/>
            <a:ext cx="2624328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: 回复并结案"/>
          <p:cNvSpPr txBox="1"/>
          <p:nvPr/>
        </p:nvSpPr>
        <p:spPr>
          <a:xfrm>
            <a:off x="6035040" y="4828031"/>
            <a:ext cx="2468879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回复并结案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595360" y="4745736"/>
            <a:ext cx="2990088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: 回复并持续跟进 保护调整"/>
          <p:cNvSpPr txBox="1"/>
          <p:nvPr/>
        </p:nvSpPr>
        <p:spPr>
          <a:xfrm>
            <a:off x="8686800" y="4828031"/>
            <a:ext cx="2834639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回复并持续跟进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保护调整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5340096"/>
            <a:ext cx="2715768" cy="56692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: 商户结算 回复结案"/>
          <p:cNvSpPr txBox="1"/>
          <p:nvPr/>
        </p:nvSpPr>
        <p:spPr>
          <a:xfrm>
            <a:off x="640080" y="5422392"/>
            <a:ext cx="256032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商户结算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回复结案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91840" y="5340096"/>
            <a:ext cx="2624328" cy="56692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: 回复并持续跟进"/>
          <p:cNvSpPr txBox="1"/>
          <p:nvPr/>
        </p:nvSpPr>
        <p:spPr>
          <a:xfrm>
            <a:off x="3383280" y="5422392"/>
            <a:ext cx="2468879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回复并持续跟进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943600" y="5340096"/>
            <a:ext cx="2624328" cy="56692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: 回复并结案"/>
          <p:cNvSpPr txBox="1"/>
          <p:nvPr/>
        </p:nvSpPr>
        <p:spPr>
          <a:xfrm>
            <a:off x="6035040" y="5422392"/>
            <a:ext cx="2468879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回复并结案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595360" y="5340096"/>
            <a:ext cx="2990088" cy="56692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: 回复并持续跟进 保护调整"/>
          <p:cNvSpPr txBox="1"/>
          <p:nvPr/>
        </p:nvSpPr>
        <p:spPr>
          <a:xfrm>
            <a:off x="8686800" y="5422392"/>
            <a:ext cx="2834639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回复并持续跟进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保护调整</a:t>
            </a:r>
          </a:p>
        </p:txBody>
      </p:sp>
      <p:sp>
        <p:nvSpPr>
          <p:cNvPr id="61" name="TEXT: 能观察到条件遵循偏差；仅凭 choice / 概率，不能断言某次偏差的内部根因。"/>
          <p:cNvSpPr txBox="1"/>
          <p:nvPr/>
        </p:nvSpPr>
        <p:spPr>
          <a:xfrm>
            <a:off x="548640" y="5971032"/>
            <a:ext cx="11064240" cy="3474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能观察到条件遵循偏差；仅凭 choice / 概率，不能断言某次偏差的内部根因。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548640" y="6473952"/>
            <a:ext cx="11073384" cy="0"/>
          </a:xfrm>
          <a:prstGeom prst="line">
            <a:avLst/>
          </a:prstGeom>
          <a:ln w="889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: 当前项目实现 · crypto10 / 20261010-loop1"/>
          <p:cNvSpPr txBox="1"/>
          <p:nvPr/>
        </p:nvSpPr>
        <p:spPr>
          <a:xfrm>
            <a:off x="566928" y="6556248"/>
            <a:ext cx="101955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1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当前项目实现 · crypto10 / 20261010-loop1</a:t>
            </a:r>
          </a:p>
        </p:txBody>
      </p:sp>
      <p:sp>
        <p:nvSpPr>
          <p:cNvPr id="64" name="TEXT: 16 / 34"/>
          <p:cNvSpPr txBox="1"/>
          <p:nvPr/>
        </p:nvSpPr>
        <p:spPr>
          <a:xfrm>
            <a:off x="10954512" y="6547104"/>
            <a:ext cx="658368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16 /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3 / 解释边界"/>
          <p:cNvSpPr txBox="1"/>
          <p:nvPr/>
        </p:nvSpPr>
        <p:spPr>
          <a:xfrm>
            <a:off x="530352" y="201168"/>
            <a:ext cx="1088136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03 / 解释边界</a:t>
            </a:r>
          </a:p>
        </p:txBody>
      </p:sp>
      <p:sp>
        <p:nvSpPr>
          <p:cNvPr id="3" name="TEXT: 为什么会不一致？模型评分不是执行规则代码"/>
          <p:cNvSpPr txBox="1"/>
          <p:nvPr/>
        </p:nvSpPr>
        <p:spPr>
          <a:xfrm>
            <a:off x="521207" y="612648"/>
            <a:ext cx="11109960" cy="5394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为什么会不一致？模型评分不是执行规则代码</a:t>
            </a:r>
          </a:p>
        </p:txBody>
      </p:sp>
      <p:sp>
        <p:nvSpPr>
          <p:cNvPr id="4" name="TEXT: Decider 输出有限候选中的选择；符合输出结构，不等于正确遵守全部业务条件。"/>
          <p:cNvSpPr txBox="1"/>
          <p:nvPr/>
        </p:nvSpPr>
        <p:spPr>
          <a:xfrm>
            <a:off x="539496" y="1225296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Decider 输出有限候选中的选择；符合输出结构，不等于正确遵守全部业务条件。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65960"/>
            <a:ext cx="3529584" cy="29718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41148" cy="29718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: 可核对的事实"/>
          <p:cNvSpPr txBox="1"/>
          <p:nvPr/>
        </p:nvSpPr>
        <p:spPr>
          <a:xfrm>
            <a:off x="731520" y="2130552"/>
            <a:ext cx="3163824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可核对的事实</a:t>
            </a:r>
          </a:p>
        </p:txBody>
      </p:sp>
      <p:sp>
        <p:nvSpPr>
          <p:cNvPr id="8" name="TEXT: 记录模型实际 choice / 分布 记录原始输入与参考差异 执行器另行检查实际状态"/>
          <p:cNvSpPr txBox="1"/>
          <p:nvPr/>
        </p:nvSpPr>
        <p:spPr>
          <a:xfrm>
            <a:off x="731520" y="2724912"/>
            <a:ext cx="3163824" cy="21214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记录模型实际 choice / 分布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记录原始输入与参考差异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执行器另行检查实际状态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1965960"/>
            <a:ext cx="3529584" cy="29718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25112" y="1965960"/>
            <a:ext cx="41148" cy="2971800"/>
          </a:xfrm>
          <a:prstGeom prst="rect">
            <a:avLst/>
          </a:prstGeom>
          <a:solidFill>
            <a:srgbClr val="BE7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不能据此推断"/>
          <p:cNvSpPr txBox="1"/>
          <p:nvPr/>
        </p:nvSpPr>
        <p:spPr>
          <a:xfrm>
            <a:off x="4507992" y="2130552"/>
            <a:ext cx="3163824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不能据此推断</a:t>
            </a:r>
          </a:p>
        </p:txBody>
      </p:sp>
      <p:sp>
        <p:nvSpPr>
          <p:cNvPr id="12" name="TEXT: 一次差异的内部思维过程 金融行业的通用准确率 Decider 比 BERT 更快或更准"/>
          <p:cNvSpPr txBox="1"/>
          <p:nvPr/>
        </p:nvSpPr>
        <p:spPr>
          <a:xfrm>
            <a:off x="4507992" y="2724912"/>
            <a:ext cx="3163824" cy="21214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一次差异的内部思维过程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金融行业的通用准确率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Decider 比 BERT 更快或更准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965960"/>
            <a:ext cx="3529584" cy="29718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1583" y="1965960"/>
            <a:ext cx="41148" cy="2971800"/>
          </a:xfrm>
          <a:prstGeom prst="rect">
            <a:avLst/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可以改进的环节"/>
          <p:cNvSpPr txBox="1"/>
          <p:nvPr/>
        </p:nvSpPr>
        <p:spPr>
          <a:xfrm>
            <a:off x="8284463" y="2130552"/>
            <a:ext cx="3163824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可以改进的环节</a:t>
            </a:r>
          </a:p>
        </p:txBody>
      </p:sp>
      <p:sp>
        <p:nvSpPr>
          <p:cNvPr id="16" name="TEXT: 设计清楚的候选与条件 收集失败和重判样本 按业务数据评估与校准"/>
          <p:cNvSpPr txBox="1"/>
          <p:nvPr/>
        </p:nvSpPr>
        <p:spPr>
          <a:xfrm>
            <a:off x="8284463" y="2724912"/>
            <a:ext cx="3163824" cy="21214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设计清楚的候选与条件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收集失败和重判样本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按业务数据评估与校准</a:t>
            </a:r>
          </a:p>
        </p:txBody>
      </p:sp>
      <p:sp>
        <p:nvSpPr>
          <p:cNvPr id="17" name="TEXT: 金额计算、地址校验和资金权限等确定性条件，仍由业务代码执行。"/>
          <p:cNvSpPr txBox="1"/>
          <p:nvPr/>
        </p:nvSpPr>
        <p:spPr>
          <a:xfrm>
            <a:off x="548640" y="5971032"/>
            <a:ext cx="11064240" cy="3474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金额计算、地址校验和资金权限等确定性条件，仍由业务代码执行。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473952"/>
            <a:ext cx="11073384" cy="0"/>
          </a:xfrm>
          <a:prstGeom prst="line">
            <a:avLst/>
          </a:prstGeom>
          <a:ln w="889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: 当前项目实现 · crypto10 / 20261010-loop1"/>
          <p:cNvSpPr txBox="1"/>
          <p:nvPr/>
        </p:nvSpPr>
        <p:spPr>
          <a:xfrm>
            <a:off x="566928" y="6556248"/>
            <a:ext cx="101955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1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当前项目实现 · crypto10 / 20261010-loop1</a:t>
            </a:r>
          </a:p>
        </p:txBody>
      </p:sp>
      <p:sp>
        <p:nvSpPr>
          <p:cNvPr id="20" name="TEXT: 17 / 34"/>
          <p:cNvSpPr txBox="1"/>
          <p:nvPr/>
        </p:nvSpPr>
        <p:spPr>
          <a:xfrm>
            <a:off x="10954512" y="6547104"/>
            <a:ext cx="658368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17 / 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3 / 当前演示 · 线上真实截图"/>
          <p:cNvSpPr txBox="1"/>
          <p:nvPr/>
        </p:nvSpPr>
        <p:spPr>
          <a:xfrm>
            <a:off x="530352" y="201168"/>
            <a:ext cx="1088136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03 / 当前演示 · 线上真实截图</a:t>
            </a:r>
          </a:p>
        </p:txBody>
      </p:sp>
      <p:sp>
        <p:nvSpPr>
          <p:cNvPr id="3" name="TEXT: 每轮输入 / 输出：默认展开，直接并排对照"/>
          <p:cNvSpPr txBox="1"/>
          <p:nvPr/>
        </p:nvSpPr>
        <p:spPr>
          <a:xfrm>
            <a:off x="521207" y="612648"/>
            <a:ext cx="11109960" cy="5394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每轮输入 / 输出：默认展开，直接并排对照</a:t>
            </a:r>
          </a:p>
        </p:txBody>
      </p:sp>
      <p:sp>
        <p:nvSpPr>
          <p:cNvPr id="4" name="TEXT: 当前页面实际截取：客户诉求、交易证据、两侧输出、实际执行与时间。"/>
          <p:cNvSpPr txBox="1"/>
          <p:nvPr/>
        </p:nvSpPr>
        <p:spPr>
          <a:xfrm>
            <a:off x="539496" y="1225296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当前页面实际截取：客户诉求、交易证据、两侧输出、实际执行与时间。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1548" y="1773935"/>
            <a:ext cx="10618422" cy="437083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MAGE: fixed-turn-1.png" descr="fixed-turn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980" y="1801367"/>
            <a:ext cx="10563558" cy="4315968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548640" y="6473952"/>
            <a:ext cx="11073384" cy="0"/>
          </a:xfrm>
          <a:prstGeom prst="line">
            <a:avLst/>
          </a:prstGeom>
          <a:ln w="889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: 2026-10-10 UTC · 线上原始界面 · 无业务数据替换"/>
          <p:cNvSpPr txBox="1"/>
          <p:nvPr/>
        </p:nvSpPr>
        <p:spPr>
          <a:xfrm>
            <a:off x="566928" y="6556248"/>
            <a:ext cx="101955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1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2026-10-10 UTC · 线上原始界面 · 无业务数据替换</a:t>
            </a:r>
          </a:p>
        </p:txBody>
      </p:sp>
      <p:sp>
        <p:nvSpPr>
          <p:cNvPr id="9" name="TEXT: 18 / 34"/>
          <p:cNvSpPr txBox="1"/>
          <p:nvPr/>
        </p:nvSpPr>
        <p:spPr>
          <a:xfrm>
            <a:off x="10954512" y="6547104"/>
            <a:ext cx="658368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18 / 34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3 / 真实模型截图"/>
          <p:cNvSpPr txBox="1"/>
          <p:nvPr/>
        </p:nvSpPr>
        <p:spPr>
          <a:xfrm>
            <a:off x="530352" y="201168"/>
            <a:ext cx="1088136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03 / 真实模型截图</a:t>
            </a:r>
          </a:p>
        </p:txBody>
      </p:sp>
      <p:sp>
        <p:nvSpPr>
          <p:cNvPr id="3" name="TEXT: 固定输入：同一步的选择与速度一起看"/>
          <p:cNvSpPr txBox="1"/>
          <p:nvPr/>
        </p:nvSpPr>
        <p:spPr>
          <a:xfrm>
            <a:off x="521207" y="612648"/>
            <a:ext cx="11109960" cy="5394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固定输入：同一步的选择与速度一起看</a:t>
            </a:r>
          </a:p>
        </p:txBody>
      </p:sp>
      <p:sp>
        <p:nvSpPr>
          <p:cNvPr id="4" name="TEXT: USDC 未到账：确认数 3/12；表中显示原始建议、实际动作与各步耗时。"/>
          <p:cNvSpPr txBox="1"/>
          <p:nvPr/>
        </p:nvSpPr>
        <p:spPr>
          <a:xfrm>
            <a:off x="539496" y="1225296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USDC 未到账：确认数 3/12；表中显示原始建议、实际动作与各步耗时。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49198" y="1746504"/>
            <a:ext cx="7863122" cy="12801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MAGE: fixed-summary.png" descr="fixed-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6630" y="1773936"/>
            <a:ext cx="7808258" cy="122529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490328" y="3108960"/>
            <a:ext cx="9180864" cy="302666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IMAGE: fixed-table.png" descr="fixed-ta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7760" y="3136392"/>
            <a:ext cx="9126000" cy="2971800"/>
          </a:xfrm>
          <a:prstGeom prst="rect">
            <a:avLst/>
          </a:prstGeom>
        </p:spPr>
      </p:pic>
      <p:cxnSp>
        <p:nvCxnSpPr>
          <p:cNvPr id="9" name="Connector 8"/>
          <p:cNvCxnSpPr/>
          <p:nvPr/>
        </p:nvCxnSpPr>
        <p:spPr>
          <a:xfrm>
            <a:off x="548640" y="6473952"/>
            <a:ext cx="11073384" cy="0"/>
          </a:xfrm>
          <a:prstGeom prst="line">
            <a:avLst/>
          </a:prstGeom>
          <a:ln w="889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: 2026-10-10 UTC · pending-fixed · 实际生产截图"/>
          <p:cNvSpPr txBox="1"/>
          <p:nvPr/>
        </p:nvSpPr>
        <p:spPr>
          <a:xfrm>
            <a:off x="566928" y="6556248"/>
            <a:ext cx="101955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1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2026-10-10 UTC · pending-fixed · 实际生产截图</a:t>
            </a:r>
          </a:p>
        </p:txBody>
      </p:sp>
      <p:sp>
        <p:nvSpPr>
          <p:cNvPr id="11" name="TEXT: 19 / 34"/>
          <p:cNvSpPr txBox="1"/>
          <p:nvPr/>
        </p:nvSpPr>
        <p:spPr>
          <a:xfrm>
            <a:off x="10954512" y="6547104"/>
            <a:ext cx="658368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19 / 34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3 / 业务完成判定"/>
          <p:cNvSpPr txBox="1"/>
          <p:nvPr/>
        </p:nvSpPr>
        <p:spPr>
          <a:xfrm>
            <a:off x="530352" y="201168"/>
            <a:ext cx="1088136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03 / 业务完成判定</a:t>
            </a:r>
          </a:p>
        </p:txBody>
      </p:sp>
      <p:sp>
        <p:nvSpPr>
          <p:cNvPr id="3" name="TEXT: 已处理 5/5 步，不等于业务成功"/>
          <p:cNvSpPr txBox="1"/>
          <p:nvPr/>
        </p:nvSpPr>
        <p:spPr>
          <a:xfrm>
            <a:off x="521207" y="612648"/>
            <a:ext cx="11109960" cy="5394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已处理 5/5 步，不等于业务成功</a:t>
            </a:r>
          </a:p>
        </p:txBody>
      </p:sp>
      <p:sp>
        <p:nvSpPr>
          <p:cNvPr id="4" name="TEXT: 等待、挂起和继续跟进，也属于已处理步骤。"/>
          <p:cNvSpPr txBox="1"/>
          <p:nvPr/>
        </p:nvSpPr>
        <p:spPr>
          <a:xfrm>
            <a:off x="539496" y="1225296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等待、挂起和继续跟进，也属于已处理步骤。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1207" y="2205321"/>
            <a:ext cx="11119104" cy="14506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MAGE: fixed-final.png" descr="fixed-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32753"/>
            <a:ext cx="11064240" cy="139579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4389120"/>
            <a:ext cx="3529584" cy="138988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4389120"/>
            <a:ext cx="41148" cy="1389888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: 订单达到目标状态"/>
          <p:cNvSpPr txBox="1"/>
          <p:nvPr/>
        </p:nvSpPr>
        <p:spPr>
          <a:xfrm>
            <a:off x="731520" y="4553712"/>
            <a:ext cx="3163824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订单达到目标状态</a:t>
            </a:r>
          </a:p>
        </p:txBody>
      </p:sp>
      <p:sp>
        <p:nvSpPr>
          <p:cNvPr id="10" name="TEXT: 已收款 / 已退款 / 已对账"/>
          <p:cNvSpPr txBox="1"/>
          <p:nvPr/>
        </p:nvSpPr>
        <p:spPr>
          <a:xfrm>
            <a:off x="731520" y="5047488"/>
            <a:ext cx="3163824" cy="6400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已收款 / 已退款 / 已对账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4389120"/>
            <a:ext cx="3529584" cy="138988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5112" y="4389120"/>
            <a:ext cx="41148" cy="1389888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存在对应模拟账本"/>
          <p:cNvSpPr txBox="1"/>
          <p:nvPr/>
        </p:nvSpPr>
        <p:spPr>
          <a:xfrm>
            <a:off x="4507992" y="4553712"/>
            <a:ext cx="3163824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存在对应模拟账本</a:t>
            </a:r>
          </a:p>
        </p:txBody>
      </p:sp>
      <p:sp>
        <p:nvSpPr>
          <p:cNvPr id="14" name="TEXT: 金额与资金动作可核对"/>
          <p:cNvSpPr txBox="1"/>
          <p:nvPr/>
        </p:nvSpPr>
        <p:spPr>
          <a:xfrm>
            <a:off x="4507992" y="5047488"/>
            <a:ext cx="3163824" cy="6400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金额与资金动作可核对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4389120"/>
            <a:ext cx="3529584" cy="138988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1583" y="4389120"/>
            <a:ext cx="41148" cy="1389888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客服工单已结案"/>
          <p:cNvSpPr txBox="1"/>
          <p:nvPr/>
        </p:nvSpPr>
        <p:spPr>
          <a:xfrm>
            <a:off x="8284463" y="4553712"/>
            <a:ext cx="3163824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客服工单已结案</a:t>
            </a:r>
          </a:p>
        </p:txBody>
      </p:sp>
      <p:sp>
        <p:nvSpPr>
          <p:cNvPr id="18" name="TEXT: 不能仅依据模型建议判断"/>
          <p:cNvSpPr txBox="1"/>
          <p:nvPr/>
        </p:nvSpPr>
        <p:spPr>
          <a:xfrm>
            <a:off x="8284463" y="5047488"/>
            <a:ext cx="3163824" cy="6400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不能仅依据模型建议判断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473952"/>
            <a:ext cx="11073384" cy="0"/>
          </a:xfrm>
          <a:prstGeom prst="line">
            <a:avLst/>
          </a:prstGeom>
          <a:ln w="889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: 当前项目实现 · crypto10 / 20261010-loop1"/>
          <p:cNvSpPr txBox="1"/>
          <p:nvPr/>
        </p:nvSpPr>
        <p:spPr>
          <a:xfrm>
            <a:off x="566928" y="6556248"/>
            <a:ext cx="101955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1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当前项目实现 · crypto10 / 20261010-loop1</a:t>
            </a:r>
          </a:p>
        </p:txBody>
      </p:sp>
      <p:sp>
        <p:nvSpPr>
          <p:cNvPr id="21" name="TEXT: 20 / 34"/>
          <p:cNvSpPr txBox="1"/>
          <p:nvPr/>
        </p:nvSpPr>
        <p:spPr>
          <a:xfrm>
            <a:off x="10954512" y="6547104"/>
            <a:ext cx="658368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20 / 34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3 / 当前演示 · 线上真实截图"/>
          <p:cNvSpPr txBox="1"/>
          <p:nvPr/>
        </p:nvSpPr>
        <p:spPr>
          <a:xfrm>
            <a:off x="530352" y="201168"/>
            <a:ext cx="1088136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03 / 当前演示 · 线上真实截图</a:t>
            </a:r>
          </a:p>
        </p:txBody>
      </p:sp>
      <p:sp>
        <p:nvSpPr>
          <p:cNvPr id="3" name="TEXT: 退款处置：建议与真正执行的结果分开显示"/>
          <p:cNvSpPr txBox="1"/>
          <p:nvPr/>
        </p:nvSpPr>
        <p:spPr>
          <a:xfrm>
            <a:off x="521207" y="612648"/>
            <a:ext cx="11109960" cy="5394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退款处置：建议与真正执行的结果分开显示</a:t>
            </a:r>
          </a:p>
        </p:txBody>
      </p:sp>
      <p:sp>
        <p:nvSpPr>
          <p:cNvPr id="4" name="TEXT: 地址未验证、审批未完成时，不能因为模型选择退款就认定资金已执行。"/>
          <p:cNvSpPr txBox="1"/>
          <p:nvPr/>
        </p:nvSpPr>
        <p:spPr>
          <a:xfrm>
            <a:off x="539496" y="1225296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地址未验证、审批未完成时，不能因为模型选择退款就认定资金已执行。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8683" y="1773936"/>
            <a:ext cx="9944152" cy="4370831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MAGE: refund-execute.png" descr="refund-execu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115" y="1801368"/>
            <a:ext cx="9889288" cy="4315968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548640" y="6473952"/>
            <a:ext cx="11073384" cy="0"/>
          </a:xfrm>
          <a:prstGeom prst="line">
            <a:avLst/>
          </a:prstGeom>
          <a:ln w="889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: 2026-10-10 UTC · 线上原始界面 · 无业务数据替换"/>
          <p:cNvSpPr txBox="1"/>
          <p:nvPr/>
        </p:nvSpPr>
        <p:spPr>
          <a:xfrm>
            <a:off x="566928" y="6556248"/>
            <a:ext cx="101955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1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2026-10-10 UTC · 线上原始界面 · 无业务数据替换</a:t>
            </a:r>
          </a:p>
        </p:txBody>
      </p:sp>
      <p:sp>
        <p:nvSpPr>
          <p:cNvPr id="9" name="TEXT: 21 / 34"/>
          <p:cNvSpPr txBox="1"/>
          <p:nvPr/>
        </p:nvSpPr>
        <p:spPr>
          <a:xfrm>
            <a:off x="10954512" y="6547104"/>
            <a:ext cx="658368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21 / 34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3 / 当前演示 · 线上真实截图"/>
          <p:cNvSpPr txBox="1"/>
          <p:nvPr/>
        </p:nvSpPr>
        <p:spPr>
          <a:xfrm>
            <a:off x="530352" y="201168"/>
            <a:ext cx="1088136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03 / 当前演示 · 线上真实截图</a:t>
            </a:r>
          </a:p>
        </p:txBody>
      </p:sp>
      <p:sp>
        <p:nvSpPr>
          <p:cNvPr id="3" name="TEXT: 客户对话与模拟事件，放在主区域"/>
          <p:cNvSpPr txBox="1"/>
          <p:nvPr/>
        </p:nvSpPr>
        <p:spPr>
          <a:xfrm>
            <a:off x="521207" y="612648"/>
            <a:ext cx="11109960" cy="5394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客户对话与模拟事件，放在主区域</a:t>
            </a:r>
          </a:p>
        </p:txBody>
      </p:sp>
      <p:sp>
        <p:nvSpPr>
          <p:cNvPr id="4" name="TEXT: 客服回复由模板按实际订单 / 工单状态生成，不是 GPT 长文本质量测试。"/>
          <p:cNvSpPr txBox="1"/>
          <p:nvPr/>
        </p:nvSpPr>
        <p:spPr>
          <a:xfrm>
            <a:off x="539496" y="1225296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客服回复由模板按实际订单 / 工单状态生成，不是 GPT 长文本质量测试。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01368"/>
            <a:ext cx="5358384" cy="274320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模板回复：如实说明待确认状态"/>
          <p:cNvSpPr txBox="1"/>
          <p:nvPr/>
        </p:nvSpPr>
        <p:spPr>
          <a:xfrm>
            <a:off x="585216" y="1842516"/>
            <a:ext cx="5285232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模板回复：如实说明待确认状态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01368"/>
            <a:ext cx="5358384" cy="274320"/>
          </a:xfrm>
          <a:prstGeom prst="roundRect">
            <a:avLst>
              <a:gd name="adj" fmla="val 13000"/>
            </a:avLst>
          </a:prstGeom>
          <a:solidFill>
            <a:srgbClr val="ED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模拟事件与客户输入"/>
          <p:cNvSpPr txBox="1"/>
          <p:nvPr/>
        </p:nvSpPr>
        <p:spPr>
          <a:xfrm>
            <a:off x="6300216" y="1842516"/>
            <a:ext cx="5285232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模拟事件与客户输入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2168" y="2258568"/>
            <a:ext cx="4551326" cy="243230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MAGE: customer-reply-focus.png" descr="customer-reply-foc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600" y="2286000"/>
            <a:ext cx="4496462" cy="2377440"/>
          </a:xfrm>
          <a:prstGeom prst="rect">
            <a:avLst/>
          </a:prstGeom>
        </p:spPr>
      </p:pic>
      <p:sp>
        <p:nvSpPr>
          <p:cNvPr id="11" name="TEXT: 未满足确认数 → 持续跟进 更新证据后重新对比 闭环等待时则继续当前运行"/>
          <p:cNvSpPr txBox="1"/>
          <p:nvPr/>
        </p:nvSpPr>
        <p:spPr>
          <a:xfrm>
            <a:off x="768096" y="4910328"/>
            <a:ext cx="4864608" cy="9692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未满足确认数 → 持续跟进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更新证据后重新对比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闭环等待时则继续当前运行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8439" y="2258568"/>
            <a:ext cx="3528785" cy="3712463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IMAGE: customer-events-focus.png" descr="customer-events-foc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5871" y="2286000"/>
            <a:ext cx="3473921" cy="3657600"/>
          </a:xfrm>
          <a:prstGeom prst="rect">
            <a:avLst/>
          </a:prstGeom>
        </p:spPr>
      </p:pic>
      <p:cxnSp>
        <p:nvCxnSpPr>
          <p:cNvPr id="14" name="Connector 13"/>
          <p:cNvCxnSpPr/>
          <p:nvPr/>
        </p:nvCxnSpPr>
        <p:spPr>
          <a:xfrm>
            <a:off x="548640" y="6473952"/>
            <a:ext cx="11073384" cy="0"/>
          </a:xfrm>
          <a:prstGeom prst="line">
            <a:avLst/>
          </a:prstGeom>
          <a:ln w="889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: 2026-10-10 UTC · customer-conversation.png 局部取景"/>
          <p:cNvSpPr txBox="1"/>
          <p:nvPr/>
        </p:nvSpPr>
        <p:spPr>
          <a:xfrm>
            <a:off x="566928" y="6556248"/>
            <a:ext cx="101955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1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2026-10-10 UTC · customer-conversation.png 局部取景</a:t>
            </a:r>
          </a:p>
        </p:txBody>
      </p:sp>
      <p:sp>
        <p:nvSpPr>
          <p:cNvPr id="16" name="TEXT: 22 / 34"/>
          <p:cNvSpPr txBox="1"/>
          <p:nvPr/>
        </p:nvSpPr>
        <p:spPr>
          <a:xfrm>
            <a:off x="10954512" y="6547104"/>
            <a:ext cx="658368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22 / 34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3 / 反馈编排"/>
          <p:cNvSpPr txBox="1"/>
          <p:nvPr/>
        </p:nvSpPr>
        <p:spPr>
          <a:xfrm>
            <a:off x="530352" y="201168"/>
            <a:ext cx="1088136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03 / 反馈编排</a:t>
            </a:r>
          </a:p>
        </p:txBody>
      </p:sp>
      <p:sp>
        <p:nvSpPr>
          <p:cNvPr id="3" name="TEXT: 自主闭环：判断 → 执行 → 读取结果 → 再判断"/>
          <p:cNvSpPr txBox="1"/>
          <p:nvPr/>
        </p:nvSpPr>
        <p:spPr>
          <a:xfrm>
            <a:off x="521207" y="612648"/>
            <a:ext cx="11109960" cy="5394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自主闭环：判断 → 执行 → 读取结果 → 再判断</a:t>
            </a:r>
          </a:p>
        </p:txBody>
      </p:sp>
      <p:sp>
        <p:nvSpPr>
          <p:cNvPr id="4" name="TEXT: 每次回到模型前，把实际状态和最近反馈写入下一轮输入。"/>
          <p:cNvSpPr txBox="1"/>
          <p:nvPr/>
        </p:nvSpPr>
        <p:spPr>
          <a:xfrm>
            <a:off x="539496" y="1225296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每次回到模型前，把实际状态和最近反馈写入下一轮输入。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84248"/>
            <a:ext cx="2615184" cy="124358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01"/>
          <p:cNvSpPr txBox="1"/>
          <p:nvPr/>
        </p:nvSpPr>
        <p:spPr>
          <a:xfrm>
            <a:off x="685800" y="2112264"/>
            <a:ext cx="411480" cy="3474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7" name="TEXT: 当前输入"/>
          <p:cNvSpPr txBox="1"/>
          <p:nvPr/>
        </p:nvSpPr>
        <p:spPr>
          <a:xfrm>
            <a:off x="1188719" y="2148840"/>
            <a:ext cx="1865376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当前输入</a:t>
            </a:r>
          </a:p>
        </p:txBody>
      </p:sp>
      <p:sp>
        <p:nvSpPr>
          <p:cNvPr id="8" name="TEXT: 诉求、证据、执行状态 上轮真实反馈"/>
          <p:cNvSpPr txBox="1"/>
          <p:nvPr/>
        </p:nvSpPr>
        <p:spPr>
          <a:xfrm>
            <a:off x="685800" y="2624328"/>
            <a:ext cx="2340864" cy="4754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诉求、证据、执行状态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上轮真实反馈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82112" y="2606040"/>
            <a:ext cx="155448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364992" y="1984248"/>
            <a:ext cx="2615184" cy="124358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02"/>
          <p:cNvSpPr txBox="1"/>
          <p:nvPr/>
        </p:nvSpPr>
        <p:spPr>
          <a:xfrm>
            <a:off x="3502152" y="2112264"/>
            <a:ext cx="411480" cy="3474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2" name="TEXT: 模型判断"/>
          <p:cNvSpPr txBox="1"/>
          <p:nvPr/>
        </p:nvSpPr>
        <p:spPr>
          <a:xfrm>
            <a:off x="4005072" y="2148840"/>
            <a:ext cx="1865376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模型判断</a:t>
            </a:r>
          </a:p>
        </p:txBody>
      </p:sp>
      <p:sp>
        <p:nvSpPr>
          <p:cNvPr id="13" name="TEXT: 从给定候选中选择 保存原始结果与时间"/>
          <p:cNvSpPr txBox="1"/>
          <p:nvPr/>
        </p:nvSpPr>
        <p:spPr>
          <a:xfrm>
            <a:off x="3502152" y="2624328"/>
            <a:ext cx="2340864" cy="4754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从给定候选中选择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保存原始结果与时间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98464" y="2606040"/>
            <a:ext cx="155448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181344" y="1984248"/>
            <a:ext cx="2615184" cy="124358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03"/>
          <p:cNvSpPr txBox="1"/>
          <p:nvPr/>
        </p:nvSpPr>
        <p:spPr>
          <a:xfrm>
            <a:off x="6318504" y="2112264"/>
            <a:ext cx="411480" cy="3474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17" name="TEXT: 应用执行"/>
          <p:cNvSpPr txBox="1"/>
          <p:nvPr/>
        </p:nvSpPr>
        <p:spPr>
          <a:xfrm>
            <a:off x="6821424" y="2148840"/>
            <a:ext cx="1865376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应用执行</a:t>
            </a:r>
          </a:p>
        </p:txBody>
      </p:sp>
      <p:sp>
        <p:nvSpPr>
          <p:cNvPr id="18" name="TEXT: 校验条件、执行或挂起 记录实际动作"/>
          <p:cNvSpPr txBox="1"/>
          <p:nvPr/>
        </p:nvSpPr>
        <p:spPr>
          <a:xfrm>
            <a:off x="6318504" y="2624328"/>
            <a:ext cx="2340864" cy="4754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校验条件、执行或挂起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记录实际动作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814816" y="2606040"/>
            <a:ext cx="155447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997696" y="1984248"/>
            <a:ext cx="2615184" cy="124358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 04"/>
          <p:cNvSpPr txBox="1"/>
          <p:nvPr/>
        </p:nvSpPr>
        <p:spPr>
          <a:xfrm>
            <a:off x="9134856" y="2112264"/>
            <a:ext cx="411480" cy="3474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22" name="TEXT: 结果反馈"/>
          <p:cNvSpPr txBox="1"/>
          <p:nvPr/>
        </p:nvSpPr>
        <p:spPr>
          <a:xfrm>
            <a:off x="9637776" y="2148840"/>
            <a:ext cx="1865376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结果反馈</a:t>
            </a:r>
          </a:p>
        </p:txBody>
      </p:sp>
      <p:sp>
        <p:nvSpPr>
          <p:cNvPr id="23" name="TEXT: 订单 / 工单 / 账本 确认是否真的推进"/>
          <p:cNvSpPr txBox="1"/>
          <p:nvPr/>
        </p:nvSpPr>
        <p:spPr>
          <a:xfrm>
            <a:off x="9134856" y="2624328"/>
            <a:ext cx="2340864" cy="4754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订单 / 工单 / 账本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确认是否真的推进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332720" y="3310128"/>
            <a:ext cx="0" cy="374904"/>
          </a:xfrm>
          <a:prstGeom prst="line">
            <a:avLst/>
          </a:prstGeom>
          <a:ln w="19050">
            <a:solidFill>
              <a:srgbClr val="087F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737360" y="3685032"/>
            <a:ext cx="8595360" cy="0"/>
          </a:xfrm>
          <a:prstGeom prst="line">
            <a:avLst/>
          </a:prstGeom>
          <a:ln w="19050">
            <a:solidFill>
              <a:srgbClr val="087F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737360" y="3310128"/>
            <a:ext cx="0" cy="374904"/>
          </a:xfrm>
          <a:prstGeom prst="line">
            <a:avLst/>
          </a:prstGeom>
          <a:ln w="19050">
            <a:solidFill>
              <a:srgbClr val="087F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48640" y="4069080"/>
            <a:ext cx="3529584" cy="167335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069080"/>
            <a:ext cx="41148" cy="1673352"/>
          </a:xfrm>
          <a:prstGeom prst="rect">
            <a:avLst/>
          </a:prstGeom>
          <a:solidFill>
            <a:srgbClr val="BE7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条件未齐 → 等待"/>
          <p:cNvSpPr txBox="1"/>
          <p:nvPr/>
        </p:nvSpPr>
        <p:spPr>
          <a:xfrm>
            <a:off x="731520" y="4233672"/>
            <a:ext cx="3163824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条件未齐 → 等待</a:t>
            </a:r>
          </a:p>
        </p:txBody>
      </p:sp>
      <p:sp>
        <p:nvSpPr>
          <p:cNvPr id="30" name="TEXT: 等待确认、补款、地址验证等 事件更新后再核验"/>
          <p:cNvSpPr txBox="1"/>
          <p:nvPr/>
        </p:nvSpPr>
        <p:spPr>
          <a:xfrm>
            <a:off x="731520" y="4727448"/>
            <a:ext cx="3163824" cy="9235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等待确认、补款、地址验证等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事件更新后再核验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25112" y="4069080"/>
            <a:ext cx="3529584" cy="167335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25112" y="4069080"/>
            <a:ext cx="41148" cy="1673352"/>
          </a:xfrm>
          <a:prstGeom prst="rect">
            <a:avLst/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 无效动作 → 重判"/>
          <p:cNvSpPr txBox="1"/>
          <p:nvPr/>
        </p:nvSpPr>
        <p:spPr>
          <a:xfrm>
            <a:off x="4507992" y="4233672"/>
            <a:ext cx="3163824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无效动作 → 重判</a:t>
            </a:r>
          </a:p>
        </p:txBody>
      </p:sp>
      <p:sp>
        <p:nvSpPr>
          <p:cNvPr id="34" name="TEXT: 把未执行原因传回模型 同一步两次无进展转人工"/>
          <p:cNvSpPr txBox="1"/>
          <p:nvPr/>
        </p:nvSpPr>
        <p:spPr>
          <a:xfrm>
            <a:off x="4507992" y="4727448"/>
            <a:ext cx="3163824" cy="9235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把未执行原因传回模型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同一步两次无进展转人工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1583" y="4069080"/>
            <a:ext cx="3529584" cy="167335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01583" y="4069080"/>
            <a:ext cx="41148" cy="1673352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: 业务完成 → 结束"/>
          <p:cNvSpPr txBox="1"/>
          <p:nvPr/>
        </p:nvSpPr>
        <p:spPr>
          <a:xfrm>
            <a:off x="8284463" y="4233672"/>
            <a:ext cx="3163824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业务完成 → 结束</a:t>
            </a:r>
          </a:p>
        </p:txBody>
      </p:sp>
      <p:sp>
        <p:nvSpPr>
          <p:cNvPr id="38" name="TEXT: 订单 + 账本 + 结案均确认 已记账动作不再次提交"/>
          <p:cNvSpPr txBox="1"/>
          <p:nvPr/>
        </p:nvSpPr>
        <p:spPr>
          <a:xfrm>
            <a:off x="8284463" y="4727448"/>
            <a:ext cx="3163824" cy="9235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订单 + 账本 + 结案均确认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已记账动作不再次提交</a:t>
            </a:r>
          </a:p>
        </p:txBody>
      </p:sp>
      <p:sp>
        <p:nvSpPr>
          <p:cNvPr id="39" name="TEXT: 预算：最多 20 次决策 / 32 次 tick；页面连续运行约 5 分钟后暂停。"/>
          <p:cNvSpPr txBox="1"/>
          <p:nvPr/>
        </p:nvSpPr>
        <p:spPr>
          <a:xfrm>
            <a:off x="548640" y="5971032"/>
            <a:ext cx="11064240" cy="3474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预算：最多 20 次决策 / 32 次 tick；页面连续运行约 5 分钟后暂停。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48640" y="6473952"/>
            <a:ext cx="11073384" cy="0"/>
          </a:xfrm>
          <a:prstGeom prst="line">
            <a:avLst/>
          </a:prstGeom>
          <a:ln w="889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: 当前项目实现 · crypto10 / 20261010-loop1"/>
          <p:cNvSpPr txBox="1"/>
          <p:nvPr/>
        </p:nvSpPr>
        <p:spPr>
          <a:xfrm>
            <a:off x="566928" y="6556248"/>
            <a:ext cx="101955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1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当前项目实现 · crypto10 / 20261010-loop1</a:t>
            </a:r>
          </a:p>
        </p:txBody>
      </p:sp>
      <p:sp>
        <p:nvSpPr>
          <p:cNvPr id="42" name="TEXT: 23 / 34"/>
          <p:cNvSpPr txBox="1"/>
          <p:nvPr/>
        </p:nvSpPr>
        <p:spPr>
          <a:xfrm>
            <a:off x="10954512" y="6547104"/>
            <a:ext cx="658368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23 / 34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3 / 当前演示 · 线上真实截图"/>
          <p:cNvSpPr txBox="1"/>
          <p:nvPr/>
        </p:nvSpPr>
        <p:spPr>
          <a:xfrm>
            <a:off x="530352" y="201168"/>
            <a:ext cx="1088136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03 / 当前演示 · 线上真实截图</a:t>
            </a:r>
          </a:p>
        </p:txBody>
      </p:sp>
      <p:sp>
        <p:nvSpPr>
          <p:cNvPr id="3" name="TEXT: 闭环输入：带着本侧执行反馈进入下一轮"/>
          <p:cNvSpPr txBox="1"/>
          <p:nvPr/>
        </p:nvSpPr>
        <p:spPr>
          <a:xfrm>
            <a:off x="521207" y="612648"/>
            <a:ext cx="11109960" cy="5394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闭环输入：带着本侧执行反馈进入下一轮</a:t>
            </a:r>
          </a:p>
        </p:txBody>
      </p:sp>
      <p:sp>
        <p:nvSpPr>
          <p:cNvPr id="4" name="TEXT: 同样的初始证据，两侧执行后可能进入不同状态。"/>
          <p:cNvSpPr txBox="1"/>
          <p:nvPr/>
        </p:nvSpPr>
        <p:spPr>
          <a:xfrm>
            <a:off x="539496" y="1225296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同样的初始证据，两侧执行后可能进入不同状态。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5051" y="1773936"/>
            <a:ext cx="7811417" cy="4370831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MAGE: pending-loop-feedback.png" descr="pending-loop-feedb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2483" y="1801368"/>
            <a:ext cx="7756553" cy="4315968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548640" y="6473952"/>
            <a:ext cx="11073384" cy="0"/>
          </a:xfrm>
          <a:prstGeom prst="line">
            <a:avLst/>
          </a:prstGeom>
          <a:ln w="889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: 2026-10-10 UTC · 线上原始界面 · 无业务数据替换"/>
          <p:cNvSpPr txBox="1"/>
          <p:nvPr/>
        </p:nvSpPr>
        <p:spPr>
          <a:xfrm>
            <a:off x="566928" y="6556248"/>
            <a:ext cx="101955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1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2026-10-10 UTC · 线上原始界面 · 无业务数据替换</a:t>
            </a:r>
          </a:p>
        </p:txBody>
      </p:sp>
      <p:sp>
        <p:nvSpPr>
          <p:cNvPr id="9" name="TEXT: 24 / 34"/>
          <p:cNvSpPr txBox="1"/>
          <p:nvPr/>
        </p:nvSpPr>
        <p:spPr>
          <a:xfrm>
            <a:off x="10954512" y="6547104"/>
            <a:ext cx="658368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24 / 34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3 / 本次真实闭环"/>
          <p:cNvSpPr txBox="1"/>
          <p:nvPr/>
        </p:nvSpPr>
        <p:spPr>
          <a:xfrm>
            <a:off x="530352" y="201168"/>
            <a:ext cx="1088136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03 / 本次真实闭环</a:t>
            </a:r>
          </a:p>
        </p:txBody>
      </p:sp>
      <p:sp>
        <p:nvSpPr>
          <p:cNvPr id="3" name="TEXT: USDC 未到账闭环：如实展示完成或转人工"/>
          <p:cNvSpPr txBox="1"/>
          <p:nvPr/>
        </p:nvSpPr>
        <p:spPr>
          <a:xfrm>
            <a:off x="521207" y="612648"/>
            <a:ext cx="11109960" cy="5394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USDC 未到账闭环：如实展示完成或转人工</a:t>
            </a:r>
          </a:p>
        </p:txBody>
      </p:sp>
      <p:sp>
        <p:nvSpPr>
          <p:cNvPr id="4" name="TEXT: Decider：业务完成 · 6 次决策；GPT：业务完成 · 6 次决策。"/>
          <p:cNvSpPr txBox="1"/>
          <p:nvPr/>
        </p:nvSpPr>
        <p:spPr>
          <a:xfrm>
            <a:off x="539496" y="1225296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Decider：业务完成 · 6 次决策；GPT：业务完成 · 6 次决策。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1207" y="2383629"/>
            <a:ext cx="11119104" cy="14506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MAGE: pending-loop-final.png" descr="pending-loop-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11061"/>
            <a:ext cx="11064240" cy="139579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4617720"/>
            <a:ext cx="5358384" cy="118872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4617720"/>
            <a:ext cx="41148" cy="118872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: Strands Decider"/>
          <p:cNvSpPr txBox="1"/>
          <p:nvPr/>
        </p:nvSpPr>
        <p:spPr>
          <a:xfrm>
            <a:off x="731520" y="4782312"/>
            <a:ext cx="4992624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</a:t>
            </a:r>
          </a:p>
        </p:txBody>
      </p:sp>
      <p:sp>
        <p:nvSpPr>
          <p:cNvPr id="10" name="TEXT: 决策累计 0.57 s · 模拟事件 1 次"/>
          <p:cNvSpPr txBox="1"/>
          <p:nvPr/>
        </p:nvSpPr>
        <p:spPr>
          <a:xfrm>
            <a:off x="731520" y="5212080"/>
            <a:ext cx="4992624" cy="5029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决策累计 0.57 s · 模拟事件 1 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617720"/>
            <a:ext cx="5358384" cy="118872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4617720"/>
            <a:ext cx="41148" cy="1188720"/>
          </a:xfrm>
          <a:prstGeom prst="rect">
            <a:avLst/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GPT-6.1 Sol"/>
          <p:cNvSpPr txBox="1"/>
          <p:nvPr/>
        </p:nvSpPr>
        <p:spPr>
          <a:xfrm>
            <a:off x="6446520" y="4782312"/>
            <a:ext cx="4992624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GPT-6.1 Sol</a:t>
            </a:r>
          </a:p>
        </p:txBody>
      </p:sp>
      <p:sp>
        <p:nvSpPr>
          <p:cNvPr id="14" name="TEXT: 决策累计 7.27 s · 模拟事件 1 次"/>
          <p:cNvSpPr txBox="1"/>
          <p:nvPr/>
        </p:nvSpPr>
        <p:spPr>
          <a:xfrm>
            <a:off x="6446520" y="5212080"/>
            <a:ext cx="4992624" cy="5029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决策累计 7.27 s · 模拟事件 1 次</a:t>
            </a:r>
          </a:p>
        </p:txBody>
      </p:sp>
      <p:sp>
        <p:nvSpPr>
          <p:cNvPr id="15" name="TEXT: 两侧后续输入和调用次数可能不同，此处不能解释为固定同输入的推理速度排名。"/>
          <p:cNvSpPr txBox="1"/>
          <p:nvPr/>
        </p:nvSpPr>
        <p:spPr>
          <a:xfrm>
            <a:off x="548640" y="5971032"/>
            <a:ext cx="11064240" cy="3474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两侧后续输入和调用次数可能不同，此处不能解释为固定同输入的推理速度排名。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6473952"/>
            <a:ext cx="11073384" cy="0"/>
          </a:xfrm>
          <a:prstGeom prst="line">
            <a:avLst/>
          </a:prstGeom>
          <a:ln w="889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: 2026-10-10 UTC · pending-loop · 实测原始结果"/>
          <p:cNvSpPr txBox="1"/>
          <p:nvPr/>
        </p:nvSpPr>
        <p:spPr>
          <a:xfrm>
            <a:off x="566928" y="6556248"/>
            <a:ext cx="101955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1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2026-10-10 UTC · pending-loop · 实测原始结果</a:t>
            </a:r>
          </a:p>
        </p:txBody>
      </p:sp>
      <p:sp>
        <p:nvSpPr>
          <p:cNvPr id="18" name="TEXT: 25 / 34"/>
          <p:cNvSpPr txBox="1"/>
          <p:nvPr/>
        </p:nvSpPr>
        <p:spPr>
          <a:xfrm>
            <a:off x="10954512" y="6547104"/>
            <a:ext cx="658368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25 / 34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3 / 本次真实闭环"/>
          <p:cNvSpPr txBox="1"/>
          <p:nvPr/>
        </p:nvSpPr>
        <p:spPr>
          <a:xfrm>
            <a:off x="530352" y="201168"/>
            <a:ext cx="1088136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03 / 本次真实闭环</a:t>
            </a:r>
          </a:p>
        </p:txBody>
      </p:sp>
      <p:sp>
        <p:nvSpPr>
          <p:cNvPr id="3" name="TEXT: 稳定币退款闭环：如实展示完成或转人工"/>
          <p:cNvSpPr txBox="1"/>
          <p:nvPr/>
        </p:nvSpPr>
        <p:spPr>
          <a:xfrm>
            <a:off x="521207" y="612648"/>
            <a:ext cx="11109960" cy="5394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稳定币退款闭环：如实展示完成或转人工</a:t>
            </a:r>
          </a:p>
        </p:txBody>
      </p:sp>
      <p:sp>
        <p:nvSpPr>
          <p:cNvPr id="4" name="TEXT: Decider：业务完成 · 9 次决策；GPT：业务完成 · 9 次决策。"/>
          <p:cNvSpPr txBox="1"/>
          <p:nvPr/>
        </p:nvSpPr>
        <p:spPr>
          <a:xfrm>
            <a:off x="539496" y="1225296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Decider：业务完成 · 9 次决策；GPT：业务完成 · 9 次决策。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1207" y="2383629"/>
            <a:ext cx="11119104" cy="14506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MAGE: refund-loop-final.png" descr="refund-loop-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11061"/>
            <a:ext cx="11064240" cy="139579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4617720"/>
            <a:ext cx="5358384" cy="118872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4617720"/>
            <a:ext cx="41148" cy="118872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: Strands Decider"/>
          <p:cNvSpPr txBox="1"/>
          <p:nvPr/>
        </p:nvSpPr>
        <p:spPr>
          <a:xfrm>
            <a:off x="731520" y="4782312"/>
            <a:ext cx="4992624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</a:t>
            </a:r>
          </a:p>
        </p:txBody>
      </p:sp>
      <p:sp>
        <p:nvSpPr>
          <p:cNvPr id="10" name="TEXT: 决策累计 0.90 s · 模拟事件 2 次"/>
          <p:cNvSpPr txBox="1"/>
          <p:nvPr/>
        </p:nvSpPr>
        <p:spPr>
          <a:xfrm>
            <a:off x="731520" y="5212080"/>
            <a:ext cx="4992624" cy="5029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决策累计 0.90 s · 模拟事件 2 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617720"/>
            <a:ext cx="5358384" cy="118872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4617720"/>
            <a:ext cx="41148" cy="1188720"/>
          </a:xfrm>
          <a:prstGeom prst="rect">
            <a:avLst/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GPT-6.1 Sol"/>
          <p:cNvSpPr txBox="1"/>
          <p:nvPr/>
        </p:nvSpPr>
        <p:spPr>
          <a:xfrm>
            <a:off x="6446520" y="4782312"/>
            <a:ext cx="4992624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GPT-6.1 Sol</a:t>
            </a:r>
          </a:p>
        </p:txBody>
      </p:sp>
      <p:sp>
        <p:nvSpPr>
          <p:cNvPr id="14" name="TEXT: 决策累计 10.54 s · 模拟事件 2 次"/>
          <p:cNvSpPr txBox="1"/>
          <p:nvPr/>
        </p:nvSpPr>
        <p:spPr>
          <a:xfrm>
            <a:off x="6446520" y="5212080"/>
            <a:ext cx="4992624" cy="5029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决策累计 10.54 s · 模拟事件 2 次</a:t>
            </a:r>
          </a:p>
        </p:txBody>
      </p:sp>
      <p:sp>
        <p:nvSpPr>
          <p:cNvPr id="15" name="TEXT: 两侧后续输入和调用次数可能不同，此处不能解释为固定同输入的推理速度排名。"/>
          <p:cNvSpPr txBox="1"/>
          <p:nvPr/>
        </p:nvSpPr>
        <p:spPr>
          <a:xfrm>
            <a:off x="548640" y="5971032"/>
            <a:ext cx="11064240" cy="3474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两侧后续输入和调用次数可能不同，此处不能解释为固定同输入的推理速度排名。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6473952"/>
            <a:ext cx="11073384" cy="0"/>
          </a:xfrm>
          <a:prstGeom prst="line">
            <a:avLst/>
          </a:prstGeom>
          <a:ln w="889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: 2026-10-10 UTC · refund-loop · 实测原始结果"/>
          <p:cNvSpPr txBox="1"/>
          <p:nvPr/>
        </p:nvSpPr>
        <p:spPr>
          <a:xfrm>
            <a:off x="566928" y="6556248"/>
            <a:ext cx="101955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1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2026-10-10 UTC · refund-loop · 实测原始结果</a:t>
            </a:r>
          </a:p>
        </p:txBody>
      </p:sp>
      <p:sp>
        <p:nvSpPr>
          <p:cNvPr id="18" name="TEXT: 26 / 34"/>
          <p:cNvSpPr txBox="1"/>
          <p:nvPr/>
        </p:nvSpPr>
        <p:spPr>
          <a:xfrm>
            <a:off x="10954512" y="6547104"/>
            <a:ext cx="658368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26 / 34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3 / 真实执行反馈"/>
          <p:cNvSpPr txBox="1"/>
          <p:nvPr/>
        </p:nvSpPr>
        <p:spPr>
          <a:xfrm>
            <a:off x="530352" y="201168"/>
            <a:ext cx="1088136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03 / 真实执行反馈</a:t>
            </a:r>
          </a:p>
        </p:txBody>
      </p:sp>
      <p:sp>
        <p:nvSpPr>
          <p:cNvPr id="3" name="TEXT: 闭环的停止原因，也属于演示结果"/>
          <p:cNvSpPr txBox="1"/>
          <p:nvPr/>
        </p:nvSpPr>
        <p:spPr>
          <a:xfrm>
            <a:off x="521207" y="612648"/>
            <a:ext cx="11109960" cy="5394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闭环的停止原因，也属于演示结果</a:t>
            </a:r>
          </a:p>
        </p:txBody>
      </p:sp>
      <p:sp>
        <p:nvSpPr>
          <p:cNvPr id="4" name="TEXT: 继续、等待、完成、调用失败和转人工都应可见，不能只展示成功路径。"/>
          <p:cNvSpPr txBox="1"/>
          <p:nvPr/>
        </p:nvSpPr>
        <p:spPr>
          <a:xfrm>
            <a:off x="539496" y="1225296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继续、等待、完成、调用失败和转人工都应可见，不能只展示成功路径。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47088"/>
            <a:ext cx="5358384" cy="16916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47088"/>
            <a:ext cx="41148" cy="169164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: USDC 未到账 · Decider"/>
          <p:cNvSpPr txBox="1"/>
          <p:nvPr/>
        </p:nvSpPr>
        <p:spPr>
          <a:xfrm>
            <a:off x="731520" y="2011680"/>
            <a:ext cx="4992624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USDC 未到账 · Decider</a:t>
            </a:r>
          </a:p>
        </p:txBody>
      </p:sp>
      <p:sp>
        <p:nvSpPr>
          <p:cNvPr id="8" name="TEXT: 模拟订单、对应账本与工单结案均已确认，业务闭环完成。"/>
          <p:cNvSpPr txBox="1"/>
          <p:nvPr/>
        </p:nvSpPr>
        <p:spPr>
          <a:xfrm>
            <a:off x="731520" y="2505456"/>
            <a:ext cx="4992624" cy="9418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模拟订单、对应账本与工单结案均已确认，业务闭环完成。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47088"/>
            <a:ext cx="5358384" cy="16916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847088"/>
            <a:ext cx="41148" cy="1691640"/>
          </a:xfrm>
          <a:prstGeom prst="rect">
            <a:avLst/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USDC 未到账 · GPT"/>
          <p:cNvSpPr txBox="1"/>
          <p:nvPr/>
        </p:nvSpPr>
        <p:spPr>
          <a:xfrm>
            <a:off x="6446520" y="2011680"/>
            <a:ext cx="4992624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USDC 未到账 · GPT</a:t>
            </a:r>
          </a:p>
        </p:txBody>
      </p:sp>
      <p:sp>
        <p:nvSpPr>
          <p:cNvPr id="12" name="TEXT: 模拟订单、对应账本与工单结案均已确认，业务闭环完成。"/>
          <p:cNvSpPr txBox="1"/>
          <p:nvPr/>
        </p:nvSpPr>
        <p:spPr>
          <a:xfrm>
            <a:off x="6446520" y="2505456"/>
            <a:ext cx="4992624" cy="9418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模拟订单、对应账本与工单结案均已确认，业务闭环完成。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67328"/>
            <a:ext cx="5358384" cy="16916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767328"/>
            <a:ext cx="41148" cy="169164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稳定币退款 · Decider"/>
          <p:cNvSpPr txBox="1"/>
          <p:nvPr/>
        </p:nvSpPr>
        <p:spPr>
          <a:xfrm>
            <a:off x="731520" y="3931920"/>
            <a:ext cx="4992624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稳定币退款 · Decider</a:t>
            </a:r>
          </a:p>
        </p:txBody>
      </p:sp>
      <p:sp>
        <p:nvSpPr>
          <p:cNvPr id="16" name="TEXT: 模拟订单、对应账本与工单结案均已确认，业务闭环完成。"/>
          <p:cNvSpPr txBox="1"/>
          <p:nvPr/>
        </p:nvSpPr>
        <p:spPr>
          <a:xfrm>
            <a:off x="731520" y="4425696"/>
            <a:ext cx="4992624" cy="9418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模拟订单、对应账本与工单结案均已确认，业务闭环完成。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767328"/>
            <a:ext cx="5358384" cy="16916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767328"/>
            <a:ext cx="41148" cy="1691640"/>
          </a:xfrm>
          <a:prstGeom prst="rect">
            <a:avLst/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稳定币退款 · GPT"/>
          <p:cNvSpPr txBox="1"/>
          <p:nvPr/>
        </p:nvSpPr>
        <p:spPr>
          <a:xfrm>
            <a:off x="6446520" y="3931920"/>
            <a:ext cx="4992624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稳定币退款 · GPT</a:t>
            </a:r>
          </a:p>
        </p:txBody>
      </p:sp>
      <p:sp>
        <p:nvSpPr>
          <p:cNvPr id="20" name="TEXT: 模拟订单、对应账本与工单结案均已确认，业务闭环完成。"/>
          <p:cNvSpPr txBox="1"/>
          <p:nvPr/>
        </p:nvSpPr>
        <p:spPr>
          <a:xfrm>
            <a:off x="6446520" y="4425696"/>
            <a:ext cx="4992624" cy="9418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模拟订单、对应账本与工单结案均已确认，业务闭环完成。</a:t>
            </a:r>
          </a:p>
        </p:txBody>
      </p:sp>
      <p:sp>
        <p:nvSpPr>
          <p:cNvPr id="21" name="TEXT: 前端可回看每次输入、输出、执行反馈和失败记录；继续运行追加新记录。"/>
          <p:cNvSpPr txBox="1"/>
          <p:nvPr/>
        </p:nvSpPr>
        <p:spPr>
          <a:xfrm>
            <a:off x="548640" y="5971032"/>
            <a:ext cx="11064240" cy="3474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前端可回看每次输入、输出、执行反馈和失败记录；继续运行追加新记录。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48640" y="6473952"/>
            <a:ext cx="11073384" cy="0"/>
          </a:xfrm>
          <a:prstGeom prst="line">
            <a:avLst/>
          </a:prstGeom>
          <a:ln w="889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: 当前项目实现 · crypto10 / 20261010-loop1"/>
          <p:cNvSpPr txBox="1"/>
          <p:nvPr/>
        </p:nvSpPr>
        <p:spPr>
          <a:xfrm>
            <a:off x="566928" y="6556248"/>
            <a:ext cx="101955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1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当前项目实现 · crypto10 / 20261010-loop1</a:t>
            </a:r>
          </a:p>
        </p:txBody>
      </p:sp>
      <p:sp>
        <p:nvSpPr>
          <p:cNvPr id="24" name="TEXT: 27 / 34"/>
          <p:cNvSpPr txBox="1"/>
          <p:nvPr/>
        </p:nvSpPr>
        <p:spPr>
          <a:xfrm>
            <a:off x="10954512" y="6547104"/>
            <a:ext cx="658368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27 / 34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4 / 最新真实数据"/>
          <p:cNvSpPr txBox="1"/>
          <p:nvPr/>
        </p:nvSpPr>
        <p:spPr>
          <a:xfrm>
            <a:off x="530352" y="201168"/>
            <a:ext cx="1088136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04 / 最新真实数据</a:t>
            </a:r>
          </a:p>
        </p:txBody>
      </p:sp>
      <p:sp>
        <p:nvSpPr>
          <p:cNvPr id="3" name="TEXT: 本次实测：19 组成功配对，累计耗时比 12.20×"/>
          <p:cNvSpPr txBox="1"/>
          <p:nvPr/>
        </p:nvSpPr>
        <p:spPr>
          <a:xfrm>
            <a:off x="521207" y="612648"/>
            <a:ext cx="11109960" cy="5394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本次实测：19 组成功配对，累计耗时比 12.20×</a:t>
            </a:r>
          </a:p>
        </p:txBody>
      </p:sp>
      <p:sp>
        <p:nvSpPr>
          <p:cNvPr id="4" name="TEXT: 四个初始场景，每侧尝试 20 次决策；只汇总成功且输入相同的配对。"/>
          <p:cNvSpPr txBox="1"/>
          <p:nvPr/>
        </p:nvSpPr>
        <p:spPr>
          <a:xfrm>
            <a:off x="539496" y="1225296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四个初始场景，每侧尝试 20 次决策；只汇总成功且输入相同的配对。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74519"/>
            <a:ext cx="1938528" cy="438912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初始案例"/>
          <p:cNvSpPr txBox="1"/>
          <p:nvPr/>
        </p:nvSpPr>
        <p:spPr>
          <a:xfrm>
            <a:off x="640080" y="1965960"/>
            <a:ext cx="178308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初始案例</a:t>
            </a:r>
          </a:p>
        </p:txBody>
      </p:sp>
      <p:sp>
        <p:nvSpPr>
          <p:cNvPr id="7" name="Rectangle 6"/>
          <p:cNvSpPr/>
          <p:nvPr/>
        </p:nvSpPr>
        <p:spPr>
          <a:xfrm>
            <a:off x="2514600" y="1874519"/>
            <a:ext cx="795528" cy="438912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配对"/>
          <p:cNvSpPr txBox="1"/>
          <p:nvPr/>
        </p:nvSpPr>
        <p:spPr>
          <a:xfrm>
            <a:off x="2606040" y="1965960"/>
            <a:ext cx="64008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874519"/>
            <a:ext cx="2395728" cy="438912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Decider 合计"/>
          <p:cNvSpPr txBox="1"/>
          <p:nvPr/>
        </p:nvSpPr>
        <p:spPr>
          <a:xfrm>
            <a:off x="3429000" y="1965960"/>
            <a:ext cx="2240279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 合计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1874519"/>
            <a:ext cx="2395728" cy="438912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GPT 合计"/>
          <p:cNvSpPr txBox="1"/>
          <p:nvPr/>
        </p:nvSpPr>
        <p:spPr>
          <a:xfrm>
            <a:off x="5852159" y="1965960"/>
            <a:ext cx="2240279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GPT 合计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79" y="1874519"/>
            <a:ext cx="1709928" cy="438912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D 参考一致"/>
          <p:cNvSpPr txBox="1"/>
          <p:nvPr/>
        </p:nvSpPr>
        <p:spPr>
          <a:xfrm>
            <a:off x="8275319" y="1965960"/>
            <a:ext cx="155448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 参考一致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21240" y="1874519"/>
            <a:ext cx="1664208" cy="438912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G 参考一致"/>
          <p:cNvSpPr txBox="1"/>
          <p:nvPr/>
        </p:nvSpPr>
        <p:spPr>
          <a:xfrm>
            <a:off x="10012680" y="1965960"/>
            <a:ext cx="150876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G 参考一致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368296"/>
            <a:ext cx="1938528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USDC 未到账"/>
          <p:cNvSpPr txBox="1"/>
          <p:nvPr/>
        </p:nvSpPr>
        <p:spPr>
          <a:xfrm>
            <a:off x="640080" y="2450591"/>
            <a:ext cx="178308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USDC 未到账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14600" y="2368296"/>
            <a:ext cx="795528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 5"/>
          <p:cNvSpPr txBox="1"/>
          <p:nvPr/>
        </p:nvSpPr>
        <p:spPr>
          <a:xfrm>
            <a:off x="2606040" y="2450591"/>
            <a:ext cx="64008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7560" y="2368296"/>
            <a:ext cx="2395728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458.3 ms"/>
          <p:cNvSpPr txBox="1"/>
          <p:nvPr/>
        </p:nvSpPr>
        <p:spPr>
          <a:xfrm>
            <a:off x="3429000" y="2450591"/>
            <a:ext cx="2240279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458.3 ms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720" y="2368296"/>
            <a:ext cx="2395728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: 7791.8 ms"/>
          <p:cNvSpPr txBox="1"/>
          <p:nvPr/>
        </p:nvSpPr>
        <p:spPr>
          <a:xfrm>
            <a:off x="5852159" y="2450591"/>
            <a:ext cx="2240279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7791.8 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79" y="2368296"/>
            <a:ext cx="1709928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4/5"/>
          <p:cNvSpPr txBox="1"/>
          <p:nvPr/>
        </p:nvSpPr>
        <p:spPr>
          <a:xfrm>
            <a:off x="8275319" y="2450591"/>
            <a:ext cx="155448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4/5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21240" y="2368296"/>
            <a:ext cx="1664208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5/5"/>
          <p:cNvSpPr txBox="1"/>
          <p:nvPr/>
        </p:nvSpPr>
        <p:spPr>
          <a:xfrm>
            <a:off x="10012680" y="2450591"/>
            <a:ext cx="150876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5/5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2962656"/>
            <a:ext cx="1938528" cy="56692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 USDT 少付"/>
          <p:cNvSpPr txBox="1"/>
          <p:nvPr/>
        </p:nvSpPr>
        <p:spPr>
          <a:xfrm>
            <a:off x="640080" y="3044951"/>
            <a:ext cx="178308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USDT 少付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14600" y="2962656"/>
            <a:ext cx="795528" cy="56692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: 5"/>
          <p:cNvSpPr txBox="1"/>
          <p:nvPr/>
        </p:nvSpPr>
        <p:spPr>
          <a:xfrm>
            <a:off x="2606040" y="3044951"/>
            <a:ext cx="64008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37560" y="2962656"/>
            <a:ext cx="2395728" cy="56692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: 452.5 ms"/>
          <p:cNvSpPr txBox="1"/>
          <p:nvPr/>
        </p:nvSpPr>
        <p:spPr>
          <a:xfrm>
            <a:off x="3429000" y="3044951"/>
            <a:ext cx="2240279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452.5 ms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60720" y="2962656"/>
            <a:ext cx="2395728" cy="56692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: 5469.0 ms"/>
          <p:cNvSpPr txBox="1"/>
          <p:nvPr/>
        </p:nvSpPr>
        <p:spPr>
          <a:xfrm>
            <a:off x="5852159" y="3044951"/>
            <a:ext cx="2240279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5469.0 ms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83879" y="2962656"/>
            <a:ext cx="1709928" cy="56692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: 4/5"/>
          <p:cNvSpPr txBox="1"/>
          <p:nvPr/>
        </p:nvSpPr>
        <p:spPr>
          <a:xfrm>
            <a:off x="8275319" y="3044951"/>
            <a:ext cx="155448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4/5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921240" y="2962656"/>
            <a:ext cx="1664208" cy="56692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: 5/5"/>
          <p:cNvSpPr txBox="1"/>
          <p:nvPr/>
        </p:nvSpPr>
        <p:spPr>
          <a:xfrm>
            <a:off x="10012680" y="3044951"/>
            <a:ext cx="150876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5/5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3557015"/>
            <a:ext cx="1938528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: 稳定币退款"/>
          <p:cNvSpPr txBox="1"/>
          <p:nvPr/>
        </p:nvSpPr>
        <p:spPr>
          <a:xfrm>
            <a:off x="640080" y="3639311"/>
            <a:ext cx="178308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稳定币退款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514600" y="3557015"/>
            <a:ext cx="795528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: 5"/>
          <p:cNvSpPr txBox="1"/>
          <p:nvPr/>
        </p:nvSpPr>
        <p:spPr>
          <a:xfrm>
            <a:off x="2606040" y="3639311"/>
            <a:ext cx="64008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37560" y="3557015"/>
            <a:ext cx="2395728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: 521.3 ms"/>
          <p:cNvSpPr txBox="1"/>
          <p:nvPr/>
        </p:nvSpPr>
        <p:spPr>
          <a:xfrm>
            <a:off x="3429000" y="3639311"/>
            <a:ext cx="2240279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521.3 ms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760720" y="3557015"/>
            <a:ext cx="2395728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: 4275.7 ms"/>
          <p:cNvSpPr txBox="1"/>
          <p:nvPr/>
        </p:nvSpPr>
        <p:spPr>
          <a:xfrm>
            <a:off x="5852159" y="3639311"/>
            <a:ext cx="2240279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4275.7 ms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83879" y="3557015"/>
            <a:ext cx="1709928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: 2/5"/>
          <p:cNvSpPr txBox="1"/>
          <p:nvPr/>
        </p:nvSpPr>
        <p:spPr>
          <a:xfrm>
            <a:off x="8275319" y="3639311"/>
            <a:ext cx="155448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2/5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921240" y="3557015"/>
            <a:ext cx="1664208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: 5/5"/>
          <p:cNvSpPr txBox="1"/>
          <p:nvPr/>
        </p:nvSpPr>
        <p:spPr>
          <a:xfrm>
            <a:off x="10012680" y="3639311"/>
            <a:ext cx="150876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5/5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4151376"/>
            <a:ext cx="1938528" cy="56692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: 商户结算"/>
          <p:cNvSpPr txBox="1"/>
          <p:nvPr/>
        </p:nvSpPr>
        <p:spPr>
          <a:xfrm>
            <a:off x="640080" y="4233672"/>
            <a:ext cx="178308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商户结算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514600" y="4151376"/>
            <a:ext cx="795528" cy="56692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: 4"/>
          <p:cNvSpPr txBox="1"/>
          <p:nvPr/>
        </p:nvSpPr>
        <p:spPr>
          <a:xfrm>
            <a:off x="2606040" y="4233672"/>
            <a:ext cx="64008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337560" y="4151376"/>
            <a:ext cx="2395728" cy="56692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: 377.4 ms"/>
          <p:cNvSpPr txBox="1"/>
          <p:nvPr/>
        </p:nvSpPr>
        <p:spPr>
          <a:xfrm>
            <a:off x="3429000" y="4233672"/>
            <a:ext cx="2240279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377.4 ms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760720" y="4151376"/>
            <a:ext cx="2395728" cy="56692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: 4531.6 ms"/>
          <p:cNvSpPr txBox="1"/>
          <p:nvPr/>
        </p:nvSpPr>
        <p:spPr>
          <a:xfrm>
            <a:off x="5852159" y="4233672"/>
            <a:ext cx="2240279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4531.6 ms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183879" y="4151376"/>
            <a:ext cx="1709928" cy="56692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: 3/4"/>
          <p:cNvSpPr txBox="1"/>
          <p:nvPr/>
        </p:nvSpPr>
        <p:spPr>
          <a:xfrm>
            <a:off x="8275319" y="4233672"/>
            <a:ext cx="155448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3/4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921240" y="4151376"/>
            <a:ext cx="1664208" cy="56692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: 4/4"/>
          <p:cNvSpPr txBox="1"/>
          <p:nvPr/>
        </p:nvSpPr>
        <p:spPr>
          <a:xfrm>
            <a:off x="10012680" y="4233672"/>
            <a:ext cx="150876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4/4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8640" y="4745736"/>
            <a:ext cx="1938528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: 合计"/>
          <p:cNvSpPr txBox="1"/>
          <p:nvPr/>
        </p:nvSpPr>
        <p:spPr>
          <a:xfrm>
            <a:off x="640080" y="4828031"/>
            <a:ext cx="178308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合计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514600" y="4745736"/>
            <a:ext cx="795528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: 19"/>
          <p:cNvSpPr txBox="1"/>
          <p:nvPr/>
        </p:nvSpPr>
        <p:spPr>
          <a:xfrm>
            <a:off x="2606040" y="4828031"/>
            <a:ext cx="64008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19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337560" y="4745736"/>
            <a:ext cx="2395728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: 1809.6 ms"/>
          <p:cNvSpPr txBox="1"/>
          <p:nvPr/>
        </p:nvSpPr>
        <p:spPr>
          <a:xfrm>
            <a:off x="3429000" y="4828031"/>
            <a:ext cx="2240279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1809.6 ms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760720" y="4745736"/>
            <a:ext cx="2395728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: 22068.2 ms"/>
          <p:cNvSpPr txBox="1"/>
          <p:nvPr/>
        </p:nvSpPr>
        <p:spPr>
          <a:xfrm>
            <a:off x="5852159" y="4828031"/>
            <a:ext cx="2240279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22068.2 ms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183879" y="4745736"/>
            <a:ext cx="1709928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: 13/19"/>
          <p:cNvSpPr txBox="1"/>
          <p:nvPr/>
        </p:nvSpPr>
        <p:spPr>
          <a:xfrm>
            <a:off x="8275319" y="4828031"/>
            <a:ext cx="155448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13/19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921240" y="4745736"/>
            <a:ext cx="1664208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: 19/19"/>
          <p:cNvSpPr txBox="1"/>
          <p:nvPr/>
        </p:nvSpPr>
        <p:spPr>
          <a:xfrm>
            <a:off x="10012680" y="4828031"/>
            <a:ext cx="150876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19/19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30352" y="5879592"/>
            <a:ext cx="11100815" cy="475488"/>
          </a:xfrm>
          <a:prstGeom prst="roundRect">
            <a:avLst>
              <a:gd name="adj" fmla="val 13000"/>
            </a:avLst>
          </a:prstGeom>
          <a:solidFill>
            <a:srgbClr val="FF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: Bedrock 有 1 次读取超时，单独保留错误记录；未使用回放补结果。"/>
          <p:cNvSpPr txBox="1"/>
          <p:nvPr/>
        </p:nvSpPr>
        <p:spPr>
          <a:xfrm>
            <a:off x="548640" y="5971032"/>
            <a:ext cx="11064240" cy="3474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Bedrock 有 1 次读取超时，单独保留错误记录；未使用回放补结果。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548640" y="6473952"/>
            <a:ext cx="11073384" cy="0"/>
          </a:xfrm>
          <a:prstGeom prst="line">
            <a:avLst/>
          </a:prstGeom>
          <a:ln w="889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: docs/results/benchmark-2026-10-10.json · 单次观测，不是稳定性能保证"/>
          <p:cNvSpPr txBox="1"/>
          <p:nvPr/>
        </p:nvSpPr>
        <p:spPr>
          <a:xfrm>
            <a:off x="566928" y="6556248"/>
            <a:ext cx="101955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1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docs/results/benchmark-2026-10-10.json · 单次观测，不是稳定性能保证</a:t>
            </a:r>
          </a:p>
        </p:txBody>
      </p:sp>
      <p:sp>
        <p:nvSpPr>
          <p:cNvPr id="81" name="TEXT: 28 / 34"/>
          <p:cNvSpPr txBox="1"/>
          <p:nvPr/>
        </p:nvSpPr>
        <p:spPr>
          <a:xfrm>
            <a:off x="10954512" y="6547104"/>
            <a:ext cx="658368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28 / 34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4 / 失败路径"/>
          <p:cNvSpPr txBox="1"/>
          <p:nvPr/>
        </p:nvSpPr>
        <p:spPr>
          <a:xfrm>
            <a:off x="530352" y="201168"/>
            <a:ext cx="1088136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04 / 失败路径</a:t>
            </a:r>
          </a:p>
        </p:txBody>
      </p:sp>
      <p:sp>
        <p:nvSpPr>
          <p:cNvPr id="3" name="TEXT: 普通大模型也可能失败：结果与可用性都要记录"/>
          <p:cNvSpPr txBox="1"/>
          <p:nvPr/>
        </p:nvSpPr>
        <p:spPr>
          <a:xfrm>
            <a:off x="521207" y="612648"/>
            <a:ext cx="11109960" cy="5394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普通大模型也可能失败：结果与可用性都要记录</a:t>
            </a:r>
          </a:p>
        </p:txBody>
      </p:sp>
      <p:sp>
        <p:nvSpPr>
          <p:cNvPr id="4" name="TEXT: 本次商户结算 / 业务处置：Bedrock ReadTimeoutError。"/>
          <p:cNvSpPr txBox="1"/>
          <p:nvPr/>
        </p:nvSpPr>
        <p:spPr>
          <a:xfrm>
            <a:off x="539496" y="1225296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本次商户结算 / 业务处置：Bedrock ReadTimeoutError。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349240" cy="281635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41148" cy="2816352"/>
          </a:xfrm>
          <a:prstGeom prst="rect">
            <a:avLst/>
          </a:prstGeom>
          <a:solidFill>
            <a:srgbClr val="BE7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: 观察到的事实"/>
          <p:cNvSpPr txBox="1"/>
          <p:nvPr/>
        </p:nvSpPr>
        <p:spPr>
          <a:xfrm>
            <a:off x="731520" y="2084832"/>
            <a:ext cx="4983479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观察到的事实</a:t>
            </a:r>
          </a:p>
        </p:txBody>
      </p:sp>
      <p:sp>
        <p:nvSpPr>
          <p:cNvPr id="8" name="TEXT: Bedrock 返回 4/5 个决策 业务处置请求读取超时 该侧没有执行完整沙盒方案 错误与本轮输入保留"/>
          <p:cNvSpPr txBox="1"/>
          <p:nvPr/>
        </p:nvSpPr>
        <p:spPr>
          <a:xfrm>
            <a:off x="731520" y="2679192"/>
            <a:ext cx="4983479" cy="19659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Bedrock 返回 4/5 个决策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业务处置请求读取超时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该侧没有执行完整沙盒方案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错误与本轮输入保留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920240"/>
            <a:ext cx="5349240" cy="281635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920240"/>
            <a:ext cx="41148" cy="2816352"/>
          </a:xfrm>
          <a:prstGeom prst="rect">
            <a:avLst/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比较时如何处理"/>
          <p:cNvSpPr txBox="1"/>
          <p:nvPr/>
        </p:nvSpPr>
        <p:spPr>
          <a:xfrm>
            <a:off x="6446520" y="2084832"/>
            <a:ext cx="4983479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比较时如何处理</a:t>
            </a:r>
          </a:p>
        </p:txBody>
      </p:sp>
      <p:sp>
        <p:nvSpPr>
          <p:cNvPr id="12" name="TEXT: 速度仅统计成功同输入配对 失败数量单独披露 不能把成功请求延迟当总体体验 不能用规则结果替代失败输出"/>
          <p:cNvSpPr txBox="1"/>
          <p:nvPr/>
        </p:nvSpPr>
        <p:spPr>
          <a:xfrm>
            <a:off x="6446520" y="2679192"/>
            <a:ext cx="4983479" cy="19659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速度仅统计成功同输入配对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失败数量单独披露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不能把成功请求延迟当总体体验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不能用规则结果替代失败输出</a:t>
            </a:r>
          </a:p>
        </p:txBody>
      </p:sp>
      <p:sp>
        <p:nvSpPr>
          <p:cNvPr id="13" name="TEXT: 这是单次实际故障记录，不足以推断任何模型的长期可用性。"/>
          <p:cNvSpPr txBox="1"/>
          <p:nvPr/>
        </p:nvSpPr>
        <p:spPr>
          <a:xfrm>
            <a:off x="548640" y="5971032"/>
            <a:ext cx="11064240" cy="3474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这是单次实际故障记录，不足以推断任何模型的长期可用性。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6473952"/>
            <a:ext cx="11073384" cy="0"/>
          </a:xfrm>
          <a:prstGeom prst="line">
            <a:avLst/>
          </a:prstGeom>
          <a:ln w="889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: 2026-10-10 真实采集 · settlement-fixed 导出"/>
          <p:cNvSpPr txBox="1"/>
          <p:nvPr/>
        </p:nvSpPr>
        <p:spPr>
          <a:xfrm>
            <a:off x="566928" y="6556248"/>
            <a:ext cx="101955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1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2026-10-10 真实采集 · settlement-fixed 导出</a:t>
            </a:r>
          </a:p>
        </p:txBody>
      </p:sp>
      <p:sp>
        <p:nvSpPr>
          <p:cNvPr id="16" name="TEXT: 29 / 34"/>
          <p:cNvSpPr txBox="1"/>
          <p:nvPr/>
        </p:nvSpPr>
        <p:spPr>
          <a:xfrm>
            <a:off x="10954512" y="6547104"/>
            <a:ext cx="658368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29 / 34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5 / 当前实现与边界"/>
          <p:cNvSpPr txBox="1"/>
          <p:nvPr/>
        </p:nvSpPr>
        <p:spPr>
          <a:xfrm>
            <a:off x="530352" y="201168"/>
            <a:ext cx="1088136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05 / 当前实现与边界</a:t>
            </a:r>
          </a:p>
        </p:txBody>
      </p:sp>
      <p:sp>
        <p:nvSpPr>
          <p:cNvPr id="3" name="TEXT: 原始输入输出可追溯，生产状态还需持久化"/>
          <p:cNvSpPr txBox="1"/>
          <p:nvPr/>
        </p:nvSpPr>
        <p:spPr>
          <a:xfrm>
            <a:off x="521207" y="612648"/>
            <a:ext cx="11109960" cy="5394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原始输入输出可追溯，生产状态还需持久化</a:t>
            </a:r>
          </a:p>
        </p:txBody>
      </p:sp>
      <p:sp>
        <p:nvSpPr>
          <p:cNvPr id="4" name="TEXT: 当前演示已实现受限闭环；金融生产系统还需要服务端工作流与幂等。"/>
          <p:cNvSpPr txBox="1"/>
          <p:nvPr/>
        </p:nvSpPr>
        <p:spPr>
          <a:xfrm>
            <a:off x="539496" y="1225296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当前演示已实现受限闭环；金融生产系统还需要服务端工作流与幂等。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74519"/>
            <a:ext cx="5504688" cy="438912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当前已实现"/>
          <p:cNvSpPr txBox="1"/>
          <p:nvPr/>
        </p:nvSpPr>
        <p:spPr>
          <a:xfrm>
            <a:off x="640080" y="1965960"/>
            <a:ext cx="534924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当前已实现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0759" y="1874519"/>
            <a:ext cx="5504688" cy="438912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生产化还需补齐"/>
          <p:cNvSpPr txBox="1"/>
          <p:nvPr/>
        </p:nvSpPr>
        <p:spPr>
          <a:xfrm>
            <a:off x="6172199" y="1965960"/>
            <a:ext cx="534924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生产化还需补齐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68296"/>
            <a:ext cx="5504688" cy="5760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判断 → 执行 → 反馈 → 重判 / 等待"/>
          <p:cNvSpPr txBox="1"/>
          <p:nvPr/>
        </p:nvSpPr>
        <p:spPr>
          <a:xfrm>
            <a:off x="640080" y="2450591"/>
            <a:ext cx="5349240" cy="4937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判断 → 执行 → 反馈 → 重判 / 等待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59" y="2368296"/>
            <a:ext cx="5504688" cy="5760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服务端持久化状态、可靠队列与恢复调度"/>
          <p:cNvSpPr txBox="1"/>
          <p:nvPr/>
        </p:nvSpPr>
        <p:spPr>
          <a:xfrm>
            <a:off x="6172199" y="2450591"/>
            <a:ext cx="5349240" cy="4937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服务端持久化状态、可靠队列与恢复调度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71800"/>
            <a:ext cx="5504688" cy="576072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当前运行内避免重复资金步骤"/>
          <p:cNvSpPr txBox="1"/>
          <p:nvPr/>
        </p:nvSpPr>
        <p:spPr>
          <a:xfrm>
            <a:off x="640080" y="3054096"/>
            <a:ext cx="5349240" cy="4937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当前运行内避免重复资金步骤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59" y="2971800"/>
            <a:ext cx="5504688" cy="576072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数据库级唯一约束、状态版本与条件写"/>
          <p:cNvSpPr txBox="1"/>
          <p:nvPr/>
        </p:nvSpPr>
        <p:spPr>
          <a:xfrm>
            <a:off x="6172199" y="3054096"/>
            <a:ext cx="5349240" cy="4937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数据库级唯一约束、状态版本与条件写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575304"/>
            <a:ext cx="5504688" cy="5760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逐轮输入输出、错误历史、导出"/>
          <p:cNvSpPr txBox="1"/>
          <p:nvPr/>
        </p:nvSpPr>
        <p:spPr>
          <a:xfrm>
            <a:off x="640080" y="3657600"/>
            <a:ext cx="5349240" cy="4937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逐轮输入输出、错误历史、导出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59" y="3575304"/>
            <a:ext cx="5504688" cy="5760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 持久审计、权限隔离与敏感数据治理"/>
          <p:cNvSpPr txBox="1"/>
          <p:nvPr/>
        </p:nvSpPr>
        <p:spPr>
          <a:xfrm>
            <a:off x="6172199" y="3657600"/>
            <a:ext cx="5349240" cy="4937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持久审计、权限隔离与敏感数据治理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178808"/>
            <a:ext cx="5504688" cy="576072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明确标记的模拟确认 / 补款 / 审批"/>
          <p:cNvSpPr txBox="1"/>
          <p:nvPr/>
        </p:nvSpPr>
        <p:spPr>
          <a:xfrm>
            <a:off x="640080" y="4261104"/>
            <a:ext cx="5349240" cy="4937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明确标记的模拟确认 / 补款 / 审批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0759" y="4178808"/>
            <a:ext cx="5504688" cy="576072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: 可验证的链上事件、支付账务和授权审批"/>
          <p:cNvSpPr txBox="1"/>
          <p:nvPr/>
        </p:nvSpPr>
        <p:spPr>
          <a:xfrm>
            <a:off x="6172199" y="4261104"/>
            <a:ext cx="5349240" cy="4937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可验证的链上事件、支付账务和授权审批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782312"/>
            <a:ext cx="5504688" cy="5760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预算限制、连续无进展转人工"/>
          <p:cNvSpPr txBox="1"/>
          <p:nvPr/>
        </p:nvSpPr>
        <p:spPr>
          <a:xfrm>
            <a:off x="640080" y="4864608"/>
            <a:ext cx="5349240" cy="4937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预算限制、连续无进展转人工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59" y="4782312"/>
            <a:ext cx="5504688" cy="5760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持续评测、费用预算与人工接管流程"/>
          <p:cNvSpPr txBox="1"/>
          <p:nvPr/>
        </p:nvSpPr>
        <p:spPr>
          <a:xfrm>
            <a:off x="6172199" y="4864608"/>
            <a:ext cx="5349240" cy="4937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持续评测、费用预算与人工接管流程</a:t>
            </a:r>
          </a:p>
        </p:txBody>
      </p:sp>
      <p:sp>
        <p:nvSpPr>
          <p:cNvPr id="29" name="TEXT: 自动按置信度切换到 GPT 属于后续方案；当前不会静默替换 Decider 输出。"/>
          <p:cNvSpPr txBox="1"/>
          <p:nvPr/>
        </p:nvSpPr>
        <p:spPr>
          <a:xfrm>
            <a:off x="548640" y="5971032"/>
            <a:ext cx="11064240" cy="3474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自动按置信度切换到 GPT 属于后续方案；当前不会静默替换 Decider 输出。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48640" y="6473952"/>
            <a:ext cx="11073384" cy="0"/>
          </a:xfrm>
          <a:prstGeom prst="line">
            <a:avLst/>
          </a:prstGeom>
          <a:ln w="889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: 当前项目实现 · crypto10 / 20261010-loop1"/>
          <p:cNvSpPr txBox="1"/>
          <p:nvPr/>
        </p:nvSpPr>
        <p:spPr>
          <a:xfrm>
            <a:off x="566928" y="6556248"/>
            <a:ext cx="101955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1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当前项目实现 · crypto10 / 20261010-loop1</a:t>
            </a:r>
          </a:p>
        </p:txBody>
      </p:sp>
      <p:sp>
        <p:nvSpPr>
          <p:cNvPr id="32" name="TEXT: 31 / 34"/>
          <p:cNvSpPr txBox="1"/>
          <p:nvPr/>
        </p:nvSpPr>
        <p:spPr>
          <a:xfrm>
            <a:off x="10954512" y="6547104"/>
            <a:ext cx="658368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31 / 34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5 / 操作路线"/>
          <p:cNvSpPr txBox="1"/>
          <p:nvPr/>
        </p:nvSpPr>
        <p:spPr>
          <a:xfrm>
            <a:off x="530352" y="201168"/>
            <a:ext cx="1088136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05 / 操作路线</a:t>
            </a:r>
          </a:p>
        </p:txBody>
      </p:sp>
      <p:sp>
        <p:nvSpPr>
          <p:cNvPr id="3" name="TEXT: 现场演示：先看同输入，再看执行反馈"/>
          <p:cNvSpPr txBox="1"/>
          <p:nvPr/>
        </p:nvSpPr>
        <p:spPr>
          <a:xfrm>
            <a:off x="521207" y="612648"/>
            <a:ext cx="11109960" cy="5394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现场演示：先看同输入，再看执行反馈</a:t>
            </a:r>
          </a:p>
        </p:txBody>
      </p:sp>
      <p:sp>
        <p:nvSpPr>
          <p:cNvPr id="4" name="TEXT: 演示入口：支付流程对比 → 测试方式 → 开始对比。"/>
          <p:cNvSpPr txBox="1"/>
          <p:nvPr/>
        </p:nvSpPr>
        <p:spPr>
          <a:xfrm>
            <a:off x="539496" y="1225296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演示入口：支付流程对比 → 测试方式 → 开始对比。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92807"/>
            <a:ext cx="914400" cy="274320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00:00"/>
          <p:cNvSpPr txBox="1"/>
          <p:nvPr/>
        </p:nvSpPr>
        <p:spPr>
          <a:xfrm>
            <a:off x="630936" y="1933955"/>
            <a:ext cx="841248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00:00</a:t>
            </a:r>
          </a:p>
        </p:txBody>
      </p:sp>
      <p:sp>
        <p:nvSpPr>
          <p:cNvPr id="7" name="TEXT: 检查 GPU"/>
          <p:cNvSpPr txBox="1"/>
          <p:nvPr/>
        </p:nvSpPr>
        <p:spPr>
          <a:xfrm>
            <a:off x="1783080" y="1828800"/>
            <a:ext cx="9144000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检查 GPU</a:t>
            </a:r>
          </a:p>
        </p:txBody>
      </p:sp>
      <p:sp>
        <p:nvSpPr>
          <p:cNvPr id="8" name="TEXT: 顶部公共入口；未就绪会弹窗，等就绪后返回运行。"/>
          <p:cNvSpPr txBox="1"/>
          <p:nvPr/>
        </p:nvSpPr>
        <p:spPr>
          <a:xfrm>
            <a:off x="1783080" y="2194560"/>
            <a:ext cx="9509760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顶部公共入口；未就绪会弹窗，等就绪后返回运行。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651760"/>
            <a:ext cx="914400" cy="274320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00:45"/>
          <p:cNvSpPr txBox="1"/>
          <p:nvPr/>
        </p:nvSpPr>
        <p:spPr>
          <a:xfrm>
            <a:off x="630936" y="2692908"/>
            <a:ext cx="841248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00:45</a:t>
            </a:r>
          </a:p>
        </p:txBody>
      </p:sp>
      <p:sp>
        <p:nvSpPr>
          <p:cNvPr id="11" name="TEXT: 固定流程对比"/>
          <p:cNvSpPr txBox="1"/>
          <p:nvPr/>
        </p:nvSpPr>
        <p:spPr>
          <a:xfrm>
            <a:off x="1783080" y="2587752"/>
            <a:ext cx="9144000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固定流程对比</a:t>
            </a:r>
          </a:p>
        </p:txBody>
      </p:sp>
      <p:sp>
        <p:nvSpPr>
          <p:cNvPr id="12" name="TEXT: 看每轮输入与两模型输出，再看实际动作和业务是否完成。"/>
          <p:cNvSpPr txBox="1"/>
          <p:nvPr/>
        </p:nvSpPr>
        <p:spPr>
          <a:xfrm>
            <a:off x="1783080" y="2953512"/>
            <a:ext cx="9509760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看每轮输入与两模型输出，再看实际动作和业务是否完成。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410712"/>
            <a:ext cx="914400" cy="274320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02:00"/>
          <p:cNvSpPr txBox="1"/>
          <p:nvPr/>
        </p:nvSpPr>
        <p:spPr>
          <a:xfrm>
            <a:off x="630936" y="3451860"/>
            <a:ext cx="841248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02:00</a:t>
            </a:r>
          </a:p>
        </p:txBody>
      </p:sp>
      <p:sp>
        <p:nvSpPr>
          <p:cNvPr id="15" name="TEXT: 切换自主闭环"/>
          <p:cNvSpPr txBox="1"/>
          <p:nvPr/>
        </p:nvSpPr>
        <p:spPr>
          <a:xfrm>
            <a:off x="1783080" y="3346704"/>
            <a:ext cx="9144000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切换自主闭环</a:t>
            </a:r>
          </a:p>
        </p:txBody>
      </p:sp>
      <p:sp>
        <p:nvSpPr>
          <p:cNvPr id="16" name="TEXT: 开启自动模拟证据；逐轮观察反馈、事件、重判与耗时。"/>
          <p:cNvSpPr txBox="1"/>
          <p:nvPr/>
        </p:nvSpPr>
        <p:spPr>
          <a:xfrm>
            <a:off x="1783080" y="3712464"/>
            <a:ext cx="9509760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开启自动模拟证据；逐轮观察反馈、事件、重判与耗时。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169664"/>
            <a:ext cx="914400" cy="274320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03:30"/>
          <p:cNvSpPr txBox="1"/>
          <p:nvPr/>
        </p:nvSpPr>
        <p:spPr>
          <a:xfrm>
            <a:off x="630936" y="4210812"/>
            <a:ext cx="841248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03:30</a:t>
            </a:r>
          </a:p>
        </p:txBody>
      </p:sp>
      <p:sp>
        <p:nvSpPr>
          <p:cNvPr id="19" name="TEXT: 解释分歧与停止"/>
          <p:cNvSpPr txBox="1"/>
          <p:nvPr/>
        </p:nvSpPr>
        <p:spPr>
          <a:xfrm>
            <a:off x="1783080" y="4105656"/>
            <a:ext cx="9144000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解释分歧与停止</a:t>
            </a:r>
          </a:p>
        </p:txBody>
      </p:sp>
      <p:sp>
        <p:nvSpPr>
          <p:cNvPr id="20" name="TEXT: 完成、等待或转人工均保留；不要只用 5/5 判断成功。"/>
          <p:cNvSpPr txBox="1"/>
          <p:nvPr/>
        </p:nvSpPr>
        <p:spPr>
          <a:xfrm>
            <a:off x="1783080" y="4471416"/>
            <a:ext cx="9509760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完成、等待或转人工均保留；不要只用 5/5 判断成功。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928616"/>
            <a:ext cx="914400" cy="274320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04:30"/>
          <p:cNvSpPr txBox="1"/>
          <p:nvPr/>
        </p:nvSpPr>
        <p:spPr>
          <a:xfrm>
            <a:off x="630936" y="4969764"/>
            <a:ext cx="841248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04:30</a:t>
            </a:r>
          </a:p>
        </p:txBody>
      </p:sp>
      <p:sp>
        <p:nvSpPr>
          <p:cNvPr id="23" name="TEXT: 回看历史并导出"/>
          <p:cNvSpPr txBox="1"/>
          <p:nvPr/>
        </p:nvSpPr>
        <p:spPr>
          <a:xfrm>
            <a:off x="1783080" y="4864608"/>
            <a:ext cx="9144000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回看历史并导出</a:t>
            </a:r>
          </a:p>
        </p:txBody>
      </p:sp>
      <p:sp>
        <p:nvSpPr>
          <p:cNvPr id="24" name="TEXT: 切换对比记录，展开原始请求与返回，保存 JSON。"/>
          <p:cNvSpPr txBox="1"/>
          <p:nvPr/>
        </p:nvSpPr>
        <p:spPr>
          <a:xfrm>
            <a:off x="1783080" y="5230368"/>
            <a:ext cx="9509760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切换对比记录，展开原始请求与返回，保存 JSON。</a:t>
            </a:r>
          </a:p>
        </p:txBody>
      </p:sp>
      <p:sp>
        <p:nvSpPr>
          <p:cNvPr id="25" name="TEXT: https://d3i7ogfx5ml7dc.cloudfront.net/#crypto"/>
          <p:cNvSpPr txBox="1"/>
          <p:nvPr/>
        </p:nvSpPr>
        <p:spPr>
          <a:xfrm>
            <a:off x="548640" y="5971032"/>
            <a:ext cx="11064240" cy="3474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https://d3i7ogfx5ml7dc.cloudfront.net/#crypto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40" y="6473952"/>
            <a:ext cx="11073384" cy="0"/>
          </a:xfrm>
          <a:prstGeom prst="line">
            <a:avLst/>
          </a:prstGeom>
          <a:ln w="889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: 当前项目实现 · crypto10 / 20261010-loop1"/>
          <p:cNvSpPr txBox="1"/>
          <p:nvPr/>
        </p:nvSpPr>
        <p:spPr>
          <a:xfrm>
            <a:off x="566928" y="6556248"/>
            <a:ext cx="101955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1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当前项目实现 · crypto10 / 20261010-loop1</a:t>
            </a:r>
          </a:p>
        </p:txBody>
      </p:sp>
      <p:sp>
        <p:nvSpPr>
          <p:cNvPr id="28" name="TEXT: 32 / 34"/>
          <p:cNvSpPr txBox="1"/>
          <p:nvPr/>
        </p:nvSpPr>
        <p:spPr>
          <a:xfrm>
            <a:off x="10954512" y="6547104"/>
            <a:ext cx="658368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32 / 34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05 / 结论"/>
          <p:cNvSpPr txBox="1"/>
          <p:nvPr/>
        </p:nvSpPr>
        <p:spPr>
          <a:xfrm>
            <a:off x="530352" y="201168"/>
            <a:ext cx="1088136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05 / 结论</a:t>
            </a:r>
          </a:p>
        </p:txBody>
      </p:sp>
      <p:sp>
        <p:nvSpPr>
          <p:cNvPr id="3" name="TEXT: 结论：快的决策，需要可观察、可约束的执行"/>
          <p:cNvSpPr txBox="1"/>
          <p:nvPr/>
        </p:nvSpPr>
        <p:spPr>
          <a:xfrm>
            <a:off x="521207" y="612648"/>
            <a:ext cx="11109960" cy="5394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结论：快的决策，需要可观察、可约束的执行</a:t>
            </a:r>
          </a:p>
        </p:txBody>
      </p:sp>
      <p:sp>
        <p:nvSpPr>
          <p:cNvPr id="4" name="TEXT: Decider 适合高频有限候选判断；能否完成业务，要看实际状态和反馈。"/>
          <p:cNvSpPr txBox="1"/>
          <p:nvPr/>
        </p:nvSpPr>
        <p:spPr>
          <a:xfrm>
            <a:off x="539496" y="1225296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Decider 适合高频有限候选判断；能否完成业务，要看实际状态和反馈。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47672"/>
            <a:ext cx="3529584" cy="31546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47672"/>
            <a:ext cx="41148" cy="315468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: 模型层"/>
          <p:cNvSpPr txBox="1"/>
          <p:nvPr/>
        </p:nvSpPr>
        <p:spPr>
          <a:xfrm>
            <a:off x="731520" y="2112264"/>
            <a:ext cx="3163824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模型层</a:t>
            </a:r>
          </a:p>
        </p:txBody>
      </p:sp>
      <p:sp>
        <p:nvSpPr>
          <p:cNvPr id="8" name="TEXT: 候选与条件来自应用 Decider 直接评分，GPT 生成 JSON BERT 固定分类头有不同适配方式"/>
          <p:cNvSpPr txBox="1"/>
          <p:nvPr/>
        </p:nvSpPr>
        <p:spPr>
          <a:xfrm>
            <a:off x="731520" y="2706624"/>
            <a:ext cx="3163824" cy="23042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候选与条件来自应用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Decider 直接评分，GPT 生成 JSON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BERT 固定分类头有不同适配方式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1947672"/>
            <a:ext cx="3529584" cy="31546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25112" y="1947672"/>
            <a:ext cx="41148" cy="3154680"/>
          </a:xfrm>
          <a:prstGeom prst="rect">
            <a:avLst/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执行层"/>
          <p:cNvSpPr txBox="1"/>
          <p:nvPr/>
        </p:nvSpPr>
        <p:spPr>
          <a:xfrm>
            <a:off x="4507992" y="2112264"/>
            <a:ext cx="3163824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执行层</a:t>
            </a:r>
          </a:p>
        </p:txBody>
      </p:sp>
      <p:sp>
        <p:nvSpPr>
          <p:cNvPr id="12" name="TEXT: 原始选择与实际动作分开 业务完成用订单、账本、结案判定 反馈闭环可改进，也可能转人工"/>
          <p:cNvSpPr txBox="1"/>
          <p:nvPr/>
        </p:nvSpPr>
        <p:spPr>
          <a:xfrm>
            <a:off x="4507992" y="2706624"/>
            <a:ext cx="3163824" cy="23042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原始选择与实际动作分开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业务完成用订单、账本、结案判定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反馈闭环可改进，也可能转人工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947672"/>
            <a:ext cx="3529584" cy="31546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1583" y="1947672"/>
            <a:ext cx="41148" cy="3154680"/>
          </a:xfrm>
          <a:prstGeom prst="rect">
            <a:avLst/>
          </a:prstGeom>
          <a:solidFill>
            <a:srgbClr val="BE7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评测层"/>
          <p:cNvSpPr txBox="1"/>
          <p:nvPr/>
        </p:nvSpPr>
        <p:spPr>
          <a:xfrm>
            <a:off x="8284463" y="2112264"/>
            <a:ext cx="3163824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评测层</a:t>
            </a:r>
          </a:p>
        </p:txBody>
      </p:sp>
      <p:sp>
        <p:nvSpPr>
          <p:cNvPr id="16" name="TEXT: 同输入统计与闭环统计分开 成功延迟与调用失败同时披露 用真实业务分布继续验证"/>
          <p:cNvSpPr txBox="1"/>
          <p:nvPr/>
        </p:nvSpPr>
        <p:spPr>
          <a:xfrm>
            <a:off x="8284463" y="2706624"/>
            <a:ext cx="3163824" cy="23042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同输入统计与闭环统计分开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成功延迟与调用失败同时披露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用真实业务分布继续验证</a:t>
            </a:r>
          </a:p>
        </p:txBody>
      </p:sp>
      <p:sp>
        <p:nvSpPr>
          <p:cNvPr id="17" name="TEXT: 推荐组合：代码做确定性校验，模型做语义选择，高影响操作由明确权限与人工流程控制。"/>
          <p:cNvSpPr txBox="1"/>
          <p:nvPr/>
        </p:nvSpPr>
        <p:spPr>
          <a:xfrm>
            <a:off x="548640" y="5971032"/>
            <a:ext cx="11064240" cy="3474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推荐组合：代码做确定性校验，模型做语义选择，高影响操作由明确权限与人工流程控制。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473952"/>
            <a:ext cx="11073384" cy="0"/>
          </a:xfrm>
          <a:prstGeom prst="line">
            <a:avLst/>
          </a:prstGeom>
          <a:ln w="889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: 当前项目实现 · crypto10 / 20261010-loop1"/>
          <p:cNvSpPr txBox="1"/>
          <p:nvPr/>
        </p:nvSpPr>
        <p:spPr>
          <a:xfrm>
            <a:off x="566928" y="6556248"/>
            <a:ext cx="101955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1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当前项目实现 · crypto10 / 20261010-loop1</a:t>
            </a:r>
          </a:p>
        </p:txBody>
      </p:sp>
      <p:sp>
        <p:nvSpPr>
          <p:cNvPr id="20" name="TEXT: 33 / 34"/>
          <p:cNvSpPr txBox="1"/>
          <p:nvPr/>
        </p:nvSpPr>
        <p:spPr>
          <a:xfrm>
            <a:off x="10954512" y="6547104"/>
            <a:ext cx="658368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33 / 34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附录 / 复核"/>
          <p:cNvSpPr txBox="1"/>
          <p:nvPr/>
        </p:nvSpPr>
        <p:spPr>
          <a:xfrm>
            <a:off x="530352" y="201168"/>
            <a:ext cx="1088136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附录 / 复核</a:t>
            </a:r>
          </a:p>
        </p:txBody>
      </p:sp>
      <p:sp>
        <p:nvSpPr>
          <p:cNvPr id="3" name="TEXT: 资料来源、截图与本次数据"/>
          <p:cNvSpPr txBox="1"/>
          <p:nvPr/>
        </p:nvSpPr>
        <p:spPr>
          <a:xfrm>
            <a:off x="521207" y="612648"/>
            <a:ext cx="11109960" cy="5394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资料来源、截图与本次数据</a:t>
            </a:r>
          </a:p>
        </p:txBody>
      </p:sp>
      <p:sp>
        <p:nvSpPr>
          <p:cNvPr id="4" name="TEXT: 原版文件不覆盖；所有新版截图来自当前生产界面，数据来源与采集时间保留。"/>
          <p:cNvSpPr txBox="1"/>
          <p:nvPr/>
        </p:nvSpPr>
        <p:spPr>
          <a:xfrm>
            <a:off x="539496" y="1225296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原版文件不覆盖；所有新版截图来自当前生产界面，数据来源与采集时间保留。</a:t>
            </a:r>
          </a:p>
        </p:txBody>
      </p:sp>
      <p:sp>
        <p:nvSpPr>
          <p:cNvPr id="5" name="TEXT: Strands 官方博客 / v19 模型卡"/>
          <p:cNvSpPr txBox="1"/>
          <p:nvPr/>
        </p:nvSpPr>
        <p:spPr>
          <a:xfrm>
            <a:off x="585216" y="1810512"/>
            <a:ext cx="1088136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官方博客 / v19 模型卡</a:t>
            </a:r>
          </a:p>
        </p:txBody>
      </p:sp>
      <p:sp>
        <p:nvSpPr>
          <p:cNvPr id="6" name="TEXT: 模型目的、Pointer Head、问题类型与限制"/>
          <p:cNvSpPr txBox="1"/>
          <p:nvPr/>
        </p:nvSpPr>
        <p:spPr>
          <a:xfrm>
            <a:off x="585216" y="2139696"/>
            <a:ext cx="1088136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模型目的、Pointer Head、问题类型与限制</a:t>
            </a:r>
          </a:p>
        </p:txBody>
      </p:sp>
      <p:sp>
        <p:nvSpPr>
          <p:cNvPr id="7" name="TEXT: https://strandsagents.com/blog/introducing-strands-decider/"/>
          <p:cNvSpPr txBox="1"/>
          <p:nvPr/>
        </p:nvSpPr>
        <p:spPr>
          <a:xfrm>
            <a:off x="585216" y="2414016"/>
            <a:ext cx="10881360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19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  <a:hlinkClick r:id="rId3"/>
              </a:rPr>
              <a:t>https://strandsagents.com/blog/introducing-strands-decider/</a:t>
            </a:r>
          </a:p>
        </p:txBody>
      </p:sp>
      <p:sp>
        <p:nvSpPr>
          <p:cNvPr id="8" name="TEXT: Decider 锁定源码"/>
          <p:cNvSpPr txBox="1"/>
          <p:nvPr/>
        </p:nvSpPr>
        <p:spPr>
          <a:xfrm>
            <a:off x="585216" y="2670048"/>
            <a:ext cx="1088136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Decider 锁定源码</a:t>
            </a:r>
          </a:p>
        </p:txBody>
      </p:sp>
      <p:sp>
        <p:nvSpPr>
          <p:cNvPr id="9" name="TEXT: 判断计算、confidence 与实际请求协议"/>
          <p:cNvSpPr txBox="1"/>
          <p:nvPr/>
        </p:nvSpPr>
        <p:spPr>
          <a:xfrm>
            <a:off x="585216" y="2999232"/>
            <a:ext cx="1088136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判断计算、confidence 与实际请求协议</a:t>
            </a:r>
          </a:p>
        </p:txBody>
      </p:sp>
      <p:sp>
        <p:nvSpPr>
          <p:cNvPr id="10" name="TEXT: https://github.com/strands-labs/strands-decider/tree/63d24ae286e5"/>
          <p:cNvSpPr txBox="1"/>
          <p:nvPr/>
        </p:nvSpPr>
        <p:spPr>
          <a:xfrm>
            <a:off x="585216" y="3273552"/>
            <a:ext cx="10881360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19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  <a:hlinkClick r:id="rId4"/>
              </a:rPr>
              <a:t>https://github.com/strands-labs/strands-decider/tree/63d24ae286e50105fba0bd1db15b0e243aea4650/src/strands_decider</a:t>
            </a:r>
          </a:p>
        </p:txBody>
      </p:sp>
      <p:sp>
        <p:nvSpPr>
          <p:cNvPr id="11" name="TEXT: BERT 论文与分类器"/>
          <p:cNvSpPr txBox="1"/>
          <p:nvPr/>
        </p:nvSpPr>
        <p:spPr>
          <a:xfrm>
            <a:off x="585216" y="3529584"/>
            <a:ext cx="1088136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BERT 论文与分类器</a:t>
            </a:r>
          </a:p>
        </p:txBody>
      </p:sp>
      <p:sp>
        <p:nvSpPr>
          <p:cNvPr id="12" name="TEXT: BERT 对比未进行性能实测"/>
          <p:cNvSpPr txBox="1"/>
          <p:nvPr/>
        </p:nvSpPr>
        <p:spPr>
          <a:xfrm>
            <a:off x="585216" y="3858768"/>
            <a:ext cx="1088136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BERT 对比未进行性能实测</a:t>
            </a:r>
          </a:p>
        </p:txBody>
      </p:sp>
      <p:sp>
        <p:nvSpPr>
          <p:cNvPr id="13" name="TEXT: https://aclanthology.org/N19-1423/"/>
          <p:cNvSpPr txBox="1"/>
          <p:nvPr/>
        </p:nvSpPr>
        <p:spPr>
          <a:xfrm>
            <a:off x="585216" y="4133087"/>
            <a:ext cx="10881360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19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  <a:hlinkClick r:id="rId5"/>
              </a:rPr>
              <a:t>https://aclanthology.org/N19-1423/</a:t>
            </a:r>
          </a:p>
        </p:txBody>
      </p:sp>
      <p:sp>
        <p:nvSpPr>
          <p:cNvPr id="14" name="TEXT: 项目与在线演示"/>
          <p:cNvSpPr txBox="1"/>
          <p:nvPr/>
        </p:nvSpPr>
        <p:spPr>
          <a:xfrm>
            <a:off x="585216" y="4389120"/>
            <a:ext cx="1088136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项目与在线演示</a:t>
            </a:r>
          </a:p>
        </p:txBody>
      </p:sp>
      <p:sp>
        <p:nvSpPr>
          <p:cNvPr id="15" name="TEXT: 代码、架构、闭环实现及用户操作"/>
          <p:cNvSpPr txBox="1"/>
          <p:nvPr/>
        </p:nvSpPr>
        <p:spPr>
          <a:xfrm>
            <a:off x="585216" y="4718304"/>
            <a:ext cx="1088136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代码、架构、闭环实现及用户操作</a:t>
            </a:r>
          </a:p>
        </p:txBody>
      </p:sp>
      <p:sp>
        <p:nvSpPr>
          <p:cNvPr id="16" name="TEXT: https://github.com/milan9527/StrandsDecider"/>
          <p:cNvSpPr txBox="1"/>
          <p:nvPr/>
        </p:nvSpPr>
        <p:spPr>
          <a:xfrm>
            <a:off x="585216" y="4992624"/>
            <a:ext cx="10881360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19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  <a:hlinkClick r:id="rId6"/>
              </a:rPr>
              <a:t>https://github.com/milan9527/StrandsDecider</a:t>
            </a:r>
          </a:p>
        </p:txBody>
      </p:sp>
      <p:sp>
        <p:nvSpPr>
          <p:cNvPr id="17" name="TEXT: 本次证据"/>
          <p:cNvSpPr txBox="1"/>
          <p:nvPr/>
        </p:nvSpPr>
        <p:spPr>
          <a:xfrm>
            <a:off x="585216" y="5248656"/>
            <a:ext cx="1088136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本次证据</a:t>
            </a:r>
          </a:p>
        </p:txBody>
      </p:sp>
      <p:sp>
        <p:nvSpPr>
          <p:cNvPr id="18" name="TEXT: benchmark-2026-10-10.json / loop-observations.json / capture-mani"/>
          <p:cNvSpPr txBox="1"/>
          <p:nvPr/>
        </p:nvSpPr>
        <p:spPr>
          <a:xfrm>
            <a:off x="585216" y="5577840"/>
            <a:ext cx="1088136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benchmark-2026-10-10.json / loop-observations.json / capture-manifest.json</a:t>
            </a:r>
          </a:p>
        </p:txBody>
      </p:sp>
      <p:sp>
        <p:nvSpPr>
          <p:cNvPr id="19" name="TEXT: https://github.com/milan9527/StrandsDecider/tree/main/docs/presen"/>
          <p:cNvSpPr txBox="1"/>
          <p:nvPr/>
        </p:nvSpPr>
        <p:spPr>
          <a:xfrm>
            <a:off x="585216" y="5852160"/>
            <a:ext cx="10881360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19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  <a:hlinkClick r:id="rId7"/>
              </a:rPr>
              <a:t>https://github.com/milan9527/StrandsDecider/tree/main/docs/presentations/v2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6473952"/>
            <a:ext cx="11073384" cy="0"/>
          </a:xfrm>
          <a:prstGeom prst="line">
            <a:avLst/>
          </a:prstGeom>
          <a:ln w="889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: 当前项目实现 · crypto10 / 20261010-loop1"/>
          <p:cNvSpPr txBox="1"/>
          <p:nvPr/>
        </p:nvSpPr>
        <p:spPr>
          <a:xfrm>
            <a:off x="566928" y="6556248"/>
            <a:ext cx="101955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1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当前项目实现 · crypto10 / 20261010-loop1</a:t>
            </a:r>
          </a:p>
        </p:txBody>
      </p:sp>
      <p:sp>
        <p:nvSpPr>
          <p:cNvPr id="22" name="TEXT: 34 / 34"/>
          <p:cNvSpPr txBox="1"/>
          <p:nvPr/>
        </p:nvSpPr>
        <p:spPr>
          <a:xfrm>
            <a:off x="10954512" y="6547104"/>
            <a:ext cx="658368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34 / 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Strands Decider 模型原理与支付业务演示 · v2 · 2026-10-10</dc:title>
  <dc:subject>crypto10；真实逐轮输入输出、执行反馈闭环、模型区别与业务完成</dc:subject>
  <dc:creator>Strands Decider Demo</dc:creator>
  <cp:keywords>Strands Decider, AWS, SageMaker, Bedrock, 加密支付, 真实模型对比</cp:keywords>
  <dc:description>Based on the original 25-slide presentation. Fresh production screenshots; failed requests disclosed. BERT comparison is conceptual.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