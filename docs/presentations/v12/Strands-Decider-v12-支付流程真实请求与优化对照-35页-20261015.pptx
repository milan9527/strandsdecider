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92" r:id="rId38"/>
    <p:sldId id="293" r:id="rId37"/>
    <p:sldId id="294" r:id="rId36"/>
    <p:sldId id="295" r:id="rId35"/>
    <p:sldId id="296" r:id="rId44"/>
    <p:sldId id="297" r:id="rId4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88" r:id="rId40"/>
    <p:sldId id="277" r:id="rId29"/>
    <p:sldId id="278" r:id="rId30"/>
    <p:sldId id="279" r:id="rId31"/>
    <p:sldId id="280" r:id="rId32"/>
    <p:sldId id="281" r:id="rId33"/>
    <p:sldId id="282" r:id="rId34"/>
    <p:sldId id="289" r:id="rId41"/>
    <p:sldId id="290" r:id="rId42"/>
    <p:sldId id="291" r:id="rId43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36.xml"/><Relationship Id="rId36" Type="http://schemas.openxmlformats.org/officeDocument/2006/relationships/slide" Target="slides/slide35.xml"/><Relationship Id="rId37" Type="http://schemas.openxmlformats.org/officeDocument/2006/relationships/slide" Target="slides/slide34.xml"/><Relationship Id="rId38" Type="http://schemas.openxmlformats.org/officeDocument/2006/relationships/slide" Target="slides/slide33.xml"/><Relationship Id="rId39" Type="http://schemas.openxmlformats.org/officeDocument/2006/relationships/slide" Target="slides/slide32.xml"/><Relationship Id="rId40" Type="http://schemas.openxmlformats.org/officeDocument/2006/relationships/slide" Target="slides/slide21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基于v9的52页重排为32页。合并机制、支付重复截图、路由解释、优化和选型结论；新增场景验证与RI。</a:t>
            </a:r>
          </a:p>
          <a:p>
            <a:r>
              <a:t>原页底说明（仅保留于讲稿）：</a:t>
            </a:r>
          </a:p>
          <a:p>
            <a:r>
              <a:t>v12 · 2026-10-15  |  实验来自保存的真实请求；价格按当日 AWS / Jev 公开口径。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合并原适用场景和评估边界。选择的语义正确性、执行完成状态、耗时费用分别记录。</a:t>
            </a:r>
          </a:p>
          <a:p>
            <a:r>
              <a:t>原页底说明（仅保留于讲稿）：</a:t>
            </a:r>
          </a:p>
          <a:p>
            <a:r>
              <a:t>适用前提：可定义候选、可取得事实、可验证执行结果。开放式写作仍需要生成模型。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输入按官方模板编码，模型得到隐藏表示，Pointer Head比较候选与答案位置后评分，用校准参数转成输出。去除LM Head的生成路径；约1M参数的头不等于整个模型只有1M。</a:t>
            </a:r>
          </a:p>
          <a:p>
            <a:r>
              <a:t>https://strandsagents.com/blog/introducing-strands-decider/</a:t>
            </a:r>
          </a:p>
          <a:p>
            <a:r>
              <a:t>原页底说明（仅保留于讲稿）：</a:t>
            </a:r>
          </a:p>
          <a:p>
            <a:r>
              <a:t>来源：Strands 官方介绍与 v19 实现。API 的 probability / confidence 不是业务正确率。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固定标签分类头适合标签稳定、有领域标注的数据。新增类别通常需调整分类头和训练。Decider接受请求中的动态候选；Jev提供托管决策接口，内部结构未公开，不能推断与Decider相同。GPT按应用要求生成候选ID，即便输出短仍使用生成式推理路径。</a:t>
            </a:r>
          </a:p>
          <a:p>
            <a:r>
              <a:t>原页底说明（仅保留于讲稿）：</a:t>
            </a:r>
          </a:p>
          <a:p>
            <a:r>
              <a:t>BERT 的 NLI 用法也可比较文本候选；此处比较典型分类头，没有进行 BERT 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合并原三页榜单介绍。综合分基于能力、校准、速度、成本四轴的调和平均与低分惩罚，不是简单准确率。这里无Strands v19和GPT-6.1 Sol同口径条目，不插入自测排名。</a:t>
            </a:r>
          </a:p>
          <a:p>
            <a:r>
              <a:t>原始快照：docs/presentations/v8/sources/jevbench-api-20261012.json</a:t>
            </a:r>
          </a:p>
          <a:p>
            <a:r>
              <a:t>评测链接：https://benchmarkheaven.com/jev-models/api</a:t>
            </a:r>
          </a:p>
          <a:p>
            <a:r>
              <a:t>原页底说明（仅保留于讲稿）：</a:t>
            </a:r>
          </a:p>
          <a:p>
            <a:r>
              <a:t>榜单 v1.7.46 快照：2026-10-12。第三方公布结果，本项目未重跑，也不是 AWS 官方评分。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前后端分离，无Cognito，S3 Block Public Access。后端直接连接模型与DynamoDB。图中Lambda是Jev实际调用路径；没有额外画服务runtime或VPC endpoint节点。</a:t>
            </a:r>
          </a:p>
          <a:p>
            <a:r>
              <a:t>原页底说明（仅保留于讲稿）：</a:t>
            </a:r>
          </a:p>
          <a:p>
            <a:r>
              <a:t>主演示使用原版 Decider g6.xlarge 常驻服务；独立 vLLM API 见第 28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原页底说明（仅保留于讲稿）：</a:t>
            </a:r>
          </a:p>
          <a:p>
            <a:r>
              <a:t>模型建议、实际执行动作、对话输入输出和最终业务结果分别记录。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闭环来自v8保留的v7 pending记录，不将其耗时加入本页支付预热批次。模拟确认3→12，重新核验，入账129USDC并关闭工单；Decider首次选择偏差保留。</a:t>
            </a:r>
          </a:p>
          <a:p>
            <a:r>
              <a:t>原页底说明（仅保留于讲稿）：</a:t>
            </a:r>
          </a:p>
          <a:p>
            <a:r>
              <a:t>保存的闭环批次：各模型 6 次决策 + 1 次模拟推进；不是链上真实资金交易。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原页底说明（仅保留于讲稿）：</a:t>
            </a:r>
          </a:p>
          <a:p>
            <a:r>
              <a:t>区域目录快照 124 项；文本流程 22 个候选，向量流程 3 个候选。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原页底说明（仅保留于讲稿）：</a:t>
            </a:r>
          </a:p>
          <a:p>
            <a:r>
              <a:t>2026-10-13 · 四任务各测一次；型号选择差异不能直接当作下游任务准确率。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MIRACL中文分项English4.18/Multilingual60.65，均值30.65/59.23。代码Coding分项Sonnet5.5=91.37，Opus5=81.45。索引选择与多语言证据不符，但不能据四任务推出通用排名。</a:t>
            </a:r>
          </a:p>
          <a:p>
            <a:r>
              <a:t>原页底说明（仅保留于讲稿）：</a:t>
            </a:r>
          </a:p>
          <a:p>
            <a:r>
              <a:t>输入提供均值、型号名与配置信息；下方中文分项用于事后诊断，当时未逐项提供给模型。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原页底说明（仅保留于讲稿）：</a:t>
            </a:r>
          </a:p>
          <a:p>
            <a:r>
              <a:t>问题数、任务数与请求数不同，不计算跨场景总准确率；来源：validation/README.md。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证据：validation/jev_skills/scenario_summary.json。Decider queued任务尚无产物却finish，测试替换成assert True仍通过，缺发票地址时选一般咨询地址。一个评分1.4936与参考2相差0.5064，刚超容差；不能与错误放行等量解释。客户端RTT中位数Decider164.6ms/Jev119.9ms；P95911.1/163.8ms。没有正式预热阶段，Decider首次六问题请求13.511秒原样保留，具体原因未确定。</a:t>
            </a:r>
          </a:p>
          <a:p>
            <a:r>
              <a:t>原页底说明（仅保留于讲稿）：</a:t>
            </a:r>
          </a:p>
          <a:p>
            <a:r>
              <a:t>参考在调用前冻结；按业务用途事后归类。量表采用固定 ±0.5 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使用scored-summary修订后结果：CFPB官方页面为60 calendar days，原匹配60 days漏判。根据保存页面将Jev8/10更正10/10，无模型重跑；修订与原记录均保留。</a:t>
            </a:r>
          </a:p>
          <a:p>
            <a:r>
              <a:t>原页底说明（仅保留于讲稿）：</a:t>
            </a:r>
          </a:p>
          <a:p>
            <a:r>
              <a:t>每任务最多 12 步、150 秒；截图留证但不作为视觉输入。五任务各独立运行两次。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Decider第二轮2步，在BankFind入口结束；Jev第二轮6步返回机构结果，Cert628。Jev第一轮10步，包含重复操作；完成率高不代表路径最优。</a:t>
            </a:r>
          </a:p>
          <a:p>
            <a:r>
              <a:t>原页底说明（仅保留于讲稿）：</a:t>
            </a:r>
          </a:p>
          <a:p>
            <a:r>
              <a:t>原始页面截图仅裁切可读区域，完整图片与每步 URL / DOM / 动作保存在 validation/browser_finance。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新闻人工标签，其他业务输入由测试构造，无真实客户资金。财报正确收入FY2025=281724百万美元，FY2024=245122百万美元；Decider误认年份/单位。给定1EUR=1.1181USD，历史报表10000EUR=11181USD，Decider混为真实付款要求可执行报价。同一人、同一家受保银行、同一所有权类别合并300000美元，250000受保50000超限；两者均误判。</a:t>
            </a:r>
          </a:p>
          <a:p>
            <a:r>
              <a:t>原页底说明（仅保留于讲稿）：</a:t>
            </a:r>
          </a:p>
          <a:p>
            <a:r>
              <a:t>反转顺序后 Decider 24/30、Jev 28/30；仍是同一批 30 道题。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Decider首轮40次存在合格候选的机会中37次false no_route；自然语言48/48全拒绝，其中仅8次符合参考。Jev也漏能力与总价条件。输入最大1485token&lt;4096，不能归因上下文超限。建议硬约束代码核验，但该组合方案尚未完成端到端复测。</a:t>
            </a:r>
          </a:p>
          <a:p>
            <a:r>
              <a:t>原页底说明（仅保留于讲稿）：</a:t>
            </a:r>
          </a:p>
          <a:p>
            <a:r>
              <a:t>能力 / 价格来自 OpenRouter 目录，健康 / 延迟等为题设；未调用 openrouter/auto 或下游模型。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游戏原始来源已随validation/model_comparison/sources/tetris打包。固定3失败棋盘：Decider数字3/3次受支配动作，自然语言2/3；Jev两者0/3。二选一自然语言两者6/6，不能推广完整候选集合。历史规则版430/550程序代选，排除。</a:t>
            </a:r>
          </a:p>
          <a:p>
            <a:r>
              <a:t>v11补充结论：本局自然语言Jev50块19行，Decider43块2行；每落点平均251.1/1414.5ms。这是动作级耗时，不能当作单次API RTT。原始游戏汇总未保存token usage，不套用支付输入估算成本。</a:t>
            </a:r>
          </a:p>
          <a:p>
            <a:r>
              <a:t>原页底说明（仅保留于讲稿）：</a:t>
            </a:r>
          </a:p>
          <a:p>
            <a:r>
              <a:t>落点耗时为 Jev / Decider 均值，可含多次请求。游戏未保存 token usage，费用不作估算。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微调应保留官方模板、底座/LoRA/Pointer Head路径，使用领域标签、无匹配、缺证据、金额/年份反例，候选数量与顺序扰动，训练/验证/测试按模板或业务来源拆分防泄漏。独立评估准确、误放行、完成度、置信度校准与拒绝回退，再灰度；不只训练输出JSON形式。</a:t>
            </a:r>
          </a:p>
          <a:p>
            <a:r>
              <a:t>原页底说明（仅保留于讲稿）：</a:t>
            </a:r>
          </a:p>
          <a:p>
            <a:r>
              <a:t>下列为后续方案；尚未完成领域微调，也未宣称新的准确率或生产收益。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导出合并LoRA并携带head/calibration/tokenizer；自定义pooler取候选/答案位置，全prefill后应用官方answer转换。严格比较choice与概率/置信度；容差0.02异常保留。</a:t>
            </a:r>
          </a:p>
          <a:p>
            <a:r>
              <a:t>原页底说明（仅保留于讲稿）：</a:t>
            </a:r>
          </a:p>
          <a:p>
            <a:r>
              <a:t>vLLM 0.31.0；BF16 底座 / FP32 Pointer Head；未开启前缀缓存、分块预填充或 CUDA Graph。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独立API公开入口https://d1e9udi8st2p3g.cloudfront.net，API key认证，EC2上systemd管理，ECR/私有S3模型产物/Secrets Manager。本页不是将主演示迁移到vLLM。</a:t>
            </a:r>
          </a:p>
          <a:p>
            <a:r>
              <a:t>原页底说明（仅保留于讲稿）：</a:t>
            </a:r>
          </a:p>
          <a:p>
            <a:r>
              <a:t>API 使用访问密钥；CloudFront VPC Origin。图中省略网络端点，后端直接调用相关 AWS 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8并发原版14.76RPS/P95542.8ms；vLLM复测34.91RPS/P95237.6ms。更早测试的5次超时保留在原始报告，本图为标明的复测。</a:t>
            </a:r>
          </a:p>
          <a:p>
            <a:r>
              <a:t>原页底说明（仅保留于讲稿）：</a:t>
            </a:r>
          </a:p>
          <a:p>
            <a:r>
              <a:t>每档 80 请求，预热另计。提升同时包含推理路径和调度变化，不能全部归因于批处理。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单次sweep10240成功；另一个重复批次12800成功但1次confidence差.0202超.02容差。batch三预算短输入总体无稳定吞吐收益，不能推广到长输入。</a:t>
            </a:r>
          </a:p>
          <a:p>
            <a:r>
              <a:t>原页底说明（仅保留于讲稿）：</a:t>
            </a:r>
          </a:p>
          <a:p>
            <a:r>
              <a:t>batch 参数是调度 token 预算，不是请求数。8192 / 16384 / 32768 合计 23,040 次均成功。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Decider10239/10240，1次HTTP502，10次confidence差.0202超.02容差；Jev10240/10240。每侧560预热另计。128并发出现尾延迟，不用短测替代长期SLA。</a:t>
            </a:r>
          </a:p>
          <a:p>
            <a:r>
              <a:t>原页底说明（仅保留于讲稿）：</a:t>
            </a:r>
          </a:p>
          <a:p>
            <a:r>
              <a:t>2026-10-13，每模型 10,240 次正式尝试；P95 为成功响应端到端延迟，单位毫秒。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上下两图分别是同次采集中pending-baseline-approve与pending-optimized-approve的真实界面裁剪。只裁剪边界，不改界面数据。两者保留三提供方名字、耗时、原始choice以及实际执行文字。底层执行状态Decider和Jev review_pending:true→false，GPT false→false。三者execute仍返回hold，fundsComplete:false、complete:false、无账本条目。这次改善是去掉不必要的人工审批，没有把链上3/12确认当成满足入账条件。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代码为app/crypto_profiles.py中的scoped_state和SCOPED_INSTRUCTIONS。pending的state由18字段变为12字段，删除refund_approved、refund_destination_verified、settled、settlement_minutes、settlement_overdue、settlement_sla_minutes。保留的字段和值全部不变。criteria和instructions同时重写，本实验不能单独归因于删字段或某一句话，也没有改变模型权重。全部4个候选ID及其顺序不变，未向模型输入reference_choice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这不是自主闭环：五个模型请求使用冻结的初始事实，每步问题和候选变化，模型选择再分别由各提供方的前端沙盒执行。表格是原始模型选择，不是执行器纠正后的动作。原始模式Decider与Jev多产生一个人工复核阻塞，GPT避免了这个额外阻塞，但所有模型仍需等待链上3/12确认。</a:t>
            </a:r>
          </a:p>
          <a:p>
            <a:r>
              <a:t>pending/baseline/intake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intake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"payment_support": "Route pending or underpaid customer deposits to payment support.",</a:t>
            </a:r>
          </a:p>
          <a:p>
            <a:r>
              <a:t>          "refund_support": "Route a refund request to the refund support queue.",</a:t>
            </a:r>
          </a:p>
          <a:p>
            <a:r>
              <a:t>          "merchant_ops": "Route a merchant settlement issue to merchant operations."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73.159</a:t>
            </a:r>
          </a:p>
          <a:p>
            <a:r>
              <a:t>        },</a:t>
            </a:r>
          </a:p>
          <a:p>
            <a:r>
              <a:t>        "queue_ms": 5.523,</a:t>
            </a:r>
          </a:p>
          <a:p>
            <a:r>
              <a:t>        "processing_ms": 73.194,</a:t>
            </a:r>
          </a:p>
          <a:p>
            <a:r>
              <a:t>        "backend_total_ms": 78.716,</a:t>
            </a:r>
          </a:p>
          <a:p>
            <a:r>
              <a:t>        "model_reported_ms": 68.32</a:t>
            </a:r>
          </a:p>
          <a:p>
            <a:r>
              <a:t>      },</a:t>
            </a:r>
          </a:p>
          <a:p>
            <a:r>
              <a:t>      "client_ms": 134.5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491.359,</a:t>
            </a:r>
          </a:p>
          <a:p>
            <a:r>
              <a:t>        "processing_ms": 491.267,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526.8999999761581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922.781,</a:t>
            </a:r>
          </a:p>
          <a:p>
            <a:r>
              <a:t>        "processing_ms": 922.698,</a:t>
            </a:r>
          </a:p>
          <a:p>
            <a:r>
              <a:t>        "model_reported_ms": 914</a:t>
            </a:r>
          </a:p>
          <a:p>
            <a:r>
              <a:t>      },</a:t>
            </a:r>
          </a:p>
          <a:p>
            <a:r>
              <a:t>      "client_ms": 950.8999999761581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"intake",</a:t>
            </a:r>
          </a:p>
          <a:p>
            <a:r>
              <a:t>      "elapsed_ms": 25.19999998807907,</a:t>
            </a:r>
          </a:p>
          <a:p>
            <a:r>
              <a:t>      "completed_at": "2026-10-15T03:53:20.696Z",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"intake",</a:t>
            </a:r>
          </a:p>
          <a:p>
            <a:r>
              <a:t>      "elapsed_ms": 29.30000001192093,</a:t>
            </a:r>
          </a:p>
          <a:p>
            <a:r>
              <a:t>      "completed_at": "2026-10-15T03:53:21.016Z",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"intake",</a:t>
            </a:r>
          </a:p>
          <a:p>
            <a:r>
              <a:t>      "elapsed_ms": 26.69999998807907,</a:t>
            </a:r>
          </a:p>
          <a:p>
            <a:r>
              <a:t>      "completed_at": "2026-10-15T03:53:21.421Z",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pending/baseline/verify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verify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"await_confirmations": "A deposit has fewer confirmations than required.",</a:t>
            </a:r>
          </a:p>
          <a:p>
            <a:r>
              <a:t>          "request_topup": "A confirmed deposit received less than the expected amount.",</a:t>
            </a:r>
          </a:p>
          <a:p>
            <a:r>
              <a:t>          "payment_verified": "A deposit or refundable payment is fully received and confirmed.",</a:t>
            </a:r>
          </a:p>
          <a:p>
            <a:r>
              <a:t>          "settlement_delayed": "An unsettled merchant payout exceeded its SLA.",</a:t>
            </a:r>
          </a:p>
          <a:p>
            <a:r>
              <a:t>          "settlement_pending": "An unsettled merchant payout is within its SLA.",</a:t>
            </a:r>
          </a:p>
          <a:p>
            <a:r>
              <a:t>          "settlement_verified": "The merchant payout is already settled."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78.256</a:t>
            </a:r>
          </a:p>
          <a:p>
            <a:r>
              <a:t>        },</a:t>
            </a:r>
          </a:p>
          <a:p>
            <a:r>
              <a:t>        "queue_ms": 5.386,</a:t>
            </a:r>
          </a:p>
          <a:p>
            <a:r>
              <a:t>        "processing_ms": 78.289,</a:t>
            </a:r>
          </a:p>
          <a:p>
            <a:r>
              <a:t>        "backend_total_ms": 83.676,</a:t>
            </a:r>
          </a:p>
          <a:p>
            <a:r>
              <a:t>        "model_reported_ms": 67.93</a:t>
            </a:r>
          </a:p>
          <a:p>
            <a:r>
              <a:t>      },</a:t>
            </a:r>
          </a:p>
          <a:p>
            <a:r>
              <a:t>      "client_ms": 134.39999997615814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368.365,</a:t>
            </a:r>
          </a:p>
          <a:p>
            <a:r>
              <a:t>        "processing_ms": 368.282,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409.19999998807907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992.558,</a:t>
            </a:r>
          </a:p>
          <a:p>
            <a:r>
              <a:t>        "processing_ms": 992.471,</a:t>
            </a:r>
          </a:p>
          <a:p>
            <a:r>
              <a:t>        "model_reported_ms": 984</a:t>
            </a:r>
          </a:p>
          <a:p>
            <a:r>
              <a:t>      },</a:t>
            </a:r>
          </a:p>
          <a:p>
            <a:r>
              <a:t>      "client_ms": 1018.4000000357628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"verify",</a:t>
            </a:r>
          </a:p>
          <a:p>
            <a:r>
              <a:t>      "elapsed_ms": 20,</a:t>
            </a:r>
          </a:p>
          <a:p>
            <a:r>
              <a:t>      "completed_at": "2026-10-15T03:53:20.748Z",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"verify",</a:t>
            </a:r>
          </a:p>
          <a:p>
            <a:r>
              <a:t>      "elapsed_ms": 24.80000001192093,</a:t>
            </a:r>
          </a:p>
          <a:p>
            <a:r>
              <a:t>      "completed_at": "2026-10-15T03:53:21.077Z",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"verify",</a:t>
            </a:r>
          </a:p>
          <a:p>
            <a:r>
              <a:t>      "elapsed_ms": 27.30000001192093,</a:t>
            </a:r>
          </a:p>
          <a:p>
            <a:r>
              <a:t>      "completed_at": "2026-10-15T03:53:21.486Z",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pending/baseline/execute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execute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"hold": "Risk flagged, refund destination/approval missing, or a deposit is not fully confirmed and paid.",</a:t>
            </a:r>
          </a:p>
          <a:p>
            <a:r>
              <a:t>          "credit_order": "A pending or underpaid deposit is fully paid and confirmed, with no risk flag.",</a:t>
            </a:r>
          </a:p>
          <a:p>
            <a:r>
              <a:t>          "refund_payment": "Refund is fully funded and confirmed, destination verified, approved, and has no risk flag.",</a:t>
            </a:r>
          </a:p>
          <a:p>
            <a:r>
              <a:t>          "escalate_settlement": "An unsettled merchant payout exceeded SLA, with no risk flag.",</a:t>
            </a:r>
          </a:p>
          <a:p>
            <a:r>
              <a:t>          "wait_settlement": "An unsettled merchant payout is within SLA, with no risk flag.",</a:t>
            </a:r>
          </a:p>
          <a:p>
            <a:r>
              <a:t>          "reconcile_settlement": "The payout is settled and has no risk flag."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72.029</a:t>
            </a:r>
          </a:p>
          <a:p>
            <a:r>
              <a:t>        },</a:t>
            </a:r>
          </a:p>
          <a:p>
            <a:r>
              <a:t>        "queue_ms": 9.394,</a:t>
            </a:r>
          </a:p>
          <a:p>
            <a:r>
              <a:t>        "processing_ms": 72.063,</a:t>
            </a:r>
          </a:p>
          <a:p>
            <a:r>
              <a:t>        "backend_total_ms": 81.457,</a:t>
            </a:r>
          </a:p>
          <a:p>
            <a:r>
              <a:t>        "model_reported_ms": 68.33</a:t>
            </a:r>
          </a:p>
          <a:p>
            <a:r>
              <a:t>      },</a:t>
            </a:r>
          </a:p>
          <a:p>
            <a:r>
              <a:t>      "client_ms": 182.80000001192093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361.414,</a:t>
            </a:r>
          </a:p>
          <a:p>
            <a:r>
              <a:t>        "processing_ms": 361.327,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399.19999998807907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2167.437,</a:t>
            </a:r>
          </a:p>
          <a:p>
            <a:r>
              <a:t>        "processing_ms": 2167.339,</a:t>
            </a:r>
          </a:p>
          <a:p>
            <a:r>
              <a:t>        "model_reported_ms": 2158</a:t>
            </a:r>
          </a:p>
          <a:p>
            <a:r>
              <a:t>      },</a:t>
            </a:r>
          </a:p>
          <a:p>
            <a:r>
              <a:t>      "client_ms": 2189.099999964237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"execute",</a:t>
            </a:r>
          </a:p>
          <a:p>
            <a:r>
              <a:t>      "elapsed_ms": 20.19999998807907,</a:t>
            </a:r>
          </a:p>
          <a:p>
            <a:r>
              <a:t>      "completed_at": "2026-10-15T03:53:20.858Z",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"execute",</a:t>
            </a:r>
          </a:p>
          <a:p>
            <a:r>
              <a:t>      "elapsed_ms": 35.30000001192093,</a:t>
            </a:r>
          </a:p>
          <a:p>
            <a:r>
              <a:t>      "completed_at": "2026-10-15T03:53:21.237Z",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"execute",</a:t>
            </a:r>
          </a:p>
          <a:p>
            <a:r>
              <a:t>      "elapsed_ms": 27.69999998807907,</a:t>
            </a:r>
          </a:p>
          <a:p>
            <a:r>
              <a:t>      "completed_at": "2026-10-15T03:53:21.613Z",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pending/baseline/close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close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"resolve": "No risk flag and the payment, refund, or settlement is complete according to the verified business facts.",</a:t>
            </a:r>
          </a:p>
          <a:p>
            <a:r>
              <a:t>          "follow_up": "The business outcome is not complete or any risk flag remains."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70.545</a:t>
            </a:r>
          </a:p>
          <a:p>
            <a:r>
              <a:t>        },</a:t>
            </a:r>
          </a:p>
          <a:p>
            <a:r>
              <a:t>        "queue_ms": 5.476,</a:t>
            </a:r>
          </a:p>
          <a:p>
            <a:r>
              <a:t>        "processing_ms": 70.58,</a:t>
            </a:r>
          </a:p>
          <a:p>
            <a:r>
              <a:t>        "backend_total_ms": 76.056,</a:t>
            </a:r>
          </a:p>
          <a:p>
            <a:r>
              <a:t>        "model_reported_ms": 67.08</a:t>
            </a:r>
          </a:p>
          <a:p>
            <a:r>
              <a:t>      },</a:t>
            </a:r>
          </a:p>
          <a:p>
            <a:r>
              <a:t>      "client_ms": 141.60000002384186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469.787,</a:t>
            </a:r>
          </a:p>
          <a:p>
            <a:r>
              <a:t>        "processing_ms": 469.695,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507.69999998807907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3333.047,</a:t>
            </a:r>
          </a:p>
          <a:p>
            <a:r>
              <a:t>        "processing_ms": 3332.96,</a:t>
            </a:r>
          </a:p>
          <a:p>
            <a:r>
              <a:t>        "model_reported_ms": 3282</a:t>
            </a:r>
          </a:p>
          <a:p>
            <a:r>
              <a:t>      },</a:t>
            </a:r>
          </a:p>
          <a:p>
            <a:r>
              <a:t>      "client_ms": 3361.199999988079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"close",</a:t>
            </a:r>
          </a:p>
          <a:p>
            <a:r>
              <a:t>      "elapsed_ms": 21.30000001192093,</a:t>
            </a:r>
          </a:p>
          <a:p>
            <a:r>
              <a:t>      "completed_at": "2026-10-15T03:53:20.914Z",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"close",</a:t>
            </a:r>
          </a:p>
          <a:p>
            <a:r>
              <a:t>      "elapsed_ms": 26.899999976158142,</a:t>
            </a:r>
          </a:p>
          <a:p>
            <a:r>
              <a:t>      "completed_at": "2026-10-15T03:53:21.304Z",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"close",</a:t>
            </a:r>
          </a:p>
          <a:p>
            <a:r>
              <a:t>      "elapsed_ms": 24.599999964237213,</a:t>
            </a:r>
          </a:p>
          <a:p>
            <a:r>
              <a:t>      "completed_at": "2026-10-15T03:53:21.677Z",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本页展示实际model_input.state与criteria的节选，以及应用返回的choice节选。基线approved选项已经包含其他场景无需退款审批的说明；问题是await_approval等其他候选未同样明确Only refund，且收款state中混入退款字段，不能说原来完全没有非退款豁免规则。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Demo：https://d3i7ogfx5ml7dc.cloudfront.net</a:t>
            </a:r>
          </a:p>
          <a:p>
            <a:r>
              <a:t>主项目：https://github.com/milan9527/StrandsDecider</a:t>
            </a:r>
          </a:p>
          <a:p>
            <a:r>
              <a:t>vLLM：https://github.com/milan9527/StrandsDeciderVLLM</a:t>
            </a:r>
          </a:p>
          <a:p>
            <a:r>
              <a:t>验证：https://github.com/milan9527/StrandsDecider/blob/main/validation/README.md</a:t>
            </a:r>
          </a:p>
          <a:p>
            <a:r>
              <a:t>官方介绍：https://strandsagents.com/blog/introducing-strands-decider/</a:t>
            </a:r>
          </a:p>
          <a:p>
            <a:r>
              <a:t>评测：https://benchmarkheaven.com/jev-models/api</a:t>
            </a:r>
          </a:p>
          <a:p>
            <a:r>
              <a:t>价格与条款见sources。</a:t>
            </a:r>
          </a:p>
          <a:p>
            <a:r>
              <a:t>原页底说明（仅保留于讲稿）：</a:t>
            </a:r>
          </a:p>
          <a:p>
            <a:r>
              <a:t>PPT 内含逐页讲稿与来源；v12 新增三模型支付实际请求、优化前后结果与真实界面。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重新汇总自原始receipts，未新调用模型。Skills32输入65可评分问题；浏览器10个任务，Decider22次/Jev36次请求；金融只使用原始顺序各30请求；政策路由32题两种顺序各64请求。Jev直连API，Decider经现有应用网关访问官方原版服务；延迟是整个HTTP调用，不是纯GPU前向耗时。费用为Jev input_tokens × 0.042USD/百万，输出免费。千次费用是按本批输入配比放大，不是1000个独立任务。质量分别为Jev/Decider：Skills65/65 vs50/65、浏览器10/10 vs4/10、金融28/30 vs22/30、政策46/64 vs25/64。分类与局部选择两者接近；Jev在证据、多步完成中更好。金融共享额度误判、路由能力与预算漏判仍存在。</a:t>
            </a:r>
          </a:p>
          <a:p>
            <a:r>
              <a:t>浏览器Jev每任务平均3.6调用，任务总耗时中位数3694.6ms，每千条同配比任务的模型费约$0.2881，不含浏览器运行费；其他表格展示每千API请求，不能混成每千任务。</a:t>
            </a:r>
          </a:p>
          <a:p>
            <a:r>
              <a:t>原始数据与计算：sources/jev-scenario-metrics.json；validation/*/receipts.jsonl。</a:t>
            </a:r>
          </a:p>
          <a:p>
            <a:r>
              <a:t>原页底说明（仅保留于讲稿）：</a:t>
            </a:r>
          </a:p>
          <a:p>
            <a:r>
              <a:t>API RTT 中位数：Jev 直连，Decider 经应用网关；金融仅首轮。费用按实测 usage，不含工具与运维。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656.95 输入 token / 次，Jev每百万次$27.5919。费用交点：RI16.837789百万；按需25.864402百万。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2,805.75 输入 token / 条，Jev每百万条$117.8415。费用交点：RI3.942470百万；按需6.055999百万。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：本批分类/意图13/13、局部动作10/10，与Jev相同；适合候选清楚的高频局部判断，希望自托管和低单请求延迟的系统。vLLM单并发55.4ms均值，对比Jev126.5ms；这些性能是g6.xlarge，不能视作g6.2xlarge容量。GPU固定费与运维成本，流量稳定后再评估1年RI。Jev：本批Skills65/65、浏览器10/10；推荐证据核验、多步DOM操作、低或波动流量的候选决策。金融28/30、政策46/64仍出错，金额/资格/预算/最终完成交给代码验收。API按输入量计费，每千调用在本批0.0213至0.0800USD；不必自管GPU，但并非所有场景最低延迟。GPT：开放式回复、代码生成和复杂异常处理；此次项目只测候选选择，未对这些开放任务做质量对照。支付候选20/20但平均1271.9ms；高频且只需短ID的步骤要权衡额外延迟。GPT记录没有费用值，本版不伪造其账单或引用未经查询的价格。</a:t>
            </a:r>
          </a:p>
          <a:p>
            <a:r>
              <a:t>v12支付指标更新为2026-10-15正式采集的optimized输入，每模型20个节点；其余验证、vLLM与成本数据保持各自原始口径。</a:t>
            </a:r>
          </a:p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原页底说明（仅保留于讲稿）：</a:t>
            </a:r>
          </a:p>
          <a:p>
            <a:r>
              <a:t>支付为平均后端耗时与参考一致次数；小样本。公共 vLLM 延迟与验证场景的 RTT 分开统计。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一致性按原始choice计算，执行器修正不计为模型答对。Decider14/20→18/20，Jev18/20→20/20，GPT20/20→20/20。Decider少付核验由request_topup变成await_confirmations，属于退化；同时少付执行由credit_order改为hold，场景总分仍4/5。退款审批await_approval→approved仍错，参考verify_destination；退款execute和close从refund_payment/resolve改为hold/follow_up，故2/5→4/5。商户结算close从resolve→follow_up，4/5→5/5。优化后四场景仍未完成资金业务，是冻结业务事实的固定流程试验，不能以四场景全部未结案推断模型全错。</a:t>
            </a:r>
          </a:p>
          <a:p>
            <a:r>
              <a:t>逐场景精确统计：</a:t>
            </a:r>
          </a:p>
          <a:p>
            <a:r>
              <a:t>{</a:t>
            </a:r>
          </a:p>
          <a:p>
            <a:r>
              <a:t>  "source": "sources/payment-live.json",</a:t>
            </a:r>
          </a:p>
          <a:p>
            <a:r>
              <a:t>  "timing": "Application backend_total_ms, including queue/provider call; not pure GPU time or browser RTT.",</a:t>
            </a:r>
          </a:p>
          <a:p>
            <a:r>
              <a:t>  "method": "One run per case/profile/provider; 6 warmups excluded. Baseline before optimized; no randomized repeats.",</a:t>
            </a:r>
          </a:p>
          <a:p>
            <a:r>
              <a:t>  "cases": {</a:t>
            </a:r>
          </a:p>
          <a:p>
            <a:r>
              <a:t>    "pending":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429.792,</a:t>
            </a:r>
          </a:p>
          <a:p>
            <a:r>
              <a:t>          "mean_backend_ms": 85.9584,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2179.8129999999996,</a:t>
            </a:r>
          </a:p>
          <a:p>
            <a:r>
              <a:t>          "mean_backend_ms": 435.9626,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9490.623,</a:t>
            </a:r>
          </a:p>
          <a:p>
            <a:r>
              <a:t>          "mean_backend_ms": 1898.1246,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448.28000000000003,</a:t>
            </a:r>
          </a:p>
          <a:p>
            <a:r>
              <a:t>          "mean_backend_ms": 89.656,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2038.934,</a:t>
            </a:r>
          </a:p>
          <a:p>
            <a:r>
              <a:t>          "mean_backend_ms": 407.78679999999997,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5809.343,</a:t>
            </a:r>
          </a:p>
          <a:p>
            <a:r>
              <a:t>          "mean_backend_ms": 1161.8686,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"underpaid":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385.86699999999996,</a:t>
            </a:r>
          </a:p>
          <a:p>
            <a:r>
              <a:t>          "mean_backend_ms": 77.1734,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"原建议「确认订单收款」未落实，实际改为「挂起并跟进」：当前场景、到账金额或确认数不满足确认收款条件，资金动作已挂起。"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1915.097,</a:t>
            </a:r>
          </a:p>
          <a:p>
            <a:r>
              <a:t>          "mean_backend_ms": 383.0194,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8168.897,</a:t>
            </a:r>
          </a:p>
          <a:p>
            <a:r>
              <a:t>          "mean_backend_ms": 1633.7794,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395.882,</a:t>
            </a:r>
          </a:p>
          <a:p>
            <a:r>
              <a:t>          "mean_backend_ms": 79.1764,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1790.114,</a:t>
            </a:r>
          </a:p>
          <a:p>
            <a:r>
              <a:t>          "mean_backend_ms": 358.0228,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4896.424,</a:t>
            </a:r>
          </a:p>
          <a:p>
            <a:r>
              <a:t>          "mean_backend_ms": 979.2848,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"refund":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2,</a:t>
            </a:r>
          </a:p>
          <a:p>
            <a:r>
              <a:t>          "calls": 5,</a:t>
            </a:r>
          </a:p>
          <a:p>
            <a:r>
              <a:t>          "total_backend_ms": 459.832,</a:t>
            </a:r>
          </a:p>
          <a:p>
            <a:r>
              <a:t>          "mean_backend_ms": 91.9664,</a:t>
            </a:r>
          </a:p>
          <a:p>
            <a:r>
              <a:t>          "safety_adjustments": 2,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"原建议「提交模拟退款」未落实，实际改为「挂起并跟进」：风控或本次方案的人工复核尚未完成，资金动作已挂起，继续回复客户。"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1776.296,</a:t>
            </a:r>
          </a:p>
          <a:p>
            <a:r>
              <a:t>          "mean_backend_ms": 355.2592,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5846.945,</a:t>
            </a:r>
          </a:p>
          <a:p>
            <a:r>
              <a:t>          "mean_backend_ms": 1169.389,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406.90799999999996,</a:t>
            </a:r>
          </a:p>
          <a:p>
            <a:r>
              <a:t>          "mean_backend_ms": 81.3816,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1795.469,</a:t>
            </a:r>
          </a:p>
          <a:p>
            <a:r>
              <a:t>          "mean_backend_ms": 359.0938,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9662.186,</a:t>
            </a:r>
          </a:p>
          <a:p>
            <a:r>
              <a:t>          "mean_backend_ms": 1932.4372,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"settlement":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448.89799999999997,</a:t>
            </a:r>
          </a:p>
          <a:p>
            <a:r>
              <a:t>          "mean_backend_ms": 89.7796,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2026.992,</a:t>
            </a:r>
          </a:p>
          <a:p>
            <a:r>
              <a:t>          "mean_backend_ms": 405.3984,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4780.025,</a:t>
            </a:r>
          </a:p>
          <a:p>
            <a:r>
              <a:t>          "mean_backend_ms": 956.005,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579.4259999999999,</a:t>
            </a:r>
          </a:p>
          <a:p>
            <a:r>
              <a:t>          "mean_backend_ms": 115.8852,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2145.675,</a:t>
            </a:r>
          </a:p>
          <a:p>
            <a:r>
              <a:t>          "mean_backend_ms": 429.135,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5069.094,</a:t>
            </a:r>
          </a:p>
          <a:p>
            <a:r>
              <a:t>          "mean_backend_ms": 1013.8188,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"aggregate": {</a:t>
            </a:r>
          </a:p>
          <a:p>
            <a:r>
              <a:t>    "baseline": {</a:t>
            </a:r>
          </a:p>
          <a:p>
            <a:r>
              <a:t>      "decider": {</a:t>
            </a:r>
          </a:p>
          <a:p>
            <a:r>
              <a:t>        "matches": 14,</a:t>
            </a:r>
          </a:p>
          <a:p>
            <a:r>
              <a:t>        "calls": 20,</a:t>
            </a:r>
          </a:p>
          <a:p>
            <a:r>
              <a:t>        "mean_backend_ms": 86.21945,</a:t>
            </a:r>
          </a:p>
          <a:p>
            <a:r>
              <a:t>        "mean_browser_rtt_ms": 167.7349999964237,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394.9099,</a:t>
            </a:r>
          </a:p>
          <a:p>
            <a:r>
              <a:t>        "mean_browser_rtt_ms": 433.8549999922514,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1414.3245,</a:t>
            </a:r>
          </a:p>
          <a:p>
            <a:r>
              <a:t>        "mean_browser_rtt_ms": 1442.8149999916554,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"optimized": {</a:t>
            </a:r>
          </a:p>
          <a:p>
            <a:r>
              <a:t>      "decider":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91.5248,</a:t>
            </a:r>
          </a:p>
          <a:p>
            <a:r>
              <a:t>        "mean_browser_rtt_ms": 182.04499999284744,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388.5096,</a:t>
            </a:r>
          </a:p>
          <a:p>
            <a:r>
              <a:t>        "mean_browser_rtt_ms": 433.04000000357627,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1271.8523500000001,</a:t>
            </a:r>
          </a:p>
          <a:p>
            <a:r>
              <a:t>        "mean_browser_rtt_ms": 1302.3700000017882,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4 场景 × 2 种输入 × 3 模型 × 5 步 = 120 次成功调用；另有 6 次预热。一次配对观测，不据此声称稳定加速。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图为优化模式退款审批的真实界面，去掉顶部轮次栏而保留客户请求、输入摘要、三模型返回与实际执行。原始Decider await_approval错误；优化后approved仍错误。Jev与GPT在两个profile中都返回verify_destination。优化后Decider原始返回approved，执行器记录requested_action:approved、action:verify_destination、safety_adjusted:true，原因是退款地址未验证。该修正不能计入模型正确率。三者后续资金步骤均hold，回复follow_up，未退款、未结案。</a:t>
            </a:r>
          </a:p>
          <a:p>
            <a:r>
              <a:t>refund/baseline/approve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"8a9b2e716930773e",</a:t>
            </a:r>
          </a:p>
          <a:p>
            <a:r>
              <a:t>      "choice": "await_approval",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70.078</a:t>
            </a:r>
          </a:p>
          <a:p>
            <a:r>
              <a:t>        },</a:t>
            </a:r>
          </a:p>
          <a:p>
            <a:r>
              <a:t>        "queue_ms": 5.436,</a:t>
            </a:r>
          </a:p>
          <a:p>
            <a:r>
              <a:t>        "processing_ms": 70.113,</a:t>
            </a:r>
          </a:p>
          <a:p>
            <a:r>
              <a:t>        "backend_total_ms": 75.549,</a:t>
            </a:r>
          </a:p>
          <a:p>
            <a:r>
              <a:t>        "model_reported_ms": 66.8</a:t>
            </a:r>
          </a:p>
          <a:p>
            <a:r>
              <a:t>      },</a:t>
            </a:r>
          </a:p>
          <a:p>
            <a:r>
              <a:t>      "client_ms": 187.10000002384186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310.666,</a:t>
            </a:r>
          </a:p>
          <a:p>
            <a:r>
              <a:t>        "processing_ms": 310.57,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344.60000002384186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1630.916,</a:t>
            </a:r>
          </a:p>
          <a:p>
            <a:r>
              <a:t>        "processing_ms": 1630.83,</a:t>
            </a:r>
          </a:p>
          <a:p>
            <a:r>
              <a:t>        "model_reported_ms": 1619</a:t>
            </a:r>
          </a:p>
          <a:p>
            <a:r>
              <a:t>      },</a:t>
            </a:r>
          </a:p>
          <a:p>
            <a:r>
              <a:t>      "client_ms": 1656.199999988079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21.599999964237213,</a:t>
            </a:r>
          </a:p>
          <a:p>
            <a:r>
              <a:t>      "completed_at": "2026-10-15T03:53:55.244Z",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"与演示参考「验证退款地址」不同，仅记录差异，不因此暂停。",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24.30000001192093,</a:t>
            </a:r>
          </a:p>
          <a:p>
            <a:r>
              <a:t>      "completed_at": "2026-10-15T03:53:55.596Z",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22.30000001192093,</a:t>
            </a:r>
          </a:p>
          <a:p>
            <a:r>
              <a:t>      "completed_at": "2026-10-15T03:53:55.950Z",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refund/optimized/approve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"1f0b6bff99dcfffa",</a:t>
            </a:r>
          </a:p>
          <a:p>
            <a:r>
              <a:t>      "choice": "approved",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71.934</a:t>
            </a:r>
          </a:p>
          <a:p>
            <a:r>
              <a:t>        },</a:t>
            </a:r>
          </a:p>
          <a:p>
            <a:r>
              <a:t>        "queue_ms": 5.94,</a:t>
            </a:r>
          </a:p>
          <a:p>
            <a:r>
              <a:t>        "processing_ms": 71.968,</a:t>
            </a:r>
          </a:p>
          <a:p>
            <a:r>
              <a:t>        "backend_total_ms": 77.909,</a:t>
            </a:r>
          </a:p>
          <a:p>
            <a:r>
              <a:t>        "model_reported_ms": 68.09</a:t>
            </a:r>
          </a:p>
          <a:p>
            <a:r>
              <a:t>      },</a:t>
            </a:r>
          </a:p>
          <a:p>
            <a:r>
              <a:t>      "client_ms": 196.4000000357628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338.529,</a:t>
            </a:r>
          </a:p>
          <a:p>
            <a:r>
              <a:t>        "processing_ms": 338.428,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373.89999997615814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5561.832,</a:t>
            </a:r>
          </a:p>
          <a:p>
            <a:r>
              <a:t>        "processing_ms": 5561.741,</a:t>
            </a:r>
          </a:p>
          <a:p>
            <a:r>
              <a:t>        "model_reported_ms": 5551</a:t>
            </a:r>
          </a:p>
          <a:p>
            <a:r>
              <a:t>      },</a:t>
            </a:r>
          </a:p>
          <a:p>
            <a:r>
              <a:t>      "client_ms": 5595.799999952316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33.200000047683716,</a:t>
            </a:r>
          </a:p>
          <a:p>
            <a:r>
              <a:t>      "completed_at": "2026-10-15T03:54:07.100Z",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true,</a:t>
            </a:r>
          </a:p>
          <a:p>
            <a:r>
              <a:t>      "safety_reason": "退款地址尚未验证，记录待验证事项；后续流程继续。",</a:t>
            </a:r>
          </a:p>
          <a:p>
            <a:r>
              <a:t>      "message": "退款地址尚未验证，记录待验证事项；后续流程继续。",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22.899999976158142,</a:t>
            </a:r>
          </a:p>
          <a:p>
            <a:r>
              <a:t>      "completed_at": "2026-10-15T03:54:07.468Z",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23.099999964237213,</a:t>
            </a:r>
          </a:p>
          <a:p>
            <a:r>
              <a:t>      "completed_at": "2026-10-15T03:54:07.863Z",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enchmarkheaven.com/jev-models/ap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3i7ogfx5ml7dc.cloudfront.net" TargetMode="External"/><Relationship Id="rId4" Type="http://schemas.openxmlformats.org/officeDocument/2006/relationships/hyperlink" Target="https://github.com/milan9527/StrandsDecider" TargetMode="External"/><Relationship Id="rId5" Type="http://schemas.openxmlformats.org/officeDocument/2006/relationships/hyperlink" Target="https://github.com/milan9527/StrandsDeciderVLLM" TargetMode="External"/><Relationship Id="rId6" Type="http://schemas.openxmlformats.org/officeDocument/2006/relationships/hyperlink" Target="https://github.com/milan9527/StrandsDecider/blob/main/validation/README.md" TargetMode="External"/><Relationship Id="rId7" Type="http://schemas.openxmlformats.org/officeDocument/2006/relationships/hyperlink" Target="https://strandsagents.com/blog/introducing-strands-decider/" TargetMode="External"/><Relationship Id="rId8" Type="http://schemas.openxmlformats.org/officeDocument/2006/relationships/hyperlink" Target="https://benchmarkheaven.com/jev-models/api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从软件中的判断开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从软件中的判断开始</a:t>
            </a:r>
          </a:p>
        </p:txBody>
      </p:sp>
      <p:sp>
        <p:nvSpPr>
          <p:cNvPr id="4" name="TEXT: 让决策模型接得住真实业务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让决策模型接得住真实业务</a:t>
            </a:r>
          </a:p>
        </p:txBody>
      </p:sp>
      <p:sp>
        <p:nvSpPr>
          <p:cNvPr id="5" name="TEXT: Strands Decider、Jev 与 GPT：从原理、业务验证，到 vLLM 部署与成本选择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Decider、Jev 与 GPT：从原理、业务验证，到 vLLM 部署与成本选择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1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84048" cy="384048"/>
          </a:xfrm>
          <a:prstGeom prst="rect">
            <a:avLst/>
          </a:prstGeom>
        </p:spPr>
      </p:pic>
      <p:sp>
        <p:nvSpPr>
          <p:cNvPr id="12" name="TEXT: 选得对"/>
          <p:cNvSpPr txBox="1"/>
          <p:nvPr/>
        </p:nvSpPr>
        <p:spPr>
          <a:xfrm>
            <a:off x="86868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选得对</a:t>
            </a:r>
          </a:p>
        </p:txBody>
      </p:sp>
      <p:sp>
        <p:nvSpPr>
          <p:cNvPr id="13" name="TEXT: 业务事实 → 候选动作 核对证据和完成条件"/>
          <p:cNvSpPr txBox="1"/>
          <p:nvPr/>
        </p:nvSpPr>
        <p:spPr>
          <a:xfrm>
            <a:off x="86868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→ 候选动作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核对证据和完成条件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timer-8055A4.png" descr="icon-timer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3432"/>
            <a:ext cx="384048" cy="384048"/>
          </a:xfrm>
          <a:prstGeom prst="rect">
            <a:avLst/>
          </a:prstGeom>
        </p:spPr>
      </p:pic>
      <p:sp>
        <p:nvSpPr>
          <p:cNvPr id="16" name="TEXT: 跑得动"/>
          <p:cNvSpPr txBox="1"/>
          <p:nvPr/>
        </p:nvSpPr>
        <p:spPr>
          <a:xfrm>
            <a:off x="457200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跑得动</a:t>
            </a:r>
          </a:p>
        </p:txBody>
      </p:sp>
      <p:sp>
        <p:nvSpPr>
          <p:cNvPr id="17" name="TEXT: 单次延迟 → 并发吞吐 看完整请求和尾延迟"/>
          <p:cNvSpPr txBox="1"/>
          <p:nvPr/>
        </p:nvSpPr>
        <p:spPr>
          <a:xfrm>
            <a:off x="457200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单次延迟 → 并发吞吐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看完整请求和尾延迟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13432"/>
            <a:ext cx="384048" cy="384048"/>
          </a:xfrm>
          <a:prstGeom prst="rect">
            <a:avLst/>
          </a:prstGeom>
        </p:spPr>
      </p:pic>
      <p:sp>
        <p:nvSpPr>
          <p:cNvPr id="20" name="TEXT: 算得清"/>
          <p:cNvSpPr txBox="1"/>
          <p:nvPr/>
        </p:nvSpPr>
        <p:spPr>
          <a:xfrm>
            <a:off x="827532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算得清</a:t>
            </a:r>
          </a:p>
        </p:txBody>
      </p:sp>
      <p:sp>
        <p:nvSpPr>
          <p:cNvPr id="21" name="TEXT: 自托管 → 按量 API 加入 EC2 RI 长期承诺"/>
          <p:cNvSpPr txBox="1"/>
          <p:nvPr/>
        </p:nvSpPr>
        <p:spPr>
          <a:xfrm>
            <a:off x="827532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自托管 → 按量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 EC2 RI 长期承诺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问题与方法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问题与方法</a:t>
            </a:r>
          </a:p>
        </p:txBody>
      </p:sp>
      <p:sp>
        <p:nvSpPr>
          <p:cNvPr id="4" name="TEXT: 业务流程里，很多步骤只需要一个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业务流程里，很多步骤只需要一个选择</a:t>
            </a:r>
          </a:p>
        </p:txBody>
      </p:sp>
      <p:sp>
        <p:nvSpPr>
          <p:cNvPr id="5" name="TEXT: 客服分流、证据核验、工具选择、模型路由：输出很短，判断会高频重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客服分流、证据核验、工具选择、模型路由：输出很短，判断会高频重复。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2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业务状态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业务状态</a:t>
            </a:r>
          </a:p>
        </p:txBody>
      </p:sp>
      <p:sp>
        <p:nvSpPr>
          <p:cNvPr id="13" name="TEXT: 订单、页面或任务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订单、页面或任务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brain-circuit-087F72.png" descr="icon-brain-circui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候选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候选判断</a:t>
            </a:r>
          </a:p>
        </p:txBody>
      </p:sp>
      <p:sp>
        <p:nvSpPr>
          <p:cNvPr id="18" name="TEXT: 选择 / 真值 / 评分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真值 / 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工具执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工具执行</a:t>
            </a:r>
          </a:p>
        </p:txBody>
      </p:sp>
      <p:sp>
        <p:nvSpPr>
          <p:cNvPr id="23" name="TEXT: 调用受控业务动作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调用受控业务动作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lipboard-check-087F72.png" descr="icon-clipboar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结果验收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结果验收</a:t>
            </a:r>
          </a:p>
        </p:txBody>
      </p:sp>
      <p:sp>
        <p:nvSpPr>
          <p:cNvPr id="28" name="TEXT: 事实是否真正改变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事实是否真正改变</a:t>
            </a:r>
          </a:p>
        </p:txBody>
      </p:sp>
      <p:sp>
        <p:nvSpPr>
          <p:cNvPr id="29" name="TEXT: 选择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</a:t>
            </a:r>
          </a:p>
        </p:txBody>
      </p:sp>
      <p:sp>
        <p:nvSpPr>
          <p:cNvPr id="30" name="TEXT: 与预先定义的参考比较"/>
          <p:cNvSpPr txBox="1"/>
          <p:nvPr/>
        </p:nvSpPr>
        <p:spPr>
          <a:xfrm>
            <a:off x="68580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与预先定义的参考比较</a:t>
            </a:r>
          </a:p>
        </p:txBody>
      </p:sp>
      <p:sp>
        <p:nvSpPr>
          <p:cNvPr id="31" name="TEXT: 结果"/>
          <p:cNvSpPr txBox="1"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2" name="TEXT: 查看页面、账本或产物"/>
          <p:cNvSpPr txBox="1"/>
          <p:nvPr/>
        </p:nvSpPr>
        <p:spPr>
          <a:xfrm>
            <a:off x="438912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查看页面、账本或产物</a:t>
            </a:r>
          </a:p>
        </p:txBody>
      </p:sp>
      <p:sp>
        <p:nvSpPr>
          <p:cNvPr id="33" name="TEXT: 性能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34" name="TEXT: 记录延迟、吞吐和成本"/>
          <p:cNvSpPr txBox="1"/>
          <p:nvPr/>
        </p:nvSpPr>
        <p:spPr>
          <a:xfrm>
            <a:off x="809244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记录延迟、吞吐和成本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原理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模型原理</a:t>
            </a:r>
          </a:p>
        </p:txBody>
      </p:sp>
      <p:sp>
        <p:nvSpPr>
          <p:cNvPr id="4" name="TEXT: Decider：读完上下文，直接给候选评分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Decider：读完上下文，直接给候选评分</a:t>
            </a:r>
          </a:p>
        </p:txBody>
      </p:sp>
      <p:sp>
        <p:nvSpPr>
          <p:cNvPr id="5" name="TEXT: 公开 v19：Qwen3.5-2B 底座 + LoRA + Pointer Head；不逐 token 生成答案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v19：Qwen3.5-2B 底座 + LoRA + Pointer Head；不逐 token 生成答案。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3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提交业务事实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提交业务事实</a:t>
            </a:r>
          </a:p>
        </p:txBody>
      </p:sp>
      <p:sp>
        <p:nvSpPr>
          <p:cNvPr id="13" name="TEXT: state + questions"/>
          <p:cNvSpPr txBox="1"/>
          <p:nvPr/>
        </p:nvSpPr>
        <p:spPr>
          <a:xfrm>
            <a:off x="82296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+ questions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layers-087F72.png" descr="icon-layers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单次前向计算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单次前向计算</a:t>
            </a:r>
          </a:p>
        </p:txBody>
      </p:sp>
      <p:sp>
        <p:nvSpPr>
          <p:cNvPr id="18" name="TEXT: 2B 底座 + rank-16 LoRA"/>
          <p:cNvSpPr txBox="1"/>
          <p:nvPr/>
        </p:nvSpPr>
        <p:spPr>
          <a:xfrm>
            <a:off x="3600449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2B 底座 + rank-16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ist-filter-087F72.png" descr="icon-list-filter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Pointer Head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23" name="TEXT: 对当前候选评分"/>
          <p:cNvSpPr txBox="1"/>
          <p:nvPr/>
        </p:nvSpPr>
        <p:spPr>
          <a:xfrm>
            <a:off x="637794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对当前候选评分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类型化结果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类型化结果</a:t>
            </a:r>
          </a:p>
        </p:txBody>
      </p:sp>
      <p:sp>
        <p:nvSpPr>
          <p:cNvPr id="28" name="TEXT: choice / noul / score"/>
          <p:cNvSpPr txBox="1"/>
          <p:nvPr/>
        </p:nvSpPr>
        <p:spPr>
          <a:xfrm>
            <a:off x="915543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41148" cy="10515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共享上下文"/>
          <p:cNvSpPr txBox="1"/>
          <p:nvPr/>
        </p:nvSpPr>
        <p:spPr>
          <a:xfrm>
            <a:off x="8503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32" name="TEXT: 同一请求可含多个独立判断，减少重复输入。"/>
          <p:cNvSpPr txBox="1"/>
          <p:nvPr/>
        </p:nvSpPr>
        <p:spPr>
          <a:xfrm>
            <a:off x="8503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同一请求可含多个独立判断，减少重复输入。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62272"/>
            <a:ext cx="41148" cy="10515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依赖执行结果的下一步"/>
          <p:cNvSpPr txBox="1"/>
          <p:nvPr/>
        </p:nvSpPr>
        <p:spPr>
          <a:xfrm>
            <a:off x="63367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依赖执行结果的下一步</a:t>
            </a:r>
          </a:p>
        </p:txBody>
      </p:sp>
      <p:sp>
        <p:nvSpPr>
          <p:cNvPr id="36" name="TEXT: 先执行并更新状态，再发起新判断。"/>
          <p:cNvSpPr txBox="1"/>
          <p:nvPr/>
        </p:nvSpPr>
        <p:spPr>
          <a:xfrm>
            <a:off x="63367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先执行并更新状态，再发起新判断。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对照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模型对照</a:t>
            </a:r>
          </a:p>
        </p:txBody>
      </p:sp>
      <p:sp>
        <p:nvSpPr>
          <p:cNvPr id="4" name="TEXT: 相同候选问题，可以通过不同模型回答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相同候选问题，可以通过不同模型回答</a:t>
            </a:r>
          </a:p>
        </p:txBody>
      </p:sp>
      <p:sp>
        <p:nvSpPr>
          <p:cNvPr id="5" name="TEXT: 应用先定义问题和可执行选项；模型负责选择，执行器负责真正改变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应用先定义问题和可执行选项；模型负责选择，执行器负责真正改变业务状态。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4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2179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维度"/>
          <p:cNvSpPr txBox="1"/>
          <p:nvPr/>
        </p:nvSpPr>
        <p:spPr>
          <a:xfrm>
            <a:off x="731520" y="210769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011680"/>
            <a:ext cx="28181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分类器"/>
          <p:cNvSpPr txBox="1"/>
          <p:nvPr/>
        </p:nvSpPr>
        <p:spPr>
          <a:xfrm>
            <a:off x="1965960" y="210769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011680"/>
            <a:ext cx="3732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/ Jev"/>
          <p:cNvSpPr txBox="1"/>
          <p:nvPr/>
        </p:nvSpPr>
        <p:spPr>
          <a:xfrm>
            <a:off x="4800600" y="210769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/ 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011680"/>
            <a:ext cx="309250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9640" y="210769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5176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典型输出"/>
          <p:cNvSpPr txBox="1"/>
          <p:nvPr/>
        </p:nvSpPr>
        <p:spPr>
          <a:xfrm>
            <a:off x="731520" y="274777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典型输出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2" y="265176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固定标签"/>
          <p:cNvSpPr txBox="1"/>
          <p:nvPr/>
        </p:nvSpPr>
        <p:spPr>
          <a:xfrm>
            <a:off x="1965960" y="274777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65176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候选 ID、真值、评分"/>
          <p:cNvSpPr txBox="1"/>
          <p:nvPr/>
        </p:nvSpPr>
        <p:spPr>
          <a:xfrm>
            <a:off x="4800600" y="274777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ID、真值、评分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912" y="265176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文本或结构化 JSON"/>
          <p:cNvSpPr txBox="1"/>
          <p:nvPr/>
        </p:nvSpPr>
        <p:spPr>
          <a:xfrm>
            <a:off x="8549640" y="274777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文本或结构化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9184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新增任务"/>
          <p:cNvSpPr txBox="1"/>
          <p:nvPr/>
        </p:nvSpPr>
        <p:spPr>
          <a:xfrm>
            <a:off x="731520" y="338785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329184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标签与领域训练适配"/>
          <p:cNvSpPr txBox="1"/>
          <p:nvPr/>
        </p:nvSpPr>
        <p:spPr>
          <a:xfrm>
            <a:off x="1965960" y="338785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标签与领域训练适配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329184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提交事实、问题、候选"/>
          <p:cNvSpPr txBox="1"/>
          <p:nvPr/>
        </p:nvSpPr>
        <p:spPr>
          <a:xfrm>
            <a:off x="4800600" y="338785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提交事实、问题、候选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329184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提交指令与上下文"/>
          <p:cNvSpPr txBox="1"/>
          <p:nvPr/>
        </p:nvSpPr>
        <p:spPr>
          <a:xfrm>
            <a:off x="8549640" y="338785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提交指令与上下文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93192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实现"/>
          <p:cNvSpPr txBox="1"/>
          <p:nvPr/>
        </p:nvSpPr>
        <p:spPr>
          <a:xfrm>
            <a:off x="731520" y="402793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56232" y="393192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编码器 + 分类头"/>
          <p:cNvSpPr txBox="1"/>
          <p:nvPr/>
        </p:nvSpPr>
        <p:spPr>
          <a:xfrm>
            <a:off x="1965960" y="402793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编码器 + 分类头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93192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Decider 评分头；Jev API"/>
          <p:cNvSpPr txBox="1"/>
          <p:nvPr/>
        </p:nvSpPr>
        <p:spPr>
          <a:xfrm>
            <a:off x="4800600" y="402793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评分头；Jev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2" y="393192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生成式模型"/>
          <p:cNvSpPr txBox="1"/>
          <p:nvPr/>
        </p:nvSpPr>
        <p:spPr>
          <a:xfrm>
            <a:off x="8549640" y="402793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生成式模型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57200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适合"/>
          <p:cNvSpPr txBox="1"/>
          <p:nvPr/>
        </p:nvSpPr>
        <p:spPr>
          <a:xfrm>
            <a:off x="731520" y="466801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56232" y="457200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稳定标签的专用分类"/>
          <p:cNvSpPr txBox="1"/>
          <p:nvPr/>
        </p:nvSpPr>
        <p:spPr>
          <a:xfrm>
            <a:off x="1965960" y="466801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稳定标签的专用分类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57200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高频、有限动作的判断"/>
          <p:cNvSpPr txBox="1"/>
          <p:nvPr/>
        </p:nvSpPr>
        <p:spPr>
          <a:xfrm>
            <a:off x="4800600" y="466801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高频、有限动作的判断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2" y="457200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开放式分析、写作、代码"/>
          <p:cNvSpPr txBox="1"/>
          <p:nvPr/>
        </p:nvSpPr>
        <p:spPr>
          <a:xfrm>
            <a:off x="8549640" y="466801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开放式分析、写作、代码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同一个 approved，可能来自分类头、候选评分或文本生成；都需要核对业务条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同一个 approved，可能来自分类头、候选评分或文本生成；都需要核对业务条件。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外部参考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外部参考</a:t>
            </a:r>
          </a:p>
        </p:txBody>
      </p:sp>
      <p:sp>
        <p:nvSpPr>
          <p:cNvPr id="4" name="TEXT: JevBench：同时看能力、校准、速度与成本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JevBench：同时看能力、校准、速度与成本</a:t>
            </a:r>
          </a:p>
        </p:txBody>
      </p:sp>
      <p:sp>
        <p:nvSpPr>
          <p:cNvPr id="5" name="TEXT: 公开 API 榜单节选；综合分低，不代表回答正确率同样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API 榜单节选；综合分低，不代表回答正确率同样低。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5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模型"/>
          <p:cNvSpPr txBox="1"/>
          <p:nvPr/>
        </p:nvSpPr>
        <p:spPr>
          <a:xfrm>
            <a:off x="731520" y="210769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20866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综合分"/>
          <p:cNvSpPr txBox="1"/>
          <p:nvPr/>
        </p:nvSpPr>
        <p:spPr>
          <a:xfrm>
            <a:off x="4937759" y="210769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1" y="2011680"/>
            <a:ext cx="226954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能力轴分"/>
          <p:cNvSpPr txBox="1"/>
          <p:nvPr/>
        </p:nvSpPr>
        <p:spPr>
          <a:xfrm>
            <a:off x="7040879" y="210769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能力轴分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1" y="2011680"/>
            <a:ext cx="23152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延迟 P50"/>
          <p:cNvSpPr txBox="1"/>
          <p:nvPr/>
        </p:nvSpPr>
        <p:spPr>
          <a:xfrm>
            <a:off x="9326879" y="210769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87168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1.13"/>
          <p:cNvSpPr txBox="1"/>
          <p:nvPr/>
        </p:nvSpPr>
        <p:spPr>
          <a:xfrm>
            <a:off x="731520" y="2583180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2487168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71.5"/>
          <p:cNvSpPr txBox="1"/>
          <p:nvPr/>
        </p:nvSpPr>
        <p:spPr>
          <a:xfrm>
            <a:off x="4937759" y="2583180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2487168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3.6"/>
          <p:cNvSpPr txBox="1"/>
          <p:nvPr/>
        </p:nvSpPr>
        <p:spPr>
          <a:xfrm>
            <a:off x="7040879" y="2583180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1" y="2487168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.239 s"/>
          <p:cNvSpPr txBox="1"/>
          <p:nvPr/>
        </p:nvSpPr>
        <p:spPr>
          <a:xfrm>
            <a:off x="9326879" y="2583180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962656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GPT-6 Luna low"/>
          <p:cNvSpPr txBox="1"/>
          <p:nvPr/>
        </p:nvSpPr>
        <p:spPr>
          <a:xfrm>
            <a:off x="731520" y="3058668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1" y="2962656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0.5"/>
          <p:cNvSpPr txBox="1"/>
          <p:nvPr/>
        </p:nvSpPr>
        <p:spPr>
          <a:xfrm>
            <a:off x="4937759" y="3058668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1" y="2962656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96.6"/>
          <p:cNvSpPr txBox="1"/>
          <p:nvPr/>
        </p:nvSpPr>
        <p:spPr>
          <a:xfrm>
            <a:off x="7040879" y="3058668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1" y="2962656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.854 s"/>
          <p:cNvSpPr txBox="1"/>
          <p:nvPr/>
        </p:nvSpPr>
        <p:spPr>
          <a:xfrm>
            <a:off x="9326879" y="3058668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438144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Gemini 3.1 Flash Lite"/>
          <p:cNvSpPr txBox="1"/>
          <p:nvPr/>
        </p:nvSpPr>
        <p:spPr>
          <a:xfrm>
            <a:off x="731520" y="3534156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 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1" y="3438144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6.9"/>
          <p:cNvSpPr txBox="1"/>
          <p:nvPr/>
        </p:nvSpPr>
        <p:spPr>
          <a:xfrm>
            <a:off x="4937759" y="3534156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1151" y="3438144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.6"/>
          <p:cNvSpPr txBox="1"/>
          <p:nvPr/>
        </p:nvSpPr>
        <p:spPr>
          <a:xfrm>
            <a:off x="7040879" y="3534156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3438144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0.957 s"/>
          <p:cNvSpPr txBox="1"/>
          <p:nvPr/>
        </p:nvSpPr>
        <p:spPr>
          <a:xfrm>
            <a:off x="9326879" y="3534156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913632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DeepSeek V4.1 Flash"/>
          <p:cNvSpPr txBox="1"/>
          <p:nvPr/>
        </p:nvSpPr>
        <p:spPr>
          <a:xfrm>
            <a:off x="731520" y="4009644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1" y="3913632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7.1"/>
          <p:cNvSpPr txBox="1"/>
          <p:nvPr/>
        </p:nvSpPr>
        <p:spPr>
          <a:xfrm>
            <a:off x="4937759" y="4009644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1" y="3913632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94.7"/>
          <p:cNvSpPr txBox="1"/>
          <p:nvPr/>
        </p:nvSpPr>
        <p:spPr>
          <a:xfrm>
            <a:off x="7040879" y="4009644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1" y="3913632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.038 s"/>
          <p:cNvSpPr txBox="1"/>
          <p:nvPr/>
        </p:nvSpPr>
        <p:spPr>
          <a:xfrm>
            <a:off x="9326879" y="4009644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89120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Qwen3.8 27B"/>
          <p:cNvSpPr txBox="1"/>
          <p:nvPr/>
        </p:nvSpPr>
        <p:spPr>
          <a:xfrm>
            <a:off x="731520" y="448513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28031" y="4389120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0.0"/>
          <p:cNvSpPr txBox="1"/>
          <p:nvPr/>
        </p:nvSpPr>
        <p:spPr>
          <a:xfrm>
            <a:off x="4937759" y="448513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1" y="4389120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96.4"/>
          <p:cNvSpPr txBox="1"/>
          <p:nvPr/>
        </p:nvSpPr>
        <p:spPr>
          <a:xfrm>
            <a:off x="7040879" y="448513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1" y="4389120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7.095 s"/>
          <p:cNvSpPr txBox="1"/>
          <p:nvPr/>
        </p:nvSpPr>
        <p:spPr>
          <a:xfrm>
            <a:off x="9326879" y="448513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58" name="TEXT: 例如：Qwen 的能力轴高，但速度等轴拉低综合分。选型时应分别查看各轴。"/>
          <p:cNvSpPr txBox="1"/>
          <p:nvPr/>
        </p:nvSpPr>
        <p:spPr>
          <a:xfrm>
            <a:off x="731520" y="5093208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例如：Qwen 的能力轴高，但速度等轴拉低综合分。选型时应分别查看各轴。</a:t>
            </a:r>
          </a:p>
        </p:txBody>
      </p:sp>
      <p:sp>
        <p:nvSpPr>
          <p:cNvPr id="59" name="TEXT: 评测与方法：benchmarkheaven.com/jev-models/api"/>
          <p:cNvSpPr txBox="1"/>
          <p:nvPr/>
        </p:nvSpPr>
        <p:spPr>
          <a:xfrm>
            <a:off x="731520" y="5532120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评测与方法：benchmarkheaven.com/jev-models/api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演示架构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演示架构</a:t>
            </a:r>
          </a:p>
        </p:txBody>
      </p:sp>
      <p:sp>
        <p:nvSpPr>
          <p:cNvPr id="4" name="TEXT: 同一业务后端，连接三个决策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同一业务后端，连接三个决策模型</a:t>
            </a:r>
          </a:p>
        </p:txBody>
      </p:sp>
      <p:sp>
        <p:nvSpPr>
          <p:cNvPr id="5" name="TEXT: 前端 S3 + CloudFront OAC；用户名登录；ECS 执行支付、路由与结果记录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 S3 + CloudFront OAC；用户名登录；ECS 执行支付、路由与结果记录。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6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11680"/>
            <a:ext cx="10817352" cy="3749039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868680" y="210312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487168"/>
            <a:ext cx="4553712" cy="3127248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3310128" y="2624328"/>
            <a:ext cx="4023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926080"/>
            <a:ext cx="2404872" cy="2578608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子网"/>
          <p:cNvSpPr txBox="1"/>
          <p:nvPr/>
        </p:nvSpPr>
        <p:spPr>
          <a:xfrm>
            <a:off x="5276088" y="3026664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私有子网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3756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aws-cloudfront-087F72.png" descr="aws-cloudfron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65576"/>
            <a:ext cx="338328" cy="338328"/>
          </a:xfrm>
          <a:prstGeom prst="rect">
            <a:avLst/>
          </a:prstGeom>
        </p:spPr>
      </p:pic>
      <p:sp>
        <p:nvSpPr>
          <p:cNvPr id="18" name="TEXT: CloudFront"/>
          <p:cNvSpPr txBox="1"/>
          <p:nvPr/>
        </p:nvSpPr>
        <p:spPr>
          <a:xfrm>
            <a:off x="1481328" y="350215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7200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s3-087F72.png" descr="aws-s3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00016"/>
            <a:ext cx="338328" cy="338328"/>
          </a:xfrm>
          <a:prstGeom prst="rect">
            <a:avLst/>
          </a:prstGeom>
        </p:spPr>
      </p:pic>
      <p:sp>
        <p:nvSpPr>
          <p:cNvPr id="21" name="TEXT: S3 私有桶 OAC 访问"/>
          <p:cNvSpPr txBox="1"/>
          <p:nvPr/>
        </p:nvSpPr>
        <p:spPr>
          <a:xfrm>
            <a:off x="1481328" y="473659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S3 私有桶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OAC 访问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37560"/>
            <a:ext cx="150876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aws-alb-087F72.png" descr="aws-alb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65576"/>
            <a:ext cx="338328" cy="338328"/>
          </a:xfrm>
          <a:prstGeom prst="rect">
            <a:avLst/>
          </a:prstGeom>
        </p:spPr>
      </p:pic>
      <p:sp>
        <p:nvSpPr>
          <p:cNvPr id="24" name="TEXT: ALB"/>
          <p:cNvSpPr txBox="1"/>
          <p:nvPr/>
        </p:nvSpPr>
        <p:spPr>
          <a:xfrm>
            <a:off x="3831335" y="3502152"/>
            <a:ext cx="92354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ALB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33756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aws-fargate-087F72.png" descr="aws-fargate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3465576"/>
            <a:ext cx="338328" cy="338328"/>
          </a:xfrm>
          <a:prstGeom prst="rect">
            <a:avLst/>
          </a:prstGeom>
        </p:spPr>
      </p:pic>
      <p:sp>
        <p:nvSpPr>
          <p:cNvPr id="27" name="TEXT: ECS Fargate 业务后端"/>
          <p:cNvSpPr txBox="1"/>
          <p:nvPr/>
        </p:nvSpPr>
        <p:spPr>
          <a:xfrm>
            <a:off x="5733288" y="350215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业务后端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9512" y="457200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AGE: aws-ec2-087F72.png" descr="aws-ec2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700016"/>
            <a:ext cx="338328" cy="338328"/>
          </a:xfrm>
          <a:prstGeom prst="rect">
            <a:avLst/>
          </a:prstGeom>
        </p:spPr>
      </p:pic>
      <p:sp>
        <p:nvSpPr>
          <p:cNvPr id="30" name="TEXT: EC2 g6.xlarge Decider v19"/>
          <p:cNvSpPr txBox="1"/>
          <p:nvPr/>
        </p:nvSpPr>
        <p:spPr>
          <a:xfrm>
            <a:off x="5733288" y="473659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15768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aws-dynamodb-087F72.png" descr="aws-dynamodb-087F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43784"/>
            <a:ext cx="338328" cy="338328"/>
          </a:xfrm>
          <a:prstGeom prst="rect">
            <a:avLst/>
          </a:prstGeom>
        </p:spPr>
      </p:pic>
      <p:sp>
        <p:nvSpPr>
          <p:cNvPr id="33" name="TEXT: DynamoDB · 状态 / 记录"/>
          <p:cNvSpPr txBox="1"/>
          <p:nvPr/>
        </p:nvSpPr>
        <p:spPr>
          <a:xfrm>
            <a:off x="8723376" y="2880360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 · 状态 / 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58184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MAGE: aws-bedrock-087F72.png" descr="aws-bedrock-087F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338328" cy="338328"/>
          </a:xfrm>
          <a:prstGeom prst="rect">
            <a:avLst/>
          </a:prstGeom>
        </p:spPr>
      </p:pic>
      <p:sp>
        <p:nvSpPr>
          <p:cNvPr id="36" name="TEXT: Amazon Bedrock · GPT"/>
          <p:cNvSpPr txBox="1"/>
          <p:nvPr/>
        </p:nvSpPr>
        <p:spPr>
          <a:xfrm>
            <a:off x="8723376" y="3922776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Bedrock · GPT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800600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MAGE: aws-lambda-087F72.png" descr="aws-lambda-087F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928616"/>
            <a:ext cx="338328" cy="338328"/>
          </a:xfrm>
          <a:prstGeom prst="rect">
            <a:avLst/>
          </a:prstGeom>
        </p:spPr>
      </p:pic>
      <p:sp>
        <p:nvSpPr>
          <p:cNvPr id="39" name="TEXT: Lambda → Jev 公网 API"/>
          <p:cNvSpPr txBox="1"/>
          <p:nvPr/>
        </p:nvSpPr>
        <p:spPr>
          <a:xfrm>
            <a:off x="8723376" y="4965192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→ Jev 公网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38528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3785615"/>
            <a:ext cx="384048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4608" y="3785615"/>
            <a:ext cx="347472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82127" y="3163824"/>
            <a:ext cx="0" cy="62179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2127" y="3163824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2127" y="3785615"/>
            <a:ext cx="0" cy="420625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82127" y="4206240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82127" y="3785615"/>
            <a:ext cx="0" cy="146304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2127" y="5248656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: 浏览器 → HTTPS"/>
          <p:cNvSpPr txBox="1"/>
          <p:nvPr/>
        </p:nvSpPr>
        <p:spPr>
          <a:xfrm>
            <a:off x="987552" y="2770632"/>
            <a:ext cx="19202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→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</a:t>
            </a:r>
          </a:p>
        </p:txBody>
      </p:sp>
      <p:sp>
        <p:nvSpPr>
          <p:cNvPr id="4" name="TEXT: 四个场景，同样经过五个业务节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四个场景，同样经过五个业务节点</a:t>
            </a:r>
          </a:p>
        </p:txBody>
      </p:sp>
      <p:sp>
        <p:nvSpPr>
          <p:cNvPr id="5" name="TEXT: 提交业务事实、问题与候选项；三个模型使用相同输入，分别推进各自的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提交业务事实、问题与候选项；三个模型使用相同输入，分别推进各自的业务状态。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7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con-headse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客服受理"/>
          <p:cNvSpPr txBox="1"/>
          <p:nvPr/>
        </p:nvSpPr>
        <p:spPr>
          <a:xfrm>
            <a:off x="822960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TEXT: 识别用户诉求"/>
          <p:cNvSpPr txBox="1"/>
          <p:nvPr/>
        </p:nvSpPr>
        <p:spPr>
          <a:xfrm>
            <a:off x="822960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识别用户诉求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3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07791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search-087F72.png" descr="icon-search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1" y="2578608"/>
            <a:ext cx="283464" cy="283464"/>
          </a:xfrm>
          <a:prstGeom prst="rect">
            <a:avLst/>
          </a:prstGeom>
        </p:spPr>
      </p:pic>
      <p:sp>
        <p:nvSpPr>
          <p:cNvPr id="17" name="TEXT: 交易核验"/>
          <p:cNvSpPr txBox="1"/>
          <p:nvPr/>
        </p:nvSpPr>
        <p:spPr>
          <a:xfrm>
            <a:off x="3044951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8" name="TEXT: 确认数 / 金额"/>
          <p:cNvSpPr txBox="1"/>
          <p:nvPr/>
        </p:nvSpPr>
        <p:spPr>
          <a:xfrm>
            <a:off x="3044951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/ 金额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9783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shield-check-087F72.png" descr="icon-shiel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578608"/>
            <a:ext cx="283464" cy="283464"/>
          </a:xfrm>
          <a:prstGeom prst="rect">
            <a:avLst/>
          </a:prstGeom>
        </p:spPr>
      </p:pic>
      <p:sp>
        <p:nvSpPr>
          <p:cNvPr id="22" name="TEXT: 风控审批"/>
          <p:cNvSpPr txBox="1"/>
          <p:nvPr/>
        </p:nvSpPr>
        <p:spPr>
          <a:xfrm>
            <a:off x="5266944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3" name="TEXT: 风险 / 退款地址"/>
          <p:cNvSpPr txBox="1"/>
          <p:nvPr/>
        </p:nvSpPr>
        <p:spPr>
          <a:xfrm>
            <a:off x="5266944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 / 退款地址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1775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wallet-087F72.png" descr="icon-wallet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578608"/>
            <a:ext cx="283464" cy="283464"/>
          </a:xfrm>
          <a:prstGeom prst="rect">
            <a:avLst/>
          </a:prstGeom>
        </p:spPr>
      </p:pic>
      <p:sp>
        <p:nvSpPr>
          <p:cNvPr id="27" name="TEXT: 交易处置"/>
          <p:cNvSpPr txBox="1"/>
          <p:nvPr/>
        </p:nvSpPr>
        <p:spPr>
          <a:xfrm>
            <a:off x="7488936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交易处置</a:t>
            </a:r>
          </a:p>
        </p:txBody>
      </p:sp>
      <p:sp>
        <p:nvSpPr>
          <p:cNvPr id="28" name="TEXT: 等待 / 补款 / 入账"/>
          <p:cNvSpPr txBox="1"/>
          <p:nvPr/>
        </p:nvSpPr>
        <p:spPr>
          <a:xfrm>
            <a:off x="7488936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入账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79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3767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MAGE: icon-receipt-text-087F72.png" descr="icon-receipt-text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578608"/>
            <a:ext cx="283464" cy="283464"/>
          </a:xfrm>
          <a:prstGeom prst="rect">
            <a:avLst/>
          </a:prstGeom>
        </p:spPr>
      </p:pic>
      <p:sp>
        <p:nvSpPr>
          <p:cNvPr id="32" name="TEXT: 客服回复"/>
          <p:cNvSpPr txBox="1"/>
          <p:nvPr/>
        </p:nvSpPr>
        <p:spPr>
          <a:xfrm>
            <a:off x="9710928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客服回复</a:t>
            </a:r>
          </a:p>
        </p:txBody>
      </p:sp>
      <p:sp>
        <p:nvSpPr>
          <p:cNvPr id="33" name="TEXT: 跟进 / 结案"/>
          <p:cNvSpPr txBox="1"/>
          <p:nvPr/>
        </p:nvSpPr>
        <p:spPr>
          <a:xfrm>
            <a:off x="9710928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跟进 / 结案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USDC 未到账"/>
          <p:cNvSpPr txBox="1"/>
          <p:nvPr/>
        </p:nvSpPr>
        <p:spPr>
          <a:xfrm>
            <a:off x="859536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7" name="TEXT: 129 USDC；确认数 3/12"/>
          <p:cNvSpPr txBox="1"/>
          <p:nvPr/>
        </p:nvSpPr>
        <p:spPr>
          <a:xfrm>
            <a:off x="859536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USDC；确认数 3/12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7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7" y="4434840"/>
            <a:ext cx="41148" cy="1133856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USDT 少付"/>
          <p:cNvSpPr txBox="1"/>
          <p:nvPr/>
        </p:nvSpPr>
        <p:spPr>
          <a:xfrm>
            <a:off x="3611879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41" name="TEXT: 应付 100；实收 99.80"/>
          <p:cNvSpPr txBox="1"/>
          <p:nvPr/>
        </p:nvSpPr>
        <p:spPr>
          <a:xfrm>
            <a:off x="3611879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100；实收 99.80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1" y="4434840"/>
            <a:ext cx="41148" cy="113385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稳定币退款"/>
          <p:cNvSpPr txBox="1"/>
          <p:nvPr/>
        </p:nvSpPr>
        <p:spPr>
          <a:xfrm>
            <a:off x="6364223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5" name="TEXT: 退款地址尚未验证"/>
          <p:cNvSpPr txBox="1"/>
          <p:nvPr/>
        </p:nvSpPr>
        <p:spPr>
          <a:xfrm>
            <a:off x="6364223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退款地址尚未验证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商户结算"/>
          <p:cNvSpPr txBox="1"/>
          <p:nvPr/>
        </p:nvSpPr>
        <p:spPr>
          <a:xfrm>
            <a:off x="9116567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9" name="TEXT: 已超过 60 分钟 SLA"/>
          <p:cNvSpPr txBox="1"/>
          <p:nvPr/>
        </p:nvSpPr>
        <p:spPr>
          <a:xfrm>
            <a:off x="9116567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已超过 60 分钟 SLA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业务闭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业务闭环</a:t>
            </a:r>
          </a:p>
        </p:txBody>
      </p:sp>
      <p:sp>
        <p:nvSpPr>
          <p:cNvPr id="4" name="TEXT: 闭环由新事实推动：确认到账，再入账和结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闭环由新事实推动：确认到账，再入账和结案</a:t>
            </a:r>
          </a:p>
        </p:txBody>
      </p:sp>
      <p:sp>
        <p:nvSpPr>
          <p:cNvPr id="5" name="TEXT: USDC 沙盒：模拟器推进确认数，执行器更新订单；模型读取执行结果后重新选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沙盒：模拟器推进确认数，执行器更新订单；模型读取执行结果后重新选择。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4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timer-087F72.png" descr="icon-tim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等待确认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等待确认</a:t>
            </a:r>
          </a:p>
        </p:txBody>
      </p:sp>
      <p:sp>
        <p:nvSpPr>
          <p:cNvPr id="13" name="TEXT: 当前 3 / 12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epeat-2-087F72.png" descr="icon-repeat-2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推进模拟交易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推进模拟交易</a:t>
            </a:r>
          </a:p>
        </p:txBody>
      </p:sp>
      <p:sp>
        <p:nvSpPr>
          <p:cNvPr id="18" name="TEXT: 确认数变为 12 / 12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确认数变为 12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clipboard-check-087F72.png" descr="icon-clipboar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重新核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重新核验</a:t>
            </a:r>
          </a:p>
        </p:txBody>
      </p:sp>
      <p:sp>
        <p:nvSpPr>
          <p:cNvPr id="23" name="TEXT: 金额足额且已确认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金额足额且已确认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ircle-check-087F72.png" descr="icon-circle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入账并结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入账并结案</a:t>
            </a:r>
          </a:p>
        </p:txBody>
      </p:sp>
      <p:sp>
        <p:nvSpPr>
          <p:cNvPr id="28" name="TEXT: 129 USDC 已入账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 已入账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4267903"/>
            <a:ext cx="10799064" cy="115683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MAGE: pending-loop-status.png" descr="pending-loop-stat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95335"/>
            <a:ext cx="10744200" cy="110196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五步都返回答案 ≠ 业务已完成。以入账记录、订单状态与工单状态验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五步都返回答案 ≠ 业务已完成。以入账记录、订单状态与工单状态验收。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模型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主演示：模型路由</a:t>
            </a:r>
          </a:p>
        </p:txBody>
      </p:sp>
      <p:sp>
        <p:nvSpPr>
          <p:cNvPr id="4" name="TEXT: 用户只给任务，决策模型先选流程、再选型号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用户只给任务，决策模型先选流程、再选型号</a:t>
            </a:r>
          </a:p>
        </p:txBody>
      </p:sp>
      <p:sp>
        <p:nvSpPr>
          <p:cNvPr id="5" name="TEXT: 服务端补充可用模型与能力资料；三个决策模型比较同一份候选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服务端补充可用模型与能力资料；三个决策模型比较同一份候选证据。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5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15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任务原文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任务原文</a:t>
            </a:r>
          </a:p>
        </p:txBody>
      </p:sp>
      <p:sp>
        <p:nvSpPr>
          <p:cNvPr id="13" name="TEXT: 客服 / 代码 / 分析 / 索引"/>
          <p:cNvSpPr txBox="1"/>
          <p:nvPr/>
        </p:nvSpPr>
        <p:spPr>
          <a:xfrm>
            <a:off x="82296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 / 代码 / 分析 / 索引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oute-087F72.png" descr="icon-route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第 1 次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1 次判断</a:t>
            </a:r>
          </a:p>
        </p:txBody>
      </p:sp>
      <p:sp>
        <p:nvSpPr>
          <p:cNvPr id="18" name="TEXT: 直接答复、代码、分析、向量"/>
          <p:cNvSpPr txBox="1"/>
          <p:nvPr/>
        </p:nvSpPr>
        <p:spPr>
          <a:xfrm>
            <a:off x="3600449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直接答复、代码、分析、向量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ayers-087F72.png" descr="icon-layers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补充模型资料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补充模型资料</a:t>
            </a:r>
          </a:p>
        </p:txBody>
      </p:sp>
      <p:sp>
        <p:nvSpPr>
          <p:cNvPr id="23" name="TEXT: 区域可用性 + 第三方排名"/>
          <p:cNvSpPr txBox="1"/>
          <p:nvPr/>
        </p:nvSpPr>
        <p:spPr>
          <a:xfrm>
            <a:off x="637794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区域可用性 + 第三方排名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list-filter-087F72.png" descr="icon-list-filter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第 2 次判断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2 次判断</a:t>
            </a:r>
          </a:p>
        </p:txBody>
      </p:sp>
      <p:sp>
        <p:nvSpPr>
          <p:cNvPr id="28" name="TEXT: 从流程候选中选型号"/>
          <p:cNvSpPr txBox="1"/>
          <p:nvPr/>
        </p:nvSpPr>
        <p:spPr>
          <a:xfrm>
            <a:off x="915543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从流程候选中选型号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90288"/>
            <a:ext cx="526694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590288"/>
            <a:ext cx="41148" cy="9692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候选事实"/>
          <p:cNvSpPr txBox="1"/>
          <p:nvPr/>
        </p:nvSpPr>
        <p:spPr>
          <a:xfrm>
            <a:off x="850392" y="4681727"/>
            <a:ext cx="493775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候选事实</a:t>
            </a:r>
          </a:p>
        </p:txBody>
      </p:sp>
      <p:sp>
        <p:nvSpPr>
          <p:cNvPr id="32" name="TEXT: LiveBench 等文本证据；MTEB / MIRACL 向量证据。"/>
          <p:cNvSpPr txBox="1"/>
          <p:nvPr/>
        </p:nvSpPr>
        <p:spPr>
          <a:xfrm>
            <a:off x="850392" y="5074920"/>
            <a:ext cx="493775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LiveBench 等文本证据；MTEB / MIRACL 向量证据。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90288"/>
            <a:ext cx="527608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90288"/>
            <a:ext cx="41148" cy="96926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本次测到的范围"/>
          <p:cNvSpPr txBox="1"/>
          <p:nvPr/>
        </p:nvSpPr>
        <p:spPr>
          <a:xfrm>
            <a:off x="6336792" y="4681727"/>
            <a:ext cx="4946903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本次测到的范围</a:t>
            </a:r>
          </a:p>
        </p:txBody>
      </p:sp>
      <p:sp>
        <p:nvSpPr>
          <p:cNvPr id="36" name="TEXT: 两次路由选择与耗时；尚未执行选中的下游模型。"/>
          <p:cNvSpPr txBox="1"/>
          <p:nvPr/>
        </p:nvSpPr>
        <p:spPr>
          <a:xfrm>
            <a:off x="6336792" y="5074920"/>
            <a:ext cx="4946903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两次路由选择与耗时；尚未执行选中的下游模型。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路由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主演示：路由结果</a:t>
            </a:r>
          </a:p>
        </p:txBody>
      </p:sp>
      <p:sp>
        <p:nvSpPr>
          <p:cNvPr id="4" name="TEXT: 流程判断一致，具体型号选择出现差异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流程判断一致，具体型号选择出现差异</a:t>
            </a:r>
          </a:p>
        </p:txBody>
      </p:sp>
      <p:sp>
        <p:nvSpPr>
          <p:cNvPr id="5" name="TEXT: 每格为所选型号与两次决策总耗时；GPT 决策器为 GPT-6 Sol low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每格为所选型号与两次决策总耗时；GPT 决策器为 GPT-6 Sol low。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6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675180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423160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95544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011680"/>
            <a:ext cx="3074212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67928" y="2107692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高频客服"/>
          <p:cNvSpPr txBox="1"/>
          <p:nvPr/>
        </p:nvSpPr>
        <p:spPr>
          <a:xfrm>
            <a:off x="731520" y="2802636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Opus 5 461.0 ms"/>
          <p:cNvSpPr txBox="1"/>
          <p:nvPr/>
        </p:nvSpPr>
        <p:spPr>
          <a:xfrm>
            <a:off x="2423160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Opus 5.5 747.9 ms"/>
          <p:cNvSpPr txBox="1"/>
          <p:nvPr/>
        </p:nvSpPr>
        <p:spPr>
          <a:xfrm>
            <a:off x="5495544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706624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GPT-6 Luna 1464.8 ms"/>
          <p:cNvSpPr txBox="1"/>
          <p:nvPr/>
        </p:nvSpPr>
        <p:spPr>
          <a:xfrm>
            <a:off x="8567928" y="2802636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01568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交易代码"/>
          <p:cNvSpPr txBox="1"/>
          <p:nvPr/>
        </p:nvSpPr>
        <p:spPr>
          <a:xfrm>
            <a:off x="731520" y="3497580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Opus 5 522.6 ms"/>
          <p:cNvSpPr txBox="1"/>
          <p:nvPr/>
        </p:nvSpPr>
        <p:spPr>
          <a:xfrm>
            <a:off x="2423160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Sonnet 5.5 933.3 ms"/>
          <p:cNvSpPr txBox="1"/>
          <p:nvPr/>
        </p:nvSpPr>
        <p:spPr>
          <a:xfrm>
            <a:off x="5495544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401568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Sonnet 5.5 6168.2 ms"/>
          <p:cNvSpPr txBox="1"/>
          <p:nvPr/>
        </p:nvSpPr>
        <p:spPr>
          <a:xfrm>
            <a:off x="8567928" y="3497580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结算分析"/>
          <p:cNvSpPr txBox="1"/>
          <p:nvPr/>
        </p:nvSpPr>
        <p:spPr>
          <a:xfrm>
            <a:off x="731520" y="4192524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Opus 5 504.6 ms"/>
          <p:cNvSpPr txBox="1"/>
          <p:nvPr/>
        </p:nvSpPr>
        <p:spPr>
          <a:xfrm>
            <a:off x="2423160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Opus 5.5 820.4 ms"/>
          <p:cNvSpPr txBox="1"/>
          <p:nvPr/>
        </p:nvSpPr>
        <p:spPr>
          <a:xfrm>
            <a:off x="5495544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096512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PT-6.1 Sol 12106.1 ms"/>
          <p:cNvSpPr txBox="1"/>
          <p:nvPr/>
        </p:nvSpPr>
        <p:spPr>
          <a:xfrm>
            <a:off x="8567928" y="4192524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791456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中英文索引"/>
          <p:cNvSpPr txBox="1"/>
          <p:nvPr/>
        </p:nvSpPr>
        <p:spPr>
          <a:xfrm>
            <a:off x="731520" y="4887468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Embed English 182.2 ms"/>
          <p:cNvSpPr txBox="1"/>
          <p:nvPr/>
        </p:nvSpPr>
        <p:spPr>
          <a:xfrm>
            <a:off x="2423160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85816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Embed Multilingual 801.7 ms"/>
          <p:cNvSpPr txBox="1"/>
          <p:nvPr/>
        </p:nvSpPr>
        <p:spPr>
          <a:xfrm>
            <a:off x="5495544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791456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Embed Multilingual 1900.8 ms"/>
          <p:cNvSpPr txBox="1"/>
          <p:nvPr/>
        </p:nvSpPr>
        <p:spPr>
          <a:xfrm>
            <a:off x="8567928" y="4887468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9612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代码任务：Jev / GPT 选 Sonnet 5.5；中英文索引：Decider 选了英文向量模型。"/>
          <p:cNvSpPr txBox="1"/>
          <p:nvPr/>
        </p:nvSpPr>
        <p:spPr>
          <a:xfrm>
            <a:off x="768096" y="566928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代码任务：Jev / GPT 选 Sonnet 5.5；中英文索引：Decider 选了英文向量模型。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证据使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主演示：证据使用</a:t>
            </a:r>
          </a:p>
        </p:txBody>
      </p:sp>
      <p:sp>
        <p:nvSpPr>
          <p:cNvPr id="4" name="TEXT: 拿到了同一上下文，仍可能没有选对证据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拿到了同一上下文，仍可能没有选对证据</a:t>
            </a:r>
          </a:p>
        </p:txBody>
      </p:sp>
      <p:sp>
        <p:nvSpPr>
          <p:cNvPr id="5" name="TEXT: 中英文工单索引的真实截图：三侧都选向量流程，Decider 选择 Embed English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中英文工单索引的真实截图：三侧都选向量流程，Decider 选择 Embed English。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7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17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12" y="2029968"/>
            <a:ext cx="10159102" cy="30358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outing-retrieval-results.png" descr="routing-retrieva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44" y="2057400"/>
            <a:ext cx="10104238" cy="2980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5129784"/>
            <a:ext cx="524865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5129784"/>
            <a:ext cx="41148" cy="8229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中文检索证据"/>
          <p:cNvSpPr txBox="1"/>
          <p:nvPr/>
        </p:nvSpPr>
        <p:spPr>
          <a:xfrm>
            <a:off x="859536" y="5221224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中文检索证据</a:t>
            </a:r>
          </a:p>
        </p:txBody>
      </p:sp>
      <p:sp>
        <p:nvSpPr>
          <p:cNvPr id="15" name="TEXT: MIRACL 中文：English 4.18；Multilingual 60.65。"/>
          <p:cNvSpPr txBox="1"/>
          <p:nvPr/>
        </p:nvSpPr>
        <p:spPr>
          <a:xfrm>
            <a:off x="859536" y="5614416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MIRACL 中文：English 4.18；Multilingual 60.65。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129784"/>
            <a:ext cx="533095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5129784"/>
            <a:ext cx="41148" cy="8229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代码能力证据"/>
          <p:cNvSpPr txBox="1"/>
          <p:nvPr/>
        </p:nvSpPr>
        <p:spPr>
          <a:xfrm>
            <a:off x="6327648" y="5221224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代码能力证据</a:t>
            </a:r>
          </a:p>
        </p:txBody>
      </p:sp>
      <p:sp>
        <p:nvSpPr>
          <p:cNvPr id="19" name="TEXT: Coding：Sonnet 5.5 为 91.37；Opus 5 为 81.45。"/>
          <p:cNvSpPr txBox="1"/>
          <p:nvPr/>
        </p:nvSpPr>
        <p:spPr>
          <a:xfrm>
            <a:off x="6327648" y="5614416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Coding：Sonnet 5.5 为 91.37；Opus 5 为 81.45。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新增：场景验证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新增：场景验证</a:t>
            </a:r>
          </a:p>
        </p:txBody>
      </p:sp>
      <p:sp>
        <p:nvSpPr>
          <p:cNvPr id="4" name="TEXT: 从演示样例，扩展到 466 次有记录的调用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从演示样例，扩展到 466 次有记录的调用</a:t>
            </a:r>
          </a:p>
        </p:txBody>
      </p:sp>
      <p:sp>
        <p:nvSpPr>
          <p:cNvPr id="5" name="TEXT: Decider v19 原版服务 vs Jev 1.13.0；这轮验证没有 GPT，也没有使用 vLLM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 原版服务 vs Jev 1.13.0；这轮验证没有 GPT，也没有使用 vLLM。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8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4950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验"/>
          <p:cNvSpPr txBox="1"/>
          <p:nvPr/>
        </p:nvSpPr>
        <p:spPr>
          <a:xfrm>
            <a:off x="731520" y="2107692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2011680"/>
            <a:ext cx="304678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评分单位"/>
          <p:cNvSpPr txBox="1"/>
          <p:nvPr/>
        </p:nvSpPr>
        <p:spPr>
          <a:xfrm>
            <a:off x="2697480" y="2107692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评分单位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0992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"/>
          <p:cNvSpPr txBox="1"/>
          <p:nvPr/>
        </p:nvSpPr>
        <p:spPr>
          <a:xfrm>
            <a:off x="5760720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1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Jev"/>
          <p:cNvSpPr txBox="1"/>
          <p:nvPr/>
        </p:nvSpPr>
        <p:spPr>
          <a:xfrm>
            <a:off x="7772399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1" y="2011680"/>
            <a:ext cx="94366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真实调用"/>
          <p:cNvSpPr txBox="1"/>
          <p:nvPr/>
        </p:nvSpPr>
        <p:spPr>
          <a:xfrm>
            <a:off x="9784079" y="2107692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87752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Skills"/>
          <p:cNvSpPr txBox="1"/>
          <p:nvPr/>
        </p:nvSpPr>
        <p:spPr>
          <a:xfrm>
            <a:off x="731520" y="2683764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2587752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5 个可判定问题"/>
          <p:cNvSpPr txBox="1"/>
          <p:nvPr/>
        </p:nvSpPr>
        <p:spPr>
          <a:xfrm>
            <a:off x="2697480" y="2683764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 个可判定问题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992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0/65"/>
          <p:cNvSpPr txBox="1"/>
          <p:nvPr/>
        </p:nvSpPr>
        <p:spPr>
          <a:xfrm>
            <a:off x="5760720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5/65"/>
          <p:cNvSpPr txBox="1"/>
          <p:nvPr/>
        </p:nvSpPr>
        <p:spPr>
          <a:xfrm>
            <a:off x="7772399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65/65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1" y="2587752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64"/>
          <p:cNvSpPr txBox="1"/>
          <p:nvPr/>
        </p:nvSpPr>
        <p:spPr>
          <a:xfrm>
            <a:off x="9784079" y="2683764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63824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真实浏览器"/>
          <p:cNvSpPr txBox="1"/>
          <p:nvPr/>
        </p:nvSpPr>
        <p:spPr>
          <a:xfrm>
            <a:off x="731520" y="3259836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真实浏览器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87752" y="3163824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 任务 × 2 轮"/>
          <p:cNvSpPr txBox="1"/>
          <p:nvPr/>
        </p:nvSpPr>
        <p:spPr>
          <a:xfrm>
            <a:off x="2697480" y="3259836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任务 × 2 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4/10 完成"/>
          <p:cNvSpPr txBox="1"/>
          <p:nvPr/>
        </p:nvSpPr>
        <p:spPr>
          <a:xfrm>
            <a:off x="5760720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4/10 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62671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0/10 完成"/>
          <p:cNvSpPr txBox="1"/>
          <p:nvPr/>
        </p:nvSpPr>
        <p:spPr>
          <a:xfrm>
            <a:off x="7772399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 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74351" y="3163824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"/>
          <p:cNvSpPr txBox="1"/>
          <p:nvPr/>
        </p:nvSpPr>
        <p:spPr>
          <a:xfrm>
            <a:off x="9784079" y="3259836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39896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金融业务"/>
          <p:cNvSpPr txBox="1"/>
          <p:nvPr/>
        </p:nvSpPr>
        <p:spPr>
          <a:xfrm>
            <a:off x="731520" y="3835908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金融业务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87752" y="3739896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 题，原始顺序"/>
          <p:cNvSpPr txBox="1"/>
          <p:nvPr/>
        </p:nvSpPr>
        <p:spPr>
          <a:xfrm>
            <a:off x="2697480" y="3835908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 题，原始顺序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50992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2/30"/>
          <p:cNvSpPr txBox="1"/>
          <p:nvPr/>
        </p:nvSpPr>
        <p:spPr>
          <a:xfrm>
            <a:off x="5760720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22/30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2671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8/30"/>
          <p:cNvSpPr txBox="1"/>
          <p:nvPr/>
        </p:nvSpPr>
        <p:spPr>
          <a:xfrm>
            <a:off x="7772399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28/30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74351" y="3739896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20"/>
          <p:cNvSpPr txBox="1"/>
          <p:nvPr/>
        </p:nvSpPr>
        <p:spPr>
          <a:xfrm>
            <a:off x="9784079" y="3835908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15968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政策路由"/>
          <p:cNvSpPr txBox="1"/>
          <p:nvPr/>
        </p:nvSpPr>
        <p:spPr>
          <a:xfrm>
            <a:off x="731520" y="4411980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政策路由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87752" y="4315968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2 题 × 2 顺序"/>
          <p:cNvSpPr txBox="1"/>
          <p:nvPr/>
        </p:nvSpPr>
        <p:spPr>
          <a:xfrm>
            <a:off x="2697480" y="4411980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 题 × 2 顺序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50992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25/64"/>
          <p:cNvSpPr txBox="1"/>
          <p:nvPr/>
        </p:nvSpPr>
        <p:spPr>
          <a:xfrm>
            <a:off x="5760720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25/64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62671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6/64"/>
          <p:cNvSpPr txBox="1"/>
          <p:nvPr/>
        </p:nvSpPr>
        <p:spPr>
          <a:xfrm>
            <a:off x="7772399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46/64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74351" y="4315968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224*"/>
          <p:cNvSpPr txBox="1"/>
          <p:nvPr/>
        </p:nvSpPr>
        <p:spPr>
          <a:xfrm>
            <a:off x="9784079" y="4411980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224*</a:t>
            </a:r>
          </a:p>
        </p:txBody>
      </p:sp>
      <p:sp>
        <p:nvSpPr>
          <p:cNvPr id="60" name="TEXT: * 路由 224 次包含自然语言候选诊断；金融 120 次包含两种候选顺序。"/>
          <p:cNvSpPr txBox="1"/>
          <p:nvPr/>
        </p:nvSpPr>
        <p:spPr>
          <a:xfrm>
            <a:off x="749808" y="5202936"/>
            <a:ext cx="10698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* 路由 224 次包含自然语言候选诊断；金融 120 次包含两种候选顺序。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有效返回 466/466，说明接口能完成请求；业务选择和任务完成需要另外评分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有效返回 466/466，说明接口能完成请求；业务选择和任务完成需要另外评分。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Skills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场景验证：Skills</a:t>
            </a:r>
          </a:p>
        </p:txBody>
      </p:sp>
      <p:sp>
        <p:nvSpPr>
          <p:cNvPr id="4" name="TEXT: 分类与局部选择接近，证据核验拉开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分类与局部选择接近，证据核验拉开差距</a:t>
            </a:r>
          </a:p>
        </p:txBody>
      </p:sp>
      <p:sp>
        <p:nvSpPr>
          <p:cNvPr id="5" name="TEXT: 32 个输入包含多个独立问题；68 个返回中，3 个歧义问题只验协议、不计语义成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32 个输入包含多个独立问题；68 个返回中，3 个歧义问题只验协议、不计语义成绩。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9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19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56138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用途"/>
          <p:cNvSpPr txBox="1"/>
          <p:nvPr/>
        </p:nvSpPr>
        <p:spPr>
          <a:xfrm>
            <a:off x="731520" y="210769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1" y="2011680"/>
            <a:ext cx="263530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309359" y="210769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1392" y="2011680"/>
            <a:ext cx="268102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961119" y="210769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450592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分类 / 意图"/>
          <p:cNvSpPr txBox="1"/>
          <p:nvPr/>
        </p:nvSpPr>
        <p:spPr>
          <a:xfrm>
            <a:off x="731520" y="254660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分类 / 意图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2450592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3/13"/>
          <p:cNvSpPr txBox="1"/>
          <p:nvPr/>
        </p:nvSpPr>
        <p:spPr>
          <a:xfrm>
            <a:off x="6309359" y="254660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1392" y="2450592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3/13"/>
          <p:cNvSpPr txBox="1"/>
          <p:nvPr/>
        </p:nvSpPr>
        <p:spPr>
          <a:xfrm>
            <a:off x="8961119" y="254660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889504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工具 / 局部动作"/>
          <p:cNvSpPr txBox="1"/>
          <p:nvPr/>
        </p:nvSpPr>
        <p:spPr>
          <a:xfrm>
            <a:off x="731520" y="2985516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工具 / 局部动作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2889504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0/10"/>
          <p:cNvSpPr txBox="1"/>
          <p:nvPr/>
        </p:nvSpPr>
        <p:spPr>
          <a:xfrm>
            <a:off x="6309359" y="2985516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2" y="2889504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0/10"/>
          <p:cNvSpPr txBox="1"/>
          <p:nvPr/>
        </p:nvSpPr>
        <p:spPr>
          <a:xfrm>
            <a:off x="8961119" y="2985516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328416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上下文筛选"/>
          <p:cNvSpPr txBox="1"/>
          <p:nvPr/>
        </p:nvSpPr>
        <p:spPr>
          <a:xfrm>
            <a:off x="731520" y="3424428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上下文筛选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1" y="3328416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6/6"/>
          <p:cNvSpPr txBox="1"/>
          <p:nvPr/>
        </p:nvSpPr>
        <p:spPr>
          <a:xfrm>
            <a:off x="6309359" y="3424428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51392" y="3328416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6/6"/>
          <p:cNvSpPr txBox="1"/>
          <p:nvPr/>
        </p:nvSpPr>
        <p:spPr>
          <a:xfrm>
            <a:off x="8961119" y="3424428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67328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恢复 / 完成检查"/>
          <p:cNvSpPr txBox="1"/>
          <p:nvPr/>
        </p:nvSpPr>
        <p:spPr>
          <a:xfrm>
            <a:off x="731520" y="3863340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恢复 / 完成检查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1" y="3767328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7/8"/>
          <p:cNvSpPr txBox="1"/>
          <p:nvPr/>
        </p:nvSpPr>
        <p:spPr>
          <a:xfrm>
            <a:off x="6309359" y="3863340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7/8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1392" y="3767328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8/8"/>
          <p:cNvSpPr txBox="1"/>
          <p:nvPr/>
        </p:nvSpPr>
        <p:spPr>
          <a:xfrm>
            <a:off x="8961119" y="3863340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206240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证据核验"/>
          <p:cNvSpPr txBox="1"/>
          <p:nvPr/>
        </p:nvSpPr>
        <p:spPr>
          <a:xfrm>
            <a:off x="731520" y="430225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1" y="4206240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11/20"/>
          <p:cNvSpPr txBox="1"/>
          <p:nvPr/>
        </p:nvSpPr>
        <p:spPr>
          <a:xfrm>
            <a:off x="6309359" y="430225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51392" y="4206240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0/20"/>
          <p:cNvSpPr txBox="1"/>
          <p:nvPr/>
        </p:nvSpPr>
        <p:spPr>
          <a:xfrm>
            <a:off x="8961119" y="430225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20/20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4645152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等级评分"/>
          <p:cNvSpPr txBox="1"/>
          <p:nvPr/>
        </p:nvSpPr>
        <p:spPr>
          <a:xfrm>
            <a:off x="731520" y="474116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等级评分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1" y="4645152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3/8"/>
          <p:cNvSpPr txBox="1"/>
          <p:nvPr/>
        </p:nvSpPr>
        <p:spPr>
          <a:xfrm>
            <a:off x="6309359" y="474116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51392" y="4645152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8/8"/>
          <p:cNvSpPr txBox="1"/>
          <p:nvPr/>
        </p:nvSpPr>
        <p:spPr>
          <a:xfrm>
            <a:off x="8961119" y="474116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52" name="TEXT: 本批客户端 RTT 中位数：Decider 164.6 ms；Jev 119.9 ms。"/>
          <p:cNvSpPr txBox="1"/>
          <p:nvPr/>
        </p:nvSpPr>
        <p:spPr>
          <a:xfrm>
            <a:off x="768096" y="5193792"/>
            <a:ext cx="10652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本批客户端 RTT 中位数：Decider 164.6 ms；Jev 119.9 ms。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555040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典型偏差：任务还在排队却选择结束；断言换成 assert True 仍支持完成。"/>
          <p:cNvSpPr txBox="1"/>
          <p:nvPr/>
        </p:nvSpPr>
        <p:spPr>
          <a:xfrm>
            <a:off x="768096" y="562356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典型偏差：任务还在排队却选择结束；断言换成 assert True 仍支持完成。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真实浏览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场景验证：真实浏览器</a:t>
            </a:r>
          </a:p>
        </p:txBody>
      </p:sp>
      <p:sp>
        <p:nvSpPr>
          <p:cNvPr id="4" name="TEXT: 多步操作要验收目标页面，不能只看 finish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多步操作要验收目标页面，不能只看 finish</a:t>
            </a:r>
          </a:p>
        </p:txBody>
      </p:sp>
      <p:sp>
        <p:nvSpPr>
          <p:cNvPr id="5" name="TEXT: 模型读取页面文字与 DOM，Playwright 执行真实点击、填写与搜索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模型读取页面文字与 DOM，Playwright 执行真实点击、填写与搜索。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0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629290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152" y="2011680"/>
            <a:ext cx="226954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7040880" y="210769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17152" y="2011680"/>
            <a:ext cx="231526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326880" y="210769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23744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Wikipedia：Basel III 搜索"/>
          <p:cNvSpPr txBox="1"/>
          <p:nvPr/>
        </p:nvSpPr>
        <p:spPr>
          <a:xfrm>
            <a:off x="731520" y="2619756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Wikipedia：Basel III 搜索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2523744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/2"/>
          <p:cNvSpPr txBox="1"/>
          <p:nvPr/>
        </p:nvSpPr>
        <p:spPr>
          <a:xfrm>
            <a:off x="7040880" y="2619756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523744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2/2"/>
          <p:cNvSpPr txBox="1"/>
          <p:nvPr/>
        </p:nvSpPr>
        <p:spPr>
          <a:xfrm>
            <a:off x="9326880" y="2619756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35808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CFPB：信用卡账单争议"/>
          <p:cNvSpPr txBox="1"/>
          <p:nvPr/>
        </p:nvSpPr>
        <p:spPr>
          <a:xfrm>
            <a:off x="731520" y="3131820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CFPB：信用卡账单争议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3035808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/2"/>
          <p:cNvSpPr txBox="1"/>
          <p:nvPr/>
        </p:nvSpPr>
        <p:spPr>
          <a:xfrm>
            <a:off x="7040880" y="3131820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3035808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2/2"/>
          <p:cNvSpPr txBox="1"/>
          <p:nvPr/>
        </p:nvSpPr>
        <p:spPr>
          <a:xfrm>
            <a:off x="9326880" y="3131820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47872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ECB：美元汇率详情"/>
          <p:cNvSpPr txBox="1"/>
          <p:nvPr/>
        </p:nvSpPr>
        <p:spPr>
          <a:xfrm>
            <a:off x="731520" y="3643884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ECB：美元汇率详情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2" y="3547872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2/2"/>
          <p:cNvSpPr txBox="1"/>
          <p:nvPr/>
        </p:nvSpPr>
        <p:spPr>
          <a:xfrm>
            <a:off x="7040880" y="3643884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2" y="3547872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2/2"/>
          <p:cNvSpPr txBox="1"/>
          <p:nvPr/>
        </p:nvSpPr>
        <p:spPr>
          <a:xfrm>
            <a:off x="9326880" y="3643884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59936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FDIC：保险 FAQ"/>
          <p:cNvSpPr txBox="1"/>
          <p:nvPr/>
        </p:nvSpPr>
        <p:spPr>
          <a:xfrm>
            <a:off x="731520" y="4155948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FDIC：保险 FAQ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4059936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2"/>
          <p:cNvSpPr txBox="1"/>
          <p:nvPr/>
        </p:nvSpPr>
        <p:spPr>
          <a:xfrm>
            <a:off x="7040880" y="4155948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2" y="4059936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2/2"/>
          <p:cNvSpPr txBox="1"/>
          <p:nvPr/>
        </p:nvSpPr>
        <p:spPr>
          <a:xfrm>
            <a:off x="9326880" y="4155948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572000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FDIC：银行机构查询"/>
          <p:cNvSpPr txBox="1"/>
          <p:nvPr/>
        </p:nvSpPr>
        <p:spPr>
          <a:xfrm>
            <a:off x="731520" y="466801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FDIC：银行机构查询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31152" y="4572000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0/2"/>
          <p:cNvSpPr txBox="1"/>
          <p:nvPr/>
        </p:nvSpPr>
        <p:spPr>
          <a:xfrm>
            <a:off x="7040880" y="466801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4572000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/2"/>
          <p:cNvSpPr txBox="1"/>
          <p:nvPr/>
        </p:nvSpPr>
        <p:spPr>
          <a:xfrm>
            <a:off x="9326880" y="466801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" y="553212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Decider 6 次过早结束；没有 API 或浏览器动作错误来解释这些失败。"/>
          <p:cNvSpPr txBox="1"/>
          <p:nvPr/>
        </p:nvSpPr>
        <p:spPr>
          <a:xfrm>
            <a:off x="768096" y="560527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6 次过早结束；没有 API 或浏览器动作错误来解释这些失败。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真实过程截图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真实过程截图</a:t>
            </a:r>
          </a:p>
        </p:txBody>
      </p:sp>
      <p:sp>
        <p:nvSpPr>
          <p:cNvPr id="4" name="TEXT: 银行查询：停在入口页，与查到机构是两种结果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银行查询：停在入口页，与查到机构是两种结果</a:t>
            </a:r>
          </a:p>
        </p:txBody>
      </p:sp>
      <p:sp>
        <p:nvSpPr>
          <p:cNvPr id="5" name="TEXT: 同一任务：查找 JPMorgan Chase Bank；截图来自第二轮真实浏览器终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同一任务：查找 JPMorgan Chase Bank；截图来自第二轮真实浏览器终点。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1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21 / 35</a:t>
            </a:r>
          </a:p>
        </p:txBody>
      </p:sp>
      <p:sp>
        <p:nvSpPr>
          <p:cNvPr id="10" name="TEXT: Decider · 2 步后结束"/>
          <p:cNvSpPr txBox="1"/>
          <p:nvPr/>
        </p:nvSpPr>
        <p:spPr>
          <a:xfrm>
            <a:off x="694944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2 步后结束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293" y="2505456"/>
            <a:ext cx="4896813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bank-search-decider.png" descr="bank-search-dec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5" y="2532888"/>
            <a:ext cx="4841949" cy="3172968"/>
          </a:xfrm>
          <a:prstGeom prst="rect">
            <a:avLst/>
          </a:prstGeom>
        </p:spPr>
      </p:pic>
      <p:sp>
        <p:nvSpPr>
          <p:cNvPr id="13" name="TEXT: 返回 BankFind 入口，没有提交查询"/>
          <p:cNvSpPr txBox="1"/>
          <p:nvPr/>
        </p:nvSpPr>
        <p:spPr>
          <a:xfrm>
            <a:off x="694944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返回 BankFind 入口，没有提交查询</a:t>
            </a:r>
          </a:p>
        </p:txBody>
      </p:sp>
      <p:sp>
        <p:nvSpPr>
          <p:cNvPr id="14" name="TEXT: Jev · 6 步完成"/>
          <p:cNvSpPr txBox="1"/>
          <p:nvPr/>
        </p:nvSpPr>
        <p:spPr>
          <a:xfrm>
            <a:off x="6172200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6 步完成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9987" y="2505456"/>
            <a:ext cx="4623937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bank-search-jev.png" descr="bank-search-j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19" y="2532888"/>
            <a:ext cx="4569073" cy="3172968"/>
          </a:xfrm>
          <a:prstGeom prst="rect">
            <a:avLst/>
          </a:prstGeom>
        </p:spPr>
      </p:pic>
      <p:sp>
        <p:nvSpPr>
          <p:cNvPr id="17" name="TEXT: 返回目标机构；FDIC Cert 628"/>
          <p:cNvSpPr txBox="1"/>
          <p:nvPr/>
        </p:nvSpPr>
        <p:spPr>
          <a:xfrm>
            <a:off x="6172200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返回目标机构；FDIC Cert 628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金融业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场景验证：金融业务</a:t>
            </a:r>
          </a:p>
        </p:txBody>
      </p:sp>
      <p:sp>
        <p:nvSpPr>
          <p:cNvPr id="4" name="TEXT: 会分类，不代表能正确核验金额和条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会分类，不代表能正确核验金额和条件</a:t>
            </a:r>
          </a:p>
        </p:txBody>
      </p:sp>
      <p:sp>
        <p:nvSpPr>
          <p:cNvPr id="5" name="TEXT: 新闻、财报、存款保险、汇率业务；30 道独立题，按原始候选顺序统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新闻、财报、存款保险、汇率业务；30 道独立题，按原始候选顺序统计。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2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65282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"/>
          <p:cNvSpPr txBox="1"/>
          <p:nvPr/>
        </p:nvSpPr>
        <p:spPr>
          <a:xfrm>
            <a:off x="731520" y="2107692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2011680"/>
            <a:ext cx="258958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400800" y="2107692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2011680"/>
            <a:ext cx="263530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006840" y="2107692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32888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财经新闻分类"/>
          <p:cNvSpPr txBox="1"/>
          <p:nvPr/>
        </p:nvSpPr>
        <p:spPr>
          <a:xfrm>
            <a:off x="731520" y="2628900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财经新闻分类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2532888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1/12"/>
          <p:cNvSpPr txBox="1"/>
          <p:nvPr/>
        </p:nvSpPr>
        <p:spPr>
          <a:xfrm>
            <a:off x="6400800" y="2628900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7112" y="2532888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1/12"/>
          <p:cNvSpPr txBox="1"/>
          <p:nvPr/>
        </p:nvSpPr>
        <p:spPr>
          <a:xfrm>
            <a:off x="9006840" y="2628900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54096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财报证据核验"/>
          <p:cNvSpPr txBox="1"/>
          <p:nvPr/>
        </p:nvSpPr>
        <p:spPr>
          <a:xfrm>
            <a:off x="731520" y="3150108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财报证据核验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3054096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/6"/>
          <p:cNvSpPr txBox="1"/>
          <p:nvPr/>
        </p:nvSpPr>
        <p:spPr>
          <a:xfrm>
            <a:off x="6400800" y="3150108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7112" y="3054096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/6"/>
          <p:cNvSpPr txBox="1"/>
          <p:nvPr/>
        </p:nvSpPr>
        <p:spPr>
          <a:xfrm>
            <a:off x="9006840" y="3150108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75304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存款保险初筛"/>
          <p:cNvSpPr txBox="1"/>
          <p:nvPr/>
        </p:nvSpPr>
        <p:spPr>
          <a:xfrm>
            <a:off x="731520" y="3671316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存款保险初筛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3575304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5/6"/>
          <p:cNvSpPr txBox="1"/>
          <p:nvPr/>
        </p:nvSpPr>
        <p:spPr>
          <a:xfrm>
            <a:off x="6400800" y="3671316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3575304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6"/>
          <p:cNvSpPr txBox="1"/>
          <p:nvPr/>
        </p:nvSpPr>
        <p:spPr>
          <a:xfrm>
            <a:off x="9006840" y="3671316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汇率报表 / 付款分流"/>
          <p:cNvSpPr txBox="1"/>
          <p:nvPr/>
        </p:nvSpPr>
        <p:spPr>
          <a:xfrm>
            <a:off x="731520" y="4192524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汇率报表 / 付款分流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4096512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6"/>
          <p:cNvSpPr txBox="1"/>
          <p:nvPr/>
        </p:nvSpPr>
        <p:spPr>
          <a:xfrm>
            <a:off x="6400800" y="4192524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7112" y="4096512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6/6"/>
          <p:cNvSpPr txBox="1"/>
          <p:nvPr/>
        </p:nvSpPr>
        <p:spPr>
          <a:xfrm>
            <a:off x="9006840" y="4192524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837176"/>
            <a:ext cx="10762488" cy="109728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共同错误：同银行、同类别的 18 万 + 12 万美元账户"/>
          <p:cNvSpPr txBox="1"/>
          <p:nvPr/>
        </p:nvSpPr>
        <p:spPr>
          <a:xfrm>
            <a:off x="914400" y="4992624"/>
            <a:ext cx="1035100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共同错误：同银行、同类别的 18 万 + 12 万美元账户</a:t>
            </a:r>
          </a:p>
        </p:txBody>
      </p:sp>
      <p:sp>
        <p:nvSpPr>
          <p:cNvPr id="42" name="TEXT: 两个模型都选“全部受保”；应合并为 30 万，25 万受保、5 万超限。"/>
          <p:cNvSpPr txBox="1"/>
          <p:nvPr/>
        </p:nvSpPr>
        <p:spPr>
          <a:xfrm>
            <a:off x="914400" y="5486400"/>
            <a:ext cx="1035100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两个模型都选“全部受保”；应合并为 30 万，25 万受保、5 万超限。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政策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场景验证：政策路由</a:t>
            </a:r>
          </a:p>
        </p:txBody>
      </p:sp>
      <p:sp>
        <p:nvSpPr>
          <p:cNvPr id="4" name="TEXT: 任务分流能做好，复合约束仍容易漏判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任务分流能做好，复合约束仍容易漏判</a:t>
            </a:r>
          </a:p>
        </p:txBody>
      </p:sp>
      <p:sp>
        <p:nvSpPr>
          <p:cNvPr id="5" name="TEXT: 独立于网页四任务实验：32 题 × 2 种顺序；自然语言对照只复测后 24 题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独立于网页四任务实验：32 题 × 2 种顺序；自然语言对照只复测后 24 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3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23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245242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题型"/>
          <p:cNvSpPr txBox="1"/>
          <p:nvPr/>
        </p:nvSpPr>
        <p:spPr>
          <a:xfrm>
            <a:off x="731520" y="2107692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题型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011680"/>
            <a:ext cx="194950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原始"/>
          <p:cNvSpPr txBox="1"/>
          <p:nvPr/>
        </p:nvSpPr>
        <p:spPr>
          <a:xfrm>
            <a:off x="3200400" y="2107692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原始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2011680"/>
            <a:ext cx="185806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原始"/>
          <p:cNvSpPr txBox="1"/>
          <p:nvPr/>
        </p:nvSpPr>
        <p:spPr>
          <a:xfrm>
            <a:off x="5166360" y="2107692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原始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2011680"/>
            <a:ext cx="2562148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自然语言"/>
          <p:cNvSpPr txBox="1"/>
          <p:nvPr/>
        </p:nvSpPr>
        <p:spPr>
          <a:xfrm>
            <a:off x="7040880" y="2107692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自然语言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011680"/>
            <a:ext cx="2022652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自然语言"/>
          <p:cNvSpPr txBox="1"/>
          <p:nvPr/>
        </p:nvSpPr>
        <p:spPr>
          <a:xfrm>
            <a:off x="9619488" y="2107692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自然语言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96896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任务语义分流"/>
          <p:cNvSpPr txBox="1"/>
          <p:nvPr/>
        </p:nvSpPr>
        <p:spPr>
          <a:xfrm>
            <a:off x="731520" y="2692908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任务语义分流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2596896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6/16"/>
          <p:cNvSpPr txBox="1"/>
          <p:nvPr/>
        </p:nvSpPr>
        <p:spPr>
          <a:xfrm>
            <a:off x="3200400" y="2692908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16/16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6632" y="2596896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5/16"/>
          <p:cNvSpPr txBox="1"/>
          <p:nvPr/>
        </p:nvSpPr>
        <p:spPr>
          <a:xfrm>
            <a:off x="5166360" y="2692908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596896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—"/>
          <p:cNvSpPr txBox="1"/>
          <p:nvPr/>
        </p:nvSpPr>
        <p:spPr>
          <a:xfrm>
            <a:off x="7040880" y="2692908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596896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—"/>
          <p:cNvSpPr txBox="1"/>
          <p:nvPr/>
        </p:nvSpPr>
        <p:spPr>
          <a:xfrm>
            <a:off x="9619488" y="2692908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82112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能力 / 上下文"/>
          <p:cNvSpPr txBox="1"/>
          <p:nvPr/>
        </p:nvSpPr>
        <p:spPr>
          <a:xfrm>
            <a:off x="731520" y="3278124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 / 上下文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182112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/16"/>
          <p:cNvSpPr txBox="1"/>
          <p:nvPr/>
        </p:nvSpPr>
        <p:spPr>
          <a:xfrm>
            <a:off x="3200400" y="3278124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3/16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6632" y="3182112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7/16"/>
          <p:cNvSpPr txBox="1"/>
          <p:nvPr/>
        </p:nvSpPr>
        <p:spPr>
          <a:xfrm>
            <a:off x="5166360" y="3278124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3182112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16"/>
          <p:cNvSpPr txBox="1"/>
          <p:nvPr/>
        </p:nvSpPr>
        <p:spPr>
          <a:xfrm>
            <a:off x="7040880" y="3278124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3182112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7/16"/>
          <p:cNvSpPr txBox="1"/>
          <p:nvPr/>
        </p:nvSpPr>
        <p:spPr>
          <a:xfrm>
            <a:off x="9619488" y="3278124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67328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成本 / 预算"/>
          <p:cNvSpPr txBox="1"/>
          <p:nvPr/>
        </p:nvSpPr>
        <p:spPr>
          <a:xfrm>
            <a:off x="731520" y="3863340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成本 / 预算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90672" y="3767328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2/16"/>
          <p:cNvSpPr txBox="1"/>
          <p:nvPr/>
        </p:nvSpPr>
        <p:spPr>
          <a:xfrm>
            <a:off x="3200400" y="3863340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56632" y="3767328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9/16"/>
          <p:cNvSpPr txBox="1"/>
          <p:nvPr/>
        </p:nvSpPr>
        <p:spPr>
          <a:xfrm>
            <a:off x="5166360" y="3863340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3767328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/16"/>
          <p:cNvSpPr txBox="1"/>
          <p:nvPr/>
        </p:nvSpPr>
        <p:spPr>
          <a:xfrm>
            <a:off x="7040880" y="3863340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3767328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9/16"/>
          <p:cNvSpPr txBox="1"/>
          <p:nvPr/>
        </p:nvSpPr>
        <p:spPr>
          <a:xfrm>
            <a:off x="9619488" y="3863340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52544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可用性 / 回退"/>
          <p:cNvSpPr txBox="1"/>
          <p:nvPr/>
        </p:nvSpPr>
        <p:spPr>
          <a:xfrm>
            <a:off x="731520" y="4448556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可用性 / 回退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90672" y="4352544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4/16"/>
          <p:cNvSpPr txBox="1"/>
          <p:nvPr/>
        </p:nvSpPr>
        <p:spPr>
          <a:xfrm>
            <a:off x="3200400" y="4448556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56632" y="4352544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15/16"/>
          <p:cNvSpPr txBox="1"/>
          <p:nvPr/>
        </p:nvSpPr>
        <p:spPr>
          <a:xfrm>
            <a:off x="5166360" y="4448556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31152" y="4352544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/16"/>
          <p:cNvSpPr txBox="1"/>
          <p:nvPr/>
        </p:nvSpPr>
        <p:spPr>
          <a:xfrm>
            <a:off x="7040880" y="4448556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4352544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15/16"/>
          <p:cNvSpPr txBox="1"/>
          <p:nvPr/>
        </p:nvSpPr>
        <p:spPr>
          <a:xfrm>
            <a:off x="9619488" y="4448556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60" name="TEXT: 复合政策合计"/>
          <p:cNvSpPr txBox="1"/>
          <p:nvPr/>
        </p:nvSpPr>
        <p:spPr>
          <a:xfrm>
            <a:off x="822960" y="5157216"/>
            <a:ext cx="22860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复合政策合计</a:t>
            </a:r>
          </a:p>
        </p:txBody>
      </p:sp>
      <p:sp>
        <p:nvSpPr>
          <p:cNvPr id="61" name="TEXT: Decider 9/48 → 8/48     Jev 31/48 → 31/48"/>
          <p:cNvSpPr txBox="1"/>
          <p:nvPr/>
        </p:nvSpPr>
        <p:spPr>
          <a:xfrm>
            <a:off x="3246120" y="5166360"/>
            <a:ext cx="795527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 9/48 → 8/48     Jev 31/48 → 31/48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561441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把候选改成自然语言，没有修复多约束比较；Decider 在自然语言批次全部选择 no_route。"/>
          <p:cNvSpPr txBox="1"/>
          <p:nvPr/>
        </p:nvSpPr>
        <p:spPr>
          <a:xfrm>
            <a:off x="768096" y="568756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把候选改成自然语言，没有修复多约束比较；Decider 在自然语言批次全部选择 no_route。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引用验证：动作规划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引用验证：动作规划</a:t>
            </a:r>
          </a:p>
        </p:txBody>
      </p:sp>
      <p:sp>
        <p:nvSpPr>
          <p:cNvPr id="4" name="TEXT: 俄罗斯方块：改写候选，也未消除动作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俄罗斯方块：改写候选，也未消除动作差距</a:t>
            </a:r>
          </a:p>
        </p:txBody>
      </p:sp>
      <p:sp>
        <p:nvSpPr>
          <p:cNvPr id="5" name="TEXT: 独立项目记录：同一 seed 42，每局最多 50 块；主比较全部由模型选择落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独立项目记录：同一 seed 42，每局最多 50 块；主比较全部由模型选择落点。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4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24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359542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候选表达"/>
          <p:cNvSpPr txBox="1"/>
          <p:nvPr/>
        </p:nvSpPr>
        <p:spPr>
          <a:xfrm>
            <a:off x="731520" y="210769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候选表达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4343400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1271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000999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651760"/>
            <a:ext cx="35954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数字字段"/>
          <p:cNvSpPr txBox="1"/>
          <p:nvPr/>
        </p:nvSpPr>
        <p:spPr>
          <a:xfrm>
            <a:off x="731520" y="274777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数字字段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36 块 / 0 行"/>
          <p:cNvSpPr txBox="1"/>
          <p:nvPr/>
        </p:nvSpPr>
        <p:spPr>
          <a:xfrm>
            <a:off x="4343400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36 块 / 0 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50 块 / 19 行"/>
          <p:cNvSpPr txBox="1"/>
          <p:nvPr/>
        </p:nvSpPr>
        <p:spPr>
          <a:xfrm>
            <a:off x="8000999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291840"/>
            <a:ext cx="35954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自然语言"/>
          <p:cNvSpPr txBox="1"/>
          <p:nvPr/>
        </p:nvSpPr>
        <p:spPr>
          <a:xfrm>
            <a:off x="731520" y="338785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自然语言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3 块 / 2 行"/>
          <p:cNvSpPr txBox="1"/>
          <p:nvPr/>
        </p:nvSpPr>
        <p:spPr>
          <a:xfrm>
            <a:off x="4343400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 块 / 2 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91271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0 块 / 19 行"/>
          <p:cNvSpPr txBox="1"/>
          <p:nvPr/>
        </p:nvSpPr>
        <p:spPr>
          <a:xfrm>
            <a:off x="8000999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306824"/>
            <a:ext cx="5239512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306824"/>
            <a:ext cx="41148" cy="1371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固定棋盘诊断"/>
          <p:cNvSpPr txBox="1"/>
          <p:nvPr/>
        </p:nvSpPr>
        <p:spPr>
          <a:xfrm>
            <a:off x="877824" y="4398264"/>
            <a:ext cx="49103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固定棋盘诊断</a:t>
            </a:r>
          </a:p>
        </p:txBody>
      </p:sp>
      <p:sp>
        <p:nvSpPr>
          <p:cNvPr id="31" name="TEXT: Decider：数字版 3/3 次选较差动作。 Jev：两种表达均 0/3。"/>
          <p:cNvSpPr txBox="1"/>
          <p:nvPr/>
        </p:nvSpPr>
        <p:spPr>
          <a:xfrm>
            <a:off x="877824" y="4791456"/>
            <a:ext cx="4910328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Decider：数字版 3/3 次选较差动作。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Jev：两种表达均 0/3。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306824"/>
            <a:ext cx="530352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306824"/>
            <a:ext cx="41148" cy="1371600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游戏结论：本局优先 Jev"/>
          <p:cNvSpPr txBox="1"/>
          <p:nvPr/>
        </p:nvSpPr>
        <p:spPr>
          <a:xfrm>
            <a:off x="6336792" y="4398264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游戏结论：本局优先 Jev</a:t>
            </a:r>
          </a:p>
        </p:txBody>
      </p:sp>
      <p:sp>
        <p:nvSpPr>
          <p:cNvPr id="35" name="TEXT: 自然语言版：251.1 vs 1414.5 ms/落点。 适合继续验证动作选择；仅测一个种子。"/>
          <p:cNvSpPr txBox="1"/>
          <p:nvPr/>
        </p:nvSpPr>
        <p:spPr>
          <a:xfrm>
            <a:off x="6336792" y="4791456"/>
            <a:ext cx="4974336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自然语言版：251.1 vs 1414.5 ms/落点。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适合继续验证动作选择；仅测一个种子。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Jev 场景结论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Jev 场景结论</a:t>
            </a:r>
          </a:p>
        </p:txBody>
      </p:sp>
      <p:sp>
        <p:nvSpPr>
          <p:cNvPr id="4" name="TEXT: Jev：证据核验和多步操作表现更好，复杂规则仍需复核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Jev：证据核验和多步操作表现更好，复杂规则仍需复核</a:t>
            </a:r>
          </a:p>
        </p:txBody>
      </p:sp>
      <p:sp>
        <p:nvSpPr>
          <p:cNvPr id="5" name="TEXT: 本批业务效果更好；延迟并非每项领先。按实际输入，每千次 Jev API 约 $0.02–0.08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本批业务效果更好；延迟并非每项领先。按实际输入，每千次 Jev API 约 $0.02–0.08。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5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53802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测试场景"/>
          <p:cNvSpPr txBox="1"/>
          <p:nvPr/>
        </p:nvSpPr>
        <p:spPr>
          <a:xfrm>
            <a:off x="731520" y="210769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测试场景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2011680"/>
            <a:ext cx="2196388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业务结果 Jev / Decider"/>
          <p:cNvSpPr txBox="1"/>
          <p:nvPr/>
        </p:nvSpPr>
        <p:spPr>
          <a:xfrm>
            <a:off x="2286000" y="210769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/ 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1199692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ms"/>
          <p:cNvSpPr txBox="1"/>
          <p:nvPr/>
        </p:nvSpPr>
        <p:spPr>
          <a:xfrm>
            <a:off x="4498848" y="210769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5272" y="2011680"/>
            <a:ext cx="1373428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ms"/>
          <p:cNvSpPr txBox="1"/>
          <p:nvPr/>
        </p:nvSpPr>
        <p:spPr>
          <a:xfrm>
            <a:off x="5715000" y="210769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011680"/>
            <a:ext cx="1446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$/千次"/>
          <p:cNvSpPr txBox="1"/>
          <p:nvPr/>
        </p:nvSpPr>
        <p:spPr>
          <a:xfrm>
            <a:off x="7104888" y="210769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$/千次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011680"/>
            <a:ext cx="3074212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适用结论"/>
          <p:cNvSpPr txBox="1"/>
          <p:nvPr/>
        </p:nvSpPr>
        <p:spPr>
          <a:xfrm>
            <a:off x="8567928" y="210769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适用结论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651760"/>
            <a:ext cx="15380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Skills"/>
          <p:cNvSpPr txBox="1"/>
          <p:nvPr/>
        </p:nvSpPr>
        <p:spPr>
          <a:xfrm>
            <a:off x="731520" y="274777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76272" y="2651760"/>
            <a:ext cx="219638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65/65 · 50/65"/>
          <p:cNvSpPr txBox="1"/>
          <p:nvPr/>
        </p:nvSpPr>
        <p:spPr>
          <a:xfrm>
            <a:off x="2286000" y="274777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65/65 · 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651760"/>
            <a:ext cx="119969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19.9"/>
          <p:cNvSpPr txBox="1"/>
          <p:nvPr/>
        </p:nvSpPr>
        <p:spPr>
          <a:xfrm>
            <a:off x="4498848" y="274777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119.9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05272" y="2651760"/>
            <a:ext cx="137342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4.6"/>
          <p:cNvSpPr txBox="1"/>
          <p:nvPr/>
        </p:nvSpPr>
        <p:spPr>
          <a:xfrm>
            <a:off x="5715000" y="274777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164.6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651760"/>
            <a:ext cx="1446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021"/>
          <p:cNvSpPr txBox="1"/>
          <p:nvPr/>
        </p:nvSpPr>
        <p:spPr>
          <a:xfrm>
            <a:off x="7104888" y="274777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651760"/>
            <a:ext cx="307421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证据核验：Jev 优先"/>
          <p:cNvSpPr txBox="1"/>
          <p:nvPr/>
        </p:nvSpPr>
        <p:spPr>
          <a:xfrm>
            <a:off x="8567928" y="274777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证据核验：Jev 优先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291840"/>
            <a:ext cx="15380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真实浏览器"/>
          <p:cNvSpPr txBox="1"/>
          <p:nvPr/>
        </p:nvSpPr>
        <p:spPr>
          <a:xfrm>
            <a:off x="731520" y="338785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真实浏览器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291840"/>
            <a:ext cx="219638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0/10 · 4/10"/>
          <p:cNvSpPr txBox="1"/>
          <p:nvPr/>
        </p:nvSpPr>
        <p:spPr>
          <a:xfrm>
            <a:off x="2286000" y="338785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10/10 · 4/10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291840"/>
            <a:ext cx="119969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37.0"/>
          <p:cNvSpPr txBox="1"/>
          <p:nvPr/>
        </p:nvSpPr>
        <p:spPr>
          <a:xfrm>
            <a:off x="4498848" y="338785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137.0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05272" y="3291840"/>
            <a:ext cx="137342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227.3"/>
          <p:cNvSpPr txBox="1"/>
          <p:nvPr/>
        </p:nvSpPr>
        <p:spPr>
          <a:xfrm>
            <a:off x="5715000" y="338785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227.3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291840"/>
            <a:ext cx="1446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$0.080"/>
          <p:cNvSpPr txBox="1"/>
          <p:nvPr/>
        </p:nvSpPr>
        <p:spPr>
          <a:xfrm>
            <a:off x="7104888" y="338785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291840"/>
            <a:ext cx="307421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多步查找：Jev 优先"/>
          <p:cNvSpPr txBox="1"/>
          <p:nvPr/>
        </p:nvSpPr>
        <p:spPr>
          <a:xfrm>
            <a:off x="8567928" y="338785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多步查找：Jev 优先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931920"/>
            <a:ext cx="15380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金融初筛"/>
          <p:cNvSpPr txBox="1"/>
          <p:nvPr/>
        </p:nvSpPr>
        <p:spPr>
          <a:xfrm>
            <a:off x="731520" y="402793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金融初筛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76272" y="3931920"/>
            <a:ext cx="219638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8/30 · 22/30"/>
          <p:cNvSpPr txBox="1"/>
          <p:nvPr/>
        </p:nvSpPr>
        <p:spPr>
          <a:xfrm>
            <a:off x="2286000" y="402793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28/30 · 22/30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931920"/>
            <a:ext cx="119969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38.3"/>
          <p:cNvSpPr txBox="1"/>
          <p:nvPr/>
        </p:nvSpPr>
        <p:spPr>
          <a:xfrm>
            <a:off x="4498848" y="402793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138.3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05272" y="3931920"/>
            <a:ext cx="1373428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97.4"/>
          <p:cNvSpPr txBox="1"/>
          <p:nvPr/>
        </p:nvSpPr>
        <p:spPr>
          <a:xfrm>
            <a:off x="5715000" y="402793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97.4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5160" y="3931920"/>
            <a:ext cx="1446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0.031"/>
          <p:cNvSpPr txBox="1"/>
          <p:nvPr/>
        </p:nvSpPr>
        <p:spPr>
          <a:xfrm>
            <a:off x="7104888" y="402793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3931920"/>
            <a:ext cx="3074212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初筛可用；金额用代码"/>
          <p:cNvSpPr txBox="1"/>
          <p:nvPr/>
        </p:nvSpPr>
        <p:spPr>
          <a:xfrm>
            <a:off x="8567928" y="402793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初筛可用；金额用代码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" y="4572000"/>
            <a:ext cx="15380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政策路由"/>
          <p:cNvSpPr txBox="1"/>
          <p:nvPr/>
        </p:nvSpPr>
        <p:spPr>
          <a:xfrm>
            <a:off x="731520" y="4668012"/>
            <a:ext cx="13441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政策路由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76272" y="4572000"/>
            <a:ext cx="219638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46/64 · 25/64"/>
          <p:cNvSpPr txBox="1"/>
          <p:nvPr/>
        </p:nvSpPr>
        <p:spPr>
          <a:xfrm>
            <a:off x="2286000" y="4668012"/>
            <a:ext cx="200253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46/64 · 25/64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572000"/>
            <a:ext cx="119969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137.4"/>
          <p:cNvSpPr txBox="1"/>
          <p:nvPr/>
        </p:nvSpPr>
        <p:spPr>
          <a:xfrm>
            <a:off x="4498848" y="4668012"/>
            <a:ext cx="100584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137.4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05272" y="4572000"/>
            <a:ext cx="1373428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211.4"/>
          <p:cNvSpPr txBox="1"/>
          <p:nvPr/>
        </p:nvSpPr>
        <p:spPr>
          <a:xfrm>
            <a:off x="5715000" y="4668012"/>
            <a:ext cx="1179576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211.4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95160" y="4572000"/>
            <a:ext cx="1446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: $0.061"/>
          <p:cNvSpPr txBox="1"/>
          <p:nvPr/>
        </p:nvSpPr>
        <p:spPr>
          <a:xfrm>
            <a:off x="7104888" y="4668012"/>
            <a:ext cx="12527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4572000"/>
            <a:ext cx="3074212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 任务分流；约束用代码"/>
          <p:cNvSpPr txBox="1"/>
          <p:nvPr/>
        </p:nvSpPr>
        <p:spPr>
          <a:xfrm>
            <a:off x="8567928" y="4668012"/>
            <a:ext cx="2880360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任务分流；约束用代码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" y="552297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: Jev 可优先试点证据核验与多步操作；金额、资格、预算和最终完成条件，仍由程序独立验收。"/>
          <p:cNvSpPr txBox="1"/>
          <p:nvPr/>
        </p:nvSpPr>
        <p:spPr>
          <a:xfrm>
            <a:off x="768096" y="559612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 可优先试点证据核验与多步操作；金额、资格、预算和最终完成条件，仍由程序独立验收。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后续优化路线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后续优化路线</a:t>
            </a:r>
          </a:p>
        </p:txBody>
      </p:sp>
      <p:sp>
        <p:nvSpPr>
          <p:cNvPr id="4" name="TEXT: 把失败样本留下，再决定是否需要微调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把失败样本留下，再决定是否需要微调</a:t>
            </a:r>
          </a:p>
        </p:txBody>
      </p:sp>
      <p:sp>
        <p:nvSpPr>
          <p:cNvPr id="5" name="TEXT: 按业务拆开语义判断与确定性检查，让模型负责它能可靠完成的部分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按业务拆开语义判断与确定性检查，让模型负责它能可靠完成的部分。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6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26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clipboard-check-087F72.png" descr="icon-clipboard-check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冻结回归集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冻结回归集</a:t>
            </a:r>
          </a:p>
        </p:txBody>
      </p:sp>
      <p:sp>
        <p:nvSpPr>
          <p:cNvPr id="13" name="TEXT: 缺证据 / 早结束 / 错算"/>
          <p:cNvSpPr txBox="1"/>
          <p:nvPr/>
        </p:nvSpPr>
        <p:spPr>
          <a:xfrm>
            <a:off x="82296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缺证据 / 早结束 / 错算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ode-xml-087F72.png" descr="icon-code-xml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拆清业务条件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拆清业务条件</a:t>
            </a:r>
          </a:p>
        </p:txBody>
      </p:sp>
      <p:sp>
        <p:nvSpPr>
          <p:cNvPr id="18" name="TEXT: 金额、预算、能力用代码校验"/>
          <p:cNvSpPr txBox="1"/>
          <p:nvPr/>
        </p:nvSpPr>
        <p:spPr>
          <a:xfrm>
            <a:off x="3600449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金额、预算、能力用代码校验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brain-circuit-087F72.png" descr="icon-brain-circuit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再做领域训练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再做领域训练</a:t>
            </a:r>
          </a:p>
        </p:txBody>
      </p:sp>
      <p:sp>
        <p:nvSpPr>
          <p:cNvPr id="23" name="TEXT: LoRA / 决策头，加入困难反例"/>
          <p:cNvSpPr txBox="1"/>
          <p:nvPr/>
        </p:nvSpPr>
        <p:spPr>
          <a:xfrm>
            <a:off x="637794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/ 决策头，加入困难反例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shield-check-087F72.png" descr="icon-shiel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独立验收上线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独立验收上线</a:t>
            </a:r>
          </a:p>
        </p:txBody>
      </p:sp>
      <p:sp>
        <p:nvSpPr>
          <p:cNvPr id="28" name="TEXT: 完成度、校准、拒绝与回退"/>
          <p:cNvSpPr txBox="1"/>
          <p:nvPr/>
        </p:nvSpPr>
        <p:spPr>
          <a:xfrm>
            <a:off x="915543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完成度、校准、拒绝与回退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81144"/>
            <a:ext cx="524865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81144"/>
            <a:ext cx="41148" cy="10241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浏览器 / 支付"/>
          <p:cNvSpPr txBox="1"/>
          <p:nvPr/>
        </p:nvSpPr>
        <p:spPr>
          <a:xfrm>
            <a:off x="877824" y="4672583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/ 支付</a:t>
            </a:r>
          </a:p>
        </p:txBody>
      </p:sp>
      <p:sp>
        <p:nvSpPr>
          <p:cNvPr id="32" name="TEXT: finish 前核验页面、产物或账本；缺证据继续收集。"/>
          <p:cNvSpPr txBox="1"/>
          <p:nvPr/>
        </p:nvSpPr>
        <p:spPr>
          <a:xfrm>
            <a:off x="877824" y="5065776"/>
            <a:ext cx="491947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finish 前核验页面、产物或账本；缺证据继续收集。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81144"/>
            <a:ext cx="5303520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81144"/>
            <a:ext cx="41148" cy="10241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模型路由"/>
          <p:cNvSpPr txBox="1"/>
          <p:nvPr/>
        </p:nvSpPr>
        <p:spPr>
          <a:xfrm>
            <a:off x="6336792" y="4672583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模型路由</a:t>
            </a:r>
          </a:p>
        </p:txBody>
      </p:sp>
      <p:sp>
        <p:nvSpPr>
          <p:cNvPr id="36" name="TEXT: 语义分流交给模型；硬约束筛选后再排序和回退。"/>
          <p:cNvSpPr txBox="1"/>
          <p:nvPr/>
        </p:nvSpPr>
        <p:spPr>
          <a:xfrm>
            <a:off x="6336792" y="5065776"/>
            <a:ext cx="4974336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语义分流交给模型；硬约束筛选后再排序和回退。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适配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适配</a:t>
            </a:r>
          </a:p>
        </p:txBody>
      </p:sp>
      <p:sp>
        <p:nvSpPr>
          <p:cNvPr id="4" name="TEXT: 保留决策头，把单请求执行接到并发调度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保留决策头，把单请求执行接到并发调度</a:t>
            </a:r>
          </a:p>
        </p:txBody>
      </p:sp>
      <p:sp>
        <p:nvSpPr>
          <p:cNvPr id="5" name="TEXT: 这不是把 Decider 当聊天模型生成 JSON；适配使用官方模板、位置元数据与评分逻辑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这不是把 Decider 当聊天模型生成 JSON；适配使用官方模板、位置元数据与评分逻辑。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7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27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ayers-087F72.png" descr="icon-layers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导出权重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导出权重</a:t>
            </a:r>
          </a:p>
        </p:txBody>
      </p:sp>
      <p:sp>
        <p:nvSpPr>
          <p:cNvPr id="13" name="TEXT: 合并 LoRA，保存决策头"/>
          <p:cNvSpPr txBox="1"/>
          <p:nvPr/>
        </p:nvSpPr>
        <p:spPr>
          <a:xfrm>
            <a:off x="82296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合并 LoRA，保存决策头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lipboard-check-087F72.png" descr="icon-clipboard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校验产物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校验产物</a:t>
            </a:r>
          </a:p>
        </p:txBody>
      </p:sp>
      <p:sp>
        <p:nvSpPr>
          <p:cNvPr id="18" name="TEXT: 模板 / 分词器 / 校准参数"/>
          <p:cNvSpPr txBox="1"/>
          <p:nvPr/>
        </p:nvSpPr>
        <p:spPr>
          <a:xfrm>
            <a:off x="3600449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 / 分词器 / 校准参数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启动 API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启动 API</a:t>
            </a:r>
          </a:p>
        </p:txBody>
      </p:sp>
      <p:sp>
        <p:nvSpPr>
          <p:cNvPr id="23" name="TEXT: 定制 Pooler + 并发调度"/>
          <p:cNvSpPr txBox="1"/>
          <p:nvPr/>
        </p:nvSpPr>
        <p:spPr>
          <a:xfrm>
            <a:off x="637794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定制 Pooler + 并发调度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对齐原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对齐原版</a:t>
            </a:r>
          </a:p>
        </p:txBody>
      </p:sp>
      <p:sp>
        <p:nvSpPr>
          <p:cNvPr id="28" name="TEXT: choice 与数值分别验收"/>
          <p:cNvSpPr txBox="1"/>
          <p:nvPr/>
        </p:nvSpPr>
        <p:spPr>
          <a:xfrm>
            <a:off x="915543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与数值分别验收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35424"/>
            <a:ext cx="10771632" cy="120700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decider-vllm export  →  verify-artifacts  →  serve"/>
          <p:cNvSpPr txBox="1"/>
          <p:nvPr/>
        </p:nvSpPr>
        <p:spPr>
          <a:xfrm>
            <a:off x="960120" y="4709160"/>
            <a:ext cx="102870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 →  verify-artifacts  →  serve</a:t>
            </a:r>
          </a:p>
        </p:txBody>
      </p:sp>
      <p:sp>
        <p:nvSpPr>
          <p:cNvPr id="31" name="TEXT: serve --max-num-seqs 128 --max-num-batched-tokens 8192"/>
          <p:cNvSpPr txBox="1"/>
          <p:nvPr/>
        </p:nvSpPr>
        <p:spPr>
          <a:xfrm>
            <a:off x="960120" y="5257800"/>
            <a:ext cx="102870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8D9D3"/>
                </a:solidFill>
                <a:latin typeface="Noto Sans CJK SC"/>
                <a:ea typeface="Noto Sans CJK SC"/>
                <a:cs typeface="Noto Sans CJK SC"/>
              </a:rPr>
              <a:t>serve --max-num-seqs 128 --max-num-batched-tokens 8192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独立推理服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独立推理服务</a:t>
            </a:r>
          </a:p>
        </p:txBody>
      </p:sp>
      <p:sp>
        <p:nvSpPr>
          <p:cNvPr id="4" name="TEXT: 公网 API，私网 EC2 源站，模型持续驻留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公网 API，私网 EC2 源站，模型持续驻留</a:t>
            </a:r>
          </a:p>
        </p:txBody>
      </p:sp>
      <p:sp>
        <p:nvSpPr>
          <p:cNvPr id="5" name="TEXT: 独立 StrandsDeciderVLLM 项目：g6.xlarge / 1 × NVIDIA L4；与主演示的原版实例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 StrandsDeciderVLLM 项目：g6.xlarge / 1 × NVIDIA L4；与主演示的原版实例分开。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8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28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57400"/>
            <a:ext cx="8714232" cy="3118104"/>
          </a:xfrm>
          <a:prstGeom prst="rect">
            <a:avLst/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2916936" y="2167128"/>
            <a:ext cx="28346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96312"/>
            <a:ext cx="6071616" cy="2459736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5330952" y="2606040"/>
            <a:ext cx="53035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2971800"/>
            <a:ext cx="5650992" cy="1792224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源站"/>
          <p:cNvSpPr txBox="1"/>
          <p:nvPr/>
        </p:nvSpPr>
        <p:spPr>
          <a:xfrm>
            <a:off x="5504688" y="3063240"/>
            <a:ext cx="521208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私有源站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91256"/>
            <a:ext cx="165506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icon-code-xml-087F72.png" descr="icon-code-xml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328416"/>
            <a:ext cx="365760" cy="365760"/>
          </a:xfrm>
          <a:prstGeom prst="rect">
            <a:avLst/>
          </a:prstGeom>
        </p:spPr>
      </p:pic>
      <p:sp>
        <p:nvSpPr>
          <p:cNvPr id="18" name="TEXT: API 客户端"/>
          <p:cNvSpPr txBox="1"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91256"/>
            <a:ext cx="178308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cloudfront-087F72.png" descr="aws-cloudfron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310128"/>
            <a:ext cx="411480" cy="411480"/>
          </a:xfrm>
          <a:prstGeom prst="rect">
            <a:avLst/>
          </a:prstGeom>
        </p:spPr>
      </p:pic>
      <p:sp>
        <p:nvSpPr>
          <p:cNvPr id="21" name="TEXT: CloudFront"/>
          <p:cNvSpPr txBox="1"/>
          <p:nvPr/>
        </p:nvSpPr>
        <p:spPr>
          <a:xfrm>
            <a:off x="3136392" y="3831336"/>
            <a:ext cx="14721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22" name="TEXT: VPC Origin"/>
          <p:cNvSpPr txBox="1"/>
          <p:nvPr/>
        </p:nvSpPr>
        <p:spPr>
          <a:xfrm>
            <a:off x="3163824" y="4251960"/>
            <a:ext cx="14630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3392424"/>
            <a:ext cx="3483864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MAGE: aws-ec2-087F72.png" descr="aws-ec2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538728"/>
            <a:ext cx="384048" cy="384048"/>
          </a:xfrm>
          <a:prstGeom prst="rect">
            <a:avLst/>
          </a:prstGeom>
        </p:spPr>
      </p:pic>
      <p:sp>
        <p:nvSpPr>
          <p:cNvPr id="25" name="TEXT: g6.xlarge · 1 × L4"/>
          <p:cNvSpPr txBox="1"/>
          <p:nvPr/>
        </p:nvSpPr>
        <p:spPr>
          <a:xfrm>
            <a:off x="6309360" y="3575304"/>
            <a:ext cx="2624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g6.xlarge · 1 × L4</a:t>
            </a:r>
          </a:p>
        </p:txBody>
      </p:sp>
      <p:sp>
        <p:nvSpPr>
          <p:cNvPr id="26" name="TEXT: API 鉴权 → vLLM → 决策头"/>
          <p:cNvSpPr txBox="1"/>
          <p:nvPr/>
        </p:nvSpPr>
        <p:spPr>
          <a:xfrm>
            <a:off x="5815584" y="4123944"/>
            <a:ext cx="31089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鉴权 → vLLM → 决策头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392424"/>
            <a:ext cx="1097280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MAGE: aws-ebs-087F72.png" descr="aws-ebs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520440"/>
            <a:ext cx="374904" cy="374904"/>
          </a:xfrm>
          <a:prstGeom prst="rect">
            <a:avLst/>
          </a:prstGeom>
        </p:spPr>
      </p:pic>
      <p:sp>
        <p:nvSpPr>
          <p:cNvPr id="29" name="TEXT: EBS gp3 160 GB"/>
          <p:cNvSpPr txBox="1"/>
          <p:nvPr/>
        </p:nvSpPr>
        <p:spPr>
          <a:xfrm>
            <a:off x="9811512" y="4005072"/>
            <a:ext cx="8686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160 GB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3904487"/>
            <a:ext cx="521208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91456" y="3904487"/>
            <a:ext cx="813816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04487"/>
            <a:ext cx="512064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541324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压测：固定 worker，完整响应后补发；每档预热另计、失败不重试。吞吐按成功请求 / 总时长计算。"/>
          <p:cNvSpPr txBox="1"/>
          <p:nvPr/>
        </p:nvSpPr>
        <p:spPr>
          <a:xfrm>
            <a:off x="768096" y="548640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压测：固定 worker，完整响应后补发；每档预热另计、失败不重试。吞吐按成功请求 / 总时长计算。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原版与 vLLM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原版与 vLLM</a:t>
            </a:r>
          </a:p>
        </p:txBody>
      </p:sp>
      <p:sp>
        <p:nvSpPr>
          <p:cNvPr id="4" name="TEXT: 同一块 L4，8 并发吞吐提升约 2.36 倍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同一块 L4，8 并发吞吐提升约 2.36 倍</a:t>
            </a:r>
          </a:p>
        </p:txBody>
      </p:sp>
      <p:sp>
        <p:nvSpPr>
          <p:cNvPr id="5" name="TEXT: 同机实验：g6.4xlarge，两个容器均限制 4 vCPU / 14 GiB；回环 HTTP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同机实验：g6.4xlarge，两个容器均限制 4 vCPU / 14 GiB；回环 HTTP。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9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29 / 35</a:t>
            </a:r>
          </a:p>
        </p:txBody>
      </p:sp>
      <p:pic>
        <p:nvPicPr>
          <p:cNvPr id="10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0" y="1993392"/>
            <a:ext cx="7113563" cy="3749039"/>
          </a:xfrm>
          <a:prstGeom prst="rect">
            <a:avLst/>
          </a:prstGeom>
        </p:spPr>
      </p:pic>
      <p:sp>
        <p:nvSpPr>
          <p:cNvPr id="11" name="TEXT: 14.76 → 34.91"/>
          <p:cNvSpPr txBox="1"/>
          <p:nvPr/>
        </p:nvSpPr>
        <p:spPr>
          <a:xfrm>
            <a:off x="8430768" y="253288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14.76 → 34.91</a:t>
            </a:r>
          </a:p>
        </p:txBody>
      </p:sp>
      <p:sp>
        <p:nvSpPr>
          <p:cNvPr id="12" name="TEXT: 成功请求 / 秒"/>
          <p:cNvSpPr txBox="1"/>
          <p:nvPr/>
        </p:nvSpPr>
        <p:spPr>
          <a:xfrm>
            <a:off x="8430768" y="3163824"/>
            <a:ext cx="29260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成功请求 / 秒</a:t>
            </a:r>
          </a:p>
        </p:txBody>
      </p:sp>
      <p:sp>
        <p:nvSpPr>
          <p:cNvPr id="13" name="TEXT: 542.8 → 237.6"/>
          <p:cNvSpPr txBox="1"/>
          <p:nvPr/>
        </p:nvSpPr>
        <p:spPr>
          <a:xfrm>
            <a:off x="8430768" y="4041648"/>
            <a:ext cx="30175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542.8 → 237.6</a:t>
            </a:r>
          </a:p>
        </p:txBody>
      </p:sp>
      <p:sp>
        <p:nvSpPr>
          <p:cNvPr id="14" name="TEXT: P95 毫秒 · 8 并发"/>
          <p:cNvSpPr txBox="1"/>
          <p:nvPr/>
        </p:nvSpPr>
        <p:spPr>
          <a:xfrm>
            <a:off x="8430768" y="4672584"/>
            <a:ext cx="3017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P95 毫秒 · 8 并发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并发与批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并发与批次</a:t>
            </a:r>
          </a:p>
        </p:txBody>
      </p:sp>
      <p:sp>
        <p:nvSpPr>
          <p:cNvPr id="4" name="TEXT: 超过 8 并发后，这批短输入主要在增加等待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超过 8 并发后，这批短输入主要在增加等待</a:t>
            </a:r>
          </a:p>
        </p:txBody>
      </p:sp>
      <p:sp>
        <p:nvSpPr>
          <p:cNvPr id="5" name="TEXT: g6.xlarge 公网 API；1–128 并发每档 1,280 请求。输入 304–445 token，均值 373.9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公网 API；1–128 并发每档 1,280 请求。输入 304–445 token，均值 373.9。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0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30 / 35</a:t>
            </a:r>
          </a:p>
        </p:txBody>
      </p:sp>
      <p:pic>
        <p:nvPicPr>
          <p:cNvPr id="10" name="IMAGE: concurrency-sweep.png" descr="concurrency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7937"/>
            <a:ext cx="6858000" cy="33410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71231" y="2322576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并发"/>
          <p:cNvSpPr txBox="1"/>
          <p:nvPr/>
        </p:nvSpPr>
        <p:spPr>
          <a:xfrm>
            <a:off x="7680959" y="241858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2322576"/>
            <a:ext cx="14008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吞吐 / s"/>
          <p:cNvSpPr txBox="1"/>
          <p:nvPr/>
        </p:nvSpPr>
        <p:spPr>
          <a:xfrm>
            <a:off x="8641080" y="2418588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吞吐 /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2322576"/>
            <a:ext cx="15837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95 ms"/>
          <p:cNvSpPr txBox="1"/>
          <p:nvPr/>
        </p:nvSpPr>
        <p:spPr>
          <a:xfrm>
            <a:off x="10058400" y="2418588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88950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"/>
          <p:cNvSpPr txBox="1"/>
          <p:nvPr/>
        </p:nvSpPr>
        <p:spPr>
          <a:xfrm>
            <a:off x="7680959" y="298551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889504"/>
            <a:ext cx="14008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.84"/>
          <p:cNvSpPr txBox="1"/>
          <p:nvPr/>
        </p:nvSpPr>
        <p:spPr>
          <a:xfrm>
            <a:off x="8641080" y="2985516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2889504"/>
            <a:ext cx="15837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45.0"/>
          <p:cNvSpPr txBox="1"/>
          <p:nvPr/>
        </p:nvSpPr>
        <p:spPr>
          <a:xfrm>
            <a:off x="10058400" y="2985516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345643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8"/>
          <p:cNvSpPr txBox="1"/>
          <p:nvPr/>
        </p:nvSpPr>
        <p:spPr>
          <a:xfrm>
            <a:off x="7680959" y="355244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456432"/>
            <a:ext cx="14008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9.65"/>
          <p:cNvSpPr txBox="1"/>
          <p:nvPr/>
        </p:nvSpPr>
        <p:spPr>
          <a:xfrm>
            <a:off x="8641080" y="3552444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3456432"/>
            <a:ext cx="15837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986.1"/>
          <p:cNvSpPr txBox="1"/>
          <p:nvPr/>
        </p:nvSpPr>
        <p:spPr>
          <a:xfrm>
            <a:off x="10058400" y="3552444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29" name="TEXT: 更大的 token 预算 未提高这批短输入吞吐。 先找服务容量，再设排队上限。"/>
          <p:cNvSpPr txBox="1"/>
          <p:nvPr/>
        </p:nvSpPr>
        <p:spPr>
          <a:xfrm>
            <a:off x="7717536" y="4379976"/>
            <a:ext cx="3657600" cy="11338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更大的 token 预算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未提高这批短输入吞吐。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先找服务容量，再设排队上限。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vs Jev</a:t>
            </a:r>
          </a:p>
        </p:txBody>
      </p:sp>
      <p:sp>
        <p:nvSpPr>
          <p:cNvPr id="4" name="TEXT: 低并发 Decider 延迟低，Jev 在中并发吞吐更高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低并发 Decider 延迟低，Jev 在中并发吞吐更高</a:t>
            </a:r>
          </a:p>
        </p:txBody>
      </p:sp>
      <p:sp>
        <p:nvSpPr>
          <p:cNvPr id="5" name="TEXT: 相同 20 个支付输入循环提交；Decider 8192 token 预算；Jev 直连 API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个支付输入循环提交；Decider 8192 token 预算；Jev 直连 API。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1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31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并发"/>
          <p:cNvSpPr txBox="1"/>
          <p:nvPr/>
        </p:nvSpPr>
        <p:spPr>
          <a:xfrm>
            <a:off x="731520" y="2107692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011680"/>
            <a:ext cx="258958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请求/s"/>
          <p:cNvSpPr txBox="1"/>
          <p:nvPr/>
        </p:nvSpPr>
        <p:spPr>
          <a:xfrm>
            <a:off x="1691640" y="2107692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请求/s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11680"/>
            <a:ext cx="24981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请求/s"/>
          <p:cNvSpPr txBox="1"/>
          <p:nvPr/>
        </p:nvSpPr>
        <p:spPr>
          <a:xfrm>
            <a:off x="4297680" y="2107692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请求/s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P95"/>
          <p:cNvSpPr txBox="1"/>
          <p:nvPr/>
        </p:nvSpPr>
        <p:spPr>
          <a:xfrm>
            <a:off x="681228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P95"/>
          <p:cNvSpPr txBox="1"/>
          <p:nvPr/>
        </p:nvSpPr>
        <p:spPr>
          <a:xfrm>
            <a:off x="923544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78608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"/>
          <p:cNvSpPr txBox="1"/>
          <p:nvPr/>
        </p:nvSpPr>
        <p:spPr>
          <a:xfrm>
            <a:off x="731520" y="2674620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1912" y="2578608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8.01"/>
          <p:cNvSpPr txBox="1"/>
          <p:nvPr/>
        </p:nvSpPr>
        <p:spPr>
          <a:xfrm>
            <a:off x="1691640" y="2674620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2578608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7.90"/>
          <p:cNvSpPr txBox="1"/>
          <p:nvPr/>
        </p:nvSpPr>
        <p:spPr>
          <a:xfrm>
            <a:off x="4297680" y="2674620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9.4"/>
          <p:cNvSpPr txBox="1"/>
          <p:nvPr/>
        </p:nvSpPr>
        <p:spPr>
          <a:xfrm>
            <a:off x="681228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571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0.2"/>
          <p:cNvSpPr txBox="1"/>
          <p:nvPr/>
        </p:nvSpPr>
        <p:spPr>
          <a:xfrm>
            <a:off x="923544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45536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8"/>
          <p:cNvSpPr txBox="1"/>
          <p:nvPr/>
        </p:nvSpPr>
        <p:spPr>
          <a:xfrm>
            <a:off x="731520" y="324154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1912" y="3145536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5.74"/>
          <p:cNvSpPr txBox="1"/>
          <p:nvPr/>
        </p:nvSpPr>
        <p:spPr>
          <a:xfrm>
            <a:off x="1691640" y="3241548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145536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1.83"/>
          <p:cNvSpPr txBox="1"/>
          <p:nvPr/>
        </p:nvSpPr>
        <p:spPr>
          <a:xfrm>
            <a:off x="4297680" y="3241548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255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37.0"/>
          <p:cNvSpPr txBox="1"/>
          <p:nvPr/>
        </p:nvSpPr>
        <p:spPr>
          <a:xfrm>
            <a:off x="681228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66.9"/>
          <p:cNvSpPr txBox="1"/>
          <p:nvPr/>
        </p:nvSpPr>
        <p:spPr>
          <a:xfrm>
            <a:off x="923544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166.9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1246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2"/>
          <p:cNvSpPr txBox="1"/>
          <p:nvPr/>
        </p:nvSpPr>
        <p:spPr>
          <a:xfrm>
            <a:off x="731520" y="380847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912" y="3712464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.61"/>
          <p:cNvSpPr txBox="1"/>
          <p:nvPr/>
        </p:nvSpPr>
        <p:spPr>
          <a:xfrm>
            <a:off x="1691640" y="3808476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3712464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40.94"/>
          <p:cNvSpPr txBox="1"/>
          <p:nvPr/>
        </p:nvSpPr>
        <p:spPr>
          <a:xfrm>
            <a:off x="4297680" y="3808476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073.1"/>
          <p:cNvSpPr txBox="1"/>
          <p:nvPr/>
        </p:nvSpPr>
        <p:spPr>
          <a:xfrm>
            <a:off x="681228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1073.1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72.6"/>
          <p:cNvSpPr txBox="1"/>
          <p:nvPr/>
        </p:nvSpPr>
        <p:spPr>
          <a:xfrm>
            <a:off x="923544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7939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28"/>
          <p:cNvSpPr txBox="1"/>
          <p:nvPr/>
        </p:nvSpPr>
        <p:spPr>
          <a:xfrm>
            <a:off x="731520" y="437540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81912" y="4279392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0.59"/>
          <p:cNvSpPr txBox="1"/>
          <p:nvPr/>
        </p:nvSpPr>
        <p:spPr>
          <a:xfrm>
            <a:off x="1691640" y="4375404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7952" y="4279392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52.56"/>
          <p:cNvSpPr txBox="1"/>
          <p:nvPr/>
        </p:nvSpPr>
        <p:spPr>
          <a:xfrm>
            <a:off x="4297680" y="4375404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11236.8"/>
          <p:cNvSpPr txBox="1"/>
          <p:nvPr/>
        </p:nvSpPr>
        <p:spPr>
          <a:xfrm>
            <a:off x="681228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11236.8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5502.5"/>
          <p:cNvSpPr txBox="1"/>
          <p:nvPr/>
        </p:nvSpPr>
        <p:spPr>
          <a:xfrm>
            <a:off x="923544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5502.5</a:t>
            </a:r>
          </a:p>
        </p:txBody>
      </p:sp>
      <p:sp>
        <p:nvSpPr>
          <p:cNvPr id="60" name="TEXT: Decider：10,239/10,240 成功，1 次 502；10 次置信度差异略超数值对齐容差。"/>
          <p:cNvSpPr txBox="1"/>
          <p:nvPr/>
        </p:nvSpPr>
        <p:spPr>
          <a:xfrm>
            <a:off x="749808" y="5138928"/>
            <a:ext cx="106984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Decider：10,239/10,240 成功，1 次 502；10 次置信度差异略超数值对齐容差。</a:t>
            </a:r>
          </a:p>
        </p:txBody>
      </p:sp>
      <p:sp>
        <p:nvSpPr>
          <p:cNvPr id="61" name="TEXT: Jev：10,240/10,240 成功；128 并发的吞吐回落，尾延迟也明显增加。"/>
          <p:cNvSpPr txBox="1"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Jev：10,240/10,240 成功；128 并发的吞吐回落，尾延迟也明显增加。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支付单次：1 年 RI 的交点约 1684 万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支付单次：1 年 RI 的交点约 1684 万次/月</a:t>
            </a:r>
          </a:p>
        </p:txBody>
      </p:sp>
      <p:sp>
        <p:nvSpPr>
          <p:cNvPr id="5" name="TEXT: 三条曲线：EC2 On-Demand、1 年 Standard RI（无预付）、Jev 按输入用量计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三条曲线：EC2 On-Demand、1 年 Standard RI（无预付）、Jev 按输入用量计费。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2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32 / 35</a:t>
            </a:r>
          </a:p>
        </p:txBody>
      </p:sp>
      <p:pic>
        <p:nvPicPr>
          <p:cNvPr id="10" name="IMAGE: cost-crossover-payment.png" descr="cost-crossover-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1,684 万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1,684 万次/月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2,586 万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2,586 万次/月</a:t>
            </a:r>
          </a:p>
        </p:txBody>
      </p:sp>
      <p:sp>
        <p:nvSpPr>
          <p:cNvPr id="19" name="TEXT: 平均 656.95 输入 token / 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656.95 输入 token / 次</a:t>
            </a:r>
          </a:p>
        </p:txBody>
      </p:sp>
      <p:sp>
        <p:nvSpPr>
          <p:cNvPr id="20" name="TEXT: Jev：$27.59 / 百万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Jev：$27.59 / 百万次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两步模型路由：1 年 RI 的交点约 394 万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两步模型路由：1 年 RI 的交点约 394 万条/月</a:t>
            </a:r>
          </a:p>
        </p:txBody>
      </p:sp>
      <p:sp>
        <p:nvSpPr>
          <p:cNvPr id="5" name="TEXT: 一次完整路由包含“选流程 + 选型号”两次判断；输入更长，Jev 费用曲线也更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一次完整路由包含“选流程 + 选型号”两次判断；输入更长，Jev 费用曲线也更陡。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3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33 / 35</a:t>
            </a:r>
          </a:p>
        </p:txBody>
      </p:sp>
      <p:pic>
        <p:nvPicPr>
          <p:cNvPr id="10" name="IMAGE: cost-crossover-routing.png" descr="cost-crossover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394 万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394 万条/月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606 万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606 万条/月</a:t>
            </a:r>
          </a:p>
        </p:txBody>
      </p:sp>
      <p:sp>
        <p:nvSpPr>
          <p:cNvPr id="19" name="TEXT: 平均 2,805.75 输入 token / 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2,805.75 输入 token / 条</a:t>
            </a:r>
          </a:p>
        </p:txBody>
      </p:sp>
      <p:sp>
        <p:nvSpPr>
          <p:cNvPr id="20" name="TEXT: Jev：$117.84 / 百万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Jev：$117.84 / 百万条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各自适用场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各自适用场景</a:t>
            </a:r>
          </a:p>
        </p:txBody>
      </p:sp>
      <p:sp>
        <p:nvSpPr>
          <p:cNvPr id="4" name="TEXT: 业务质量先过关，再在低延迟、自托管与按量之间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业务质量先过关，再在低延迟、自托管与按量之间选择</a:t>
            </a:r>
          </a:p>
        </p:txBody>
      </p:sp>
      <p:sp>
        <p:nvSpPr>
          <p:cNvPr id="5" name="TEXT: 优化后支付：Decider 91.5 ms / 18/20；Jev 388.5 ms / 20/20；GPT 1271.9 ms 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优化后支付：Decider 91.5 ms / 18/20；Jev 388.5 ms / 20/20；GPT 1271.9 ms / 20/20。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4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34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13432"/>
            <a:ext cx="384048" cy="384048"/>
          </a:xfrm>
          <a:prstGeom prst="rect">
            <a:avLst/>
          </a:prstGeom>
        </p:spPr>
      </p:pic>
      <p:sp>
        <p:nvSpPr>
          <p:cNvPr id="12" name="TEXT: Decider：高频选择"/>
          <p:cNvSpPr txBox="1"/>
          <p:nvPr/>
        </p:nvSpPr>
        <p:spPr>
          <a:xfrm>
            <a:off x="905256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Decider：高频选择</a:t>
            </a:r>
          </a:p>
        </p:txBody>
      </p:sp>
      <p:sp>
        <p:nvSpPr>
          <p:cNvPr id="13" name="TEXT: 优先：分类、工具选择、分流。  低单次延迟、可控自托管。 稳定流量再评估 1 年 RI。 证据与完成判断需补强。"/>
          <p:cNvSpPr txBox="1"/>
          <p:nvPr/>
        </p:nvSpPr>
        <p:spPr>
          <a:xfrm>
            <a:off x="905256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优先：分类、工具选择、分流。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低单次延迟、可控自托管。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稳定流量再评估 1 年 RI。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证据与完成判断需补强。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lipboard-check-8055A4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313432"/>
            <a:ext cx="384048" cy="384048"/>
          </a:xfrm>
          <a:prstGeom prst="rect">
            <a:avLst/>
          </a:prstGeom>
        </p:spPr>
      </p:pic>
      <p:sp>
        <p:nvSpPr>
          <p:cNvPr id="16" name="TEXT: Jev：证据与多步操作"/>
          <p:cNvSpPr txBox="1"/>
          <p:nvPr/>
        </p:nvSpPr>
        <p:spPr>
          <a:xfrm>
            <a:off x="4599432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Jev：证据与多步操作</a:t>
            </a:r>
          </a:p>
        </p:txBody>
      </p:sp>
      <p:sp>
        <p:nvSpPr>
          <p:cNvPr id="17" name="TEXT: 优先：核验、文字浏览器操作。  低或波动流量，按量付费。 本批业务效果更好。 金额与路由硬约束仍复核。"/>
          <p:cNvSpPr txBox="1"/>
          <p:nvPr/>
        </p:nvSpPr>
        <p:spPr>
          <a:xfrm>
            <a:off x="4599432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优先：核验、文字浏览器操作。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低或波动流量，按量付费。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本批业务效果更好。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金额与路由硬约束仍复核。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rain-circuit-4669C4.png" descr="icon-brain-circuit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84048" cy="384048"/>
          </a:xfrm>
          <a:prstGeom prst="rect">
            <a:avLst/>
          </a:prstGeom>
        </p:spPr>
      </p:pic>
      <p:sp>
        <p:nvSpPr>
          <p:cNvPr id="20" name="TEXT: GPT：开放式复杂任务"/>
          <p:cNvSpPr txBox="1"/>
          <p:nvPr/>
        </p:nvSpPr>
        <p:spPr>
          <a:xfrm>
            <a:off x="8293608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GPT：开放式复杂任务</a:t>
            </a:r>
          </a:p>
        </p:txBody>
      </p:sp>
      <p:sp>
        <p:nvSpPr>
          <p:cNvPr id="21" name="TEXT: 适合：回复、代码、复杂异常。  本次支付参考一致 20/20。 高频短选择要权衡延迟。 开放任务质量需单独实测。"/>
          <p:cNvSpPr txBox="1"/>
          <p:nvPr/>
        </p:nvSpPr>
        <p:spPr>
          <a:xfrm>
            <a:off x="8293608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适合：回复、代码、复杂异常。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本次支付参考一致 20/20。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高频短选择要权衡延迟。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开放任务质量需单独实测。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演示与资料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演示与资料</a:t>
            </a:r>
          </a:p>
        </p:txBody>
      </p:sp>
      <p:sp>
        <p:nvSpPr>
          <p:cNvPr id="4" name="TEXT: 打开演示，查看真实过程和原始记录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打开演示，查看真实过程和原始记录</a:t>
            </a:r>
          </a:p>
        </p:txBody>
      </p:sp>
      <p:sp>
        <p:nvSpPr>
          <p:cNvPr id="5" name="TEXT: 演示展示输入、原始选择、实际动作和结果；仓库保留验证脚本、截图与数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演示展示输入、原始选择、实际动作和结果；仓库保留验证脚本、截图与数据。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5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35 / 35</a:t>
            </a:r>
          </a:p>
        </p:txBody>
      </p:sp>
      <p:sp>
        <p:nvSpPr>
          <p:cNvPr id="10" name="TEXT: 在线演示"/>
          <p:cNvSpPr txBox="1"/>
          <p:nvPr/>
        </p:nvSpPr>
        <p:spPr>
          <a:xfrm>
            <a:off x="731520" y="205740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在线演示</a:t>
            </a:r>
          </a:p>
        </p:txBody>
      </p:sp>
      <p:sp>
        <p:nvSpPr>
          <p:cNvPr id="11" name="TEXT: https://d3i7ogfx5ml7dc.cloudfront.net"/>
          <p:cNvSpPr txBox="1"/>
          <p:nvPr/>
        </p:nvSpPr>
        <p:spPr>
          <a:xfrm>
            <a:off x="3703320" y="205740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https://d3i7ogfx5ml7dc.cloudfront.net</a:t>
            </a:r>
          </a:p>
        </p:txBody>
      </p:sp>
      <p:sp>
        <p:nvSpPr>
          <p:cNvPr id="12" name="TEXT: 主项目"/>
          <p:cNvSpPr txBox="1"/>
          <p:nvPr/>
        </p:nvSpPr>
        <p:spPr>
          <a:xfrm>
            <a:off x="731520" y="2660904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主项目</a:t>
            </a:r>
          </a:p>
        </p:txBody>
      </p:sp>
      <p:sp>
        <p:nvSpPr>
          <p:cNvPr id="13" name="TEXT: https://github.com/milan9527/StrandsDecider"/>
          <p:cNvSpPr txBox="1"/>
          <p:nvPr/>
        </p:nvSpPr>
        <p:spPr>
          <a:xfrm>
            <a:off x="3703320" y="2660904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https://github.com/milan9527/StrandsDecider</a:t>
            </a:r>
          </a:p>
        </p:txBody>
      </p:sp>
      <p:sp>
        <p:nvSpPr>
          <p:cNvPr id="14" name="TEXT: vLLM 适配与公共 API"/>
          <p:cNvSpPr txBox="1"/>
          <p:nvPr/>
        </p:nvSpPr>
        <p:spPr>
          <a:xfrm>
            <a:off x="731520" y="3264408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适配与公共 API</a:t>
            </a:r>
          </a:p>
        </p:txBody>
      </p:sp>
      <p:sp>
        <p:nvSpPr>
          <p:cNvPr id="15" name="TEXT: https://github.com/milan9527/StrandsDeciderVLLM"/>
          <p:cNvSpPr txBox="1"/>
          <p:nvPr/>
        </p:nvSpPr>
        <p:spPr>
          <a:xfrm>
            <a:off x="3703320" y="3264408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https://github.com/milan9527/StrandsDeciderVLLM</a:t>
            </a:r>
          </a:p>
        </p:txBody>
      </p:sp>
      <p:sp>
        <p:nvSpPr>
          <p:cNvPr id="16" name="TEXT: 场景验证结果与截图"/>
          <p:cNvSpPr txBox="1"/>
          <p:nvPr/>
        </p:nvSpPr>
        <p:spPr>
          <a:xfrm>
            <a:off x="731520" y="3867912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场景验证结果与截图</a:t>
            </a:r>
          </a:p>
        </p:txBody>
      </p:sp>
      <p:sp>
        <p:nvSpPr>
          <p:cNvPr id="17" name="TEXT: https://github.com/milan9527/StrandsDecider/blob/main/validation/"/>
          <p:cNvSpPr txBox="1"/>
          <p:nvPr/>
        </p:nvSpPr>
        <p:spPr>
          <a:xfrm>
            <a:off x="3703320" y="3867912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https://github.com/milan9527/StrandsDecider/blob/main/validation/README.md</a:t>
            </a:r>
          </a:p>
        </p:txBody>
      </p:sp>
      <p:sp>
        <p:nvSpPr>
          <p:cNvPr id="18" name="TEXT: Strands Decider 官方介绍"/>
          <p:cNvSpPr txBox="1"/>
          <p:nvPr/>
        </p:nvSpPr>
        <p:spPr>
          <a:xfrm>
            <a:off x="731520" y="4471416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官方介绍</a:t>
            </a:r>
          </a:p>
        </p:txBody>
      </p:sp>
      <p:sp>
        <p:nvSpPr>
          <p:cNvPr id="19" name="TEXT: https://strandsagents.com/blog/introducing-strands-decider/"/>
          <p:cNvSpPr txBox="1"/>
          <p:nvPr/>
        </p:nvSpPr>
        <p:spPr>
          <a:xfrm>
            <a:off x="3703320" y="4471416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https://strandsagents.com/blog/introducing-strands-decider/</a:t>
            </a:r>
          </a:p>
        </p:txBody>
      </p:sp>
      <p:sp>
        <p:nvSpPr>
          <p:cNvPr id="20" name="TEXT: JevBench 评测结果与方法"/>
          <p:cNvSpPr txBox="1"/>
          <p:nvPr/>
        </p:nvSpPr>
        <p:spPr>
          <a:xfrm>
            <a:off x="731520" y="507492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JevBench 评测结果与方法</a:t>
            </a:r>
          </a:p>
        </p:txBody>
      </p:sp>
      <p:sp>
        <p:nvSpPr>
          <p:cNvPr id="21" name="TEXT: https://benchmarkheaven.com/jev-models/api"/>
          <p:cNvSpPr txBox="1"/>
          <p:nvPr/>
        </p:nvSpPr>
        <p:spPr>
          <a:xfrm>
            <a:off x="3703320" y="507492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https://benchmarkheaven.com/jev-models/api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原始固定流程：同一收款审批，三个模型怎样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原始固定流程：同一收款审批，三个模型怎样选择</a:t>
            </a:r>
          </a:p>
        </p:txBody>
      </p:sp>
      <p:sp>
        <p:nvSpPr>
          <p:cNvPr id="5" name="TEXT: 用户：“我已经支付了 129 USDC，钱包显示转账成功，为什么订单还是待支付？”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用户：“我已经支付了 129 USDC，钱包显示转账成功，为什么订单还是待支付？”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8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093208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245973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实际 state · 节选"/>
          <p:cNvSpPr txBox="1"/>
          <p:nvPr/>
        </p:nvSpPr>
        <p:spPr>
          <a:xfrm>
            <a:off x="786384" y="2093976"/>
            <a:ext cx="476402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 state · 节选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4764024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TEXT: {   &quot;case_type&quot;: &quot;pending&quot;, &quot;risk_flag&quot;: false,   &quot;received_amoun"/>
          <p:cNvSpPr txBox="1"/>
          <p:nvPr/>
        </p:nvSpPr>
        <p:spPr>
          <a:xfrm>
            <a:off x="795528" y="2514600"/>
            <a:ext cx="4700016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"case_type": "pending", "risk_flag":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"received_amount": "129.00",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"confirmations": 3, "required_confirmations": 12,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"refund_approved":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"refund_destination_verified": true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2002536"/>
            <a:ext cx="5650992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2002536"/>
            <a:ext cx="41148" cy="245973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实际候选条件 · 节选"/>
          <p:cNvSpPr txBox="1"/>
          <p:nvPr/>
        </p:nvSpPr>
        <p:spPr>
          <a:xfrm>
            <a:off x="6089904" y="2093976"/>
            <a:ext cx="5321807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实际候选条件 · 节选</a:t>
            </a:r>
          </a:p>
        </p:txBody>
      </p:sp>
      <p:sp>
        <p:nvSpPr>
          <p:cNvPr id="18" name="TEXT: "/>
          <p:cNvSpPr txBox="1"/>
          <p:nvPr/>
        </p:nvSpPr>
        <p:spPr>
          <a:xfrm>
            <a:off x="6089904" y="2487168"/>
            <a:ext cx="5321807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9" name="TEXT: await_approval: &quot;No risk flag, verified refund destination, but r"/>
          <p:cNvSpPr txBox="1"/>
          <p:nvPr/>
        </p:nvSpPr>
        <p:spPr>
          <a:xfrm>
            <a:off x="6108192" y="2523744"/>
            <a:ext cx="5285232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0" name="TEXT: approved（末句）: &quot;Other cases do not need refund approval.&quot;"/>
          <p:cNvSpPr txBox="1"/>
          <p:nvPr/>
        </p:nvSpPr>
        <p:spPr>
          <a:xfrm>
            <a:off x="6108192" y="3575304"/>
            <a:ext cx="528523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approved（末句）: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"Other cases do not need refund approval."</a:t>
            </a:r>
          </a:p>
        </p:txBody>
      </p:sp>
      <p:sp>
        <p:nvSpPr>
          <p:cNvPr id="21" name="TEXT: 接口返回的 choice · 与参考 approved 对照"/>
          <p:cNvSpPr txBox="1"/>
          <p:nvPr/>
        </p:nvSpPr>
        <p:spPr>
          <a:xfrm>
            <a:off x="658368" y="4581144"/>
            <a:ext cx="107899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接口返回的 choice · 与参考 approved 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965192"/>
            <a:ext cx="41148" cy="88696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Decider · 109.9 ms"/>
          <p:cNvSpPr txBox="1"/>
          <p:nvPr/>
        </p:nvSpPr>
        <p:spPr>
          <a:xfrm>
            <a:off x="786384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109.9 ms</a:t>
            </a:r>
          </a:p>
        </p:txBody>
      </p:sp>
      <p:sp>
        <p:nvSpPr>
          <p:cNvPr id="25" name="TEXT: {&quot;choice&quot;: &quot;await_approval&quot;}"/>
          <p:cNvSpPr txBox="1"/>
          <p:nvPr/>
        </p:nvSpPr>
        <p:spPr>
          <a:xfrm>
            <a:off x="786384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965192"/>
            <a:ext cx="41148" cy="886968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Jev · 488.9 ms"/>
          <p:cNvSpPr txBox="1"/>
          <p:nvPr/>
        </p:nvSpPr>
        <p:spPr>
          <a:xfrm>
            <a:off x="4507992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488.9 ms</a:t>
            </a:r>
          </a:p>
        </p:txBody>
      </p:sp>
      <p:sp>
        <p:nvSpPr>
          <p:cNvPr id="29" name="TEXT: {&quot;choice&quot;: &quot;await_approval&quot;}"/>
          <p:cNvSpPr txBox="1"/>
          <p:nvPr/>
        </p:nvSpPr>
        <p:spPr>
          <a:xfrm>
            <a:off x="4507992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4965192"/>
            <a:ext cx="41148" cy="88696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GPT · 2074.8 ms"/>
          <p:cNvSpPr txBox="1"/>
          <p:nvPr/>
        </p:nvSpPr>
        <p:spPr>
          <a:xfrm>
            <a:off x="8229600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2074.8 ms</a:t>
            </a:r>
          </a:p>
        </p:txBody>
      </p:sp>
      <p:sp>
        <p:nvSpPr>
          <p:cNvPr id="33" name="TEXT: {&quot;choice&quot;: &quot;approved&quot;}"/>
          <p:cNvSpPr txBox="1"/>
          <p:nvPr/>
        </p:nvSpPr>
        <p:spPr>
          <a:xfrm>
            <a:off x="8229600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五步都执行了，业务结果仍要单独验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五步都执行了，业务结果仍要单独验收</a:t>
            </a:r>
          </a:p>
        </p:txBody>
      </p:sp>
      <p:sp>
        <p:nvSpPr>
          <p:cNvPr id="5" name="TEXT: 固定流程 · 每格为真实 choice / 后端毫秒；输入保持同一业务快照，按阶段更换问题与候选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固定流程 · 每格为真实 choice / 后端毫秒；输入保持同一业务快照，按阶段更换问题与候选。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9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993392"/>
            <a:ext cx="1538020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阶段"/>
          <p:cNvSpPr txBox="1"/>
          <p:nvPr/>
        </p:nvSpPr>
        <p:spPr>
          <a:xfrm>
            <a:off x="731520" y="208940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286000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13248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0495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41448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客服受理"/>
          <p:cNvSpPr txBox="1"/>
          <p:nvPr/>
        </p:nvSpPr>
        <p:spPr>
          <a:xfrm>
            <a:off x="731520" y="2537460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6272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payment_support / 78.7"/>
          <p:cNvSpPr txBox="1"/>
          <p:nvPr/>
        </p:nvSpPr>
        <p:spPr>
          <a:xfrm>
            <a:off x="2286000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payment_support / 78.7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payment_support / 491.4"/>
          <p:cNvSpPr txBox="1"/>
          <p:nvPr/>
        </p:nvSpPr>
        <p:spPr>
          <a:xfrm>
            <a:off x="5413248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payment_support / 491.4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0767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payment_support / 922.8"/>
          <p:cNvSpPr txBox="1"/>
          <p:nvPr/>
        </p:nvSpPr>
        <p:spPr>
          <a:xfrm>
            <a:off x="8540495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payment_support / 922.8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889504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支付核验"/>
          <p:cNvSpPr txBox="1"/>
          <p:nvPr/>
        </p:nvSpPr>
        <p:spPr>
          <a:xfrm>
            <a:off x="731520" y="2985516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支付核验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272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await_confirmations / 83.7"/>
          <p:cNvSpPr txBox="1"/>
          <p:nvPr/>
        </p:nvSpPr>
        <p:spPr>
          <a:xfrm>
            <a:off x="2286000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await_confirmations / 83.7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await_confirmations / 368.4"/>
          <p:cNvSpPr txBox="1"/>
          <p:nvPr/>
        </p:nvSpPr>
        <p:spPr>
          <a:xfrm>
            <a:off x="5413248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await_confirmations / 368.4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0767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await_confirmations / 992.6"/>
          <p:cNvSpPr txBox="1"/>
          <p:nvPr/>
        </p:nvSpPr>
        <p:spPr>
          <a:xfrm>
            <a:off x="8540495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await_confirmations / 992.6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337560"/>
            <a:ext cx="1538020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风控审批"/>
          <p:cNvSpPr txBox="1"/>
          <p:nvPr/>
        </p:nvSpPr>
        <p:spPr>
          <a:xfrm>
            <a:off x="731520" y="3433572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await_approval / 109.9"/>
          <p:cNvSpPr txBox="1"/>
          <p:nvPr/>
        </p:nvSpPr>
        <p:spPr>
          <a:xfrm>
            <a:off x="2286000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await_approval / 109.9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await_approval / 488.9"/>
          <p:cNvSpPr txBox="1"/>
          <p:nvPr/>
        </p:nvSpPr>
        <p:spPr>
          <a:xfrm>
            <a:off x="5413248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await_approval / 488.9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7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approved / 2074.8"/>
          <p:cNvSpPr txBox="1"/>
          <p:nvPr/>
        </p:nvSpPr>
        <p:spPr>
          <a:xfrm>
            <a:off x="8540495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approved / 2074.8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785616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资金处理"/>
          <p:cNvSpPr txBox="1"/>
          <p:nvPr/>
        </p:nvSpPr>
        <p:spPr>
          <a:xfrm>
            <a:off x="731520" y="3881628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资金处理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76272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hold / 81.5"/>
          <p:cNvSpPr txBox="1"/>
          <p:nvPr/>
        </p:nvSpPr>
        <p:spPr>
          <a:xfrm>
            <a:off x="2286000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hold / 81.5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hold / 361.4"/>
          <p:cNvSpPr txBox="1"/>
          <p:nvPr/>
        </p:nvSpPr>
        <p:spPr>
          <a:xfrm>
            <a:off x="5413248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hold / 361.4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0767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hold / 2167.4"/>
          <p:cNvSpPr txBox="1"/>
          <p:nvPr/>
        </p:nvSpPr>
        <p:spPr>
          <a:xfrm>
            <a:off x="8540495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hold / 2167.4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33672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客户回复"/>
          <p:cNvSpPr txBox="1"/>
          <p:nvPr/>
        </p:nvSpPr>
        <p:spPr>
          <a:xfrm>
            <a:off x="731520" y="432968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客户回复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76272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follow_up / 76.1"/>
          <p:cNvSpPr txBox="1"/>
          <p:nvPr/>
        </p:nvSpPr>
        <p:spPr>
          <a:xfrm>
            <a:off x="2286000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follow_up / 76.1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follow_up / 469.8"/>
          <p:cNvSpPr txBox="1"/>
          <p:nvPr/>
        </p:nvSpPr>
        <p:spPr>
          <a:xfrm>
            <a:off x="5413248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follow_up / 469.8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30767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follow_up / 3333.0"/>
          <p:cNvSpPr txBox="1"/>
          <p:nvPr/>
        </p:nvSpPr>
        <p:spPr>
          <a:xfrm>
            <a:off x="8540495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follow_up / 3333.0</a:t>
            </a:r>
          </a:p>
        </p:txBody>
      </p:sp>
      <p:sp>
        <p:nvSpPr>
          <p:cNvPr id="58" name="TEXT: 五步耗时相加：Decider 429.8 ms；Jev 2179.8 ms；GPT 9490.6 ms"/>
          <p:cNvSpPr txBox="1"/>
          <p:nvPr/>
        </p:nvSpPr>
        <p:spPr>
          <a:xfrm>
            <a:off x="768096" y="4800600"/>
            <a:ext cx="10607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五步耗时相加：Decider 429.8 ms；Jev 2179.8 ms；GPT 9490.6 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" y="5285232"/>
            <a:ext cx="41148" cy="68580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Decider / Jev：额外等待人工审批"/>
          <p:cNvSpPr txBox="1"/>
          <p:nvPr/>
        </p:nvSpPr>
        <p:spPr>
          <a:xfrm>
            <a:off x="786384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 / Jev：额外等待人工审批</a:t>
            </a:r>
          </a:p>
        </p:txBody>
      </p:sp>
      <p:sp>
        <p:nvSpPr>
          <p:cNvPr id="62" name="TEXT: "/>
          <p:cNvSpPr txBox="1"/>
          <p:nvPr/>
        </p:nvSpPr>
        <p:spPr>
          <a:xfrm>
            <a:off x="786384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63" name="Rounded Rectangle 62"/>
          <p:cNvSpPr/>
          <p:nvPr/>
        </p:nvSpPr>
        <p:spPr>
          <a:xfrm>
            <a:off x="6217920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85232"/>
            <a:ext cx="41148" cy="6858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三者最终：未入账、未结案；确认数仍为 3/12"/>
          <p:cNvSpPr txBox="1"/>
          <p:nvPr/>
        </p:nvSpPr>
        <p:spPr>
          <a:xfrm>
            <a:off x="6382512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三者最终：未入账、未结案；确认数仍为 3/12</a:t>
            </a:r>
          </a:p>
        </p:txBody>
      </p:sp>
      <p:sp>
        <p:nvSpPr>
          <p:cNvPr id="66" name="TEXT: "/>
          <p:cNvSpPr txBox="1"/>
          <p:nvPr/>
        </p:nvSpPr>
        <p:spPr>
          <a:xfrm>
            <a:off x="6382512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怎么优化：删去不适用字段，把适用范围写进每个候选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怎么优化：删去不适用字段，把适用范围写进每个候选</a:t>
            </a:r>
          </a:p>
        </p:txBody>
      </p:sp>
      <p:sp>
        <p:nvSpPr>
          <p:cNvPr id="5" name="TEXT: 同一笔 129 USDC、同样 3/12 确认、相同 4 个候选 ID；调整的是模型输入与条件表述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 129 USDC、同样 3/12 确认、相同 4 个候选 ID；调整的是模型输入与条件表述。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0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3136392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原始输入 · baseline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原始输入 · baseline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208776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002536"/>
            <a:ext cx="41148" cy="313639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优化输入 · optimized"/>
          <p:cNvSpPr txBox="1"/>
          <p:nvPr/>
        </p:nvSpPr>
        <p:spPr>
          <a:xfrm>
            <a:off x="6373368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优化输入 · optimized</a:t>
            </a:r>
          </a:p>
        </p:txBody>
      </p:sp>
      <p:sp>
        <p:nvSpPr>
          <p:cNvPr id="17" name="TEXT: "/>
          <p:cNvSpPr txBox="1"/>
          <p:nvPr/>
        </p:nvSpPr>
        <p:spPr>
          <a:xfrm>
            <a:off x="6373368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8" name="TEXT: &quot;refund_approved&quot;: false &quot;refund_destination_verified&quot;: true"/>
          <p:cNvSpPr txBox="1"/>
          <p:nvPr/>
        </p:nvSpPr>
        <p:spPr>
          <a:xfrm>
            <a:off x="804672" y="2542032"/>
            <a:ext cx="49834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"refund_approved": false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"refund_destination_verified": true</a:t>
            </a:r>
          </a:p>
        </p:txBody>
      </p:sp>
      <p:sp>
        <p:nvSpPr>
          <p:cNvPr id="19" name="TEXT: 收款请求里也带着退款字段。"/>
          <p:cNvSpPr txBox="1"/>
          <p:nvPr/>
        </p:nvSpPr>
        <p:spPr>
          <a:xfrm>
            <a:off x="804672" y="3182112"/>
            <a:ext cx="49377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收款请求里也带着退款字段。</a:t>
            </a:r>
          </a:p>
        </p:txBody>
      </p:sp>
      <p:sp>
        <p:nvSpPr>
          <p:cNvPr id="20" name="TEXT: await_approval: &quot;No risk flag, verified refund destination, but r"/>
          <p:cNvSpPr txBox="1"/>
          <p:nvPr/>
        </p:nvSpPr>
        <p:spPr>
          <a:xfrm>
            <a:off x="804672" y="3675887"/>
            <a:ext cx="4956048" cy="11521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1" name="TEXT: 移除无关退款与结算字段：18 → 12"/>
          <p:cNvSpPr txBox="1"/>
          <p:nvPr/>
        </p:nvSpPr>
        <p:spPr>
          <a:xfrm>
            <a:off x="6391656" y="2542032"/>
            <a:ext cx="49560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移除无关退款与结算字段：18 → 12</a:t>
            </a:r>
          </a:p>
        </p:txBody>
      </p:sp>
      <p:sp>
        <p:nvSpPr>
          <p:cNvPr id="22" name="TEXT: await_approval: &quot;Only refund: risk_flag=false AND refund_destinat"/>
          <p:cNvSpPr txBox="1"/>
          <p:nvPr/>
        </p:nvSpPr>
        <p:spPr>
          <a:xfrm>
            <a:off x="6391656" y="3026664"/>
            <a:ext cx="4965192" cy="1362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"Only refund: risk_flag=false AND refund_destination_verified=true AND refund_approved=false. Never use this for pending, underpaid or settlement."</a:t>
            </a:r>
          </a:p>
        </p:txBody>
      </p:sp>
      <p:sp>
        <p:nvSpPr>
          <p:cNvPr id="23" name="TEXT: 每个候选都明确业务类型、前提与优先级。"/>
          <p:cNvSpPr txBox="1"/>
          <p:nvPr/>
        </p:nvSpPr>
        <p:spPr>
          <a:xfrm>
            <a:off x="6391656" y="4590288"/>
            <a:ext cx="495604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每个候选都明确业务类型、前提与优先级。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43153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再明确阶段边界：通过审批，不等于资金已到账；执行步骤仍检查金额与链上确认。"/>
          <p:cNvSpPr txBox="1"/>
          <p:nvPr/>
        </p:nvSpPr>
        <p:spPr>
          <a:xfrm>
            <a:off x="768096" y="550468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再明确阶段边界：通过审批，不等于资金已到账；执行步骤仍检查金额与链上确认。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同一审批的实际变化：两次“等待人工审批”变为“通过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同一审批的实际变化：两次“等待人工审批”变为“通过”</a:t>
            </a:r>
          </a:p>
        </p:txBody>
      </p:sp>
      <p:sp>
        <p:nvSpPr>
          <p:cNvPr id="5" name="TEXT: Decider / Jev：review_pending 由 true 变为 false；GPT 两次都通过。资金状态仍然未完成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/ Jev：review_pending 由 true 变为 false；GPT 两次都通过。资金状态仍然未完成。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1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 / 35</a:t>
            </a:r>
          </a:p>
        </p:txBody>
      </p:sp>
      <p:sp>
        <p:nvSpPr>
          <p:cNvPr id="10" name="TEXT: 优化前 · 固定流程"/>
          <p:cNvSpPr txBox="1"/>
          <p:nvPr/>
        </p:nvSpPr>
        <p:spPr>
          <a:xfrm>
            <a:off x="676656" y="1929384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优化前 · 固定流程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544" y="2203704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pending-baseline-outputs.png" descr="pending-baseline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76" y="2231136"/>
            <a:ext cx="10198142" cy="1645920"/>
          </a:xfrm>
          <a:prstGeom prst="rect">
            <a:avLst/>
          </a:prstGeom>
        </p:spPr>
      </p:pic>
      <p:sp>
        <p:nvSpPr>
          <p:cNvPr id="13" name="TEXT: 优化后 · 仅改输入与候选条件"/>
          <p:cNvSpPr txBox="1"/>
          <p:nvPr/>
        </p:nvSpPr>
        <p:spPr>
          <a:xfrm>
            <a:off x="676656" y="3950208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优化后 · 仅改输入与候选条件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544" y="4233672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ptimized-outputs.png" descr="pending-optimized-out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76" y="4261104"/>
            <a:ext cx="10198142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四场景一起重测：选择更一致，仍有两项 Decider 错误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四场景一起重测：选择更一致，仍有两项 Decider 错误</a:t>
            </a:r>
          </a:p>
        </p:txBody>
      </p:sp>
      <p:sp>
        <p:nvSpPr>
          <p:cNvPr id="5" name="TEXT: 每格上行：与演示参考一致次数，原始 → 优化；下行：五步后端耗时之和，原始 → 优化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每格上行：与演示参考一致次数，原始 → 优化；下行：五步后端耗时之和，原始 → 优化。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2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12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6778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715768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6983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696712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7928" y="2011680"/>
            <a:ext cx="297362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677655" y="2107692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15184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USDC 待确认"/>
          <p:cNvSpPr txBox="1"/>
          <p:nvPr/>
        </p:nvSpPr>
        <p:spPr>
          <a:xfrm>
            <a:off x="731520" y="2711196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待确认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4/5 → 5/5 430 → 448 ms"/>
          <p:cNvSpPr txBox="1"/>
          <p:nvPr/>
        </p:nvSpPr>
        <p:spPr>
          <a:xfrm>
            <a:off x="2715768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430 → 448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6983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4/5 → 5/5 2180 → 2039 ms"/>
          <p:cNvSpPr txBox="1"/>
          <p:nvPr/>
        </p:nvSpPr>
        <p:spPr>
          <a:xfrm>
            <a:off x="5696712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2180 → 2039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67928" y="2615184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/5 → 5/5 9491 → 5809 ms"/>
          <p:cNvSpPr txBox="1"/>
          <p:nvPr/>
        </p:nvSpPr>
        <p:spPr>
          <a:xfrm>
            <a:off x="8677655" y="2711196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9491 → 5809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18688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USDT 少付"/>
          <p:cNvSpPr txBox="1"/>
          <p:nvPr/>
        </p:nvSpPr>
        <p:spPr>
          <a:xfrm>
            <a:off x="731520" y="3314700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/5 → 4/5 386 → 396 ms"/>
          <p:cNvSpPr txBox="1"/>
          <p:nvPr/>
        </p:nvSpPr>
        <p:spPr>
          <a:xfrm>
            <a:off x="2715768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386 → 396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6983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4/5 → 5/5 1915 → 1790 ms"/>
          <p:cNvSpPr txBox="1"/>
          <p:nvPr/>
        </p:nvSpPr>
        <p:spPr>
          <a:xfrm>
            <a:off x="5696712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1915 → 1790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67928" y="3218688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5 → 5/5 8169 → 4896 ms"/>
          <p:cNvSpPr txBox="1"/>
          <p:nvPr/>
        </p:nvSpPr>
        <p:spPr>
          <a:xfrm>
            <a:off x="8677655" y="3314700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8169 → 4896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822191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重复付款退款"/>
          <p:cNvSpPr txBox="1"/>
          <p:nvPr/>
        </p:nvSpPr>
        <p:spPr>
          <a:xfrm>
            <a:off x="731520" y="3918204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重复付款退款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5 → 4/5 460 → 407 ms"/>
          <p:cNvSpPr txBox="1"/>
          <p:nvPr/>
        </p:nvSpPr>
        <p:spPr>
          <a:xfrm>
            <a:off x="2715768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460 → 407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6983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/5 → 5/5 1776 → 1795 ms"/>
          <p:cNvSpPr txBox="1"/>
          <p:nvPr/>
        </p:nvSpPr>
        <p:spPr>
          <a:xfrm>
            <a:off x="5696712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1776 → 1795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7928" y="3822191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5/5 → 5/5 5847 → 9662 ms"/>
          <p:cNvSpPr txBox="1"/>
          <p:nvPr/>
        </p:nvSpPr>
        <p:spPr>
          <a:xfrm>
            <a:off x="8677655" y="3918204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5847 → 9662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425696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商户结算"/>
          <p:cNvSpPr txBox="1"/>
          <p:nvPr/>
        </p:nvSpPr>
        <p:spPr>
          <a:xfrm>
            <a:off x="731520" y="4521708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4/5 → 5/5 449 → 579 ms"/>
          <p:cNvSpPr txBox="1"/>
          <p:nvPr/>
        </p:nvSpPr>
        <p:spPr>
          <a:xfrm>
            <a:off x="2715768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449 → 579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6983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5/5 → 5/5 2027 → 2146 ms"/>
          <p:cNvSpPr txBox="1"/>
          <p:nvPr/>
        </p:nvSpPr>
        <p:spPr>
          <a:xfrm>
            <a:off x="5696712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2027 → 2146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67928" y="4425696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5/5 → 5/5 4780 → 5069 ms"/>
          <p:cNvSpPr txBox="1"/>
          <p:nvPr/>
        </p:nvSpPr>
        <p:spPr>
          <a:xfrm>
            <a:off x="8677655" y="4521708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4780 → 5069 ms</a:t>
            </a:r>
          </a:p>
        </p:txBody>
      </p:sp>
      <p:sp>
        <p:nvSpPr>
          <p:cNvPr id="50" name="TEXT: 合计：Decider 14/20 → 18/20；Jev 18/20 → 20/20；GPT 20/20 → 20/20。"/>
          <p:cNvSpPr txBox="1"/>
          <p:nvPr/>
        </p:nvSpPr>
        <p:spPr>
          <a:xfrm>
            <a:off x="768096" y="5202936"/>
            <a:ext cx="1064361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合计：Decider 14/20 → 18/20；Jev 18/20 → 20/20；GPT 20/20 → 20/20。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5632704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仍需处理：少付时误选“等待确认”；退款地址未验证却选择“批准”。优化并非每个节点都改善。"/>
          <p:cNvSpPr txBox="1"/>
          <p:nvPr/>
        </p:nvSpPr>
        <p:spPr>
          <a:xfrm>
            <a:off x="768096" y="5705856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仍需处理：少付时误选“等待确认”；退款地址未验证却选择“批准”。优化并非每个节点都改善。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退款仍会选错：原始返回与执行结果必须分开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退款仍会选错：原始返回与执行结果必须分开看</a:t>
            </a:r>
          </a:p>
        </p:txBody>
      </p:sp>
      <p:sp>
        <p:nvSpPr>
          <p:cNvPr id="5" name="TEXT: 实际输入：退款 250 USDC；refund_destination_verified=false；refund_approve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实际输入：退款 250 USDC；refund_destination_verified=false；refund_approved=false。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3 / 35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00430"/>
            <a:ext cx="11009376" cy="389041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efund-optimized-detail.png" descr="refund-optimized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27862"/>
            <a:ext cx="10954512" cy="38355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GPT：支付流程实际请求与优化对照</dc:title>
  <dc:subject>v12 / 35 pages / 120 real calls, baseline versus scoped input</dc:subject>
  <dc:creator>milan9527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