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沿用v6模型目的、原理、应用、实测、优化、结论主线。新增Jev实测与JevBench对照，以最新同批次截图替换双模型演示主体。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高频决策具有有限候选、短输出、由代码消费的共同点。模型处理语义，代码核验资金与权限。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One接口提供choice、noul和score。本支付对比只测choice，没有把本项目结果推广到另两种类型。共享上下文用于多个独立问题，相互依赖且需执行反馈的步骤仍应分轮判断。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Jev强调RLCD校准决策训练，但内部结构未在本项目得到验证。同一System One接口不等于和Decider共享架构。GPT当前只输出候选ID。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官方v19用Qwen3.5-2B-Base主体、rank-16 LoRA与Pointer Head。候选位置和answer位置隐藏表示投影后评分，避免逐token生成答案。不能由这个结构保证业务判断正确。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Decider内部候选评分可从公开代码核实。Jev作为托管服务只描述已公开接口与返回值；不推断它采用同样Pointer Head。GPT输出格式限制降低了本演示生成长度。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此页沿用v6的一页BERT比较。标准BERT分类头通常绑定固定标签集合；NLI等方法也可把动态候选描述转成文本对进行评分。BERT并非只能固定标签，本项目没有BERT对照实测。Jev不在此页假定与Decider架构相同。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榜单独立于TypeSafe。API榜单包含闭源和开源权重的托管端点，并不是统一GPU的自部署榜单。全量1500题或600题API重测经等值调整；由历史日期和不同题池组成。Intelligence为归一化、分层及机会校正等处理后的能力分，Calibration衡量概率表现。两者都不是本项目参考一致次数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选取决策模型与通用LLM代表，不声称覆盖所有主流模型。OpenAI GPT-6 Luna和GPT-5.6 Luna均为low配置，Gemini为3.1 Flash-Lite，DeepSeek V4.1 Flash为默认thinking；Qwen3.8 27B由Chutes TEE托管。Qwen成本是榜单估算，因此加*，不作为本项目AWS账单。Sage的成本也标估算。Jev综合第4，但能力分63.6低于选列强LLM。准确模型ID、provider、价格依据、题池说明保存在sources JSON中。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图为同一API榜单的代表行，横轴用榜单p50，纵轴Intelligence。并未用项目20步参考一致去替代基准分，也没有用延迟推算模型参数量。Strands官方模型卡单独报告JevBench public 167/231=72.29%，serving窗口4096或3072；这是公开子集准确率，既不是封闭题结果，也不是本榜单Intelligence/Composite。当前API榜单没有Strands v19或本项目Sol配置，不要把Mapika decider-2b等同名条目当作Strands模型。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沿用v6 AWS官方图标与网络边界。S3四项公共访问阻断均开启。CloudFront API经VPC Origin到内网ALB，再到私有Fargate。后端直接调用EC2 Decider、Bedrock和DynamoDB。Jev经IAM Invoke Lambda，Lambda通过HTTPS访问TypeSafe；密钥在Secrets Manager，服务图省略网络端点，不增加Bedrock Runtime等独立节点。图中的Jev在AWS外；Lambda和Bedrock在业务VPC边界外但区域AWS内。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四场景初始事实各有未满足条件。测试是模拟资金业务，不广播真实交易。五步依次是受理、核验、审批、处置、回复；5/5不是完成收款或退款。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本次统一使用优化流程，冻结每场景初始快照；每步三模型并发。收到5步方案后分别执行，三侧不会共享已修改状态。画面是现网运行原始截图，只进行矩形裁剪。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案例的全部阶段均成功，所以本页三个提供方都使用20个同输入任务。含后端通信与排队，不是纯GPU推理或浏览器整轮延迟。本页使用全新预热测试，日志确认20次Jev正式调用均无Lambda冷启动。这些是不同任务的单轮观测，不是固定prompt重复延迟分布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每个节点平均四个场景的正式测试值，均在预热后采集。图从0开始，未隐藏慢请求；四场景各运行一次，没有P95/P99统计。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五个节点三个模型的选择完全一致。审批approved只代表当前审批条件通过，不等于到账；execute=hold，close=follow_up，资金和工单均未完成。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 verify=await_confirmations，与confirmed=true矛盾；Jev/GPT=request_topup符合演示参考。Decider该选择概率0.8448、confidence0.8138，展示高confidence仍可能错。执行器记录参考差异，未把核验选择替换为正确答案。之后三侧hold/follow_up，仍等待补款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 approve=approved，最高概率0.4393、confidence0.2524；Jev/GPT=verify_destination。执行器将Decider的approved调整为verify_destination，这是一次资金保护，不计作模型正确。execute均hold，不生成退款账本。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三个模型五个阶段都选择merchant_ops、settlement_delayed、approved、escalate_settlement、follow_up。升级工单并不会将settled变为true。升级动作与资金到账分开记录，不把已升级视为结算完成。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模型训练目标、表示能力、校准和输出机制不同，但不能由这些输出确认某个模型内部思维过程。少付场景可观察到Decider忽略confirmed=true；可能与条件组合、范围或语言表达有关，需用最小差异测试验证。高confidence错误和低confidence错误都存在，单一阈值无法拦住全部错误。Jev和GPT本样本20/20不证明对所有支付案例更可靠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优化批次中三个模型各4个场景的fundsComplete=false、complete=false，但每个execution.audit都有5条。USDC等待确认、少付等待0.20补款、退款等待地址验证与审批、商户结算等待实际到账。截图是USDC实际最终结果，三侧无账本、未结案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官方发布文章中的70–500ms是端到端范围，并非纯推理时间。193.6倍等宣传值被官方称为real world gains的较高端，不是每个工作流承诺。本项目GPT low且只输出choice，官方部分对照生成概率，因此任务输出量不同。Jev本项目包含ECS、Lambda、HTTPS和客户端建立，无法把差值全归给模型。本次17/20小于500ms；正式调用均无自有Lambda代理冷启动。公开基准239ms与项目397.7ms中位数的任务、调用路径、测量机位置均不同，只能并列说明，不能直接相减当Lambda开销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独立反馈批次，18次真实决策；后续状态各自演进，不计入同输入60次速度表。Decider初次verify误选settlement_verified；执行检查发现confirmed=false，没有记资金账本，loop反馈waiting_external。模拟器推进confirm从3到12，之后Decider/Jev/GPT均payment_verified、approved、credit_order、resolve。循环通过事件与执行反馈持续，不是模型自行增加链上确认。Decider中间错误完整保留，最终完成不把它改记为正确。风险解除仍需人工；无进展或达上限转人工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用v6第23页已验证的输入优化案例，证据为2026-10-11独立80次批次。同一USDC事实，固定输入Decider等待人工审批75.722ms；优化输入通过80.217ms。输入字段裁剪和候选范围改写同时发生，不能单独归因，也未提升该单步速度。GPT该旧批次两种配置均通过，Jev未参加这份前后对照。旧截图仅为优化入口，当前三模型截图见前面的项目实测。候选ID、权重、参考及执行校验未变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左表数据来自2026-10-11 EC2独立批次，每case先固定后优化一次；Decider固定14/20优化18/20，GPT都20/20，保护调整4→1。本次2026-10-12优化批次Decider仍18/20、Jev/GPT20/20。不能把两日期的耗时变化当优化效果，也没有Jev固定vs优化A/B。当前剩余差异与此前优化后相同：少付核验和退款审批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下为建议实验，尚未实施或测得效果。对少付问题，验证confirmed=true的状态表达、候选顺序、数字边界和优先级是否影响选择；对退款问题，先判场景再核验address_verified与approved，避免把收款充分条件套到退款。可按业务类型过滤不适用候选；这会改变任务，要对三模型同样应用，并另记结果。低置信路由需校准，少付高置信误选证明阈值不能替代确定性保护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计划而非已完成训练。官方模型卡与仓库公开训练recipe、数据清单与评测。基于v19的业务数据应包含state/questions/criteria及人工审核正确候选，并覆盖noul、score回归。按案件或模板簇与时间切分，防止同义改写泄漏。优先使用官方decision training接口与目标，训练rank16 LoRA和评分头的适配方案，是否冻结主体或扩展rank由资源与验证结果决定，不给未经执行的训练CLI。GPT/Jev可帮助生成候选标注，但必须人工复核，不能把本次20答案直接当足够训练集。温度或概率校准在独立验证集完成；最终测试集不参与选择阈值或提示调优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路由为建议，当前demo仍并排测试，并未实现生产级自动择模。保留金额权限状态机、幂等、人工审核等执行保护。Decider常驻GPU费用与托管token/调用费用不能直接用榜单每千次代替。需分段测量应用排队、GPU推理、Lambda和HTTPS，重复随机顺序运行，记录失败、超时、p50/p95/p99、吞吐、风险错误率、覆盖率和全成本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当前批次最快但有两处参考差异。Jev托管接入，当前与参考一致且较GPT更快；GPT同样20/20，开放式能力在本demo未测试。JevBench显示高综合分包含成本速度因素，不应解释为Jev在能力轴超过强LLM。已有输入优化改善Decider选择，后续应针对剩余错误设计实验，必要时领域微调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仓库已公开。Demo仍需要现有用户名密码。演示附件包含PPT、PDF、实测导出、截图来源、公开基准快照与逐页讲稿。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hyperlink" Target="https://benchmarkheaven.com/jev-models/api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enchmarkheaven.com/jev-models/api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hyperlink" Target="https://benchmarkheaven.com/jev-models/api" TargetMode="External"/><Relationship Id="rId7" Type="http://schemas.openxmlformats.org/officeDocument/2006/relationships/hyperlink" Target="https://huggingface.co/StrandsAgents/strands-decider-2B-hobson-v19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7.png"/><Relationship Id="rId4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52.png"/><Relationship Id="rId6" Type="http://schemas.openxmlformats.org/officeDocument/2006/relationships/image" Target="../media/image60.png"/><Relationship Id="rId7" Type="http://schemas.openxmlformats.org/officeDocument/2006/relationships/image" Target="../media/image4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8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hyperlink" Target="https://d3i7ogfx5ml7dc.cloudfront.net/#crypto" TargetMode="External"/><Relationship Id="rId6" Type="http://schemas.openxmlformats.org/officeDocument/2006/relationships/image" Target="../media/image11.png"/><Relationship Id="rId7" Type="http://schemas.openxmlformats.org/officeDocument/2006/relationships/image" Target="../media/image64.png"/><Relationship Id="rId8" Type="http://schemas.openxmlformats.org/officeDocument/2006/relationships/hyperlink" Target="https://github.com/milan9527/StrandsDecider" TargetMode="External"/><Relationship Id="rId9" Type="http://schemas.openxmlformats.org/officeDocument/2006/relationships/hyperlink" Target="https://benchmarkheaven.com/jev-models/api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8 · 三模型与 JevBench · 30 页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/  v8 · 三模型与 JevBench · 30 页</a:t>
            </a:r>
          </a:p>
        </p:txBody>
      </p:sp>
      <p:sp>
        <p:nvSpPr>
          <p:cNvPr id="3" name="TEXT: 让小模型做好高频决策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让小模型做好高频决策</a:t>
            </a:r>
          </a:p>
        </p:txBody>
      </p:sp>
      <p:sp>
        <p:nvSpPr>
          <p:cNvPr id="4" name="TEXT: Strands Decider × Jev × GPT：从公开基准，到支付流程中的真实表现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CBD9E6"/>
                </a:solidFill>
                <a:latin typeface="Noto Sans CJK SC"/>
                <a:ea typeface="Noto Sans CJK SC"/>
                <a:cs typeface="Noto Sans CJK SC"/>
              </a:rPr>
              <a:t>Strands Decider × Jev × GPT：从公开基准，到支付流程中的真实表现</a:t>
            </a:r>
          </a:p>
        </p:txBody>
      </p:sp>
      <p:sp>
        <p:nvSpPr>
          <p:cNvPr id="5" name="TEXT: 01"/>
          <p:cNvSpPr txBox="1"/>
          <p:nvPr/>
        </p:nvSpPr>
        <p:spPr>
          <a:xfrm>
            <a:off x="658368" y="2304288"/>
            <a:ext cx="91440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6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6" name="ICON: Lucide brain-circui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19272"/>
            <a:ext cx="365760" cy="365760"/>
          </a:xfrm>
          <a:prstGeom prst="rect">
            <a:avLst/>
          </a:prstGeom>
        </p:spPr>
      </p:pic>
      <p:sp>
        <p:nvSpPr>
          <p:cNvPr id="7" name="TEXT: 理解模型"/>
          <p:cNvSpPr txBox="1"/>
          <p:nvPr/>
        </p:nvSpPr>
        <p:spPr>
          <a:xfrm>
            <a:off x="1179576" y="3291840"/>
            <a:ext cx="292608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理解模型</a:t>
            </a:r>
          </a:p>
        </p:txBody>
      </p:sp>
      <p:sp>
        <p:nvSpPr>
          <p:cNvPr id="8" name="TEXT: 为什么输出候选答案？ 三种实现有何差异？"/>
          <p:cNvSpPr txBox="1"/>
          <p:nvPr/>
        </p:nvSpPr>
        <p:spPr>
          <a:xfrm>
            <a:off x="658368" y="4096512"/>
            <a:ext cx="3337560" cy="10972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为什么输出候选答案？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三种实现有何差异？</a:t>
            </a:r>
          </a:p>
        </p:txBody>
      </p:sp>
      <p:sp>
        <p:nvSpPr>
          <p:cNvPr id="9" name="TEXT: 02"/>
          <p:cNvSpPr txBox="1"/>
          <p:nvPr/>
        </p:nvSpPr>
        <p:spPr>
          <a:xfrm>
            <a:off x="4480560" y="2304288"/>
            <a:ext cx="91440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6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pic>
        <p:nvPicPr>
          <p:cNvPr id="10" name="ICON: Lucide chart-no-axes-combine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319272"/>
            <a:ext cx="365760" cy="365760"/>
          </a:xfrm>
          <a:prstGeom prst="rect">
            <a:avLst/>
          </a:prstGeom>
        </p:spPr>
      </p:pic>
      <p:sp>
        <p:nvSpPr>
          <p:cNvPr id="11" name="TEXT: 观察证据"/>
          <p:cNvSpPr txBox="1"/>
          <p:nvPr/>
        </p:nvSpPr>
        <p:spPr>
          <a:xfrm>
            <a:off x="5001768" y="3291840"/>
            <a:ext cx="292608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观察证据</a:t>
            </a:r>
          </a:p>
        </p:txBody>
      </p:sp>
      <p:sp>
        <p:nvSpPr>
          <p:cNvPr id="12" name="TEXT: 公开基准 + 四个支付场景 速度、选择、实际执行"/>
          <p:cNvSpPr txBox="1"/>
          <p:nvPr/>
        </p:nvSpPr>
        <p:spPr>
          <a:xfrm>
            <a:off x="4480560" y="4096512"/>
            <a:ext cx="3337560" cy="10972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公开基准 + 四个支付场景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速度、选择、实际执行</a:t>
            </a:r>
          </a:p>
        </p:txBody>
      </p:sp>
      <p:sp>
        <p:nvSpPr>
          <p:cNvPr id="13" name="TEXT: 03"/>
          <p:cNvSpPr txBox="1"/>
          <p:nvPr/>
        </p:nvSpPr>
        <p:spPr>
          <a:xfrm>
            <a:off x="8229600" y="2304288"/>
            <a:ext cx="91440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6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14" name="ICON: Lucide targ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319272"/>
            <a:ext cx="365760" cy="365760"/>
          </a:xfrm>
          <a:prstGeom prst="rect">
            <a:avLst/>
          </a:prstGeom>
        </p:spPr>
      </p:pic>
      <p:sp>
        <p:nvSpPr>
          <p:cNvPr id="15" name="TEXT: 决定下一步"/>
          <p:cNvSpPr txBox="1"/>
          <p:nvPr/>
        </p:nvSpPr>
        <p:spPr>
          <a:xfrm>
            <a:off x="8750808" y="3291840"/>
            <a:ext cx="292608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决定下一步</a:t>
            </a:r>
          </a:p>
        </p:txBody>
      </p:sp>
      <p:sp>
        <p:nvSpPr>
          <p:cNvPr id="16" name="TEXT: 如何优化 Decider？ 哪些任务交给哪类模型？"/>
          <p:cNvSpPr txBox="1"/>
          <p:nvPr/>
        </p:nvSpPr>
        <p:spPr>
          <a:xfrm>
            <a:off x="8229600" y="4096512"/>
            <a:ext cx="3337560" cy="10972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如何优化 Decider？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哪些任务交给哪类模型？</a:t>
            </a:r>
          </a:p>
        </p:txBody>
      </p:sp>
      <p:sp>
        <p:nvSpPr>
          <p:cNvPr id="17" name="TEXT: 模型原理 → 公开基准 → 项目实测 → 差异解释 → 优化路径  ·  2026.10.12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CBD9E6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差异解释 → 优化路径  ·  2026.10.12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425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0" name="TEXT: 01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01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为什么需要决策模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为什么需要决策模型</a:t>
            </a:r>
          </a:p>
        </p:txBody>
      </p:sp>
      <p:sp>
        <p:nvSpPr>
          <p:cNvPr id="3" name="TEXT: 软件流程，需要大量小而明确的判断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软件流程，需要大量小而明确的判断</a:t>
            </a:r>
          </a:p>
        </p:txBody>
      </p:sp>
      <p:sp>
        <p:nvSpPr>
          <p:cNvPr id="4" name="TEXT: 选哪个队列？调用哪个工具？证据是否足够继续？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选哪个队列？调用哪个工具？证据是否足够继续？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77440"/>
            <a:ext cx="347472" cy="347472"/>
          </a:xfrm>
          <a:prstGeom prst="rect">
            <a:avLst/>
          </a:prstGeom>
        </p:spPr>
      </p:pic>
      <p:sp>
        <p:nvSpPr>
          <p:cNvPr id="7" name="TEXT: 接收请求"/>
          <p:cNvSpPr txBox="1"/>
          <p:nvPr/>
        </p:nvSpPr>
        <p:spPr>
          <a:xfrm>
            <a:off x="1207008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接收请求</a:t>
            </a:r>
          </a:p>
        </p:txBody>
      </p:sp>
      <p:sp>
        <p:nvSpPr>
          <p:cNvPr id="8" name="TEXT: 客户消息 / 当前状态"/>
          <p:cNvSpPr txBox="1"/>
          <p:nvPr/>
        </p:nvSpPr>
        <p:spPr>
          <a:xfrm>
            <a:off x="749808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客户消息 / 当前状态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0416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6448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96" y="2377440"/>
            <a:ext cx="347472" cy="347472"/>
          </a:xfrm>
          <a:prstGeom prst="rect">
            <a:avLst/>
          </a:prstGeom>
        </p:spPr>
      </p:pic>
      <p:sp>
        <p:nvSpPr>
          <p:cNvPr id="12" name="TEXT: 选择路径"/>
          <p:cNvSpPr txBox="1"/>
          <p:nvPr/>
        </p:nvSpPr>
        <p:spPr>
          <a:xfrm>
            <a:off x="4959096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选择路径</a:t>
            </a:r>
          </a:p>
        </p:txBody>
      </p:sp>
      <p:sp>
        <p:nvSpPr>
          <p:cNvPr id="13" name="TEXT: 队列 / 工具 / 下一步"/>
          <p:cNvSpPr txBox="1"/>
          <p:nvPr/>
        </p:nvSpPr>
        <p:spPr>
          <a:xfrm>
            <a:off x="4501896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队列 / 工具 / 下一步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504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8536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984" y="2377440"/>
            <a:ext cx="347472" cy="347472"/>
          </a:xfrm>
          <a:prstGeom prst="rect">
            <a:avLst/>
          </a:prstGeom>
        </p:spPr>
      </p:pic>
      <p:sp>
        <p:nvSpPr>
          <p:cNvPr id="17" name="TEXT: 检查结果"/>
          <p:cNvSpPr txBox="1"/>
          <p:nvPr/>
        </p:nvSpPr>
        <p:spPr>
          <a:xfrm>
            <a:off x="8711184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检查结果</a:t>
            </a:r>
          </a:p>
        </p:txBody>
      </p:sp>
      <p:sp>
        <p:nvSpPr>
          <p:cNvPr id="18" name="TEXT: 是否完成 / 是否升级"/>
          <p:cNvSpPr txBox="1"/>
          <p:nvPr/>
        </p:nvSpPr>
        <p:spPr>
          <a:xfrm>
            <a:off x="8253984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是否完成 / 是否升级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list-filt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416552"/>
            <a:ext cx="393192" cy="393192"/>
          </a:xfrm>
          <a:prstGeom prst="rect">
            <a:avLst/>
          </a:prstGeom>
        </p:spPr>
      </p:pic>
      <p:sp>
        <p:nvSpPr>
          <p:cNvPr id="21" name="TEXT: 这些判断的共同点"/>
          <p:cNvSpPr txBox="1"/>
          <p:nvPr/>
        </p:nvSpPr>
        <p:spPr>
          <a:xfrm>
            <a:off x="134416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这些判断的共同点</a:t>
            </a:r>
          </a:p>
        </p:txBody>
      </p:sp>
      <p:sp>
        <p:nvSpPr>
          <p:cNvPr id="22" name="TEXT: 候选明确、频繁调用、结果被代码消费"/>
          <p:cNvSpPr txBox="1"/>
          <p:nvPr/>
        </p:nvSpPr>
        <p:spPr>
          <a:xfrm>
            <a:off x="80467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候选明确、频繁调用、结果被代码消费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tim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416552"/>
            <a:ext cx="393192" cy="393192"/>
          </a:xfrm>
          <a:prstGeom prst="rect">
            <a:avLst/>
          </a:prstGeom>
        </p:spPr>
      </p:pic>
      <p:sp>
        <p:nvSpPr>
          <p:cNvPr id="25" name="TEXT: 决策模型的目标"/>
          <p:cNvSpPr txBox="1"/>
          <p:nvPr/>
        </p:nvSpPr>
        <p:spPr>
          <a:xfrm>
            <a:off x="696772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决策模型的目标</a:t>
            </a:r>
          </a:p>
        </p:txBody>
      </p:sp>
      <p:sp>
        <p:nvSpPr>
          <p:cNvPr id="26" name="TEXT: 用受约束的输出，降低判断开销"/>
          <p:cNvSpPr txBox="1"/>
          <p:nvPr/>
        </p:nvSpPr>
        <p:spPr>
          <a:xfrm>
            <a:off x="642823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用受约束的输出，降低判断开销</a:t>
            </a:r>
          </a:p>
        </p:txBody>
      </p:sp>
      <p:sp>
        <p:nvSpPr>
          <p:cNvPr id="27" name="TEXT: 自然语言理解与路径选择交给模型；金额、权限与执行前提由代码核验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自然语言理解与路径选择交给模型；金额、权限与执行前提由代码核验。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0" name="TEXT: 02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Decision Models · System One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Decision Models · System One</a:t>
            </a:r>
          </a:p>
        </p:txBody>
      </p:sp>
      <p:sp>
        <p:nvSpPr>
          <p:cNvPr id="3" name="TEXT: 决策模型：状态输入，类型化答案输出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决策模型：状态输入，类型化答案输出</a:t>
            </a:r>
          </a:p>
        </p:txBody>
      </p:sp>
      <p:sp>
        <p:nvSpPr>
          <p:cNvPr id="4" name="TEXT: 把一个复杂流程拆成明确问题，再在应用代码中组合答案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把一个复杂流程拆成明确问题，再在应用代码中组合答案。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736" y="2029968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共享输入：业务状态 + 问题 + 候选或判断条件"/>
          <p:cNvSpPr txBox="1"/>
          <p:nvPr/>
        </p:nvSpPr>
        <p:spPr>
          <a:xfrm>
            <a:off x="1362456" y="2080260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共享输入：业务状态 + 问题 + 候选或判断条件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rout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80360"/>
            <a:ext cx="393192" cy="393192"/>
          </a:xfrm>
          <a:prstGeom prst="rect">
            <a:avLst/>
          </a:prstGeom>
        </p:spPr>
      </p:pic>
      <p:sp>
        <p:nvSpPr>
          <p:cNvPr id="9" name="TEXT: Choice · 多选一"/>
          <p:cNvSpPr txBox="1"/>
          <p:nvPr/>
        </p:nvSpPr>
        <p:spPr>
          <a:xfrm>
            <a:off x="1344168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Choice · 多选一</a:t>
            </a:r>
          </a:p>
        </p:txBody>
      </p:sp>
      <p:sp>
        <p:nvSpPr>
          <p:cNvPr id="10" name="TEXT: 该交给哪个客服队列？  支付 / 退款 / 商户运营"/>
          <p:cNvSpPr txBox="1"/>
          <p:nvPr/>
        </p:nvSpPr>
        <p:spPr>
          <a:xfrm>
            <a:off x="804672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该交给哪个客服队列？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 / 退款 / 商户运营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ircle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80360"/>
            <a:ext cx="393192" cy="393192"/>
          </a:xfrm>
          <a:prstGeom prst="rect">
            <a:avLst/>
          </a:prstGeom>
        </p:spPr>
      </p:pic>
      <p:sp>
        <p:nvSpPr>
          <p:cNvPr id="13" name="TEXT: Noul · 是 / 否"/>
          <p:cNvSpPr txBox="1"/>
          <p:nvPr/>
        </p:nvSpPr>
        <p:spPr>
          <a:xfrm>
            <a:off x="5120640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Noul · 是 / 否</a:t>
            </a:r>
          </a:p>
        </p:txBody>
      </p:sp>
      <p:sp>
        <p:nvSpPr>
          <p:cNvPr id="14" name="TEXT: 是否表达了退款诉求？  返回 P(true)"/>
          <p:cNvSpPr txBox="1"/>
          <p:nvPr/>
        </p:nvSpPr>
        <p:spPr>
          <a:xfrm>
            <a:off x="4581144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是否表达了退款诉求？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 P(true)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hart-no-axes-combine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880360"/>
            <a:ext cx="393192" cy="393192"/>
          </a:xfrm>
          <a:prstGeom prst="rect">
            <a:avLst/>
          </a:prstGeom>
        </p:spPr>
      </p:pic>
      <p:sp>
        <p:nvSpPr>
          <p:cNvPr id="17" name="TEXT: Score · 有序评分"/>
          <p:cNvSpPr txBox="1"/>
          <p:nvPr/>
        </p:nvSpPr>
        <p:spPr>
          <a:xfrm>
            <a:off x="8897112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Score · 有序评分</a:t>
            </a:r>
          </a:p>
        </p:txBody>
      </p:sp>
      <p:sp>
        <p:nvSpPr>
          <p:cNvPr id="18" name="TEXT: 这条请求有多紧急？  在定义好的等级上评分"/>
          <p:cNvSpPr txBox="1"/>
          <p:nvPr/>
        </p:nvSpPr>
        <p:spPr>
          <a:xfrm>
            <a:off x="8357616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这条请求有多紧急？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在定义好的等级上评分</a:t>
            </a:r>
          </a:p>
        </p:txBody>
      </p:sp>
      <p:sp>
        <p:nvSpPr>
          <p:cNvPr id="19" name="TEXT: 输出类型受约束 ≠ 业务判断必然正确；概率与置信度需要结合业务数据验证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输出类型受约束 ≠ 业务判断必然正确；概率与置信度需要结合业务数据验证。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2" name="TEXT: 03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1 / 模型定位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01 / 模型定位</a:t>
            </a:r>
          </a:p>
        </p:txBody>
      </p:sp>
      <p:sp>
        <p:nvSpPr>
          <p:cNvPr id="3" name="TEXT: 三个模型，同一个候选动作任务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三个模型，同一个候选动作任务</a:t>
            </a:r>
          </a:p>
        </p:txBody>
      </p:sp>
      <p:sp>
        <p:nvSpPr>
          <p:cNvPr id="4" name="TEXT: 比较的是软件判断能力；本演示不测自由长文本生成质量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比较的是软件判断能力；本演示不测自由长文本生成质量。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3429000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code-xm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14016"/>
            <a:ext cx="365760" cy="365760"/>
          </a:xfrm>
          <a:prstGeom prst="rect">
            <a:avLst/>
          </a:prstGeom>
        </p:spPr>
      </p:pic>
      <p:sp>
        <p:nvSpPr>
          <p:cNvPr id="7" name="TEXT: Strands Decider"/>
          <p:cNvSpPr txBox="1"/>
          <p:nvPr/>
        </p:nvSpPr>
        <p:spPr>
          <a:xfrm>
            <a:off x="1316736" y="2395728"/>
            <a:ext cx="254203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8" name="TEXT: 开源 2B · 自行部署 Qwen 主体 + LoRA Pointer Head 对候选评分  本项目：EC2 L4 常驻"/>
          <p:cNvSpPr txBox="1"/>
          <p:nvPr/>
        </p:nvSpPr>
        <p:spPr>
          <a:xfrm>
            <a:off x="795528" y="2990088"/>
            <a:ext cx="3026664" cy="2468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开源 2B · 自行部署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 主体 + LoRA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Pointer Head 对候选评分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本项目：EC2 L4 常驻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240280"/>
            <a:ext cx="3429000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414016"/>
            <a:ext cx="365760" cy="365760"/>
          </a:xfrm>
          <a:prstGeom prst="rect">
            <a:avLst/>
          </a:prstGeom>
        </p:spPr>
      </p:pic>
      <p:sp>
        <p:nvSpPr>
          <p:cNvPr id="11" name="TEXT: Jev / TypeSafe"/>
          <p:cNvSpPr txBox="1"/>
          <p:nvPr/>
        </p:nvSpPr>
        <p:spPr>
          <a:xfrm>
            <a:off x="5102352" y="2395728"/>
            <a:ext cx="254203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/ TypeSafe</a:t>
            </a:r>
          </a:p>
        </p:txBody>
      </p:sp>
      <p:sp>
        <p:nvSpPr>
          <p:cNvPr id="12" name="TEXT: 托管 System One API 类型化答案与概率 官方强调 RLCD 校准训练  本项目：实际版本 1.13.0"/>
          <p:cNvSpPr txBox="1"/>
          <p:nvPr/>
        </p:nvSpPr>
        <p:spPr>
          <a:xfrm>
            <a:off x="4581144" y="2990088"/>
            <a:ext cx="3026664" cy="2468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托管 System One API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类型化答案与概率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官方强调 RLCD 校准训练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本项目：实际版本 1.13.0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2240280"/>
            <a:ext cx="3429000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414016"/>
            <a:ext cx="365760" cy="365760"/>
          </a:xfrm>
          <a:prstGeom prst="rect">
            <a:avLst/>
          </a:prstGeom>
        </p:spPr>
      </p:pic>
      <p:sp>
        <p:nvSpPr>
          <p:cNvPr id="15" name="TEXT: GPT / Bedrock"/>
          <p:cNvSpPr txBox="1"/>
          <p:nvPr/>
        </p:nvSpPr>
        <p:spPr>
          <a:xfrm>
            <a:off x="8887968" y="2395728"/>
            <a:ext cx="254203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/ Bedrock</a:t>
            </a:r>
          </a:p>
        </p:txBody>
      </p:sp>
      <p:sp>
        <p:nvSpPr>
          <p:cNvPr id="16" name="TEXT: 通用生成式模型 根据候选条件生成 JSON 本项目仅输出 choice ID  GPT-6.1 Sol · 推理 low"/>
          <p:cNvSpPr txBox="1"/>
          <p:nvPr/>
        </p:nvSpPr>
        <p:spPr>
          <a:xfrm>
            <a:off x="8366760" y="2990088"/>
            <a:ext cx="3026664" cy="2468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通用生成式模型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根据候选条件生成 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本项目仅输出 choice ID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GPT-6.1 Sol · 推理 low</a:t>
            </a:r>
          </a:p>
        </p:txBody>
      </p:sp>
      <p:sp>
        <p:nvSpPr>
          <p:cNvPr id="17" name="TEXT: Decider 与 Jev 的概率有助于观察选择偏向；不同模型的 confidence 不能直接视为同一种正确率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与 Jev 的概率有助于观察选择偏向；不同模型的 confidence 不能直接视为同一种正确率。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0" name="TEXT: 04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2 / 模型原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02 / 模型原理</a:t>
            </a:r>
          </a:p>
        </p:txBody>
      </p:sp>
      <p:sp>
        <p:nvSpPr>
          <p:cNvPr id="3" name="TEXT: Strands Decider：用候选评分头完成选择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Strands Decider：用候选评分头完成选择</a:t>
            </a:r>
          </a:p>
        </p:txBody>
      </p:sp>
      <p:sp>
        <p:nvSpPr>
          <p:cNvPr id="4" name="TEXT: 官方 v19：Qwen3.5-2B-Base + rank-16 LoRA + Pointer Head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官方 v19：Qwen3.5-2B-Base + rank-16 LoRA + Pointer 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496312"/>
            <a:ext cx="347472" cy="347472"/>
          </a:xfrm>
          <a:prstGeom prst="rect">
            <a:avLst/>
          </a:prstGeom>
        </p:spPr>
      </p:pic>
      <p:sp>
        <p:nvSpPr>
          <p:cNvPr id="7" name="TEXT: 输入业务"/>
          <p:cNvSpPr txBox="1"/>
          <p:nvPr/>
        </p:nvSpPr>
        <p:spPr>
          <a:xfrm>
            <a:off x="1207008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输入业务</a:t>
            </a:r>
          </a:p>
        </p:txBody>
      </p:sp>
      <p:sp>
        <p:nvSpPr>
          <p:cNvPr id="8" name="TEXT: state / question criteria / 候选"/>
          <p:cNvSpPr txBox="1"/>
          <p:nvPr/>
        </p:nvSpPr>
        <p:spPr>
          <a:xfrm>
            <a:off x="749808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/ question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criteria / 候选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ayer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74" y="2496312"/>
            <a:ext cx="347472" cy="347472"/>
          </a:xfrm>
          <a:prstGeom prst="rect">
            <a:avLst/>
          </a:prstGeom>
        </p:spPr>
      </p:pic>
      <p:sp>
        <p:nvSpPr>
          <p:cNvPr id="12" name="TEXT: 模型主体"/>
          <p:cNvSpPr txBox="1"/>
          <p:nvPr/>
        </p:nvSpPr>
        <p:spPr>
          <a:xfrm>
            <a:off x="4021074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模型主体</a:t>
            </a:r>
          </a:p>
        </p:txBody>
      </p:sp>
      <p:sp>
        <p:nvSpPr>
          <p:cNvPr id="13" name="TEXT: Qwen3.5-2B LoRA 任务适配"/>
          <p:cNvSpPr txBox="1"/>
          <p:nvPr/>
        </p:nvSpPr>
        <p:spPr>
          <a:xfrm>
            <a:off x="3563874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Qwen3.5-2B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任务适配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496312"/>
            <a:ext cx="347472" cy="347472"/>
          </a:xfrm>
          <a:prstGeom prst="rect">
            <a:avLst/>
          </a:prstGeom>
        </p:spPr>
      </p:pic>
      <p:sp>
        <p:nvSpPr>
          <p:cNvPr id="17" name="TEXT: 候选评分"/>
          <p:cNvSpPr txBox="1"/>
          <p:nvPr/>
        </p:nvSpPr>
        <p:spPr>
          <a:xfrm>
            <a:off x="6835140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候选评分</a:t>
            </a:r>
          </a:p>
        </p:txBody>
      </p:sp>
      <p:sp>
        <p:nvSpPr>
          <p:cNvPr id="18" name="TEXT: Pointer Head 候选位置 ↔ 答案位置"/>
          <p:cNvSpPr txBox="1"/>
          <p:nvPr/>
        </p:nvSpPr>
        <p:spPr>
          <a:xfrm>
            <a:off x="6377940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候选位置 ↔ 答案位置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ircle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006" y="2496312"/>
            <a:ext cx="347472" cy="347472"/>
          </a:xfrm>
          <a:prstGeom prst="rect">
            <a:avLst/>
          </a:prstGeom>
        </p:spPr>
      </p:pic>
      <p:sp>
        <p:nvSpPr>
          <p:cNvPr id="22" name="TEXT: 输出决策"/>
          <p:cNvSpPr txBox="1"/>
          <p:nvPr/>
        </p:nvSpPr>
        <p:spPr>
          <a:xfrm>
            <a:off x="9649206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输出决策</a:t>
            </a:r>
          </a:p>
        </p:txBody>
      </p:sp>
      <p:sp>
        <p:nvSpPr>
          <p:cNvPr id="23" name="TEXT: 选择 / 分布 概率 / 置信信息"/>
          <p:cNvSpPr txBox="1"/>
          <p:nvPr/>
        </p:nvSpPr>
        <p:spPr>
          <a:xfrm>
            <a:off x="9192006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 / 分布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概率 / 置信信息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6736" y="4599432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对当前候选直接评分，减少逐 token 文本生成"/>
          <p:cNvSpPr txBox="1"/>
          <p:nvPr/>
        </p:nvSpPr>
        <p:spPr>
          <a:xfrm>
            <a:off x="1362456" y="4649724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对当前候选直接评分，减少逐 token 文本生成</a:t>
            </a:r>
          </a:p>
        </p:txBody>
      </p:sp>
      <p:sp>
        <p:nvSpPr>
          <p:cNvPr id="26" name="TEXT: 适合明确、聚焦的判断；开放式写作与复杂长链推理，需要不同模型能力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适合明确、聚焦的判断；开放式写作与复杂长链推理，需要不同模型能力。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9" name="TEXT: 05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2 / 决策如何产生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02 / 决策如何产生</a:t>
            </a:r>
          </a:p>
        </p:txBody>
      </p:sp>
      <p:sp>
        <p:nvSpPr>
          <p:cNvPr id="3" name="TEXT: 相同业务问题，三条调用路径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相同业务问题，三条调用路径</a:t>
            </a:r>
          </a:p>
        </p:txBody>
      </p:sp>
      <p:sp>
        <p:nvSpPr>
          <p:cNvPr id="4" name="TEXT: 应用提供事实、问题与候选条件；模型返回建议，执行器再检查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应用提供事实、问题与候选条件；模型返回建议，执行器再检查。</a:t>
            </a:r>
          </a:p>
        </p:txBody>
      </p:sp>
      <p:sp>
        <p:nvSpPr>
          <p:cNvPr id="5" name="TEXT: Strands Decider"/>
          <p:cNvSpPr txBox="1"/>
          <p:nvPr/>
        </p:nvSpPr>
        <p:spPr>
          <a:xfrm>
            <a:off x="621792" y="2432304"/>
            <a:ext cx="2194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2212848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编码事实与候选"/>
          <p:cNvSpPr txBox="1"/>
          <p:nvPr/>
        </p:nvSpPr>
        <p:spPr>
          <a:xfrm>
            <a:off x="2926079" y="2468880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编码事实与候选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58968" y="2624328"/>
            <a:ext cx="192024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715000" y="2212848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Pointer Head 评分"/>
          <p:cNvSpPr txBox="1"/>
          <p:nvPr/>
        </p:nvSpPr>
        <p:spPr>
          <a:xfrm>
            <a:off x="5852160" y="2468880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 评分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85048" y="2624328"/>
            <a:ext cx="192024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41080" y="2212848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选择 + 分布"/>
          <p:cNvSpPr txBox="1"/>
          <p:nvPr/>
        </p:nvSpPr>
        <p:spPr>
          <a:xfrm>
            <a:off x="8778240" y="2468880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 + 分布</a:t>
            </a:r>
          </a:p>
        </p:txBody>
      </p:sp>
      <p:sp>
        <p:nvSpPr>
          <p:cNvPr id="14" name="TEXT: Jev 1.13.0"/>
          <p:cNvSpPr txBox="1"/>
          <p:nvPr/>
        </p:nvSpPr>
        <p:spPr>
          <a:xfrm>
            <a:off x="621792" y="3511296"/>
            <a:ext cx="2194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3291840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提交业务事实、 问题与候选项"/>
          <p:cNvSpPr txBox="1"/>
          <p:nvPr/>
        </p:nvSpPr>
        <p:spPr>
          <a:xfrm>
            <a:off x="2926079" y="3401568"/>
            <a:ext cx="2359152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提交业务事实、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问题与候选项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58968" y="3703320"/>
            <a:ext cx="192024" cy="0"/>
          </a:xfrm>
          <a:prstGeom prst="line">
            <a:avLst/>
          </a:prstGeom>
          <a:ln w="19050">
            <a:solidFill>
              <a:srgbClr val="8055A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715000" y="3291840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托管决策模型"/>
          <p:cNvSpPr txBox="1"/>
          <p:nvPr/>
        </p:nvSpPr>
        <p:spPr>
          <a:xfrm>
            <a:off x="5852160" y="3547872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托管决策模型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85048" y="3703320"/>
            <a:ext cx="192024" cy="0"/>
          </a:xfrm>
          <a:prstGeom prst="line">
            <a:avLst/>
          </a:prstGeom>
          <a:ln w="19050">
            <a:solidFill>
              <a:srgbClr val="8055A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41080" y="3291840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选择 + 分布"/>
          <p:cNvSpPr txBox="1"/>
          <p:nvPr/>
        </p:nvSpPr>
        <p:spPr>
          <a:xfrm>
            <a:off x="8778240" y="3547872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选择 + 分布</a:t>
            </a:r>
          </a:p>
        </p:txBody>
      </p:sp>
      <p:sp>
        <p:nvSpPr>
          <p:cNvPr id="23" name="TEXT: GPT-6.1 Sol"/>
          <p:cNvSpPr txBox="1"/>
          <p:nvPr/>
        </p:nvSpPr>
        <p:spPr>
          <a:xfrm>
            <a:off x="621792" y="4590288"/>
            <a:ext cx="2194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4370832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提示事实与候选"/>
          <p:cNvSpPr txBox="1"/>
          <p:nvPr/>
        </p:nvSpPr>
        <p:spPr>
          <a:xfrm>
            <a:off x="2926079" y="4626864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提示事实与候选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58968" y="4782312"/>
            <a:ext cx="192024" cy="0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715000" y="4370832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生成候选 ID JSON"/>
          <p:cNvSpPr txBox="1"/>
          <p:nvPr/>
        </p:nvSpPr>
        <p:spPr>
          <a:xfrm>
            <a:off x="5852160" y="4626864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生成候选 ID JSON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85048" y="4782312"/>
            <a:ext cx="192024" cy="0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41080" y="4370832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解析与格式校验"/>
          <p:cNvSpPr txBox="1"/>
          <p:nvPr/>
        </p:nvSpPr>
        <p:spPr>
          <a:xfrm>
            <a:off x="8778240" y="4626864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解析与格式校验</a:t>
            </a:r>
          </a:p>
        </p:txBody>
      </p:sp>
      <p:sp>
        <p:nvSpPr>
          <p:cNvPr id="32" name="TEXT: 输出受约束，只保证形状与候选范围；条件是否理解正确，需要业务评测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输出受约束，只保证形状与候选范围；条件是否理解正确，需要业务评测。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5" name="TEXT: 06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BERT、Decider、GPT：适配方式一页看懂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BERT、Decider、GPT：适配方式一页看懂</a:t>
            </a:r>
          </a:p>
        </p:txBody>
      </p:sp>
      <p:sp>
        <p:nvSpPr>
          <p:cNvPr id="4" name="TEXT: 区别在输出头、候选表达与任务范围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区别在输出头、候选表达与任务范围。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ayer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68880"/>
            <a:ext cx="393192" cy="393192"/>
          </a:xfrm>
          <a:prstGeom prst="rect">
            <a:avLst/>
          </a:prstGeom>
        </p:spPr>
      </p:pic>
      <p:sp>
        <p:nvSpPr>
          <p:cNvPr id="7" name="TEXT: BERT 分类器"/>
          <p:cNvSpPr txBox="1"/>
          <p:nvPr/>
        </p:nvSpPr>
        <p:spPr>
          <a:xfrm>
            <a:off x="1344168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8" name="TEXT: 固定标签 → 分类头 标签稳定、领域标注 新增类别通常需适配"/>
          <p:cNvSpPr txBox="1"/>
          <p:nvPr/>
        </p:nvSpPr>
        <p:spPr>
          <a:xfrm>
            <a:off x="804672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 → 分类头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标签稳定、领域标注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新增类别通常需适配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68880"/>
            <a:ext cx="393192" cy="393192"/>
          </a:xfrm>
          <a:prstGeom prst="rect">
            <a:avLst/>
          </a:prstGeom>
        </p:spPr>
      </p:pic>
      <p:sp>
        <p:nvSpPr>
          <p:cNvPr id="11" name="TEXT: Decider"/>
          <p:cNvSpPr txBox="1"/>
          <p:nvPr/>
        </p:nvSpPr>
        <p:spPr>
          <a:xfrm>
            <a:off x="5120640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2" name="TEXT: 请求候选 → 共享评分 条件用自然语言描述 专注有限动作选择"/>
          <p:cNvSpPr txBox="1"/>
          <p:nvPr/>
        </p:nvSpPr>
        <p:spPr>
          <a:xfrm>
            <a:off x="4581144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请求候选 → 共享评分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条件用自然语言描述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专注有限动作选择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468880"/>
            <a:ext cx="393192" cy="393192"/>
          </a:xfrm>
          <a:prstGeom prst="rect">
            <a:avLst/>
          </a:prstGeom>
        </p:spPr>
      </p:pic>
      <p:sp>
        <p:nvSpPr>
          <p:cNvPr id="15" name="TEXT: GPT"/>
          <p:cNvSpPr txBox="1"/>
          <p:nvPr/>
        </p:nvSpPr>
        <p:spPr>
          <a:xfrm>
            <a:off x="8897112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6" name="TEXT: 提示候选 → 生成 JSON 支持开放式生成与规划 也可做受限动作选择"/>
          <p:cNvSpPr txBox="1"/>
          <p:nvPr/>
        </p:nvSpPr>
        <p:spPr>
          <a:xfrm>
            <a:off x="8357616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提示候选 → 生成 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支持开放式生成与规划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也可做受限动作选择</a:t>
            </a:r>
          </a:p>
        </p:txBody>
      </p:sp>
      <p:sp>
        <p:nvSpPr>
          <p:cNvPr id="17" name="TEXT: BERT/NLI 也可做动态候选评分；本项目未对 BERT 进行速度或质量实测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BERT/NLI 也可做动态候选评分；本项目未对 BERT 进行速度或质量实测。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0" name="TEXT: 07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3 / 公开基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03 / 公开基准</a:t>
            </a:r>
          </a:p>
        </p:txBody>
      </p:sp>
      <p:sp>
        <p:nvSpPr>
          <p:cNvPr id="3" name="TEXT: JevBench：同时衡量能力、校准、速度与成本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JevBench：同时衡量能力、校准、速度与成本</a:t>
            </a:r>
          </a:p>
        </p:txBody>
      </p:sp>
      <p:sp>
        <p:nvSpPr>
          <p:cNvPr id="4" name="TEXT: Benchmark Heaven 第三方评测：综合分需要结合能力、速度与成本一起看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Benchmark Heaven 第三方评测：综合分需要结合能力、速度与成本一起看。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" y="1938528"/>
            <a:ext cx="5614416" cy="3877055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jevbench-leaderboard.png" descr="jevbench-leader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1965960"/>
            <a:ext cx="5559552" cy="3822191"/>
          </a:xfrm>
          <a:prstGeom prst="rect">
            <a:avLst/>
          </a:prstGeom>
        </p:spPr>
      </p:pic>
      <p:pic>
        <p:nvPicPr>
          <p:cNvPr id="7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048256"/>
            <a:ext cx="365760" cy="365760"/>
          </a:xfrm>
          <a:prstGeom prst="rect">
            <a:avLst/>
          </a:prstGeom>
        </p:spPr>
      </p:pic>
      <p:sp>
        <p:nvSpPr>
          <p:cNvPr id="8" name="TEXT: Intelligence"/>
          <p:cNvSpPr txBox="1"/>
          <p:nvPr/>
        </p:nvSpPr>
        <p:spPr>
          <a:xfrm>
            <a:off x="8138160" y="2029968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Intelligence</a:t>
            </a:r>
          </a:p>
        </p:txBody>
      </p:sp>
      <p:sp>
        <p:nvSpPr>
          <p:cNvPr id="9" name="TEXT: 类型化决策任务的能力分"/>
          <p:cNvSpPr txBox="1"/>
          <p:nvPr/>
        </p:nvSpPr>
        <p:spPr>
          <a:xfrm>
            <a:off x="8138160" y="2404872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类型化决策任务的能力分</a:t>
            </a:r>
          </a:p>
        </p:txBody>
      </p:sp>
      <p:pic>
        <p:nvPicPr>
          <p:cNvPr id="10" name="ICON: Lucide targ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944368"/>
            <a:ext cx="365760" cy="365760"/>
          </a:xfrm>
          <a:prstGeom prst="rect">
            <a:avLst/>
          </a:prstGeom>
        </p:spPr>
      </p:pic>
      <p:sp>
        <p:nvSpPr>
          <p:cNvPr id="11" name="TEXT: Calibration"/>
          <p:cNvSpPr txBox="1"/>
          <p:nvPr/>
        </p:nvSpPr>
        <p:spPr>
          <a:xfrm>
            <a:off x="8138160" y="2926080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Calibration</a:t>
            </a:r>
          </a:p>
        </p:txBody>
      </p:sp>
      <p:sp>
        <p:nvSpPr>
          <p:cNvPr id="12" name="TEXT: 概率有多可信"/>
          <p:cNvSpPr txBox="1"/>
          <p:nvPr/>
        </p:nvSpPr>
        <p:spPr>
          <a:xfrm>
            <a:off x="8138160" y="3300984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概率有多可信</a:t>
            </a:r>
          </a:p>
        </p:txBody>
      </p:sp>
      <p:pic>
        <p:nvPicPr>
          <p:cNvPr id="13" name="ICON: Lucide tim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840480"/>
            <a:ext cx="365760" cy="365760"/>
          </a:xfrm>
          <a:prstGeom prst="rect">
            <a:avLst/>
          </a:prstGeom>
        </p:spPr>
      </p:pic>
      <p:sp>
        <p:nvSpPr>
          <p:cNvPr id="14" name="TEXT: Speed"/>
          <p:cNvSpPr txBox="1"/>
          <p:nvPr/>
        </p:nvSpPr>
        <p:spPr>
          <a:xfrm>
            <a:off x="8138160" y="3822192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Speed</a:t>
            </a:r>
          </a:p>
        </p:txBody>
      </p:sp>
      <p:sp>
        <p:nvSpPr>
          <p:cNvPr id="15" name="TEXT: 测量或注明调整的响应耗时"/>
          <p:cNvSpPr txBox="1"/>
          <p:nvPr/>
        </p:nvSpPr>
        <p:spPr>
          <a:xfrm>
            <a:off x="8138160" y="4197096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测量或注明调整的响应耗时</a:t>
            </a:r>
          </a:p>
        </p:txBody>
      </p:sp>
      <p:pic>
        <p:nvPicPr>
          <p:cNvPr id="16" name="ICON: Lucide banknot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4736592"/>
            <a:ext cx="365760" cy="365760"/>
          </a:xfrm>
          <a:prstGeom prst="rect">
            <a:avLst/>
          </a:prstGeom>
        </p:spPr>
      </p:pic>
      <p:sp>
        <p:nvSpPr>
          <p:cNvPr id="17" name="TEXT: Cost"/>
          <p:cNvSpPr txBox="1"/>
          <p:nvPr/>
        </p:nvSpPr>
        <p:spPr>
          <a:xfrm>
            <a:off x="8138160" y="4718304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Cost</a:t>
            </a:r>
          </a:p>
        </p:txBody>
      </p:sp>
      <p:sp>
        <p:nvSpPr>
          <p:cNvPr id="18" name="TEXT: 标价建模成本；部分为估算"/>
          <p:cNvSpPr txBox="1"/>
          <p:nvPr/>
        </p:nvSpPr>
        <p:spPr>
          <a:xfrm>
            <a:off x="8138160" y="5093207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标价建模成本；部分为估算</a:t>
            </a:r>
          </a:p>
        </p:txBody>
      </p:sp>
      <p:sp>
        <p:nvSpPr>
          <p:cNvPr id="19" name="TEXT: 综合分采用四轴等权调和平均，并对部分低于 50 的轴加惩罚；高综合分不等于最高答题能力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综合分采用四轴等权调和平均，并对部分低于 50 的轴加惩罚；高综合分不等于最高答题能力。</a:t>
            </a:r>
          </a:p>
        </p:txBody>
      </p:sp>
      <p:sp>
        <p:nvSpPr>
          <p:cNvPr id="20" name="TEXT: 评测与方法：benchmarkheaven.com/jev-models/api"/>
          <p:cNvSpPr txBox="1"/>
          <p:nvPr/>
        </p:nvSpPr>
        <p:spPr>
          <a:xfrm>
            <a:off x="594360" y="5815584"/>
            <a:ext cx="1097280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 u="sng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评测与方法：benchmarkheaven.com/jev-models/api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3" name="TEXT: 08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3 / JevBench API 实际结果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03 / JevBench API 实际结果</a:t>
            </a:r>
          </a:p>
        </p:txBody>
      </p:sp>
      <p:sp>
        <p:nvSpPr>
          <p:cNvPr id="3" name="TEXT: 公开结果：Jev 与主流开源、闭源模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公开结果：Jev 与主流开源、闭源模型</a:t>
            </a:r>
          </a:p>
        </p:txBody>
      </p:sp>
      <p:sp>
        <p:nvSpPr>
          <p:cNvPr id="4" name="TEXT: 能力、校准、综合分越高越好；延迟、成本越低越好。全部是该榜单配置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能力、校准、综合分越高越好；延迟、成本越低越好。全部是该榜单配置。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39112"/>
            <a:ext cx="292608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模型 / 配置"/>
          <p:cNvSpPr txBox="1"/>
          <p:nvPr/>
        </p:nvSpPr>
        <p:spPr>
          <a:xfrm>
            <a:off x="685800" y="2116836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 / 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039112"/>
            <a:ext cx="114300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权重"/>
          <p:cNvSpPr txBox="1"/>
          <p:nvPr/>
        </p:nvSpPr>
        <p:spPr>
          <a:xfrm>
            <a:off x="3611880" y="2116836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权重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039112"/>
            <a:ext cx="100584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综合"/>
          <p:cNvSpPr txBox="1"/>
          <p:nvPr/>
        </p:nvSpPr>
        <p:spPr>
          <a:xfrm>
            <a:off x="4754879" y="2116836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综合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79" y="2039112"/>
            <a:ext cx="105156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能力 I"/>
          <p:cNvSpPr txBox="1"/>
          <p:nvPr/>
        </p:nvSpPr>
        <p:spPr>
          <a:xfrm>
            <a:off x="5760719" y="211683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能力 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039112"/>
            <a:ext cx="105156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校准 C"/>
          <p:cNvSpPr txBox="1"/>
          <p:nvPr/>
        </p:nvSpPr>
        <p:spPr>
          <a:xfrm>
            <a:off x="6812279" y="211683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校准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039112"/>
            <a:ext cx="150876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延迟 p50"/>
          <p:cNvSpPr txBox="1"/>
          <p:nvPr/>
        </p:nvSpPr>
        <p:spPr>
          <a:xfrm>
            <a:off x="7863840" y="2116836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延迟 p50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2039112"/>
            <a:ext cx="146304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$/千决策"/>
          <p:cNvSpPr txBox="1"/>
          <p:nvPr/>
        </p:nvSpPr>
        <p:spPr>
          <a:xfrm>
            <a:off x="9372600" y="2116836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$/千决策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455164"/>
            <a:ext cx="292608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Sage 1.3.0"/>
          <p:cNvSpPr txBox="1"/>
          <p:nvPr/>
        </p:nvSpPr>
        <p:spPr>
          <a:xfrm>
            <a:off x="685800" y="2532888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Sage 1.3.0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455164"/>
            <a:ext cx="114300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闭源"/>
          <p:cNvSpPr txBox="1"/>
          <p:nvPr/>
        </p:nvSpPr>
        <p:spPr>
          <a:xfrm>
            <a:off x="3611880" y="2532888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455164"/>
            <a:ext cx="10058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74.0"/>
          <p:cNvSpPr txBox="1"/>
          <p:nvPr/>
        </p:nvSpPr>
        <p:spPr>
          <a:xfrm>
            <a:off x="4754879" y="2532888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74.0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79" y="2455164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65.6"/>
          <p:cNvSpPr txBox="1"/>
          <p:nvPr/>
        </p:nvSpPr>
        <p:spPr>
          <a:xfrm>
            <a:off x="5760719" y="253288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65.6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2455164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91.6"/>
          <p:cNvSpPr txBox="1"/>
          <p:nvPr/>
        </p:nvSpPr>
        <p:spPr>
          <a:xfrm>
            <a:off x="6812279" y="253288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91.6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2455164"/>
            <a:ext cx="15087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0.152 s"/>
          <p:cNvSpPr txBox="1"/>
          <p:nvPr/>
        </p:nvSpPr>
        <p:spPr>
          <a:xfrm>
            <a:off x="7863840" y="2532888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0.152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2455164"/>
            <a:ext cx="14630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$0.025*"/>
          <p:cNvSpPr txBox="1"/>
          <p:nvPr/>
        </p:nvSpPr>
        <p:spPr>
          <a:xfrm>
            <a:off x="9372600" y="2532888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$0.025*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2871216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Liquid d1"/>
          <p:cNvSpPr txBox="1"/>
          <p:nvPr/>
        </p:nvSpPr>
        <p:spPr>
          <a:xfrm>
            <a:off x="685800" y="2948940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Liquid d1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871216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闭源"/>
          <p:cNvSpPr txBox="1"/>
          <p:nvPr/>
        </p:nvSpPr>
        <p:spPr>
          <a:xfrm>
            <a:off x="3611880" y="2948940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871216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73.0"/>
          <p:cNvSpPr txBox="1"/>
          <p:nvPr/>
        </p:nvSpPr>
        <p:spPr>
          <a:xfrm>
            <a:off x="4754879" y="2948940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73.0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79" y="2871216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62.1"/>
          <p:cNvSpPr txBox="1"/>
          <p:nvPr/>
        </p:nvSpPr>
        <p:spPr>
          <a:xfrm>
            <a:off x="5760719" y="294894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62.1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2871216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86.8"/>
          <p:cNvSpPr txBox="1"/>
          <p:nvPr/>
        </p:nvSpPr>
        <p:spPr>
          <a:xfrm>
            <a:off x="6812279" y="294894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86.8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2871216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0.268 s"/>
          <p:cNvSpPr txBox="1"/>
          <p:nvPr/>
        </p:nvSpPr>
        <p:spPr>
          <a:xfrm>
            <a:off x="7863840" y="2948940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0.268 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2871216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$0.017"/>
          <p:cNvSpPr txBox="1"/>
          <p:nvPr/>
        </p:nvSpPr>
        <p:spPr>
          <a:xfrm>
            <a:off x="9372600" y="2948940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$0.017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3287268"/>
            <a:ext cx="292608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Jev 1.13.0"/>
          <p:cNvSpPr txBox="1"/>
          <p:nvPr/>
        </p:nvSpPr>
        <p:spPr>
          <a:xfrm>
            <a:off x="685800" y="3364991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3287268"/>
            <a:ext cx="114300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闭源"/>
          <p:cNvSpPr txBox="1"/>
          <p:nvPr/>
        </p:nvSpPr>
        <p:spPr>
          <a:xfrm>
            <a:off x="3611880" y="3364991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3287268"/>
            <a:ext cx="100584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71.5"/>
          <p:cNvSpPr txBox="1"/>
          <p:nvPr/>
        </p:nvSpPr>
        <p:spPr>
          <a:xfrm>
            <a:off x="4754879" y="3364991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71.5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79" y="3287268"/>
            <a:ext cx="105156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63.6"/>
          <p:cNvSpPr txBox="1"/>
          <p:nvPr/>
        </p:nvSpPr>
        <p:spPr>
          <a:xfrm>
            <a:off x="5760719" y="3364991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63.6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3287268"/>
            <a:ext cx="105156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: 90.6"/>
          <p:cNvSpPr txBox="1"/>
          <p:nvPr/>
        </p:nvSpPr>
        <p:spPr>
          <a:xfrm>
            <a:off x="6812279" y="3364991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90.6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3287268"/>
            <a:ext cx="150876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: 0.239 s"/>
          <p:cNvSpPr txBox="1"/>
          <p:nvPr/>
        </p:nvSpPr>
        <p:spPr>
          <a:xfrm>
            <a:off x="7863840" y="3364991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0.239 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81160" y="3287268"/>
            <a:ext cx="146304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: $0.032"/>
          <p:cNvSpPr txBox="1"/>
          <p:nvPr/>
        </p:nvSpPr>
        <p:spPr>
          <a:xfrm>
            <a:off x="9372600" y="3364991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3703320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: GPT-6 Luna · low"/>
          <p:cNvSpPr txBox="1"/>
          <p:nvPr/>
        </p:nvSpPr>
        <p:spPr>
          <a:xfrm>
            <a:off x="685800" y="3781044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 Luna · low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20440" y="3703320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: 闭源"/>
          <p:cNvSpPr txBox="1"/>
          <p:nvPr/>
        </p:nvSpPr>
        <p:spPr>
          <a:xfrm>
            <a:off x="3611880" y="3781044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3703320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: 40.5"/>
          <p:cNvSpPr txBox="1"/>
          <p:nvPr/>
        </p:nvSpPr>
        <p:spPr>
          <a:xfrm>
            <a:off x="4754879" y="3781044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40.5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79" y="3703320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: 96.6"/>
          <p:cNvSpPr txBox="1"/>
          <p:nvPr/>
        </p:nvSpPr>
        <p:spPr>
          <a:xfrm>
            <a:off x="5760719" y="3781044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20840" y="3703320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: 99.0"/>
          <p:cNvSpPr txBox="1"/>
          <p:nvPr/>
        </p:nvSpPr>
        <p:spPr>
          <a:xfrm>
            <a:off x="6812279" y="3781044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99.0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0" y="3703320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: 1.854 s"/>
          <p:cNvSpPr txBox="1"/>
          <p:nvPr/>
        </p:nvSpPr>
        <p:spPr>
          <a:xfrm>
            <a:off x="7863840" y="3781044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1.854 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81160" y="3703320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: $0.108"/>
          <p:cNvSpPr txBox="1"/>
          <p:nvPr/>
        </p:nvSpPr>
        <p:spPr>
          <a:xfrm>
            <a:off x="9372600" y="3781044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$0.108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" y="4119372"/>
            <a:ext cx="292608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: GPT-5.6 Luna · low"/>
          <p:cNvSpPr txBox="1"/>
          <p:nvPr/>
        </p:nvSpPr>
        <p:spPr>
          <a:xfrm>
            <a:off x="685800" y="4197096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GPT-5.6 Luna · low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20440" y="4119372"/>
            <a:ext cx="114300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: 闭源"/>
          <p:cNvSpPr txBox="1"/>
          <p:nvPr/>
        </p:nvSpPr>
        <p:spPr>
          <a:xfrm>
            <a:off x="3611880" y="4197096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63440" y="4119372"/>
            <a:ext cx="10058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: 21.4"/>
          <p:cNvSpPr txBox="1"/>
          <p:nvPr/>
        </p:nvSpPr>
        <p:spPr>
          <a:xfrm>
            <a:off x="4754879" y="4197096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21.4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79" y="4119372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: 94.1"/>
          <p:cNvSpPr txBox="1"/>
          <p:nvPr/>
        </p:nvSpPr>
        <p:spPr>
          <a:xfrm>
            <a:off x="5760719" y="419709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20840" y="4119372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: 94.9"/>
          <p:cNvSpPr txBox="1"/>
          <p:nvPr/>
        </p:nvSpPr>
        <p:spPr>
          <a:xfrm>
            <a:off x="6812279" y="419709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72400" y="4119372"/>
            <a:ext cx="15087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: 1.588 s"/>
          <p:cNvSpPr txBox="1"/>
          <p:nvPr/>
        </p:nvSpPr>
        <p:spPr>
          <a:xfrm>
            <a:off x="7863840" y="4197096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1.588 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81160" y="4119372"/>
            <a:ext cx="14630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: $0.213"/>
          <p:cNvSpPr txBox="1"/>
          <p:nvPr/>
        </p:nvSpPr>
        <p:spPr>
          <a:xfrm>
            <a:off x="9372600" y="4197096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$0.213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" y="4535424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: Gemini 3.1 Flash-Lite"/>
          <p:cNvSpPr txBox="1"/>
          <p:nvPr/>
        </p:nvSpPr>
        <p:spPr>
          <a:xfrm>
            <a:off x="685800" y="4613148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Gemini 3.1 Flash-Lite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20440" y="4535424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: 闭源"/>
          <p:cNvSpPr txBox="1"/>
          <p:nvPr/>
        </p:nvSpPr>
        <p:spPr>
          <a:xfrm>
            <a:off x="3611880" y="4613148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63440" y="4535424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: 16.9"/>
          <p:cNvSpPr txBox="1"/>
          <p:nvPr/>
        </p:nvSpPr>
        <p:spPr>
          <a:xfrm>
            <a:off x="4754879" y="4613148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16.9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669279" y="4535424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: 58.6"/>
          <p:cNvSpPr txBox="1"/>
          <p:nvPr/>
        </p:nvSpPr>
        <p:spPr>
          <a:xfrm>
            <a:off x="5760719" y="461314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58.6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20840" y="4535424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: 60.9"/>
          <p:cNvSpPr txBox="1"/>
          <p:nvPr/>
        </p:nvSpPr>
        <p:spPr>
          <a:xfrm>
            <a:off x="6812279" y="461314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60.9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72400" y="4535424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: 0.957 s"/>
          <p:cNvSpPr txBox="1"/>
          <p:nvPr/>
        </p:nvSpPr>
        <p:spPr>
          <a:xfrm>
            <a:off x="7863840" y="4613148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0.957 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281160" y="4535424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: $0.230"/>
          <p:cNvSpPr txBox="1"/>
          <p:nvPr/>
        </p:nvSpPr>
        <p:spPr>
          <a:xfrm>
            <a:off x="9372600" y="4613148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$0.230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4360" y="4951476"/>
            <a:ext cx="292608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: DeepSeek V4.1 Flash"/>
          <p:cNvSpPr txBox="1"/>
          <p:nvPr/>
        </p:nvSpPr>
        <p:spPr>
          <a:xfrm>
            <a:off x="685800" y="5029200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DeepSeek V4.1 Flash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20440" y="4951476"/>
            <a:ext cx="114300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: 开放权重"/>
          <p:cNvSpPr txBox="1"/>
          <p:nvPr/>
        </p:nvSpPr>
        <p:spPr>
          <a:xfrm>
            <a:off x="3611880" y="5029200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开放权重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63440" y="4951476"/>
            <a:ext cx="10058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: 7.1"/>
          <p:cNvSpPr txBox="1"/>
          <p:nvPr/>
        </p:nvSpPr>
        <p:spPr>
          <a:xfrm>
            <a:off x="4754879" y="5029200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69279" y="4951476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: 94.7"/>
          <p:cNvSpPr txBox="1"/>
          <p:nvPr/>
        </p:nvSpPr>
        <p:spPr>
          <a:xfrm>
            <a:off x="5760719" y="502920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720840" y="4951476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: 100.0"/>
          <p:cNvSpPr txBox="1"/>
          <p:nvPr/>
        </p:nvSpPr>
        <p:spPr>
          <a:xfrm>
            <a:off x="6812279" y="502920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100.0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72400" y="4951476"/>
            <a:ext cx="15087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: 2.038 s"/>
          <p:cNvSpPr txBox="1"/>
          <p:nvPr/>
        </p:nvSpPr>
        <p:spPr>
          <a:xfrm>
            <a:off x="7863840" y="5029200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2.038 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281160" y="4951476"/>
            <a:ext cx="14630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: $0.480"/>
          <p:cNvSpPr txBox="1"/>
          <p:nvPr/>
        </p:nvSpPr>
        <p:spPr>
          <a:xfrm>
            <a:off x="9372600" y="5029200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$0.480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94360" y="5367528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: Qwen3.8 27B"/>
          <p:cNvSpPr txBox="1"/>
          <p:nvPr/>
        </p:nvSpPr>
        <p:spPr>
          <a:xfrm>
            <a:off x="685800" y="5445252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Qwen3.8 27B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20440" y="5367528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: 开放权重"/>
          <p:cNvSpPr txBox="1"/>
          <p:nvPr/>
        </p:nvSpPr>
        <p:spPr>
          <a:xfrm>
            <a:off x="3611880" y="5445252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开放权重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63440" y="5367528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: 0.0"/>
          <p:cNvSpPr txBox="1"/>
          <p:nvPr/>
        </p:nvSpPr>
        <p:spPr>
          <a:xfrm>
            <a:off x="4754879" y="5445252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669279" y="5367528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: 96.4"/>
          <p:cNvSpPr txBox="1"/>
          <p:nvPr/>
        </p:nvSpPr>
        <p:spPr>
          <a:xfrm>
            <a:off x="5760719" y="5445252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96.4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720840" y="5367528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: 100.0"/>
          <p:cNvSpPr txBox="1"/>
          <p:nvPr/>
        </p:nvSpPr>
        <p:spPr>
          <a:xfrm>
            <a:off x="6812279" y="5445252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100.0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72400" y="5367528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: 7.095 s"/>
          <p:cNvSpPr txBox="1"/>
          <p:nvPr/>
        </p:nvSpPr>
        <p:spPr>
          <a:xfrm>
            <a:off x="7863840" y="5445252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7.095 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281160" y="5367528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: $2.178*"/>
          <p:cNvSpPr txBox="1"/>
          <p:nvPr/>
        </p:nvSpPr>
        <p:spPr>
          <a:xfrm>
            <a:off x="9372600" y="5445252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$2.178*</a:t>
            </a:r>
          </a:p>
        </p:txBody>
      </p:sp>
      <p:sp>
        <p:nvSpPr>
          <p:cNvPr id="131" name="TEXT: * 为榜单估算成本；分数不是准确率百分比。GPT-6.1 Sol、Claude 与 Strands v19 未列入此 API 表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* 为榜单估算成本；分数不是准确率百分比。GPT-6.1 Sol、Claude 与 Strands v19 未列入此 API 表。</a:t>
            </a:r>
          </a:p>
        </p:txBody>
      </p:sp>
      <p:sp>
        <p:nvSpPr>
          <p:cNvPr id="132" name="TEXT: 评测来源：benchmarkheaven.com/jev-models/api"/>
          <p:cNvSpPr txBox="1"/>
          <p:nvPr/>
        </p:nvSpPr>
        <p:spPr>
          <a:xfrm>
            <a:off x="594360" y="5879592"/>
            <a:ext cx="1097280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 u="sng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评测来源：benchmarkheaven.com/jev-models/api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135" name="TEXT: 09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3 / 如何解读基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03 / 如何解读基准</a:t>
            </a:r>
          </a:p>
        </p:txBody>
      </p:sp>
      <p:sp>
        <p:nvSpPr>
          <p:cNvPr id="3" name="TEXT: 综合排名高，不等于复杂问题答得更准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综合排名高，不等于复杂问题答得更准</a:t>
            </a:r>
          </a:p>
        </p:txBody>
      </p:sp>
      <p:sp>
        <p:nvSpPr>
          <p:cNvPr id="4" name="TEXT: Jev 的优势来自低延迟和低成本；强通用模型在该基准的能力分更高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Jev 的优势来自低延迟和低成本；强通用模型在该基准的能力分更高。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3844" y="1911096"/>
            <a:ext cx="6376150" cy="3931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jevbench-capability-latency.png" descr="jevbench-capability-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76" y="1938528"/>
            <a:ext cx="6321286" cy="38770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79792" y="2103120"/>
            <a:ext cx="4050791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targ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276856"/>
            <a:ext cx="365760" cy="365760"/>
          </a:xfrm>
          <a:prstGeom prst="rect">
            <a:avLst/>
          </a:prstGeom>
        </p:spPr>
      </p:pic>
      <p:sp>
        <p:nvSpPr>
          <p:cNvPr id="9" name="TEXT: 先按任务选能力"/>
          <p:cNvSpPr txBox="1"/>
          <p:nvPr/>
        </p:nvSpPr>
        <p:spPr>
          <a:xfrm>
            <a:off x="8202168" y="2258568"/>
            <a:ext cx="3163823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先按任务选能力</a:t>
            </a:r>
          </a:p>
        </p:txBody>
      </p:sp>
      <p:sp>
        <p:nvSpPr>
          <p:cNvPr id="10" name="TEXT: 榜单中 GPT / DeepSeek / Qwen 能力分高，但速度与成本不同。"/>
          <p:cNvSpPr txBox="1"/>
          <p:nvPr/>
        </p:nvSpPr>
        <p:spPr>
          <a:xfrm>
            <a:off x="7680960" y="2852927"/>
            <a:ext cx="3648456" cy="68579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榜单中 GPT / DeepSeek / Qwen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能力分高，但速度与成本不同。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3840480"/>
            <a:ext cx="4050791" cy="17647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scan-ey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014216"/>
            <a:ext cx="365760" cy="365760"/>
          </a:xfrm>
          <a:prstGeom prst="rect">
            <a:avLst/>
          </a:prstGeom>
        </p:spPr>
      </p:pic>
      <p:sp>
        <p:nvSpPr>
          <p:cNvPr id="13" name="TEXT: Decider 的另一份证据"/>
          <p:cNvSpPr txBox="1"/>
          <p:nvPr/>
        </p:nvSpPr>
        <p:spPr>
          <a:xfrm>
            <a:off x="8202168" y="3995928"/>
            <a:ext cx="3163823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的另一份证据</a:t>
            </a:r>
          </a:p>
        </p:txBody>
      </p:sp>
      <p:sp>
        <p:nvSpPr>
          <p:cNvPr id="14" name="TEXT: 官方公开子集：167 / 231 准确率 72.29% 不可与本页归一化分数混排。"/>
          <p:cNvSpPr txBox="1"/>
          <p:nvPr/>
        </p:nvSpPr>
        <p:spPr>
          <a:xfrm>
            <a:off x="7680960" y="4590288"/>
            <a:ext cx="3648456" cy="94183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官方公开子集：167 / 231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准确率 72.29%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不可与本页归一化分数混排。</a:t>
            </a:r>
          </a:p>
        </p:txBody>
      </p:sp>
      <p:sp>
        <p:nvSpPr>
          <p:cNvPr id="15" name="TEXT: 公开基准用于筛选候选模型；是否适合你的支付策略，需要在真实业务输入上重新验证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公开基准用于筛选候选模型；是否适合你的支付策略，需要在真实业务输入上重新验证。</a:t>
            </a:r>
          </a:p>
        </p:txBody>
      </p:sp>
      <p:sp>
        <p:nvSpPr>
          <p:cNvPr id="16" name="TEXT: 评测：benchmarkheaven.com/jev-models/api"/>
          <p:cNvSpPr txBox="1"/>
          <p:nvPr/>
        </p:nvSpPr>
        <p:spPr>
          <a:xfrm>
            <a:off x="594360" y="5852160"/>
            <a:ext cx="66751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 u="sng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6"/>
              </a:rPr>
              <a:t>评测：benchmarkheaven.com/jev-models/api</a:t>
            </a:r>
          </a:p>
        </p:txBody>
      </p:sp>
      <p:sp>
        <p:nvSpPr>
          <p:cNvPr id="17" name="TEXT: Decider 来源：官方 v19 模型卡"/>
          <p:cNvSpPr txBox="1"/>
          <p:nvPr/>
        </p:nvSpPr>
        <p:spPr>
          <a:xfrm>
            <a:off x="7479792" y="5852160"/>
            <a:ext cx="4050791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 u="sng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Decider 来源：官方 v19 模型卡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0" name="TEXT: 10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4 / 当前项目架构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04 / 当前项目架构</a:t>
            </a:r>
          </a:p>
        </p:txBody>
      </p:sp>
      <p:sp>
        <p:nvSpPr>
          <p:cNvPr id="3" name="TEXT: 一套业务后端，连接三个模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一套业务后端，连接三个模型</a:t>
            </a:r>
          </a:p>
        </p:txBody>
      </p:sp>
      <p:sp>
        <p:nvSpPr>
          <p:cNvPr id="4" name="TEXT: us-east-1 · 私有 S3 + CloudFront OAC · ECS Fargate · EC2 g6.xlarge 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us-east-1 · 私有 S3 + CloudFront OAC · ECS Fargate · EC2 g6.xlarge / L4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93392"/>
            <a:ext cx="9646920" cy="38587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A7B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AWS Cloud · 区域服务 us-east-1 · CloudFront 全球入口"/>
          <p:cNvSpPr txBox="1"/>
          <p:nvPr/>
        </p:nvSpPr>
        <p:spPr>
          <a:xfrm>
            <a:off x="795528" y="2075688"/>
            <a:ext cx="88696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 · 区域服务 us-east-1 · CloudFront 全球入口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532888"/>
            <a:ext cx="3703320" cy="2971800"/>
          </a:xfrm>
          <a:prstGeom prst="roundRect">
            <a:avLst>
              <a:gd name="adj" fmla="val 13000"/>
            </a:avLst>
          </a:prstGeom>
          <a:solidFill>
            <a:srgbClr val="F3F8FC"/>
          </a:solidFill>
          <a:ln w="10160">
            <a:solidFill>
              <a:srgbClr val="89AA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VPC · 私有子网"/>
          <p:cNvSpPr txBox="1"/>
          <p:nvPr/>
        </p:nvSpPr>
        <p:spPr>
          <a:xfrm>
            <a:off x="3246120" y="2624328"/>
            <a:ext cx="2743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VPC · 私有子网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34640"/>
            <a:ext cx="1920240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AWS cloudfro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2980944"/>
            <a:ext cx="347472" cy="347472"/>
          </a:xfrm>
          <a:prstGeom prst="rect">
            <a:avLst/>
          </a:prstGeom>
        </p:spPr>
      </p:pic>
      <p:sp>
        <p:nvSpPr>
          <p:cNvPr id="11" name="TEXT: CloudFront"/>
          <p:cNvSpPr txBox="1"/>
          <p:nvPr/>
        </p:nvSpPr>
        <p:spPr>
          <a:xfrm>
            <a:off x="1408176" y="2971800"/>
            <a:ext cx="12801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2" name="TEXT: 页面 / API 入口"/>
          <p:cNvSpPr txBox="1"/>
          <p:nvPr/>
        </p:nvSpPr>
        <p:spPr>
          <a:xfrm>
            <a:off x="978407" y="3374136"/>
            <a:ext cx="1700784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页面 / API 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169663"/>
            <a:ext cx="1920240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AWS s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7" y="4315968"/>
            <a:ext cx="347472" cy="347472"/>
          </a:xfrm>
          <a:prstGeom prst="rect">
            <a:avLst/>
          </a:prstGeom>
        </p:spPr>
      </p:pic>
      <p:sp>
        <p:nvSpPr>
          <p:cNvPr id="15" name="TEXT: Amazon S3"/>
          <p:cNvSpPr txBox="1"/>
          <p:nvPr/>
        </p:nvSpPr>
        <p:spPr>
          <a:xfrm>
            <a:off x="1408176" y="4306824"/>
            <a:ext cx="12801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S3</a:t>
            </a:r>
          </a:p>
        </p:txBody>
      </p:sp>
      <p:sp>
        <p:nvSpPr>
          <p:cNvPr id="16" name="TEXT: 私有源站 · OAC"/>
          <p:cNvSpPr txBox="1"/>
          <p:nvPr/>
        </p:nvSpPr>
        <p:spPr>
          <a:xfrm>
            <a:off x="978407" y="4709159"/>
            <a:ext cx="1700784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私有源站 · OAC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6" y="2871216"/>
            <a:ext cx="3163824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AWS alb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017520"/>
            <a:ext cx="347472" cy="347472"/>
          </a:xfrm>
          <a:prstGeom prst="rect">
            <a:avLst/>
          </a:prstGeom>
        </p:spPr>
      </p:pic>
      <p:sp>
        <p:nvSpPr>
          <p:cNvPr id="19" name="TEXT: 内网 ALB"/>
          <p:cNvSpPr txBox="1"/>
          <p:nvPr/>
        </p:nvSpPr>
        <p:spPr>
          <a:xfrm>
            <a:off x="3867912" y="3008376"/>
            <a:ext cx="252374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内网 ALB</a:t>
            </a:r>
          </a:p>
        </p:txBody>
      </p:sp>
      <p:sp>
        <p:nvSpPr>
          <p:cNvPr id="20" name="TEXT: CloudFront VPC Origin"/>
          <p:cNvSpPr txBox="1"/>
          <p:nvPr/>
        </p:nvSpPr>
        <p:spPr>
          <a:xfrm>
            <a:off x="3438144" y="3410712"/>
            <a:ext cx="2944368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 VPC Origin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8416" y="3767328"/>
            <a:ext cx="3163824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AWS fargat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3913632"/>
            <a:ext cx="347472" cy="347472"/>
          </a:xfrm>
          <a:prstGeom prst="rect">
            <a:avLst/>
          </a:prstGeom>
        </p:spPr>
      </p:pic>
      <p:sp>
        <p:nvSpPr>
          <p:cNvPr id="23" name="TEXT: ECS Fargate"/>
          <p:cNvSpPr txBox="1"/>
          <p:nvPr/>
        </p:nvSpPr>
        <p:spPr>
          <a:xfrm>
            <a:off x="3867912" y="3904488"/>
            <a:ext cx="252374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</p:txBody>
      </p:sp>
      <p:sp>
        <p:nvSpPr>
          <p:cNvPr id="24" name="TEXT: FastAPI · 决策 / 执行 / 登录"/>
          <p:cNvSpPr txBox="1"/>
          <p:nvPr/>
        </p:nvSpPr>
        <p:spPr>
          <a:xfrm>
            <a:off x="3438144" y="4306824"/>
            <a:ext cx="2944368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FastAPI · 决策 / 执行 / 登录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8416" y="4663440"/>
            <a:ext cx="3163824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CON: AWS ec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4809744"/>
            <a:ext cx="347472" cy="347472"/>
          </a:xfrm>
          <a:prstGeom prst="rect">
            <a:avLst/>
          </a:prstGeom>
        </p:spPr>
      </p:pic>
      <p:sp>
        <p:nvSpPr>
          <p:cNvPr id="27" name="TEXT: EC2 · Decider"/>
          <p:cNvSpPr txBox="1"/>
          <p:nvPr/>
        </p:nvSpPr>
        <p:spPr>
          <a:xfrm>
            <a:off x="3867912" y="4800600"/>
            <a:ext cx="252374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EC2 · Decider</a:t>
            </a:r>
          </a:p>
        </p:txBody>
      </p:sp>
      <p:sp>
        <p:nvSpPr>
          <p:cNvPr id="28" name="TEXT: g6.xlarge · L4 24GB · 常驻"/>
          <p:cNvSpPr txBox="1"/>
          <p:nvPr/>
        </p:nvSpPr>
        <p:spPr>
          <a:xfrm>
            <a:off x="3438144" y="5202936"/>
            <a:ext cx="2944368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g6.xlarge · L4 24GB · 常驻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50608" y="2624328"/>
            <a:ext cx="2734056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CON: AWS dynamodb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0336" y="2770632"/>
            <a:ext cx="347472" cy="347472"/>
          </a:xfrm>
          <a:prstGeom prst="rect">
            <a:avLst/>
          </a:prstGeom>
        </p:spPr>
      </p:pic>
      <p:sp>
        <p:nvSpPr>
          <p:cNvPr id="31" name="TEXT: DynamoDB"/>
          <p:cNvSpPr txBox="1"/>
          <p:nvPr/>
        </p:nvSpPr>
        <p:spPr>
          <a:xfrm>
            <a:off x="7690104" y="2761488"/>
            <a:ext cx="20939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</a:t>
            </a:r>
          </a:p>
        </p:txBody>
      </p:sp>
      <p:sp>
        <p:nvSpPr>
          <p:cNvPr id="32" name="TEXT: 用户与会话"/>
          <p:cNvSpPr txBox="1"/>
          <p:nvPr/>
        </p:nvSpPr>
        <p:spPr>
          <a:xfrm>
            <a:off x="7260336" y="3163824"/>
            <a:ext cx="25146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用户与会话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0608" y="3685032"/>
            <a:ext cx="2734056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ICON: AWS bedro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0336" y="3831336"/>
            <a:ext cx="347472" cy="347472"/>
          </a:xfrm>
          <a:prstGeom prst="rect">
            <a:avLst/>
          </a:prstGeom>
        </p:spPr>
      </p:pic>
      <p:sp>
        <p:nvSpPr>
          <p:cNvPr id="35" name="TEXT: Bedrock · GPT"/>
          <p:cNvSpPr txBox="1"/>
          <p:nvPr/>
        </p:nvSpPr>
        <p:spPr>
          <a:xfrm>
            <a:off x="7690104" y="3822192"/>
            <a:ext cx="20939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Bedrock · GPT</a:t>
            </a:r>
          </a:p>
        </p:txBody>
      </p:sp>
      <p:sp>
        <p:nvSpPr>
          <p:cNvPr id="36" name="TEXT: GPT-6.1 Sol · low"/>
          <p:cNvSpPr txBox="1"/>
          <p:nvPr/>
        </p:nvSpPr>
        <p:spPr>
          <a:xfrm>
            <a:off x="7260336" y="4224528"/>
            <a:ext cx="25146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GPT-6.1 Sol · 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50608" y="4736592"/>
            <a:ext cx="2734056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ICON: AWS lambda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0336" y="4882896"/>
            <a:ext cx="347472" cy="347472"/>
          </a:xfrm>
          <a:prstGeom prst="rect">
            <a:avLst/>
          </a:prstGeom>
        </p:spPr>
      </p:pic>
      <p:sp>
        <p:nvSpPr>
          <p:cNvPr id="39" name="TEXT: Lambda · Jev 转发"/>
          <p:cNvSpPr txBox="1"/>
          <p:nvPr/>
        </p:nvSpPr>
        <p:spPr>
          <a:xfrm>
            <a:off x="7690104" y="4873752"/>
            <a:ext cx="20939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Lambda · Jev 转发</a:t>
            </a:r>
          </a:p>
        </p:txBody>
      </p:sp>
      <p:sp>
        <p:nvSpPr>
          <p:cNvPr id="40" name="TEXT: IAM 调用 · Secrets Manager 密钥"/>
          <p:cNvSpPr txBox="1"/>
          <p:nvPr/>
        </p:nvSpPr>
        <p:spPr>
          <a:xfrm>
            <a:off x="7260336" y="5276088"/>
            <a:ext cx="25146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IAM 调用 · Secrets Manager 密钥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4736592"/>
            <a:ext cx="1051560" cy="868680"/>
          </a:xfrm>
          <a:prstGeom prst="roundRect">
            <a:avLst>
              <a:gd name="adj" fmla="val 13000"/>
            </a:avLst>
          </a:prstGeom>
          <a:solidFill>
            <a:srgbClr val="F3EDFA"/>
          </a:solidFill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TypeSafe"/>
          <p:cNvSpPr txBox="1"/>
          <p:nvPr/>
        </p:nvSpPr>
        <p:spPr>
          <a:xfrm>
            <a:off x="10570464" y="4882896"/>
            <a:ext cx="94183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TypeSafe</a:t>
            </a:r>
          </a:p>
        </p:txBody>
      </p:sp>
      <p:sp>
        <p:nvSpPr>
          <p:cNvPr id="43" name="TEXT: Jev API"/>
          <p:cNvSpPr txBox="1"/>
          <p:nvPr/>
        </p:nvSpPr>
        <p:spPr>
          <a:xfrm>
            <a:off x="10570464" y="5257800"/>
            <a:ext cx="94183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API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828800" y="3712463"/>
            <a:ext cx="0" cy="402337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25496" y="3273552"/>
            <a:ext cx="457200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92040" y="3611880"/>
            <a:ext cx="0" cy="128016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892040" y="4507992"/>
            <a:ext cx="0" cy="128016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519672" y="4133087"/>
            <a:ext cx="384048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903720" y="3035808"/>
            <a:ext cx="0" cy="1097279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903720" y="3035808"/>
            <a:ext cx="20116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519672" y="4133087"/>
            <a:ext cx="384048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903720" y="4105656"/>
            <a:ext cx="0" cy="27431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903720" y="4105656"/>
            <a:ext cx="20116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519672" y="4133087"/>
            <a:ext cx="384048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903720" y="4133087"/>
            <a:ext cx="0" cy="1024129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03720" y="5157216"/>
            <a:ext cx="20116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921240" y="5166360"/>
            <a:ext cx="539496" cy="0"/>
          </a:xfrm>
          <a:prstGeom prst="line">
            <a:avLst/>
          </a:prstGeom>
          <a:ln w="19050">
            <a:solidFill>
              <a:srgbClr val="8055A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: 自建用户名登录；业务后端统一校验候选和执行条件。图省略网络端点与非主路径的运维组件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自建用户名登录；业务后端统一校验候选和执行条件。图省略网络端点与非主路径的运维组件。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61" name="TEXT: 11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演示设计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演示设计</a:t>
            </a:r>
          </a:p>
        </p:txBody>
      </p:sp>
      <p:sp>
        <p:nvSpPr>
          <p:cNvPr id="3" name="TEXT: 四个支付场景，贯穿五个业务节点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四个支付场景，贯穿五个业务节点</a:t>
            </a:r>
          </a:p>
        </p:txBody>
      </p:sp>
      <p:sp>
        <p:nvSpPr>
          <p:cNvPr id="4" name="TEXT: 同一笔业务，分别交给 Decider、Jev 和 GPT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同一笔业务，分别交给 Decider、Jev 和 GPT。</a:t>
            </a:r>
          </a:p>
        </p:txBody>
      </p:sp>
      <p:sp>
        <p:nvSpPr>
          <p:cNvPr id="5" name="TEXT: "/>
          <p:cNvSpPr/>
          <p:nvPr/>
        </p:nvSpPr>
        <p:spPr>
          <a:xfrm>
            <a:off x="59436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walle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23160"/>
            <a:ext cx="393192" cy="393192"/>
          </a:xfrm>
          <a:prstGeom prst="rect">
            <a:avLst/>
          </a:prstGeom>
        </p:spPr>
      </p:pic>
      <p:sp>
        <p:nvSpPr>
          <p:cNvPr id="7" name="TEXT: 未到账"/>
          <p:cNvSpPr txBox="1"/>
          <p:nvPr/>
        </p:nvSpPr>
        <p:spPr>
          <a:xfrm>
            <a:off x="134416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未到账</a:t>
            </a:r>
          </a:p>
        </p:txBody>
      </p:sp>
      <p:sp>
        <p:nvSpPr>
          <p:cNvPr id="8" name="TEXT: 确认数 3 / 12"/>
          <p:cNvSpPr txBox="1"/>
          <p:nvPr/>
        </p:nvSpPr>
        <p:spPr>
          <a:xfrm>
            <a:off x="80467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3 / 12</a:t>
            </a:r>
          </a:p>
        </p:txBody>
      </p:sp>
      <p:sp>
        <p:nvSpPr>
          <p:cNvPr id="9" name="TEXT: "/>
          <p:cNvSpPr/>
          <p:nvPr/>
        </p:nvSpPr>
        <p:spPr>
          <a:xfrm>
            <a:off x="342900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bankno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423160"/>
            <a:ext cx="393192" cy="393192"/>
          </a:xfrm>
          <a:prstGeom prst="rect">
            <a:avLst/>
          </a:prstGeom>
        </p:spPr>
      </p:pic>
      <p:sp>
        <p:nvSpPr>
          <p:cNvPr id="11" name="TEXT: 少付"/>
          <p:cNvSpPr txBox="1"/>
          <p:nvPr/>
        </p:nvSpPr>
        <p:spPr>
          <a:xfrm>
            <a:off x="417880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少付</a:t>
            </a:r>
          </a:p>
        </p:txBody>
      </p:sp>
      <p:sp>
        <p:nvSpPr>
          <p:cNvPr id="12" name="TEXT: 100 → 99.80"/>
          <p:cNvSpPr txBox="1"/>
          <p:nvPr/>
        </p:nvSpPr>
        <p:spPr>
          <a:xfrm>
            <a:off x="363931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 → 99.80</a:t>
            </a:r>
          </a:p>
        </p:txBody>
      </p:sp>
      <p:sp>
        <p:nvSpPr>
          <p:cNvPr id="13" name="TEXT: "/>
          <p:cNvSpPr/>
          <p:nvPr/>
        </p:nvSpPr>
        <p:spPr>
          <a:xfrm>
            <a:off x="626364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repea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7" y="2423160"/>
            <a:ext cx="393192" cy="393192"/>
          </a:xfrm>
          <a:prstGeom prst="rect">
            <a:avLst/>
          </a:prstGeom>
        </p:spPr>
      </p:pic>
      <p:sp>
        <p:nvSpPr>
          <p:cNvPr id="15" name="TEXT: 退款"/>
          <p:cNvSpPr txBox="1"/>
          <p:nvPr/>
        </p:nvSpPr>
        <p:spPr>
          <a:xfrm>
            <a:off x="701344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退款</a:t>
            </a:r>
          </a:p>
        </p:txBody>
      </p:sp>
      <p:sp>
        <p:nvSpPr>
          <p:cNvPr id="16" name="TEXT: 地址与审批待补齐"/>
          <p:cNvSpPr txBox="1"/>
          <p:nvPr/>
        </p:nvSpPr>
        <p:spPr>
          <a:xfrm>
            <a:off x="647395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地址与审批待补齐</a:t>
            </a:r>
          </a:p>
        </p:txBody>
      </p:sp>
      <p:sp>
        <p:nvSpPr>
          <p:cNvPr id="17" name="TEXT: "/>
          <p:cNvSpPr/>
          <p:nvPr/>
        </p:nvSpPr>
        <p:spPr>
          <a:xfrm>
            <a:off x="909828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Lucide receipt-tex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8" y="2423160"/>
            <a:ext cx="393192" cy="393192"/>
          </a:xfrm>
          <a:prstGeom prst="rect">
            <a:avLst/>
          </a:prstGeom>
        </p:spPr>
      </p:pic>
      <p:sp>
        <p:nvSpPr>
          <p:cNvPr id="19" name="TEXT: 结算"/>
          <p:cNvSpPr txBox="1"/>
          <p:nvPr/>
        </p:nvSpPr>
        <p:spPr>
          <a:xfrm>
            <a:off x="984808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</a:t>
            </a:r>
          </a:p>
        </p:txBody>
      </p:sp>
      <p:sp>
        <p:nvSpPr>
          <p:cNvPr id="20" name="TEXT: 到账状态与时效"/>
          <p:cNvSpPr txBox="1"/>
          <p:nvPr/>
        </p:nvSpPr>
        <p:spPr>
          <a:xfrm>
            <a:off x="930859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到账状态与时效</a:t>
            </a:r>
          </a:p>
        </p:txBody>
      </p:sp>
      <p:sp>
        <p:nvSpPr>
          <p:cNvPr id="21" name="TEXT: "/>
          <p:cNvSpPr/>
          <p:nvPr/>
        </p:nvSpPr>
        <p:spPr>
          <a:xfrm>
            <a:off x="594360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Lucide headse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489704"/>
            <a:ext cx="347472" cy="347472"/>
          </a:xfrm>
          <a:prstGeom prst="rect">
            <a:avLst/>
          </a:prstGeom>
        </p:spPr>
      </p:pic>
      <p:sp>
        <p:nvSpPr>
          <p:cNvPr id="23" name="TEXT: 客服受理"/>
          <p:cNvSpPr txBox="1"/>
          <p:nvPr/>
        </p:nvSpPr>
        <p:spPr>
          <a:xfrm>
            <a:off x="1207008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24" name="TEXT: 节点 1"/>
          <p:cNvSpPr txBox="1"/>
          <p:nvPr/>
        </p:nvSpPr>
        <p:spPr>
          <a:xfrm>
            <a:off x="749808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89580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: "/>
          <p:cNvSpPr/>
          <p:nvPr/>
        </p:nvSpPr>
        <p:spPr>
          <a:xfrm>
            <a:off x="2845612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: Lucide search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1060" y="4489704"/>
            <a:ext cx="347472" cy="347472"/>
          </a:xfrm>
          <a:prstGeom prst="rect">
            <a:avLst/>
          </a:prstGeom>
        </p:spPr>
      </p:pic>
      <p:sp>
        <p:nvSpPr>
          <p:cNvPr id="28" name="TEXT: 交易核验"/>
          <p:cNvSpPr txBox="1"/>
          <p:nvPr/>
        </p:nvSpPr>
        <p:spPr>
          <a:xfrm>
            <a:off x="3458260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9" name="TEXT: 节点 2"/>
          <p:cNvSpPr txBox="1"/>
          <p:nvPr/>
        </p:nvSpPr>
        <p:spPr>
          <a:xfrm>
            <a:off x="3001060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0833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"/>
          <p:cNvSpPr/>
          <p:nvPr/>
        </p:nvSpPr>
        <p:spPr>
          <a:xfrm>
            <a:off x="5096865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: Lucide shield-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313" y="4489704"/>
            <a:ext cx="347472" cy="347472"/>
          </a:xfrm>
          <a:prstGeom prst="rect">
            <a:avLst/>
          </a:prstGeom>
        </p:spPr>
      </p:pic>
      <p:sp>
        <p:nvSpPr>
          <p:cNvPr id="33" name="TEXT: 风控审批"/>
          <p:cNvSpPr txBox="1"/>
          <p:nvPr/>
        </p:nvSpPr>
        <p:spPr>
          <a:xfrm>
            <a:off x="5709513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4" name="TEXT: 节点 3"/>
          <p:cNvSpPr txBox="1"/>
          <p:nvPr/>
        </p:nvSpPr>
        <p:spPr>
          <a:xfrm>
            <a:off x="5252313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92086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: "/>
          <p:cNvSpPr/>
          <p:nvPr/>
        </p:nvSpPr>
        <p:spPr>
          <a:xfrm>
            <a:off x="7348118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: Lucide workflow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3566" y="4489704"/>
            <a:ext cx="347472" cy="347472"/>
          </a:xfrm>
          <a:prstGeom prst="rect">
            <a:avLst/>
          </a:prstGeom>
        </p:spPr>
      </p:pic>
      <p:sp>
        <p:nvSpPr>
          <p:cNvPr id="38" name="TEXT: 业务处置"/>
          <p:cNvSpPr txBox="1"/>
          <p:nvPr/>
        </p:nvSpPr>
        <p:spPr>
          <a:xfrm>
            <a:off x="7960766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TEXT: 节点 4"/>
          <p:cNvSpPr txBox="1"/>
          <p:nvPr/>
        </p:nvSpPr>
        <p:spPr>
          <a:xfrm>
            <a:off x="7503566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43339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: "/>
          <p:cNvSpPr/>
          <p:nvPr/>
        </p:nvSpPr>
        <p:spPr>
          <a:xfrm>
            <a:off x="9599371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: Lucide circle-check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4819" y="4489704"/>
            <a:ext cx="347472" cy="347472"/>
          </a:xfrm>
          <a:prstGeom prst="rect">
            <a:avLst/>
          </a:prstGeom>
        </p:spPr>
      </p:pic>
      <p:sp>
        <p:nvSpPr>
          <p:cNvPr id="43" name="TEXT: 回复结案"/>
          <p:cNvSpPr txBox="1"/>
          <p:nvPr/>
        </p:nvSpPr>
        <p:spPr>
          <a:xfrm>
            <a:off x="10212019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4" name="TEXT: 节点 5"/>
          <p:cNvSpPr txBox="1"/>
          <p:nvPr/>
        </p:nvSpPr>
        <p:spPr>
          <a:xfrm>
            <a:off x="9754819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5</a:t>
            </a:r>
          </a:p>
        </p:txBody>
      </p:sp>
      <p:sp>
        <p:nvSpPr>
          <p:cNvPr id="45" name="TEXT: 客户消息、事实快照与候选条件均可追溯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客户消息、事实快照与候选条件均可追溯。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48" name="TEXT: 12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4 / 演示方法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04 / 演示方法</a:t>
            </a:r>
          </a:p>
        </p:txBody>
      </p:sp>
      <p:sp>
        <p:nvSpPr>
          <p:cNvPr id="3" name="TEXT: 真实界面：同一输入，三模型输出并排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真实界面：同一输入，三模型输出并排看</a:t>
            </a:r>
          </a:p>
        </p:txBody>
      </p:sp>
      <p:sp>
        <p:nvSpPr>
          <p:cNvPr id="4" name="TEXT: 相同事实、问题和候选条件；保留各自的原始选择、耗时与实际执行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相同事实、问题和候选条件；保留各自的原始选择、耗时与实际执行。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94940"/>
            <a:ext cx="11027664" cy="405567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pending-decision.png" descr="pending-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22372"/>
            <a:ext cx="10972800" cy="4000806"/>
          </a:xfrm>
          <a:prstGeom prst="rect">
            <a:avLst/>
          </a:prstGeom>
        </p:spPr>
      </p:pic>
      <p:sp>
        <p:nvSpPr>
          <p:cNvPr id="7" name="TEXT: 先看原始选择，再看实际动作；模型给出建议，业务系统负责执行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先看原始选择，再看实际动作；模型给出建议，业务系统负责执行。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10" name="TEXT: 13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项目实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项目实测</a:t>
            </a:r>
          </a:p>
        </p:txBody>
      </p:sp>
      <p:sp>
        <p:nvSpPr>
          <p:cNvPr id="3" name="TEXT: 四场景总览：Decider 最快，两处选择仍有差异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四场景总览：Decider 最快，两处选择仍有差异</a:t>
            </a:r>
          </a:p>
        </p:txBody>
      </p:sp>
      <p:sp>
        <p:nvSpPr>
          <p:cNvPr id="4" name="TEXT: 每格：该场景五步累计后端耗时 · 与演示参考一致次数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每格：该场景五步累计后端耗时 · 与演示参考一致次数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39112"/>
            <a:ext cx="2304288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场景"/>
          <p:cNvSpPr txBox="1"/>
          <p:nvPr/>
        </p:nvSpPr>
        <p:spPr>
          <a:xfrm>
            <a:off x="685800" y="211683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8648" y="2039112"/>
            <a:ext cx="2916936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990088" y="21168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5583" y="2039112"/>
            <a:ext cx="2916936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 1.13.0"/>
          <p:cNvSpPr txBox="1"/>
          <p:nvPr/>
        </p:nvSpPr>
        <p:spPr>
          <a:xfrm>
            <a:off x="5907023" y="21168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19" y="2039112"/>
            <a:ext cx="2926080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-6.1 Sol"/>
          <p:cNvSpPr txBox="1"/>
          <p:nvPr/>
        </p:nvSpPr>
        <p:spPr>
          <a:xfrm>
            <a:off x="8823959" y="211683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42032"/>
            <a:ext cx="230428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USDC 未到账"/>
          <p:cNvSpPr txBox="1"/>
          <p:nvPr/>
        </p:nvSpPr>
        <p:spPr>
          <a:xfrm>
            <a:off x="685800" y="261975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8648" y="254203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0.557 s · 5/5"/>
          <p:cNvSpPr txBox="1"/>
          <p:nvPr/>
        </p:nvSpPr>
        <p:spPr>
          <a:xfrm>
            <a:off x="2990088" y="261975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0.557 s · 5/5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3" y="254203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2.318 s · 5/5"/>
          <p:cNvSpPr txBox="1"/>
          <p:nvPr/>
        </p:nvSpPr>
        <p:spPr>
          <a:xfrm>
            <a:off x="5907023" y="261975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2.318 s · 5/5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19" y="2542032"/>
            <a:ext cx="29260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8.537 s · 5/5"/>
          <p:cNvSpPr txBox="1"/>
          <p:nvPr/>
        </p:nvSpPr>
        <p:spPr>
          <a:xfrm>
            <a:off x="8823959" y="261975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8.537 s · 5/5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44952"/>
            <a:ext cx="2304288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USDT 少付"/>
          <p:cNvSpPr txBox="1"/>
          <p:nvPr/>
        </p:nvSpPr>
        <p:spPr>
          <a:xfrm>
            <a:off x="685800" y="312267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98648" y="304495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0.514 s · 4/5"/>
          <p:cNvSpPr txBox="1"/>
          <p:nvPr/>
        </p:nvSpPr>
        <p:spPr>
          <a:xfrm>
            <a:off x="2990088" y="312267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0.514 s · 4/5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5583" y="304495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1.896 s · 5/5"/>
          <p:cNvSpPr txBox="1"/>
          <p:nvPr/>
        </p:nvSpPr>
        <p:spPr>
          <a:xfrm>
            <a:off x="5907023" y="312267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1.896 s · 5/5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19" y="3044952"/>
            <a:ext cx="2926080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4.171 s · 5/5"/>
          <p:cNvSpPr txBox="1"/>
          <p:nvPr/>
        </p:nvSpPr>
        <p:spPr>
          <a:xfrm>
            <a:off x="8823959" y="312267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4.171 s · 5/5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547872"/>
            <a:ext cx="2304288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稳定币退款"/>
          <p:cNvSpPr txBox="1"/>
          <p:nvPr/>
        </p:nvSpPr>
        <p:spPr>
          <a:xfrm>
            <a:off x="685800" y="362559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98648" y="354787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0.564 s · 4/5"/>
          <p:cNvSpPr txBox="1"/>
          <p:nvPr/>
        </p:nvSpPr>
        <p:spPr>
          <a:xfrm>
            <a:off x="2990088" y="362559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0.564 s · 4/5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5583" y="354787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2.112 s · 5/5"/>
          <p:cNvSpPr txBox="1"/>
          <p:nvPr/>
        </p:nvSpPr>
        <p:spPr>
          <a:xfrm>
            <a:off x="5907023" y="362559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2.112 s · 5/5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19" y="3547872"/>
            <a:ext cx="2926080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5.453 s · 5/5"/>
          <p:cNvSpPr txBox="1"/>
          <p:nvPr/>
        </p:nvSpPr>
        <p:spPr>
          <a:xfrm>
            <a:off x="8823959" y="362559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5.453 s · 5/5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050791"/>
            <a:ext cx="2304288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商户结算"/>
          <p:cNvSpPr txBox="1"/>
          <p:nvPr/>
        </p:nvSpPr>
        <p:spPr>
          <a:xfrm>
            <a:off x="685800" y="4128515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98648" y="4050791"/>
            <a:ext cx="2916936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0.408 s · 5/5"/>
          <p:cNvSpPr txBox="1"/>
          <p:nvPr/>
        </p:nvSpPr>
        <p:spPr>
          <a:xfrm>
            <a:off x="2990088" y="4128515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0.408 s · 5/5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15583" y="4050791"/>
            <a:ext cx="2916936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2.003 s · 5/5"/>
          <p:cNvSpPr txBox="1"/>
          <p:nvPr/>
        </p:nvSpPr>
        <p:spPr>
          <a:xfrm>
            <a:off x="5907023" y="4128515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2.003 s · 5/5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19" y="4050791"/>
            <a:ext cx="2926080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4.173 s · 5/5"/>
          <p:cNvSpPr txBox="1"/>
          <p:nvPr/>
        </p:nvSpPr>
        <p:spPr>
          <a:xfrm>
            <a:off x="8823959" y="4128515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4.173 s · 5/5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553712"/>
            <a:ext cx="230428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20 步合计"/>
          <p:cNvSpPr txBox="1"/>
          <p:nvPr/>
        </p:nvSpPr>
        <p:spPr>
          <a:xfrm>
            <a:off x="685800" y="463143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20 步合计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98648" y="455371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2.043 s · 18/20"/>
          <p:cNvSpPr txBox="1"/>
          <p:nvPr/>
        </p:nvSpPr>
        <p:spPr>
          <a:xfrm>
            <a:off x="2990088" y="46314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2.043 s · 18/20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15583" y="455371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8.329 s · 20/20"/>
          <p:cNvSpPr txBox="1"/>
          <p:nvPr/>
        </p:nvSpPr>
        <p:spPr>
          <a:xfrm>
            <a:off x="5907023" y="46314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8.329 s · 20/20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32519" y="4553712"/>
            <a:ext cx="29260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22.335 s · 20/20"/>
          <p:cNvSpPr txBox="1"/>
          <p:nvPr/>
        </p:nvSpPr>
        <p:spPr>
          <a:xfrm>
            <a:off x="8823959" y="463143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22.335 s · 20/20</a:t>
            </a:r>
          </a:p>
        </p:txBody>
      </p:sp>
      <p:sp>
        <p:nvSpPr>
          <p:cNvPr id="53" name="TEXT: 102.2 ms"/>
          <p:cNvSpPr txBox="1"/>
          <p:nvPr/>
        </p:nvSpPr>
        <p:spPr>
          <a:xfrm>
            <a:off x="731520" y="5248656"/>
            <a:ext cx="237744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102.2 ms</a:t>
            </a:r>
          </a:p>
        </p:txBody>
      </p:sp>
      <p:sp>
        <p:nvSpPr>
          <p:cNvPr id="54" name="TEXT: 平均每次后端耗时"/>
          <p:cNvSpPr txBox="1"/>
          <p:nvPr/>
        </p:nvSpPr>
        <p:spPr>
          <a:xfrm>
            <a:off x="731520" y="5742432"/>
            <a:ext cx="32004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平均每次后端耗时</a:t>
            </a:r>
          </a:p>
        </p:txBody>
      </p:sp>
      <p:sp>
        <p:nvSpPr>
          <p:cNvPr id="55" name="TEXT: 416.5 ms"/>
          <p:cNvSpPr txBox="1"/>
          <p:nvPr/>
        </p:nvSpPr>
        <p:spPr>
          <a:xfrm>
            <a:off x="4517136" y="5248656"/>
            <a:ext cx="237744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416.5 ms</a:t>
            </a:r>
          </a:p>
        </p:txBody>
      </p:sp>
      <p:sp>
        <p:nvSpPr>
          <p:cNvPr id="56" name="TEXT: 平均每次后端耗时"/>
          <p:cNvSpPr txBox="1"/>
          <p:nvPr/>
        </p:nvSpPr>
        <p:spPr>
          <a:xfrm>
            <a:off x="4517136" y="5742432"/>
            <a:ext cx="32004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平均每次后端耗时</a:t>
            </a:r>
          </a:p>
        </p:txBody>
      </p:sp>
      <p:sp>
        <p:nvSpPr>
          <p:cNvPr id="57" name="TEXT: 1116.7 ms"/>
          <p:cNvSpPr txBox="1"/>
          <p:nvPr/>
        </p:nvSpPr>
        <p:spPr>
          <a:xfrm>
            <a:off x="8302752" y="5248656"/>
            <a:ext cx="237744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1116.7 ms</a:t>
            </a:r>
          </a:p>
        </p:txBody>
      </p:sp>
      <p:sp>
        <p:nvSpPr>
          <p:cNvPr id="58" name="TEXT: 平均每次后端耗时"/>
          <p:cNvSpPr txBox="1"/>
          <p:nvPr/>
        </p:nvSpPr>
        <p:spPr>
          <a:xfrm>
            <a:off x="8302752" y="5742432"/>
            <a:ext cx="32004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平均每次后端耗时</a:t>
            </a:r>
          </a:p>
        </p:txBody>
      </p:sp>
      <p:sp>
        <p:nvSpPr>
          <p:cNvPr id="59" name="TEXT: 预热后：Jev / Decider = 4.08×；GPT / Decider = 10.93×；GPT / Jev = 2.68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预热后：Jev / Decider = 4.08×；GPT / Decider = 10.93×；GPT / Jev = 2.68×。耗时含通信与后端处理。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62" name="TEXT: 14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性能细节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性能细节</a:t>
            </a:r>
          </a:p>
        </p:txBody>
      </p:sp>
      <p:sp>
        <p:nvSpPr>
          <p:cNvPr id="3" name="TEXT: 逐节点看速度：受理、核验、审批、处置、回复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逐节点看速度：受理、核验、审批、处置、回复</a:t>
            </a:r>
          </a:p>
        </p:txBody>
      </p:sp>
      <p:sp>
        <p:nvSpPr>
          <p:cNvPr id="4" name="TEXT: 左侧比较各节点平均耗时；右侧查看每个模型的请求中位数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左侧比较各节点平均耗时；右侧查看每个模型的请求中位数。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6215" y="1911096"/>
            <a:ext cx="7229856" cy="3968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stage-latency.png" descr="stage-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47" y="1938528"/>
            <a:ext cx="7174992" cy="3913632"/>
          </a:xfrm>
          <a:prstGeom prst="rect">
            <a:avLst/>
          </a:prstGeom>
        </p:spPr>
      </p:pic>
      <p:sp>
        <p:nvSpPr>
          <p:cNvPr id="7" name="TEXT: Strands Decider"/>
          <p:cNvSpPr txBox="1"/>
          <p:nvPr/>
        </p:nvSpPr>
        <p:spPr>
          <a:xfrm>
            <a:off x="8823960" y="2313432"/>
            <a:ext cx="2560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8" name="TEXT: 81.3 ms"/>
          <p:cNvSpPr txBox="1"/>
          <p:nvPr/>
        </p:nvSpPr>
        <p:spPr>
          <a:xfrm>
            <a:off x="8823960" y="2679191"/>
            <a:ext cx="256032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81.3 ms</a:t>
            </a:r>
          </a:p>
        </p:txBody>
      </p:sp>
      <p:sp>
        <p:nvSpPr>
          <p:cNvPr id="9" name="TEXT: Jev 1.13.0"/>
          <p:cNvSpPr txBox="1"/>
          <p:nvPr/>
        </p:nvSpPr>
        <p:spPr>
          <a:xfrm>
            <a:off x="8823960" y="3364992"/>
            <a:ext cx="2560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0" name="TEXT: 397.7 ms"/>
          <p:cNvSpPr txBox="1"/>
          <p:nvPr/>
        </p:nvSpPr>
        <p:spPr>
          <a:xfrm>
            <a:off x="8823960" y="3730752"/>
            <a:ext cx="256032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397.7 ms</a:t>
            </a:r>
          </a:p>
        </p:txBody>
      </p:sp>
      <p:sp>
        <p:nvSpPr>
          <p:cNvPr id="11" name="TEXT: GPT-6.1 Sol"/>
          <p:cNvSpPr txBox="1"/>
          <p:nvPr/>
        </p:nvSpPr>
        <p:spPr>
          <a:xfrm>
            <a:off x="8823960" y="4416552"/>
            <a:ext cx="2560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12" name="TEXT: 863.4 ms"/>
          <p:cNvSpPr txBox="1"/>
          <p:nvPr/>
        </p:nvSpPr>
        <p:spPr>
          <a:xfrm>
            <a:off x="8823960" y="4782312"/>
            <a:ext cx="256032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863.4 ms</a:t>
            </a:r>
          </a:p>
        </p:txBody>
      </p:sp>
      <p:sp>
        <p:nvSpPr>
          <p:cNvPr id="13" name="TEXT: 右侧：20 次请求中位数"/>
          <p:cNvSpPr txBox="1"/>
          <p:nvPr/>
        </p:nvSpPr>
        <p:spPr>
          <a:xfrm>
            <a:off x="8732520" y="5596128"/>
            <a:ext cx="2743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右侧：20 次请求中位数</a:t>
            </a:r>
          </a:p>
        </p:txBody>
      </p:sp>
      <p:sp>
        <p:nvSpPr>
          <p:cNvPr id="14" name="TEXT: 每节点各 4 次；每模型共 20 次。比较的是应用调用耗时，不能当作模型纯计算时间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每节点各 4 次；每模型共 20 次。比较的是应用调用耗时，不能当作模型纯计算时间。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17" name="TEXT: 15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USDC 未到账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USDC 未到账</a:t>
            </a:r>
          </a:p>
        </p:txBody>
      </p:sp>
      <p:sp>
        <p:nvSpPr>
          <p:cNvPr id="3" name="TEXT: USDC 未到账：三模型都等待确认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未到账：三模型都等待确认</a:t>
            </a:r>
          </a:p>
        </p:txBody>
      </p:sp>
      <p:sp>
        <p:nvSpPr>
          <p:cNvPr id="4" name="TEXT: 129 USDC 已足额；确认 3/12。审批可通过，资金仍不能入账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129 USDC 已足额；确认 3/12。审批可通过，资金仍不能入账。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支付客服 · 109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109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支付客服 · 550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550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支付客服 · 1108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1108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等待链上确认 · 137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137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等待链上确认 · 514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514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等待链上确认 · 885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885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76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76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规则检查通过 · 364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364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规则检查通过 · 1176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1176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挂起并跟进 · 155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155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挂起并跟进 · 461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461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挂起并跟进 · 2084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2084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81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81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429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429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3284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3284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64600" y="4059935"/>
            <a:ext cx="8868894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pending-outputs.png" descr="pending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032" y="4087368"/>
            <a:ext cx="8814030" cy="1874519"/>
          </a:xfrm>
          <a:prstGeom prst="rect">
            <a:avLst/>
          </a:prstGeom>
        </p:spPr>
      </p:pic>
      <p:sp>
        <p:nvSpPr>
          <p:cNvPr id="55" name="TEXT: 一致的判断：等待确认 → 检查通过 → 挂起并跟进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一致的判断：等待确认 → 检查通过 → 挂起并跟进。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58" name="TEXT: 16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USDT 少付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USDT 少付</a:t>
            </a:r>
          </a:p>
        </p:txBody>
      </p:sp>
      <p:sp>
        <p:nvSpPr>
          <p:cNvPr id="3" name="TEXT: USDT 少付：确认已够，仍需补款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少付：确认已够，仍需补款</a:t>
            </a:r>
          </a:p>
        </p:txBody>
      </p:sp>
      <p:sp>
        <p:nvSpPr>
          <p:cNvPr id="4" name="TEXT: 应付 100，到账 99.80 USDT；确认 20/12。差额 0.20 才是当前阻塞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应付 100，到账 99.80 USDT；确认 20/12。差额 0.20 才是当前阻塞。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支付客服 · 82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82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支付客服 · 439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439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支付客服 · 873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873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等待链上确认 · 110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110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请求补足差额 · 394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请求补足差额 · 394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请求补足差额 · 820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请求补足差额 · 820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105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105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规则检查通过 · 365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365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规则检查通过 · 855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855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挂起并跟进 · 79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79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挂起并跟进 · 322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322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挂起并跟进 · 798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798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138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138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376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376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825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825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64600" y="4059935"/>
            <a:ext cx="8868894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underpaid-outputs.png" descr="underpaid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032" y="4087368"/>
            <a:ext cx="8814030" cy="1874519"/>
          </a:xfrm>
          <a:prstGeom prst="rect">
            <a:avLst/>
          </a:prstGeom>
        </p:spPr>
      </p:pic>
      <p:sp>
        <p:nvSpPr>
          <p:cNvPr id="55" name="TEXT: 关键差异：Decider 等待确认；Jev / GPT 要求补款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关键差异：Decider 等待确认；Jev / GPT 要求补款。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58" name="TEXT: 17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稳定币退款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稳定币退款</a:t>
            </a:r>
          </a:p>
        </p:txBody>
      </p:sp>
      <p:sp>
        <p:nvSpPr>
          <p:cNvPr id="3" name="TEXT: 退款审批：原始建议与实际采用动作不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退款审批：原始建议与实际采用动作不同</a:t>
            </a:r>
          </a:p>
        </p:txBody>
      </p:sp>
      <p:sp>
        <p:nvSpPr>
          <p:cNvPr id="4" name="TEXT: 250 USDC 退款；资金已核验，但地址未验证、人工审批未通过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250 USDC 退款；资金已核验，但地址未验证、人工审批未通过。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退款专员 · 79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退款专员 · 79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退款专员 · 350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退款专员 · 350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退款专员 · 824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退款专员 · 824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到账已核验 · 148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到账已核验 · 148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到账已核验 · 348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到账已核验 · 348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到账已核验 · 2006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到账已核验 · 2006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79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79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验证退款地址 · 437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验证退款地址 · 437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验证退款地址 · 932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验证退款地址 · 932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挂起并跟进 · 75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75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挂起并跟进 · 385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385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挂起并跟进 · 777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777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183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183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591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591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914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914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78073" y="4059935"/>
            <a:ext cx="8041949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refund-outputs.png" descr="refund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505" y="4087368"/>
            <a:ext cx="7987085" cy="1874519"/>
          </a:xfrm>
          <a:prstGeom prst="rect">
            <a:avLst/>
          </a:prstGeom>
        </p:spPr>
      </p:pic>
      <p:sp>
        <p:nvSpPr>
          <p:cNvPr id="55" name="TEXT: 执行保护：Decider「检查通过」→「验证地址」；三侧均挂起退款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执行保护：Decider「检查通过」→「验证地址」；三侧均挂起退款。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58" name="TEXT: 18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商户结算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商户结算</a:t>
            </a:r>
          </a:p>
        </p:txBody>
      </p:sp>
      <p:sp>
        <p:nvSpPr>
          <p:cNvPr id="3" name="TEXT: 商户结算：先升级工单，再等待到账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商户结算：先升级工单，再等待到账</a:t>
            </a:r>
          </a:p>
        </p:txBody>
      </p:sp>
      <p:sp>
        <p:nvSpPr>
          <p:cNvPr id="4" name="TEXT: 4,800 USDC；120 分钟未到账，演示 SLA 为 60 分钟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4,800 USDC；120 分钟未到账，演示 SLA 为 60 分钟。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商户运营 · 75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商户运营 · 75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商户运营 · 466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商户运营 · 466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商户运营 · 831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商户运营 · 831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结算超时 · 77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结算超时 · 77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结算超时 · 473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结算超时 · 473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结算超时 · 872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结算超时 · 872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75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75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规则检查通过 · 339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339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规则检查通过 · 802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802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升级结算工单 · 76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升级结算工单 · 76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升级结算工单 · 324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升级结算工单 · 324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升级结算工单 · 827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升级结算工单 · 827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105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105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402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402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841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841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90306" y="4059935"/>
            <a:ext cx="9617483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settlement-outputs.png" descr="settlement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738" y="4087368"/>
            <a:ext cx="9562619" cy="1874519"/>
          </a:xfrm>
          <a:prstGeom prst="rect">
            <a:avLst/>
          </a:prstGeom>
        </p:spPr>
      </p:pic>
      <p:sp>
        <p:nvSpPr>
          <p:cNvPr id="55" name="TEXT: 一致的判断：识别超时 → 升级结算工单 → 持续跟进；尚未对账结案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一致的判断：识别超时 → 升级结算工单 → 持续跟进；尚未对账结案。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58" name="TEXT: 19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行为差异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行为差异</a:t>
            </a:r>
          </a:p>
        </p:txBody>
      </p:sp>
      <p:sp>
        <p:nvSpPr>
          <p:cNvPr id="3" name="TEXT: 为什么选择不同？先分清观察与解释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为什么选择不同？先分清观察与解释</a:t>
            </a:r>
          </a:p>
        </p:txBody>
      </p:sp>
      <p:sp>
        <p:nvSpPr>
          <p:cNvPr id="4" name="TEXT: 自然语言候选条件由模型近似判断；同一输入不保证同一选择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自然语言候选条件由模型近似判断；同一输入不保证同一选择。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3474720" cy="32186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scan-ey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295144"/>
            <a:ext cx="365760" cy="365760"/>
          </a:xfrm>
          <a:prstGeom prst="rect">
            <a:avLst/>
          </a:prstGeom>
        </p:spPr>
      </p:pic>
      <p:sp>
        <p:nvSpPr>
          <p:cNvPr id="7" name="TEXT: 已观察到"/>
          <p:cNvSpPr txBox="1"/>
          <p:nvPr/>
        </p:nvSpPr>
        <p:spPr>
          <a:xfrm>
            <a:off x="1316736" y="2276856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已观察到</a:t>
            </a:r>
          </a:p>
        </p:txBody>
      </p:sp>
      <p:sp>
        <p:nvSpPr>
          <p:cNvPr id="8" name="TEXT: 少付：确认已达标，仍等待 退款：条件不足，过早通过  Jev / GPT 本次符合参考 Decider 两处与参考不同"/>
          <p:cNvSpPr txBox="1"/>
          <p:nvPr/>
        </p:nvSpPr>
        <p:spPr>
          <a:xfrm>
            <a:off x="795528" y="2871215"/>
            <a:ext cx="3072384" cy="23957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少付：确认已达标，仍等待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退款：条件不足，过早通过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/ GPT 本次符合参考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两处与参考不同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21408"/>
            <a:ext cx="3474720" cy="32186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295144"/>
            <a:ext cx="365760" cy="365760"/>
          </a:xfrm>
          <a:prstGeom prst="rect">
            <a:avLst/>
          </a:prstGeom>
        </p:spPr>
      </p:pic>
      <p:sp>
        <p:nvSpPr>
          <p:cNvPr id="11" name="TEXT: 合理解释，待验证"/>
          <p:cNvSpPr txBox="1"/>
          <p:nvPr/>
        </p:nvSpPr>
        <p:spPr>
          <a:xfrm>
            <a:off x="5111496" y="2276856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合理解释，待验证</a:t>
            </a:r>
          </a:p>
        </p:txBody>
      </p:sp>
      <p:sp>
        <p:nvSpPr>
          <p:cNvPr id="12" name="TEXT: 条件组合与适用范围 训练分布和语言表达 候选评分与生成机制  不能把输出当内部思维链"/>
          <p:cNvSpPr txBox="1"/>
          <p:nvPr/>
        </p:nvSpPr>
        <p:spPr>
          <a:xfrm>
            <a:off x="4590288" y="2871215"/>
            <a:ext cx="3072384" cy="23957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条件组合与适用范围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训练分布和语言表达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候选评分与生成机制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不能把输出当内部思维链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121408"/>
            <a:ext cx="3401568" cy="32186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295144"/>
            <a:ext cx="365760" cy="365760"/>
          </a:xfrm>
          <a:prstGeom prst="rect">
            <a:avLst/>
          </a:prstGeom>
        </p:spPr>
      </p:pic>
      <p:sp>
        <p:nvSpPr>
          <p:cNvPr id="15" name="TEXT: 概率不能代替检查"/>
          <p:cNvSpPr txBox="1"/>
          <p:nvPr/>
        </p:nvSpPr>
        <p:spPr>
          <a:xfrm>
            <a:off x="8906256" y="2276856"/>
            <a:ext cx="2514599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概率不能代替检查</a:t>
            </a:r>
          </a:p>
        </p:txBody>
      </p:sp>
      <p:sp>
        <p:nvSpPr>
          <p:cNvPr id="16" name="TEXT: 少付误选 confidence 0.814 退款误选 confidence 0.252  高置信也会错 需要业务校准与执行保护"/>
          <p:cNvSpPr txBox="1"/>
          <p:nvPr/>
        </p:nvSpPr>
        <p:spPr>
          <a:xfrm>
            <a:off x="8385048" y="2871215"/>
            <a:ext cx="2999232" cy="23957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少付误选 confidence 0.814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退款误选 confidence 0.252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高置信也会错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需要业务校准与执行保护</a:t>
            </a:r>
          </a:p>
        </p:txBody>
      </p:sp>
      <p:sp>
        <p:nvSpPr>
          <p:cNvPr id="17" name="TEXT: GPT / Jev 的 20/20 是本批次参考一致；Decider 的概率分布是偏向证据，不是业务正确性的证明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GPT / Jev 的 20/20 是本批次参考一致；Decider 的概率分布是偏向证据，不是业务正确性的证明。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0" name="TEXT: 20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从选择到业务结果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从选择到业务结果</a:t>
            </a:r>
          </a:p>
        </p:txBody>
      </p:sp>
      <p:sp>
        <p:nvSpPr>
          <p:cNvPr id="3" name="TEXT: 五步已处理，为什么三个模型都没有结案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五步已处理，为什么三个模型都没有结案？</a:t>
            </a:r>
          </a:p>
        </p:txBody>
      </p:sp>
      <p:sp>
        <p:nvSpPr>
          <p:cNvPr id="4" name="TEXT: 初始四场景都有未补齐的外部条件；固定输入运行不会自动改变证据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初始四场景都有未补齐的外部条件；固定输入运行不会自动改变证据。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93392"/>
            <a:ext cx="3401568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模型返回"/>
          <p:cNvSpPr txBox="1"/>
          <p:nvPr/>
        </p:nvSpPr>
        <p:spPr>
          <a:xfrm>
            <a:off x="822960" y="2148840"/>
            <a:ext cx="303580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模型返回</a:t>
            </a:r>
          </a:p>
        </p:txBody>
      </p:sp>
      <p:sp>
        <p:nvSpPr>
          <p:cNvPr id="7" name="TEXT: 三个模型各 20/20 次成功"/>
          <p:cNvSpPr txBox="1"/>
          <p:nvPr/>
        </p:nvSpPr>
        <p:spPr>
          <a:xfrm>
            <a:off x="822960" y="2743200"/>
            <a:ext cx="2999232" cy="4389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三个模型各 20/20 次成功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93392"/>
            <a:ext cx="3401568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步骤处理"/>
          <p:cNvSpPr txBox="1"/>
          <p:nvPr/>
        </p:nvSpPr>
        <p:spPr>
          <a:xfrm>
            <a:off x="4608576" y="2148840"/>
            <a:ext cx="303580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步骤处理</a:t>
            </a:r>
          </a:p>
        </p:txBody>
      </p:sp>
      <p:sp>
        <p:nvSpPr>
          <p:cNvPr id="10" name="TEXT: 四场景均已处理 5/5 步"/>
          <p:cNvSpPr txBox="1"/>
          <p:nvPr/>
        </p:nvSpPr>
        <p:spPr>
          <a:xfrm>
            <a:off x="4608576" y="2743200"/>
            <a:ext cx="2999232" cy="4389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四场景均已处理 5/5 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993392"/>
            <a:ext cx="3401568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业务完成"/>
          <p:cNvSpPr txBox="1"/>
          <p:nvPr/>
        </p:nvSpPr>
        <p:spPr>
          <a:xfrm>
            <a:off x="8394192" y="2148840"/>
            <a:ext cx="3035807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业务完成</a:t>
            </a:r>
          </a:p>
        </p:txBody>
      </p:sp>
      <p:sp>
        <p:nvSpPr>
          <p:cNvPr id="13" name="TEXT: 初始证据下各 0/4 完成"/>
          <p:cNvSpPr txBox="1"/>
          <p:nvPr/>
        </p:nvSpPr>
        <p:spPr>
          <a:xfrm>
            <a:off x="8394192" y="2743200"/>
            <a:ext cx="2999232" cy="4389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初始证据下各 0/4 完成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06956"/>
            <a:ext cx="11027664" cy="118027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pending-outcomes-status.png" descr="pending-outcomes-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34388"/>
            <a:ext cx="10972800" cy="1125415"/>
          </a:xfrm>
          <a:prstGeom prst="rect">
            <a:avLst/>
          </a:prstGeom>
        </p:spPr>
      </p:pic>
      <p:sp>
        <p:nvSpPr>
          <p:cNvPr id="16" name="TEXT: 仍缺什么？"/>
          <p:cNvSpPr txBox="1"/>
          <p:nvPr/>
        </p:nvSpPr>
        <p:spPr>
          <a:xfrm>
            <a:off x="758952" y="5120640"/>
            <a:ext cx="16459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仍缺什么？</a:t>
            </a:r>
          </a:p>
        </p:txBody>
      </p:sp>
      <p:sp>
        <p:nvSpPr>
          <p:cNvPr id="17" name="TEXT: 未到账：确认达标   ·   少付：补足差额   ·   退款：地址与审批   ·   结算：到账证据"/>
          <p:cNvSpPr txBox="1"/>
          <p:nvPr/>
        </p:nvSpPr>
        <p:spPr>
          <a:xfrm>
            <a:off x="2505456" y="5157216"/>
            <a:ext cx="8915400" cy="576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未到账：确认达标   ·   少付：补足差额   ·   退款：地址与审批   ·   结算：到账证据</a:t>
            </a:r>
          </a:p>
        </p:txBody>
      </p:sp>
      <p:sp>
        <p:nvSpPr>
          <p:cNvPr id="18" name="TEXT: 完成标准：目标订单状态 + 对应模拟账本 + 工单结案。模型调用成功、选择正确、业务完成是三件事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完成标准：目标订单状态 + 对应模拟账本 + 工单结案。模型调用成功、选择正确、业务完成是三件事。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1" name="TEXT: 21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速度差异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速度差异</a:t>
            </a:r>
          </a:p>
        </p:txBody>
      </p:sp>
      <p:sp>
        <p:nvSpPr>
          <p:cNvPr id="3" name="TEXT: Jev 为什么没有宣传中的几十倍加速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为什么没有宣传中的几十倍加速？</a:t>
            </a:r>
          </a:p>
        </p:txBody>
      </p:sp>
      <p:sp>
        <p:nvSpPr>
          <p:cNvPr id="4" name="TEXT: 本批次 GPT / Jev = 2.68×；比较条件决定加速倍数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本批次 GPT / Jev = 2.68×；比较条件决定加速倍数。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347472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code-xm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295144"/>
            <a:ext cx="365760" cy="365760"/>
          </a:xfrm>
          <a:prstGeom prst="rect">
            <a:avLst/>
          </a:prstGeom>
        </p:spPr>
      </p:pic>
      <p:sp>
        <p:nvSpPr>
          <p:cNvPr id="7" name="TEXT: Decider"/>
          <p:cNvSpPr txBox="1"/>
          <p:nvPr/>
        </p:nvSpPr>
        <p:spPr>
          <a:xfrm>
            <a:off x="1316736" y="2276856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8" name="TEXT: ECS → 私网 EC2 本地部署的候选评分"/>
          <p:cNvSpPr txBox="1"/>
          <p:nvPr/>
        </p:nvSpPr>
        <p:spPr>
          <a:xfrm>
            <a:off x="795528" y="2871215"/>
            <a:ext cx="307238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→ 私网 EC2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本地部署的候选评分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21408"/>
            <a:ext cx="347472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295144"/>
            <a:ext cx="365760" cy="365760"/>
          </a:xfrm>
          <a:prstGeom prst="rect">
            <a:avLst/>
          </a:prstGeom>
        </p:spPr>
      </p:pic>
      <p:sp>
        <p:nvSpPr>
          <p:cNvPr id="11" name="TEXT: Jev"/>
          <p:cNvSpPr txBox="1"/>
          <p:nvPr/>
        </p:nvSpPr>
        <p:spPr>
          <a:xfrm>
            <a:off x="5065776" y="2276856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2" name="TEXT: ECS → Lambda → HTTPS 包含代理与外部往返"/>
          <p:cNvSpPr txBox="1"/>
          <p:nvPr/>
        </p:nvSpPr>
        <p:spPr>
          <a:xfrm>
            <a:off x="4544568" y="2871215"/>
            <a:ext cx="307238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→ Lambda → HTTPS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包含代理与外部往返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21408"/>
            <a:ext cx="347472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295144"/>
            <a:ext cx="365760" cy="365760"/>
          </a:xfrm>
          <a:prstGeom prst="rect">
            <a:avLst/>
          </a:prstGeom>
        </p:spPr>
      </p:pic>
      <p:sp>
        <p:nvSpPr>
          <p:cNvPr id="15" name="TEXT: GPT"/>
          <p:cNvSpPr txBox="1"/>
          <p:nvPr/>
        </p:nvSpPr>
        <p:spPr>
          <a:xfrm>
            <a:off x="8814816" y="2276856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6" name="TEXT: ECS → Bedrock low 推理，只输出 ID"/>
          <p:cNvSpPr txBox="1"/>
          <p:nvPr/>
        </p:nvSpPr>
        <p:spPr>
          <a:xfrm>
            <a:off x="8293608" y="2871215"/>
            <a:ext cx="307238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→ Bedrock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low 推理，只输出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142232"/>
            <a:ext cx="406908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同一 Jev，两个观察位置"/>
          <p:cNvSpPr txBox="1"/>
          <p:nvPr/>
        </p:nvSpPr>
        <p:spPr>
          <a:xfrm>
            <a:off x="685800" y="4219956"/>
            <a:ext cx="38862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同一 Jev，两个观察位置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142232"/>
            <a:ext cx="192024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响应中位数"/>
          <p:cNvSpPr txBox="1"/>
          <p:nvPr/>
        </p:nvSpPr>
        <p:spPr>
          <a:xfrm>
            <a:off x="4754880" y="4219956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响应中位数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142232"/>
            <a:ext cx="507492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正确解读"/>
          <p:cNvSpPr txBox="1"/>
          <p:nvPr/>
        </p:nvSpPr>
        <p:spPr>
          <a:xfrm>
            <a:off x="6675120" y="4219956"/>
            <a:ext cx="48920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正确解读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626864"/>
            <a:ext cx="406908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JevBench API 公开结果"/>
          <p:cNvSpPr txBox="1"/>
          <p:nvPr/>
        </p:nvSpPr>
        <p:spPr>
          <a:xfrm>
            <a:off x="685800" y="4704588"/>
            <a:ext cx="38862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JevBench API 公开结果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626864"/>
            <a:ext cx="192024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39.1 ms"/>
          <p:cNvSpPr txBox="1"/>
          <p:nvPr/>
        </p:nvSpPr>
        <p:spPr>
          <a:xfrm>
            <a:off x="4754880" y="4704588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239.1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626864"/>
            <a:ext cx="50749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第三方任务与测量网络"/>
          <p:cNvSpPr txBox="1"/>
          <p:nvPr/>
        </p:nvSpPr>
        <p:spPr>
          <a:xfrm>
            <a:off x="6675120" y="4704588"/>
            <a:ext cx="48920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第三方任务与测量网络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111496"/>
            <a:ext cx="406908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本项目支付 20 次调用"/>
          <p:cNvSpPr txBox="1"/>
          <p:nvPr/>
        </p:nvSpPr>
        <p:spPr>
          <a:xfrm>
            <a:off x="685800" y="5189220"/>
            <a:ext cx="38862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本项目支付 20 次调用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5111496"/>
            <a:ext cx="192024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397.7 ms"/>
          <p:cNvSpPr txBox="1"/>
          <p:nvPr/>
        </p:nvSpPr>
        <p:spPr>
          <a:xfrm>
            <a:off x="4754880" y="5189220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397.7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111496"/>
            <a:ext cx="507492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含 Lambda、HTTPS 与后端处理"/>
          <p:cNvSpPr txBox="1"/>
          <p:nvPr/>
        </p:nvSpPr>
        <p:spPr>
          <a:xfrm>
            <a:off x="6675120" y="5189220"/>
            <a:ext cx="48920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含 Lambda、HTTPS 与后端处理</a:t>
            </a:r>
          </a:p>
        </p:txBody>
      </p:sp>
      <p:sp>
        <p:nvSpPr>
          <p:cNvPr id="35" name="TEXT: 即使预热，网络往返与代理处理仍占用时间；GPT 只输出候选 ID，也会缩小速度差距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即使预热，网络往返与代理处理仍占用时间；GPT 只输出候选 ID，也会缩小速度差距。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8" name="TEXT: 22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独立闭环实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独立闭环实测</a:t>
            </a:r>
          </a:p>
        </p:txBody>
      </p:sp>
      <p:sp>
        <p:nvSpPr>
          <p:cNvPr id="3" name="TEXT: 闭环做了什么：等待证据、重新核验、完成入账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闭环做了什么：等待证据、重新核验、完成入账</a:t>
            </a:r>
          </a:p>
        </p:txBody>
      </p:sp>
      <p:sp>
        <p:nvSpPr>
          <p:cNvPr id="4" name="TEXT: USDC 案例 · 三侧各 6 次决策 + 1 次模拟确认事件，最终都完成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案例 · 三侧各 6 次决策 + 1 次模拟确认事件，最终都完成。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75104"/>
            <a:ext cx="347472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shield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148840"/>
            <a:ext cx="365760" cy="365760"/>
          </a:xfrm>
          <a:prstGeom prst="rect">
            <a:avLst/>
          </a:prstGeom>
        </p:spPr>
      </p:pic>
      <p:sp>
        <p:nvSpPr>
          <p:cNvPr id="7" name="TEXT: 实际检查"/>
          <p:cNvSpPr txBox="1"/>
          <p:nvPr/>
        </p:nvSpPr>
        <p:spPr>
          <a:xfrm>
            <a:off x="1316736" y="2130552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实际检查</a:t>
            </a:r>
          </a:p>
        </p:txBody>
      </p:sp>
      <p:sp>
        <p:nvSpPr>
          <p:cNvPr id="8" name="TEXT: 确认不足 → 暂停资金"/>
          <p:cNvSpPr txBox="1"/>
          <p:nvPr/>
        </p:nvSpPr>
        <p:spPr>
          <a:xfrm>
            <a:off x="795528" y="2724912"/>
            <a:ext cx="3072384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确认不足 → 暂停资金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05656" y="2670048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975104"/>
            <a:ext cx="347472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epea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148840"/>
            <a:ext cx="365760" cy="365760"/>
          </a:xfrm>
          <a:prstGeom prst="rect">
            <a:avLst/>
          </a:prstGeom>
        </p:spPr>
      </p:pic>
      <p:sp>
        <p:nvSpPr>
          <p:cNvPr id="12" name="TEXT: 模拟器事件"/>
          <p:cNvSpPr txBox="1"/>
          <p:nvPr/>
        </p:nvSpPr>
        <p:spPr>
          <a:xfrm>
            <a:off x="5065776" y="2130552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模拟器事件</a:t>
            </a:r>
          </a:p>
        </p:txBody>
      </p:sp>
      <p:sp>
        <p:nvSpPr>
          <p:cNvPr id="13" name="TEXT: 确认数 3/12 → 12/12"/>
          <p:cNvSpPr txBox="1"/>
          <p:nvPr/>
        </p:nvSpPr>
        <p:spPr>
          <a:xfrm>
            <a:off x="4544568" y="2724912"/>
            <a:ext cx="3072384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3/12 → 12/12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4696" y="2670048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1975104"/>
            <a:ext cx="347472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148840"/>
            <a:ext cx="365760" cy="365760"/>
          </a:xfrm>
          <a:prstGeom prst="rect">
            <a:avLst/>
          </a:prstGeom>
        </p:spPr>
      </p:pic>
      <p:sp>
        <p:nvSpPr>
          <p:cNvPr id="17" name="TEXT: 携带反馈重判"/>
          <p:cNvSpPr txBox="1"/>
          <p:nvPr/>
        </p:nvSpPr>
        <p:spPr>
          <a:xfrm>
            <a:off x="8814816" y="2130552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携带反馈重判</a:t>
            </a:r>
          </a:p>
        </p:txBody>
      </p:sp>
      <p:sp>
        <p:nvSpPr>
          <p:cNvPr id="18" name="TEXT: 重新核验 → 入账 → 结案"/>
          <p:cNvSpPr txBox="1"/>
          <p:nvPr/>
        </p:nvSpPr>
        <p:spPr>
          <a:xfrm>
            <a:off x="8293608" y="2724912"/>
            <a:ext cx="3072384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重新核验 → 入账 → 结案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3" y="3625244"/>
            <a:ext cx="11027664" cy="118027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pending-loop-status.png" descr="pending-loop-stat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3652676"/>
            <a:ext cx="10972800" cy="1125415"/>
          </a:xfrm>
          <a:prstGeom prst="rect">
            <a:avLst/>
          </a:prstGeom>
        </p:spPr>
      </p:pic>
      <p:sp>
        <p:nvSpPr>
          <p:cNvPr id="21" name="TEXT: 三侧实际结果：订单已收款  ·  模拟账本 129 USDC  ·  工单已结案"/>
          <p:cNvSpPr txBox="1"/>
          <p:nvPr/>
        </p:nvSpPr>
        <p:spPr>
          <a:xfrm>
            <a:off x="731520" y="5248656"/>
            <a:ext cx="1078992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三侧实际结果：订单已收款  ·  模拟账本 129 USDC  ·  工单已结案</a:t>
            </a:r>
          </a:p>
        </p:txBody>
      </p:sp>
      <p:sp>
        <p:nvSpPr>
          <p:cNvPr id="22" name="TEXT: Decider 首轮误选「结算已核验」，执行检查仍等待确认；后续重判完成。完成闭环不代表每次选择都正确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首轮误选「结算已核验」，执行检查仍等待确认；后续重判完成。完成闭环不代表每次选择都正确。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5" name="TEXT: 23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7 / 已验证的输入优化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07 / 已验证的输入优化</a:t>
            </a:r>
          </a:p>
        </p:txBody>
      </p:sp>
      <p:sp>
        <p:nvSpPr>
          <p:cNvPr id="3" name="TEXT: 优化示例：让退款审批只作用于退款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优化示例：让退款审批只作用于退款</a:t>
            </a:r>
          </a:p>
        </p:txBody>
      </p:sp>
      <p:sp>
        <p:nvSpPr>
          <p:cNvPr id="4" name="TEXT: 已验证的前后对照 · USDC 收款 · 只调整输入字段与候选条件"/>
          <p:cNvSpPr txBox="1"/>
          <p:nvPr/>
        </p:nvSpPr>
        <p:spPr>
          <a:xfrm>
            <a:off x="566928" y="1426464"/>
            <a:ext cx="1097280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已验证的前后对照 · USDC 收款 · 只调整输入字段与候选条件</a:t>
            </a:r>
          </a:p>
        </p:txBody>
      </p:sp>
      <p:sp>
        <p:nvSpPr>
          <p:cNvPr id="6" name="TEXT: 真实界面入口"/>
          <p:cNvSpPr txBox="1"/>
          <p:nvPr/>
        </p:nvSpPr>
        <p:spPr>
          <a:xfrm>
            <a:off x="612648" y="2112264"/>
            <a:ext cx="1554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真实界面入口</a:t>
            </a:r>
          </a:p>
        </p:txBody>
      </p:sp>
      <p:pic>
        <p:nvPicPr>
          <p:cNvPr id="7" name="IMAGE: optimized-selector.png" descr="optimized-sel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013312"/>
            <a:ext cx="2971800" cy="636814"/>
          </a:xfrm>
          <a:prstGeom prst="rect">
            <a:avLst/>
          </a:prstGeom>
        </p:spPr>
      </p:pic>
      <p:pic>
        <p:nvPicPr>
          <p:cNvPr id="8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2148840"/>
            <a:ext cx="320040" cy="320040"/>
          </a:xfrm>
          <a:prstGeom prst="rect">
            <a:avLst/>
          </a:prstGeom>
        </p:spPr>
      </p:pic>
      <p:sp>
        <p:nvSpPr>
          <p:cNvPr id="9" name="TEXT: 精简字段 → 明确适用场景 → 重新判断"/>
          <p:cNvSpPr txBox="1"/>
          <p:nvPr/>
        </p:nvSpPr>
        <p:spPr>
          <a:xfrm>
            <a:off x="5971032" y="2148840"/>
            <a:ext cx="55778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精简字段 → 明确适用场景 → 重新判断</a:t>
            </a:r>
          </a:p>
        </p:txBody>
      </p:sp>
      <p:sp>
        <p:nvSpPr>
          <p:cNvPr id="10" name="TEXT: "/>
          <p:cNvSpPr/>
          <p:nvPr/>
        </p:nvSpPr>
        <p:spPr>
          <a:xfrm>
            <a:off x="594360" y="2889504"/>
            <a:ext cx="5340096" cy="2642616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ayer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90672"/>
            <a:ext cx="320040" cy="320040"/>
          </a:xfrm>
          <a:prstGeom prst="rect">
            <a:avLst/>
          </a:prstGeom>
        </p:spPr>
      </p:pic>
      <p:sp>
        <p:nvSpPr>
          <p:cNvPr id="12" name="TEXT: 固定流程"/>
          <p:cNvSpPr txBox="1"/>
          <p:nvPr/>
        </p:nvSpPr>
        <p:spPr>
          <a:xfrm>
            <a:off x="1234440" y="3063240"/>
            <a:ext cx="448056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固定流程</a:t>
            </a:r>
          </a:p>
        </p:txBody>
      </p:sp>
      <p:sp>
        <p:nvSpPr>
          <p:cNvPr id="13" name="TEXT: 收款事实 + refund_approved=false 退款字段仍出现在普通收款输入中"/>
          <p:cNvSpPr txBox="1"/>
          <p:nvPr/>
        </p:nvSpPr>
        <p:spPr>
          <a:xfrm>
            <a:off x="795528" y="3639312"/>
            <a:ext cx="4937760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收款事实 + refund_approved=false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退款字段仍出现在普通收款输入中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8" y="4480560"/>
            <a:ext cx="4937760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 Decider：等待人工审批"/>
          <p:cNvSpPr txBox="1"/>
          <p:nvPr/>
        </p:nvSpPr>
        <p:spPr>
          <a:xfrm>
            <a:off x="795528" y="4645152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Decider：等待人工审批</a:t>
            </a:r>
          </a:p>
        </p:txBody>
      </p:sp>
      <p:sp>
        <p:nvSpPr>
          <p:cNvPr id="16" name="TEXT: 75.7 ms"/>
          <p:cNvSpPr txBox="1"/>
          <p:nvPr/>
        </p:nvSpPr>
        <p:spPr>
          <a:xfrm>
            <a:off x="4462272" y="4681728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75.7 ms</a:t>
            </a:r>
          </a:p>
        </p:txBody>
      </p:sp>
      <p:sp>
        <p:nvSpPr>
          <p:cNvPr id="17" name="TEXT: GPT：规则检查通过"/>
          <p:cNvSpPr txBox="1"/>
          <p:nvPr/>
        </p:nvSpPr>
        <p:spPr>
          <a:xfrm>
            <a:off x="795528" y="5074920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GPT：规则检查通过</a:t>
            </a:r>
          </a:p>
        </p:txBody>
      </p:sp>
      <p:sp>
        <p:nvSpPr>
          <p:cNvPr id="18" name="TEXT: 1,080.1 ms"/>
          <p:cNvSpPr txBox="1"/>
          <p:nvPr/>
        </p:nvSpPr>
        <p:spPr>
          <a:xfrm>
            <a:off x="4462272" y="5111496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1,080.1 ms</a:t>
            </a:r>
          </a:p>
        </p:txBody>
      </p:sp>
      <p:sp>
        <p:nvSpPr>
          <p:cNvPr id="19" name="TEXT: "/>
          <p:cNvSpPr/>
          <p:nvPr/>
        </p:nvSpPr>
        <p:spPr>
          <a:xfrm>
            <a:off x="6208776" y="2889504"/>
            <a:ext cx="5340096" cy="264261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090672"/>
            <a:ext cx="320040" cy="320040"/>
          </a:xfrm>
          <a:prstGeom prst="rect">
            <a:avLst/>
          </a:prstGeom>
        </p:spPr>
      </p:pic>
      <p:sp>
        <p:nvSpPr>
          <p:cNvPr id="21" name="TEXT: 优化流程"/>
          <p:cNvSpPr txBox="1"/>
          <p:nvPr/>
        </p:nvSpPr>
        <p:spPr>
          <a:xfrm>
            <a:off x="6848856" y="3063240"/>
            <a:ext cx="448056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优化流程</a:t>
            </a:r>
          </a:p>
        </p:txBody>
      </p:sp>
      <p:sp>
        <p:nvSpPr>
          <p:cNvPr id="22" name="TEXT: 收款事实，移除无关退款字段 候选明确：非退款不要求退款审批"/>
          <p:cNvSpPr txBox="1"/>
          <p:nvPr/>
        </p:nvSpPr>
        <p:spPr>
          <a:xfrm>
            <a:off x="6409944" y="3639312"/>
            <a:ext cx="4937760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收款事实，移除无关退款字段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候选明确：非退款不要求退款审批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9944" y="4480560"/>
            <a:ext cx="4937760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: Decider：规则检查通过"/>
          <p:cNvSpPr txBox="1"/>
          <p:nvPr/>
        </p:nvSpPr>
        <p:spPr>
          <a:xfrm>
            <a:off x="6409944" y="4645152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Decider：规则检查通过</a:t>
            </a:r>
          </a:p>
        </p:txBody>
      </p:sp>
      <p:sp>
        <p:nvSpPr>
          <p:cNvPr id="25" name="TEXT: 80.2 ms"/>
          <p:cNvSpPr txBox="1"/>
          <p:nvPr/>
        </p:nvSpPr>
        <p:spPr>
          <a:xfrm>
            <a:off x="10076688" y="4681728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80.2 ms</a:t>
            </a:r>
          </a:p>
        </p:txBody>
      </p:sp>
      <p:sp>
        <p:nvSpPr>
          <p:cNvPr id="26" name="TEXT: GPT：规则检查通过"/>
          <p:cNvSpPr txBox="1"/>
          <p:nvPr/>
        </p:nvSpPr>
        <p:spPr>
          <a:xfrm>
            <a:off x="6409944" y="5074920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GPT：规则检查通过</a:t>
            </a:r>
          </a:p>
        </p:txBody>
      </p:sp>
      <p:sp>
        <p:nvSpPr>
          <p:cNvPr id="27" name="TEXT: 820.3 ms"/>
          <p:cNvSpPr txBox="1"/>
          <p:nvPr/>
        </p:nvSpPr>
        <p:spPr>
          <a:xfrm>
            <a:off x="10076688" y="5111496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820.3 ms</a:t>
            </a:r>
          </a:p>
        </p:txBody>
      </p:sp>
      <p:sp>
        <p:nvSpPr>
          <p:cNvPr id="28" name="TEXT: 本次优化改变输入与条件表述；候选 ID、模型权重和执行校验保持一致。"/>
          <p:cNvSpPr txBox="1"/>
          <p:nvPr/>
        </p:nvSpPr>
        <p:spPr>
          <a:xfrm>
            <a:off x="594360" y="5751576"/>
            <a:ext cx="109728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本次优化改变输入与条件表述；候选 ID、模型权重和执行校验保持一致。</a:t>
            </a:r>
          </a:p>
        </p:txBody>
      </p:sp>
      <p:sp>
        <p:nvSpPr>
          <p:cNvPr id="29" name="TEXT: 确认数仍为 3/12：两侧资金继续挂起。审批选择改善，不表示已经到账。"/>
          <p:cNvSpPr txBox="1"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确认数仍为 3/12：两侧资金继续挂起。审批选择改善，不表示已经到账。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2" name="TEXT: 24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7 / 优化证据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07 / 优化证据</a:t>
            </a:r>
          </a:p>
        </p:txBody>
      </p:sp>
      <p:sp>
        <p:nvSpPr>
          <p:cNvPr id="3" name="TEXT: 已验证的优化：Decider 参考一致 14/20 → 18/20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已验证的优化：Decider 参考一致 14/20 → 18/20</a:t>
            </a:r>
          </a:p>
        </p:txBody>
      </p:sp>
      <p:sp>
        <p:nvSpPr>
          <p:cNvPr id="4" name="TEXT: 明确候选适用范围、去除无关字段，减少两类业务条件之间的混淆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明确候选适用范围、去除无关字段，减少两类业务条件之间的混淆。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39696"/>
            <a:ext cx="1956816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场景"/>
          <p:cNvSpPr txBox="1"/>
          <p:nvPr/>
        </p:nvSpPr>
        <p:spPr>
          <a:xfrm>
            <a:off x="685800" y="2217420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551176" y="2139696"/>
            <a:ext cx="182880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 固定"/>
          <p:cNvSpPr txBox="1"/>
          <p:nvPr/>
        </p:nvSpPr>
        <p:spPr>
          <a:xfrm>
            <a:off x="2642616" y="221742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固定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2139696"/>
            <a:ext cx="182880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Decider 优化"/>
          <p:cNvSpPr txBox="1"/>
          <p:nvPr/>
        </p:nvSpPr>
        <p:spPr>
          <a:xfrm>
            <a:off x="4471416" y="221742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优化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24328"/>
            <a:ext cx="1956816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USDC 未到账"/>
          <p:cNvSpPr txBox="1"/>
          <p:nvPr/>
        </p:nvSpPr>
        <p:spPr>
          <a:xfrm>
            <a:off x="685800" y="2702052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1176" y="2624328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4/5"/>
          <p:cNvSpPr txBox="1"/>
          <p:nvPr/>
        </p:nvSpPr>
        <p:spPr>
          <a:xfrm>
            <a:off x="2642616" y="2702052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2624328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5/5"/>
          <p:cNvSpPr txBox="1"/>
          <p:nvPr/>
        </p:nvSpPr>
        <p:spPr>
          <a:xfrm>
            <a:off x="4471416" y="2702052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08960"/>
            <a:ext cx="1956816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USDT 少付"/>
          <p:cNvSpPr txBox="1"/>
          <p:nvPr/>
        </p:nvSpPr>
        <p:spPr>
          <a:xfrm>
            <a:off x="685800" y="3186684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51176" y="3108960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4/5"/>
          <p:cNvSpPr txBox="1"/>
          <p:nvPr/>
        </p:nvSpPr>
        <p:spPr>
          <a:xfrm>
            <a:off x="2642616" y="3186684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9976" y="3108960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4/5"/>
          <p:cNvSpPr txBox="1"/>
          <p:nvPr/>
        </p:nvSpPr>
        <p:spPr>
          <a:xfrm>
            <a:off x="4471416" y="3186684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593591"/>
            <a:ext cx="1956816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稳定币退款"/>
          <p:cNvSpPr txBox="1"/>
          <p:nvPr/>
        </p:nvSpPr>
        <p:spPr>
          <a:xfrm>
            <a:off x="685800" y="3671315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51176" y="3593591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/5"/>
          <p:cNvSpPr txBox="1"/>
          <p:nvPr/>
        </p:nvSpPr>
        <p:spPr>
          <a:xfrm>
            <a:off x="2642616" y="3671315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9976" y="3593591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4/5"/>
          <p:cNvSpPr txBox="1"/>
          <p:nvPr/>
        </p:nvSpPr>
        <p:spPr>
          <a:xfrm>
            <a:off x="4471416" y="3671315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078224"/>
            <a:ext cx="1956816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商户结算"/>
          <p:cNvSpPr txBox="1"/>
          <p:nvPr/>
        </p:nvSpPr>
        <p:spPr>
          <a:xfrm>
            <a:off x="685800" y="4155948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51176" y="4078224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4/5"/>
          <p:cNvSpPr txBox="1"/>
          <p:nvPr/>
        </p:nvSpPr>
        <p:spPr>
          <a:xfrm>
            <a:off x="2642616" y="4155948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9976" y="4078224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5/5"/>
          <p:cNvSpPr txBox="1"/>
          <p:nvPr/>
        </p:nvSpPr>
        <p:spPr>
          <a:xfrm>
            <a:off x="4471416" y="4155948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5/5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562856"/>
            <a:ext cx="1956816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合计"/>
          <p:cNvSpPr txBox="1"/>
          <p:nvPr/>
        </p:nvSpPr>
        <p:spPr>
          <a:xfrm>
            <a:off x="685800" y="4640580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合计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51176" y="4562856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14/20"/>
          <p:cNvSpPr txBox="1"/>
          <p:nvPr/>
        </p:nvSpPr>
        <p:spPr>
          <a:xfrm>
            <a:off x="2642616" y="464058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14/20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9976" y="4562856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18/20"/>
          <p:cNvSpPr txBox="1"/>
          <p:nvPr/>
        </p:nvSpPr>
        <p:spPr>
          <a:xfrm>
            <a:off x="4471416" y="464058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18/20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2148840"/>
            <a:ext cx="4937760" cy="14356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: Lucide circle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322576"/>
            <a:ext cx="365760" cy="365760"/>
          </a:xfrm>
          <a:prstGeom prst="rect">
            <a:avLst/>
          </a:prstGeom>
        </p:spPr>
      </p:pic>
      <p:sp>
        <p:nvSpPr>
          <p:cNvPr id="43" name="TEXT: 已验证的变化"/>
          <p:cNvSpPr txBox="1"/>
          <p:nvPr/>
        </p:nvSpPr>
        <p:spPr>
          <a:xfrm>
            <a:off x="7306056" y="2304288"/>
            <a:ext cx="4050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已验证的变化</a:t>
            </a:r>
          </a:p>
        </p:txBody>
      </p:sp>
      <p:sp>
        <p:nvSpPr>
          <p:cNvPr id="44" name="TEXT: 参考一致改善；保护调整 4 → 1 模型权重未变，未进行领域微调。"/>
          <p:cNvSpPr txBox="1"/>
          <p:nvPr/>
        </p:nvSpPr>
        <p:spPr>
          <a:xfrm>
            <a:off x="6784848" y="2898648"/>
            <a:ext cx="4535424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参考一致改善；保护调整 4 → 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模型权重未变，未进行领域微调。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3867912"/>
            <a:ext cx="4937760" cy="19019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ICON: Lucide targ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4041648"/>
            <a:ext cx="365760" cy="365760"/>
          </a:xfrm>
          <a:prstGeom prst="rect">
            <a:avLst/>
          </a:prstGeom>
        </p:spPr>
      </p:pic>
      <p:sp>
        <p:nvSpPr>
          <p:cNvPr id="47" name="TEXT: 当前三模型再次观察"/>
          <p:cNvSpPr txBox="1"/>
          <p:nvPr/>
        </p:nvSpPr>
        <p:spPr>
          <a:xfrm>
            <a:off x="7306056" y="4023360"/>
            <a:ext cx="4050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当前三模型再次观察</a:t>
            </a:r>
          </a:p>
        </p:txBody>
      </p:sp>
      <p:sp>
        <p:nvSpPr>
          <p:cNvPr id="48" name="TEXT: Decider 18/20 · Jev / GPT 20/20 剩余：少付核验、退款审批 仍需下一轮优化与独立测试。"/>
          <p:cNvSpPr txBox="1"/>
          <p:nvPr/>
        </p:nvSpPr>
        <p:spPr>
          <a:xfrm>
            <a:off x="6784848" y="4617720"/>
            <a:ext cx="453542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18/20 · Jev / GPT 20/20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剩余：少付核验、退款审批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仍需下一轮优化与独立测试。</a:t>
            </a:r>
          </a:p>
        </p:txBody>
      </p:sp>
      <p:sp>
        <p:nvSpPr>
          <p:cNvPr id="49" name="TEXT: 优化输入已减少选择错误；模型权重未变。少付核验与退款审批仍需改进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优化输入已减少选择错误；模型权重未变。少付核验与退款审批仍需改进。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52" name="TEXT: 25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7 / Decider 优化路线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07 / Decider 优化路线</a:t>
            </a:r>
          </a:p>
        </p:txBody>
      </p:sp>
      <p:sp>
        <p:nvSpPr>
          <p:cNvPr id="3" name="TEXT: 下一步优化：把剩余错误变成可重复的测试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下一步优化：把剩余错误变成可重复的测试</a:t>
            </a:r>
          </a:p>
        </p:txBody>
      </p:sp>
      <p:sp>
        <p:nvSpPr>
          <p:cNvPr id="4" name="TEXT: 优先改问题表达与任务拆分，再判断是否需要改模型权重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优先改问题表达与任务拆分，再判断是否需要改模型权重。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39696"/>
            <a:ext cx="347472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13432"/>
            <a:ext cx="365760" cy="365760"/>
          </a:xfrm>
          <a:prstGeom prst="rect">
            <a:avLst/>
          </a:prstGeom>
        </p:spPr>
      </p:pic>
      <p:sp>
        <p:nvSpPr>
          <p:cNvPr id="7" name="TEXT: 收集错误"/>
          <p:cNvSpPr txBox="1"/>
          <p:nvPr/>
        </p:nvSpPr>
        <p:spPr>
          <a:xfrm>
            <a:off x="1316736" y="2295144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收集错误</a:t>
            </a:r>
          </a:p>
        </p:txBody>
      </p:sp>
      <p:sp>
        <p:nvSpPr>
          <p:cNvPr id="8" name="TEXT: 事实 + 候选 + 原始选择 实际执行 + 人工正确动作"/>
          <p:cNvSpPr txBox="1"/>
          <p:nvPr/>
        </p:nvSpPr>
        <p:spPr>
          <a:xfrm>
            <a:off x="795528" y="2889503"/>
            <a:ext cx="3072384" cy="804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事实 + 候选 + 原始选择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实际执行 + 人工正确动作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05656" y="2953512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2139696"/>
            <a:ext cx="347472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313432"/>
            <a:ext cx="365760" cy="365760"/>
          </a:xfrm>
          <a:prstGeom prst="rect">
            <a:avLst/>
          </a:prstGeom>
        </p:spPr>
      </p:pic>
      <p:sp>
        <p:nvSpPr>
          <p:cNvPr id="12" name="TEXT: 构造最小对照"/>
          <p:cNvSpPr txBox="1"/>
          <p:nvPr/>
        </p:nvSpPr>
        <p:spPr>
          <a:xfrm>
            <a:off x="5065776" y="2295144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构造最小对照</a:t>
            </a:r>
          </a:p>
        </p:txBody>
      </p:sp>
      <p:sp>
        <p:nvSpPr>
          <p:cNvPr id="13" name="TEXT: 只改一个条件或边界 加入近似反例与语言变体"/>
          <p:cNvSpPr txBox="1"/>
          <p:nvPr/>
        </p:nvSpPr>
        <p:spPr>
          <a:xfrm>
            <a:off x="4544568" y="2889503"/>
            <a:ext cx="3072384" cy="804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只改一个条件或边界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加入近似反例与语言变体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4696" y="2953512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2139696"/>
            <a:ext cx="347472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13432"/>
            <a:ext cx="365760" cy="365760"/>
          </a:xfrm>
          <a:prstGeom prst="rect">
            <a:avLst/>
          </a:prstGeom>
        </p:spPr>
      </p:pic>
      <p:sp>
        <p:nvSpPr>
          <p:cNvPr id="17" name="TEXT: 验证改动"/>
          <p:cNvSpPr txBox="1"/>
          <p:nvPr/>
        </p:nvSpPr>
        <p:spPr>
          <a:xfrm>
            <a:off x="8814816" y="2295144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验证改动</a:t>
            </a:r>
          </a:p>
        </p:txBody>
      </p:sp>
      <p:sp>
        <p:nvSpPr>
          <p:cNvPr id="18" name="TEXT: 冻结测试集与版本 比较错误、延迟和完成率"/>
          <p:cNvSpPr txBox="1"/>
          <p:nvPr/>
        </p:nvSpPr>
        <p:spPr>
          <a:xfrm>
            <a:off x="8293608" y="2889503"/>
            <a:ext cx="3072384" cy="804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冻结测试集与版本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比较错误、延迟和完成率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4133087"/>
            <a:ext cx="5358384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walle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306824"/>
            <a:ext cx="365760" cy="365760"/>
          </a:xfrm>
          <a:prstGeom prst="rect">
            <a:avLst/>
          </a:prstGeom>
        </p:spPr>
      </p:pic>
      <p:sp>
        <p:nvSpPr>
          <p:cNvPr id="21" name="TEXT: 少付：把确认与金额分开"/>
          <p:cNvSpPr txBox="1"/>
          <p:nvPr/>
        </p:nvSpPr>
        <p:spPr>
          <a:xfrm>
            <a:off x="1325880" y="4288536"/>
            <a:ext cx="447141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少付：把确认与金额分开</a:t>
            </a:r>
          </a:p>
        </p:txBody>
      </p:sp>
      <p:sp>
        <p:nvSpPr>
          <p:cNvPr id="22" name="TEXT: 确认达到阈值后，明确跳过等待确认； 用差额 0 / 0.01 / 0.20 测补款分支。"/>
          <p:cNvSpPr txBox="1"/>
          <p:nvPr/>
        </p:nvSpPr>
        <p:spPr>
          <a:xfrm>
            <a:off x="804672" y="4882896"/>
            <a:ext cx="4956048" cy="70408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确认达到阈值后，明确跳过等待确认；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用差额 0 / 0.01 / 0.20 测补款分支。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33087"/>
            <a:ext cx="5358384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shield-che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306824"/>
            <a:ext cx="365760" cy="365760"/>
          </a:xfrm>
          <a:prstGeom prst="rect">
            <a:avLst/>
          </a:prstGeom>
        </p:spPr>
      </p:pic>
      <p:sp>
        <p:nvSpPr>
          <p:cNvPr id="25" name="TEXT: 退款：先限定场景，再检查前提"/>
          <p:cNvSpPr txBox="1"/>
          <p:nvPr/>
        </p:nvSpPr>
        <p:spPr>
          <a:xfrm>
            <a:off x="6940296" y="4288536"/>
            <a:ext cx="447141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退款：先限定场景，再检查前提</a:t>
            </a:r>
          </a:p>
        </p:txBody>
      </p:sp>
      <p:sp>
        <p:nvSpPr>
          <p:cNvPr id="26" name="TEXT: 地址验证 → 人工审批 → 执行资格； 覆盖缺失、冲突、风险优先等反例。"/>
          <p:cNvSpPr txBox="1"/>
          <p:nvPr/>
        </p:nvSpPr>
        <p:spPr>
          <a:xfrm>
            <a:off x="6419088" y="4882896"/>
            <a:ext cx="4956048" cy="70408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地址验证 → 人工审批 → 执行资格；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覆盖缺失、冲突、风险优先等反例。</a:t>
            </a:r>
          </a:p>
        </p:txBody>
      </p:sp>
      <p:sp>
        <p:nvSpPr>
          <p:cNvPr id="27" name="TEXT: 这是后续实验方案，未宣称已提升效果；参考与真实执行保护必须独立于模型输出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这是后续实验方案，未宣称已提升效果；参考与真实执行保护必须独立于模型输出。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0" name="TEXT: 26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7 / 领域微调方案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07 / 领域微调方案</a:t>
            </a:r>
          </a:p>
        </p:txBody>
      </p:sp>
      <p:sp>
        <p:nvSpPr>
          <p:cNvPr id="3" name="TEXT: 需要微调时：训练决策能力，不只训练 JSON 外形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需要微调时：训练决策能力，不只训练 JSON 外形</a:t>
            </a:r>
          </a:p>
        </p:txBody>
      </p:sp>
      <p:sp>
        <p:nvSpPr>
          <p:cNvPr id="4" name="TEXT: 沿用官方训练链路，适配 LoRA 与 Pointer Head；先准备独立领域评测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沿用官方训练链路，适配 LoRA 与 Pointer Head；先准备独立领域评测。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23160"/>
            <a:ext cx="365760" cy="365760"/>
          </a:xfrm>
          <a:prstGeom prst="rect">
            <a:avLst/>
          </a:prstGeom>
        </p:spPr>
      </p:pic>
      <p:sp>
        <p:nvSpPr>
          <p:cNvPr id="7" name="TEXT: 领域样本"/>
          <p:cNvSpPr txBox="1"/>
          <p:nvPr/>
        </p:nvSpPr>
        <p:spPr>
          <a:xfrm>
            <a:off x="1316736" y="2404872"/>
            <a:ext cx="16504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领域样本</a:t>
            </a:r>
          </a:p>
        </p:txBody>
      </p:sp>
      <p:sp>
        <p:nvSpPr>
          <p:cNvPr id="8" name="TEXT: 真实案件去标识 覆盖正常与困难反例"/>
          <p:cNvSpPr txBox="1"/>
          <p:nvPr/>
        </p:nvSpPr>
        <p:spPr>
          <a:xfrm>
            <a:off x="79552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真实案件去标识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覆盖正常与困难反例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8396" y="3154680"/>
            <a:ext cx="201167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6139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heads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308" y="2423160"/>
            <a:ext cx="365760" cy="365760"/>
          </a:xfrm>
          <a:prstGeom prst="rect">
            <a:avLst/>
          </a:prstGeom>
        </p:spPr>
      </p:pic>
      <p:sp>
        <p:nvSpPr>
          <p:cNvPr id="12" name="TEXT: 人工标注"/>
          <p:cNvSpPr txBox="1"/>
          <p:nvPr/>
        </p:nvSpPr>
        <p:spPr>
          <a:xfrm>
            <a:off x="4128515" y="2404872"/>
            <a:ext cx="16504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人工标注</a:t>
            </a:r>
          </a:p>
        </p:txBody>
      </p:sp>
      <p:sp>
        <p:nvSpPr>
          <p:cNvPr id="13" name="TEXT: 正确候选 / 判断依据 教师模型只辅助"/>
          <p:cNvSpPr txBox="1"/>
          <p:nvPr/>
        </p:nvSpPr>
        <p:spPr>
          <a:xfrm>
            <a:off x="360730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正确候选 / 判断依据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教师模型只辅助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0176" y="3154680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brain-circui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423160"/>
            <a:ext cx="365760" cy="365760"/>
          </a:xfrm>
          <a:prstGeom prst="rect">
            <a:avLst/>
          </a:prstGeom>
        </p:spPr>
      </p:pic>
      <p:sp>
        <p:nvSpPr>
          <p:cNvPr id="17" name="TEXT: 参数适配"/>
          <p:cNvSpPr txBox="1"/>
          <p:nvPr/>
        </p:nvSpPr>
        <p:spPr>
          <a:xfrm>
            <a:off x="6940296" y="2404872"/>
            <a:ext cx="16504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参数适配</a:t>
            </a:r>
          </a:p>
        </p:txBody>
      </p:sp>
      <p:sp>
        <p:nvSpPr>
          <p:cNvPr id="18" name="TEXT: LoRA + 候选评分头 沿用类型化决策目标"/>
          <p:cNvSpPr txBox="1"/>
          <p:nvPr/>
        </p:nvSpPr>
        <p:spPr>
          <a:xfrm>
            <a:off x="641908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+ 候选评分头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沿用类型化决策目标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91955" y="3154680"/>
            <a:ext cx="201169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9700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lipboard-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868" y="2423160"/>
            <a:ext cx="365760" cy="365760"/>
          </a:xfrm>
          <a:prstGeom prst="rect">
            <a:avLst/>
          </a:prstGeom>
        </p:spPr>
      </p:pic>
      <p:sp>
        <p:nvSpPr>
          <p:cNvPr id="22" name="TEXT: 独立评测"/>
          <p:cNvSpPr txBox="1"/>
          <p:nvPr/>
        </p:nvSpPr>
        <p:spPr>
          <a:xfrm>
            <a:off x="9752076" y="2404872"/>
            <a:ext cx="165049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独立评测</a:t>
            </a:r>
          </a:p>
        </p:txBody>
      </p:sp>
      <p:sp>
        <p:nvSpPr>
          <p:cNvPr id="23" name="TEXT: 保留集 + 校准 + 延迟 灰度验证与可回滚"/>
          <p:cNvSpPr txBox="1"/>
          <p:nvPr/>
        </p:nvSpPr>
        <p:spPr>
          <a:xfrm>
            <a:off x="923086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保留集 + 校准 + 延迟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灰度验证与可回滚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379976"/>
            <a:ext cx="5513832" cy="39319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必须守住的边界"/>
          <p:cNvSpPr txBox="1"/>
          <p:nvPr/>
        </p:nvSpPr>
        <p:spPr>
          <a:xfrm>
            <a:off x="685800" y="4457700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9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必须守住的边界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4379976"/>
            <a:ext cx="5550408" cy="39319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目的"/>
          <p:cNvSpPr txBox="1"/>
          <p:nvPr/>
        </p:nvSpPr>
        <p:spPr>
          <a:xfrm>
            <a:off x="6199632" y="4457700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9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目的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773168"/>
            <a:ext cx="551383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按案件、模板簇、时间切分"/>
          <p:cNvSpPr txBox="1"/>
          <p:nvPr/>
        </p:nvSpPr>
        <p:spPr>
          <a:xfrm>
            <a:off x="685800" y="4850892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按案件、模板簇、时间切分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4773168"/>
            <a:ext cx="555040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避免同义样本跨训练与测试集泄漏"/>
          <p:cNvSpPr txBox="1"/>
          <p:nvPr/>
        </p:nvSpPr>
        <p:spPr>
          <a:xfrm>
            <a:off x="6199632" y="4850892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避免同义样本跨训练与测试集泄漏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166360"/>
            <a:ext cx="5513832" cy="39319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保留通用任务与所有问题类型的回归集"/>
          <p:cNvSpPr txBox="1"/>
          <p:nvPr/>
        </p:nvSpPr>
        <p:spPr>
          <a:xfrm>
            <a:off x="685800" y="5244084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保留通用任务与所有问题类型的回归集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166360"/>
            <a:ext cx="5550408" cy="39319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防止领域改善伴随能力退化"/>
          <p:cNvSpPr txBox="1"/>
          <p:nvPr/>
        </p:nvSpPr>
        <p:spPr>
          <a:xfrm>
            <a:off x="6199632" y="5244084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防止领域改善伴随能力退化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5559552"/>
            <a:ext cx="551383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执行保护独立；上线前核验实际业务结果"/>
          <p:cNvSpPr txBox="1"/>
          <p:nvPr/>
        </p:nvSpPr>
        <p:spPr>
          <a:xfrm>
            <a:off x="685800" y="5637276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执行保护独立；上线前核验实际业务结果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5559552"/>
            <a:ext cx="555040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不把微调后的高置信选择直接当资金授权"/>
          <p:cNvSpPr txBox="1"/>
          <p:nvPr/>
        </p:nvSpPr>
        <p:spPr>
          <a:xfrm>
            <a:off x="6199632" y="5637276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不把微调后的高置信选择直接当资金授权</a:t>
            </a:r>
          </a:p>
        </p:txBody>
      </p:sp>
      <p:sp>
        <p:nvSpPr>
          <p:cNvPr id="40" name="TEXT: 当前演示没有修改模型权重；本页是下一阶段实施方法，尚无微调后的成绩或成本承诺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当前演示没有修改模型权重；本页是下一阶段实施方法，尚无微调后的成绩或成本承诺。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43" name="TEXT: 27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8 / 应用建议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08 / 应用建议</a:t>
            </a:r>
          </a:p>
        </p:txBody>
      </p:sp>
      <p:sp>
        <p:nvSpPr>
          <p:cNvPr id="3" name="TEXT: 落地方式：常见判断用小模型，复杂异常升级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落地方式：常见判断用小模型，复杂异常升级</a:t>
            </a:r>
          </a:p>
        </p:txBody>
      </p:sp>
      <p:sp>
        <p:nvSpPr>
          <p:cNvPr id="4" name="TEXT: 先按业务效果建立分流，再用真实用量评估总体成本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先按业务效果建立分流，再用真实用量评估总体成本。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3474720" cy="17190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68296"/>
            <a:ext cx="365760" cy="365760"/>
          </a:xfrm>
          <a:prstGeom prst="rect">
            <a:avLst/>
          </a:prstGeom>
        </p:spPr>
      </p:pic>
      <p:sp>
        <p:nvSpPr>
          <p:cNvPr id="7" name="TEXT: 业务请求"/>
          <p:cNvSpPr txBox="1"/>
          <p:nvPr/>
        </p:nvSpPr>
        <p:spPr>
          <a:xfrm>
            <a:off x="1316736" y="2350008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业务请求</a:t>
            </a:r>
          </a:p>
        </p:txBody>
      </p:sp>
      <p:sp>
        <p:nvSpPr>
          <p:cNvPr id="8" name="TEXT: 消息 + 经过核验的事实"/>
          <p:cNvSpPr txBox="1"/>
          <p:nvPr/>
        </p:nvSpPr>
        <p:spPr>
          <a:xfrm>
            <a:off x="795528" y="2944368"/>
            <a:ext cx="3072384" cy="8961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消息 + 经过核验的事实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05656" y="3054096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2194560"/>
            <a:ext cx="3474720" cy="17190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368296"/>
            <a:ext cx="365760" cy="365760"/>
          </a:xfrm>
          <a:prstGeom prst="rect">
            <a:avLst/>
          </a:prstGeom>
        </p:spPr>
      </p:pic>
      <p:sp>
        <p:nvSpPr>
          <p:cNvPr id="12" name="TEXT: 任务分流"/>
          <p:cNvSpPr txBox="1"/>
          <p:nvPr/>
        </p:nvSpPr>
        <p:spPr>
          <a:xfrm>
            <a:off x="5065776" y="2350008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任务分流</a:t>
            </a:r>
          </a:p>
        </p:txBody>
      </p:sp>
      <p:sp>
        <p:nvSpPr>
          <p:cNvPr id="13" name="TEXT: 明确、常见 → 小模型 复杂、冲突 → GPT / 人工"/>
          <p:cNvSpPr txBox="1"/>
          <p:nvPr/>
        </p:nvSpPr>
        <p:spPr>
          <a:xfrm>
            <a:off x="4544568" y="2944368"/>
            <a:ext cx="3072384" cy="8961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明确、常见 → 小模型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复杂、冲突 → GPT / 人工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4696" y="3054096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2194560"/>
            <a:ext cx="3474720" cy="17190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68296"/>
            <a:ext cx="365760" cy="365760"/>
          </a:xfrm>
          <a:prstGeom prst="rect">
            <a:avLst/>
          </a:prstGeom>
        </p:spPr>
      </p:pic>
      <p:sp>
        <p:nvSpPr>
          <p:cNvPr id="17" name="TEXT: 执行系统"/>
          <p:cNvSpPr txBox="1"/>
          <p:nvPr/>
        </p:nvSpPr>
        <p:spPr>
          <a:xfrm>
            <a:off x="8814816" y="2350008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执行系统</a:t>
            </a:r>
          </a:p>
        </p:txBody>
      </p:sp>
      <p:sp>
        <p:nvSpPr>
          <p:cNvPr id="18" name="TEXT: 检查条件、权限与账本 记录结果，反馈再判断"/>
          <p:cNvSpPr txBox="1"/>
          <p:nvPr/>
        </p:nvSpPr>
        <p:spPr>
          <a:xfrm>
            <a:off x="8293608" y="2944368"/>
            <a:ext cx="3072384" cy="8961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检查条件、权限与账本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记录结果，反馈再判断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3328416" cy="1783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质量"/>
          <p:cNvSpPr txBox="1"/>
          <p:nvPr/>
        </p:nvSpPr>
        <p:spPr>
          <a:xfrm>
            <a:off x="841247" y="4398264"/>
            <a:ext cx="296265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质量</a:t>
            </a:r>
          </a:p>
        </p:txBody>
      </p:sp>
      <p:sp>
        <p:nvSpPr>
          <p:cNvPr id="21" name="TEXT: 按场景错误率 高风险误放行 校准与自动化覆盖率"/>
          <p:cNvSpPr txBox="1"/>
          <p:nvPr/>
        </p:nvSpPr>
        <p:spPr>
          <a:xfrm>
            <a:off x="841247" y="4992624"/>
            <a:ext cx="2926080" cy="9601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按场景错误率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高风险误放行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校准与自动化覆盖率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242816"/>
            <a:ext cx="3328416" cy="1783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性能"/>
          <p:cNvSpPr txBox="1"/>
          <p:nvPr/>
        </p:nvSpPr>
        <p:spPr>
          <a:xfrm>
            <a:off x="4636007" y="4398264"/>
            <a:ext cx="296265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性能</a:t>
            </a:r>
          </a:p>
        </p:txBody>
      </p:sp>
      <p:sp>
        <p:nvSpPr>
          <p:cNvPr id="24" name="TEXT: 同任务重复测量 p50 / p95 / p99 吞吐、失败与超时"/>
          <p:cNvSpPr txBox="1"/>
          <p:nvPr/>
        </p:nvSpPr>
        <p:spPr>
          <a:xfrm>
            <a:off x="4636007" y="4992624"/>
            <a:ext cx="2926080" cy="9601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同任务重复测量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p50 / p95 / p99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吞吐、失败与超时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242816"/>
            <a:ext cx="3328416" cy="1783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业务与成本"/>
          <p:cNvSpPr txBox="1"/>
          <p:nvPr/>
        </p:nvSpPr>
        <p:spPr>
          <a:xfrm>
            <a:off x="8430768" y="4398264"/>
            <a:ext cx="2962655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业务与成本</a:t>
            </a:r>
          </a:p>
        </p:txBody>
      </p:sp>
      <p:sp>
        <p:nvSpPr>
          <p:cNvPr id="27" name="TEXT: 实际完成率与人工介入 常驻 GPU 利用率 托管用量与基础设施"/>
          <p:cNvSpPr txBox="1"/>
          <p:nvPr/>
        </p:nvSpPr>
        <p:spPr>
          <a:xfrm>
            <a:off x="8430768" y="4992624"/>
            <a:ext cx="2926080" cy="9601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实际完成率与人工介入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常驻 GPU 利用率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托管用量与基础设施</a:t>
            </a:r>
          </a:p>
        </p:txBody>
      </p:sp>
      <p:sp>
        <p:nvSpPr>
          <p:cNvPr id="28" name="TEXT: 置信度阈值应在独立业务集上校准；高置信也可能出错，执行保护始终独立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置信度阈值应在独立业务集上校准；高置信也可能出错，执行保护始终独立。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1" name="TEXT: 28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8 / 结论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08 / 结论</a:t>
            </a:r>
          </a:p>
        </p:txBody>
      </p:sp>
      <p:sp>
        <p:nvSpPr>
          <p:cNvPr id="3" name="TEXT: 总结：同时看速度、选择和真实业务结果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总结：同时看速度、选择和真实业务结果</a:t>
            </a:r>
          </a:p>
        </p:txBody>
      </p:sp>
      <p:sp>
        <p:nvSpPr>
          <p:cNvPr id="4" name="TEXT: 公开基准帮助选型；项目实测解释行为；独立评测验证优化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公开基准帮助选型；项目实测解释行为；独立评测验证优化。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94560"/>
            <a:ext cx="2560320" cy="649224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模型"/>
          <p:cNvSpPr txBox="1"/>
          <p:nvPr/>
        </p:nvSpPr>
        <p:spPr>
          <a:xfrm>
            <a:off x="685800" y="2272284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79" y="2194560"/>
            <a:ext cx="3703320" cy="649224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当前观察"/>
          <p:cNvSpPr txBox="1"/>
          <p:nvPr/>
        </p:nvSpPr>
        <p:spPr>
          <a:xfrm>
            <a:off x="3246120" y="2272284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当前观察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194560"/>
            <a:ext cx="4800600" cy="649224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适合继续验证的方向"/>
          <p:cNvSpPr txBox="1"/>
          <p:nvPr/>
        </p:nvSpPr>
        <p:spPr>
          <a:xfrm>
            <a:off x="6949440" y="2272284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适合继续验证的方向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2560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Strands Decider"/>
          <p:cNvSpPr txBox="1"/>
          <p:nvPr/>
        </p:nvSpPr>
        <p:spPr>
          <a:xfrm>
            <a:off x="685800" y="2921508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79" y="2843784"/>
            <a:ext cx="3703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102.2 ms / 次 · 18/20"/>
          <p:cNvSpPr txBox="1"/>
          <p:nvPr/>
        </p:nvSpPr>
        <p:spPr>
          <a:xfrm>
            <a:off x="3246120" y="2921508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102.2 ms / 次 · 18/20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843784"/>
            <a:ext cx="480060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可自行部署的高频有限判断"/>
          <p:cNvSpPr txBox="1"/>
          <p:nvPr/>
        </p:nvSpPr>
        <p:spPr>
          <a:xfrm>
            <a:off x="6949440" y="2921508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可自行部署的高频有限判断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493008"/>
            <a:ext cx="2560320" cy="649224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Jev 1.13.0"/>
          <p:cNvSpPr txBox="1"/>
          <p:nvPr/>
        </p:nvSpPr>
        <p:spPr>
          <a:xfrm>
            <a:off x="685800" y="3570732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79" y="3493008"/>
            <a:ext cx="3703320" cy="649224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416.5 ms / 次 · 20/20"/>
          <p:cNvSpPr txBox="1"/>
          <p:nvPr/>
        </p:nvSpPr>
        <p:spPr>
          <a:xfrm>
            <a:off x="3246120" y="3570732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416.5 ms / 次 · 20/20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493008"/>
            <a:ext cx="4800600" cy="649224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托管决策、概率与接入成本"/>
          <p:cNvSpPr txBox="1"/>
          <p:nvPr/>
        </p:nvSpPr>
        <p:spPr>
          <a:xfrm>
            <a:off x="6949440" y="3570732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托管决策、概率与接入成本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142231"/>
            <a:ext cx="2560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GPT-6.1 Sol"/>
          <p:cNvSpPr txBox="1"/>
          <p:nvPr/>
        </p:nvSpPr>
        <p:spPr>
          <a:xfrm>
            <a:off x="685800" y="4219955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79" y="4142231"/>
            <a:ext cx="3703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1116.7 ms / 次 · 20/20"/>
          <p:cNvSpPr txBox="1"/>
          <p:nvPr/>
        </p:nvSpPr>
        <p:spPr>
          <a:xfrm>
            <a:off x="3246120" y="4219955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1116.7 ms / 次 · 20/20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4142231"/>
            <a:ext cx="480060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复杂语义、异常处理和开放式生成"/>
          <p:cNvSpPr txBox="1"/>
          <p:nvPr/>
        </p:nvSpPr>
        <p:spPr>
          <a:xfrm>
            <a:off x="6949440" y="4219955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复杂语义、异常处理和开放式生成</a:t>
            </a:r>
          </a:p>
        </p:txBody>
      </p:sp>
      <p:sp>
        <p:nvSpPr>
          <p:cNvPr id="29" name="TEXT: 已验证：输入优化改善选择"/>
          <p:cNvSpPr txBox="1"/>
          <p:nvPr/>
        </p:nvSpPr>
        <p:spPr>
          <a:xfrm>
            <a:off x="749808" y="5138928"/>
            <a:ext cx="539496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已验证：输入优化改善选择</a:t>
            </a:r>
          </a:p>
        </p:txBody>
      </p:sp>
      <p:sp>
        <p:nvSpPr>
          <p:cNvPr id="30" name="TEXT: 待验证：领域微调与生产收益"/>
          <p:cNvSpPr txBox="1"/>
          <p:nvPr/>
        </p:nvSpPr>
        <p:spPr>
          <a:xfrm>
            <a:off x="6291072" y="5138928"/>
            <a:ext cx="530352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待验证：领域微调与生产收益</a:t>
            </a:r>
          </a:p>
        </p:txBody>
      </p:sp>
      <p:sp>
        <p:nvSpPr>
          <p:cNvPr id="31" name="TEXT: 本批次 20 个不同任务，不代表通用准确率或稳定延迟；四个初始场景均需外部条件才能完成资金业务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本批次 20 个不同任务，不代表通用准确率或稳定延迟；四个初始场景均需外部条件才能完成资金业务。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4" name="TEXT: 29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8 / 演示与复现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08 / 演示与复现</a:t>
            </a:r>
          </a:p>
        </p:txBody>
      </p:sp>
      <p:sp>
        <p:nvSpPr>
          <p:cNvPr id="3" name="TEXT: 打开 Demo，查看三模型过程与原始记录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打开 Demo，查看三模型过程与原始记录</a:t>
            </a:r>
          </a:p>
        </p:txBody>
      </p:sp>
      <p:sp>
        <p:nvSpPr>
          <p:cNvPr id="4" name="TEXT: 从相同业务输入开始，核对每一步的建议、实际动作、耗时与最终结果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从相同业务输入开始，核对每一步的建议、实际动作、耗时与最终结果。</a:t>
            </a:r>
          </a:p>
        </p:txBody>
      </p:sp>
      <p:pic>
        <p:nvPicPr>
          <p:cNvPr id="5" name="ICON: Lucide workflow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50008"/>
            <a:ext cx="365760" cy="365760"/>
          </a:xfrm>
          <a:prstGeom prst="rect">
            <a:avLst/>
          </a:prstGeom>
        </p:spPr>
      </p:pic>
      <p:sp>
        <p:nvSpPr>
          <p:cNvPr id="6" name="TEXT: 在线 Demo"/>
          <p:cNvSpPr txBox="1"/>
          <p:nvPr/>
        </p:nvSpPr>
        <p:spPr>
          <a:xfrm>
            <a:off x="1207007" y="2322576"/>
            <a:ext cx="41148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在线 Demo</a:t>
            </a:r>
          </a:p>
        </p:txBody>
      </p:sp>
      <p:pic>
        <p:nvPicPr>
          <p:cNvPr id="7" name="IMAGE: demo-qr.png" descr="demo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35808"/>
            <a:ext cx="1645920" cy="1645920"/>
          </a:xfrm>
          <a:prstGeom prst="rect">
            <a:avLst/>
          </a:prstGeom>
        </p:spPr>
      </p:pic>
      <p:sp>
        <p:nvSpPr>
          <p:cNvPr id="8" name="TEXT: https://d3i7ogfx5ml7dc.cloudfront.net/#crypto"/>
          <p:cNvSpPr txBox="1"/>
          <p:nvPr/>
        </p:nvSpPr>
        <p:spPr>
          <a:xfrm>
            <a:off x="658368" y="5029200"/>
            <a:ext cx="5193792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https://d3i7ogfx5ml7dc.cloudfront.net/#crypto</a:t>
            </a:r>
          </a:p>
        </p:txBody>
      </p:sp>
      <p:sp>
        <p:nvSpPr>
          <p:cNvPr id="9" name="TEXT: 加密支付业务台 · 使用现有账号登录"/>
          <p:cNvSpPr txBox="1"/>
          <p:nvPr/>
        </p:nvSpPr>
        <p:spPr>
          <a:xfrm>
            <a:off x="2578608" y="3429000"/>
            <a:ext cx="3163824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加密支付业务台 · 使用现有账号登录</a:t>
            </a:r>
          </a:p>
        </p:txBody>
      </p:sp>
      <p:pic>
        <p:nvPicPr>
          <p:cNvPr id="10" name="ICON: Lucide code-xm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350008"/>
            <a:ext cx="365760" cy="365760"/>
          </a:xfrm>
          <a:prstGeom prst="rect">
            <a:avLst/>
          </a:prstGeom>
        </p:spPr>
      </p:pic>
      <p:sp>
        <p:nvSpPr>
          <p:cNvPr id="11" name="TEXT: GitHub Repo"/>
          <p:cNvSpPr txBox="1"/>
          <p:nvPr/>
        </p:nvSpPr>
        <p:spPr>
          <a:xfrm>
            <a:off x="6912864" y="2322576"/>
            <a:ext cx="41148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GitHub Repo</a:t>
            </a:r>
          </a:p>
        </p:txBody>
      </p:sp>
      <p:pic>
        <p:nvPicPr>
          <p:cNvPr id="12" name="IMAGE: repo-qr.png" descr="repo-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3035808"/>
            <a:ext cx="1645920" cy="1645920"/>
          </a:xfrm>
          <a:prstGeom prst="rect">
            <a:avLst/>
          </a:prstGeom>
        </p:spPr>
      </p:pic>
      <p:sp>
        <p:nvSpPr>
          <p:cNvPr id="13" name="TEXT: https://github.com/milan9527/StrandsDecider"/>
          <p:cNvSpPr txBox="1"/>
          <p:nvPr/>
        </p:nvSpPr>
        <p:spPr>
          <a:xfrm>
            <a:off x="6364224" y="5029200"/>
            <a:ext cx="5193792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https://github.com/milan9527/StrandsDecider</a:t>
            </a:r>
          </a:p>
        </p:txBody>
      </p:sp>
      <p:sp>
        <p:nvSpPr>
          <p:cNvPr id="14" name="TEXT: 公开仓库 · 架构、代码、资料与实测记录"/>
          <p:cNvSpPr txBox="1"/>
          <p:nvPr/>
        </p:nvSpPr>
        <p:spPr>
          <a:xfrm>
            <a:off x="8284464" y="3429000"/>
            <a:ext cx="3163824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公开仓库 · 架构、代码、资料与实测记录</a:t>
            </a:r>
          </a:p>
        </p:txBody>
      </p:sp>
      <p:sp>
        <p:nvSpPr>
          <p:cNvPr id="15" name="TEXT: 公开基准  benchmarkheaven.com/jev-models/api"/>
          <p:cNvSpPr txBox="1"/>
          <p:nvPr/>
        </p:nvSpPr>
        <p:spPr>
          <a:xfrm>
            <a:off x="685800" y="5769864"/>
            <a:ext cx="107899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公开基准  benchmarkheaven.com/jev-models/api</a:t>
            </a:r>
          </a:p>
        </p:txBody>
      </p:sp>
      <p:sp>
        <p:nvSpPr>
          <p:cNvPr id="16" name="TEXT: 原理来源：Strands 官方博客、官方模型卡、TypeSafe System One；完整链接与测量口径见逐页讲稿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原理来源：Strands 官方博客、官方模型卡、TypeSafe System One；完整链接与测量口径见逐页讲稿。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19" name="TEXT: 30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× Jev × GPT · 三模型与JevBench对比</dc:title>
  <dc:subject>决策模型原理、公开基准、四场景实测、行为差异与优化</dc:subject>
  <dc:creator>Strands Decider Demo</dc:creator>
  <cp:keywords>Strands Decider, AWS, SageMaker, Bedrock, 加密支付, 真实模型对比</cp:keywords>
  <dc:description>v8 reuses v7 with new prewarmed live measurements and linked benchmark sources.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