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参照原始25页文稿的模型目的、原理、场景、实测、结论主线重新组织。开头加入System One/Jev背景；闭环仅保留两页。仍为25页，BERT一页，无GPU提示。Jev只作模型类别与产品介绍，不参与本项目性能比较。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从原版第二页的高频重复、结构化输出和嵌入流程展开。这里的决策模型处理语义判断，并不代替确定性的金额运算、权限校验或业务状态机。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Strands官方把这种模型称为decision models或system one models。TypeSafe文档定义System One为对state返回typed answers与probabilities的模型。Choice、Noul、Score在两方材料中均有介绍。此页不展示虚构模型运行数字。输出结构受约束不代表判断一定正确；校准需在一组预测上评估，不能保证单条答案。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Jev是TypeSafe的旗舰System One模型，通过官方API/SDK调用。官方强调RLCD（Reinforcement Learning for Calibrated Decisions）、typed primitives与并行问题评估。Strands Decider是Strands Labs的开源2B实验模型，公开代码和权重，本项目使用v19自行部署。不能因此断言二者内部架构相同、API完全兼容、或Decider和Jev有相同性能。没有采用Jev营销页面的速度/成本倍数。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原版第三页的核心机制。模型移除语言模型词表生成头，使用答案位置和候选位置的隐藏表示，经归一化、投影和点积得到候选分数，再计算概率。候选从请求提供；choice取最高概率项。支持同一state的多个问题共享计算。单次请求评分的优势不等于整个多步业务只需一次模型调用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官方v19基于Qwen3.5-2B，配合LoRA和Pointer Head。答案位置与候选位置隐藏表示经投影、归一化和点积计算logits，按类型温度计算概率。GPT在本项目输出JSON，再由应用解析验证。两者都接受候选描述；GPT也可受限选择，不能泛化为必然输出长文。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BERT仅在此页概念比较，未部署或测速。常见BERT+固定分类头需要领域标签与监督适配。基于BERT的NLI或文本对模型也能按动态候选评分，因此动态候选不是Decider独有。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恢复原版第六页的六类应用，依据Strands官方博客。支付只是其中一个易于观察的演示载体，并非Decider或Jev专门面向金融。模型不负责执行资金操作。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CloudFront通过OAC访问私有S3，四项Block Public Access开启。API路径经VPC Origin到内网ALB再到ECS Fargate。后端直接调用SageMaker、Bedrock、DynamoDB。图中省略网络端点节点，认证是自建用户名密码而非Cognito。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四个固定案例覆盖129USDC未到账、100USDT订单少付0.20、250USDC退款和商户结算超时。五步都是模型选择候选，执行器决定实际状态。确认门槛12、SLA60分钟是演示参数。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照原版第11页。固定输入每一步双侧输入指纹一致，同步请求；收齐方案后独立执行。后续反馈模式各侧状态独立，不能把不同输入下的时延混为配对基准。成功时延含通信排队，不等于浏览器全程时间。当前最新基准19组成功配对，另有1次GPT超时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这是v2采集的真实固定输入第1轮截图。Decider91.831ms，GPT1169.203ms。输入指纹一致，原始模型选择和实际执行分别展示。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表中为真实5个同输入配对请求。橙色行显示Decider等待人工审批，而GPT规则检查通过。后续动作是固定输入独立选择，不表示读取了上一行执行结果。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ding.approve的候选概率：risk_review0.162、verify_destination0.0678、await_approval0.5854、approved0.1849。Decider取最高项await_approval；GPT生成approved。参考来自开发者策略reference()。这些可见数据不能证明模型内部为什么偏好该项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两个固定计划都处理5步，但此时没有资金账本且工单仍待跟进，因此不是业务完成。截图为原始fixed-final。客服回复为应用模板。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固定退款Decider在execute选择refund_payment，145.857ms，应用改为hold；GPT直接选择hold，1297.061ms。Decider还在close选择resolve，应用改为follow_up。此页截图为真实第4轮。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从v3六页收紧为两页。这里承接原版17至19页推进模拟交易的故事，反映当前自主反馈模式：每侧独立读状态、判断、执行、反馈，条件缺失时等待事件。确认数、地址验证和审批来自模拟器，模型不能制造外部证据。无效动作可有限重判，同节点连续两次无进展转人工；最多20决策/32tick。后续输入可能不同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C每侧6次决策、1事件，Decider570.140ms/GPT7268.536ms；退款每侧9次决策、2事件，Decider897.332ms/GPT10541.95ms。下方截图为同次真实退款最终结果。双方都complete=true，但Decider在过程中有不同原始选择及执行保护调整。成功结果不能消除这些差异。后续状态可能不同，这一页不是同输入配对基准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计入成功同输入配对的Decider1809.597ms、GPT22068.204ms，比值12.195093。均值95.242ms和1161.484ms。GPT另有一次ReadTimeoutError，失败不进入成功配对总时延，不能将该比值描述为全程用户体验或稳定性能保证。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四场景分别是5、5、5、4组配对。图中每一对条形比较同一子集。结算Decider还有一个成功处置请求，但对应GPT超时，因此也排除该Decider请求，保证配对口径。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按stage分别对paired=true的backend_total_ms取均值。客服、核验、审批、结案各4对，业务处置3对。没有跨不同请求数量比较累计值。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固定输入测试每侧尝试20次。Decider成功返回20次，GPT成功返回19次，其商户结算execute请求出现ReadTimeoutError。成功返回是获得有效选择，并非业务完成。速度与规则符合度只比较双方都成功的19组同输入请求；GPT失败对应的Decider成功请求也排除，保证双方使用相同记录。19组累计后端耗时为Decider1809.597ms、GPT22068.204ms，未包含失败等待。与开发者业务参考一致的次数为13/19与19/19，这不是通用准确率。例如普通收款无风险标记，无需退款人工审批，预设规则对应approved；该次Decider选择await_approval，GPT选择approved。商户结算中Decider处理五步后仍待跟进；GPT虽取得其他四步选择，但缺少完整方案，因此该侧本次未进入沙盒执行。本页分别解释调用成功、规则选择、实际执行；所有结论仅描述这一轮观测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本页是面向未来的组合建议，不是本项目已实现的路由功能。高频受限选择可评估Decider；复杂语义或开放式内容可使用GPT；金额权限账本最终校验由确定性代码承担。低confidence可辅助分流但需要业务校准。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24页文稿以模型价值、项目启示、下一步评估结尾。本版总结模型方向、本次实测及应用落地三层：决策模型面向有限判断，Decider在本次19组成功同输入配对中累计耗时低于GPT，但原始选择有差异。外部证据和执行校验仍由业务系统负责；不能把Jev官方营销结果或BERT推断混为本项目实测。下一步应按真实业务分布重复评估准确性、校准、吞吐与整体成本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给出用户要求的Demo和Repo完整可点击地址，二维码内容与地址一致。Demo需要现有用户名登录；GitHub仓库为私有仓库，需要访问权限。不在文稿中嵌入密码或GitHub令牌。官方资料和证据来源完整保存在各页备注及讲稿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Decider：官方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Relationship Id="rId8" Type="http://schemas.openxmlformats.org/officeDocument/2006/relationships/image" Target="../media/image18.png"/><Relationship Id="rId9" Type="http://schemas.openxmlformats.org/officeDocument/2006/relationships/image" Target="../media/image32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2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hyperlink" Target="https://d3i7ogfx5ml7dc.cloudfront.net/#crypto" TargetMode="External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hyperlink" Target="https://github.com/milan9527/StrandsDecider" TargetMode="External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决策模型与支付业务 / v4 · 25 页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决策模型与支付业务 / v4 · 25 页</a:t>
            </a:r>
          </a:p>
        </p:txBody>
      </p:sp>
      <p:sp>
        <p:nvSpPr>
          <p:cNvPr id="3" name="TEXT: 让小模型做好高频决策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让小模型做好高频决策</a:t>
            </a:r>
          </a:p>
        </p:txBody>
      </p:sp>
      <p:sp>
        <p:nvSpPr>
          <p:cNvPr id="4" name="TEXT: Strands Decider &amp; Jev：从模型范式，到 Decider × GPT 的真实演示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Strands Decider &amp; Jev：从模型范式，到 Decider × GPT 的真实演示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40080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9272"/>
            <a:ext cx="438912" cy="438912"/>
          </a:xfrm>
          <a:prstGeom prst="rect">
            <a:avLst/>
          </a:prstGeom>
        </p:spPr>
      </p:pic>
      <p:sp>
        <p:nvSpPr>
          <p:cNvPr id="7" name="TEXT: 认识决策模型"/>
          <p:cNvSpPr txBox="1"/>
          <p:nvPr/>
        </p:nvSpPr>
        <p:spPr>
          <a:xfrm>
            <a:off x="1252728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认识决策模型</a:t>
            </a:r>
          </a:p>
        </p:txBody>
      </p:sp>
      <p:sp>
        <p:nvSpPr>
          <p:cNvPr id="8" name="TEXT: Strands Decider / Jev 面向软件的有限判断"/>
          <p:cNvSpPr txBox="1"/>
          <p:nvPr/>
        </p:nvSpPr>
        <p:spPr>
          <a:xfrm>
            <a:off x="640080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Strands Decider / Jev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面向软件的有限判断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53128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workfl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3319272"/>
            <a:ext cx="438912" cy="438912"/>
          </a:xfrm>
          <a:prstGeom prst="rect">
            <a:avLst/>
          </a:prstGeom>
        </p:spPr>
      </p:pic>
      <p:sp>
        <p:nvSpPr>
          <p:cNvPr id="11" name="TEXT: 走进支付演示"/>
          <p:cNvSpPr txBox="1"/>
          <p:nvPr/>
        </p:nvSpPr>
        <p:spPr>
          <a:xfrm>
            <a:off x="5065776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走进支付演示</a:t>
            </a:r>
          </a:p>
        </p:txBody>
      </p:sp>
      <p:sp>
        <p:nvSpPr>
          <p:cNvPr id="12" name="TEXT: 同一业务输入 选择、速度与执行结果"/>
          <p:cNvSpPr txBox="1"/>
          <p:nvPr/>
        </p:nvSpPr>
        <p:spPr>
          <a:xfrm>
            <a:off x="4453128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同一业务输入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选择、速度与执行结果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66175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319272"/>
            <a:ext cx="438912" cy="438912"/>
          </a:xfrm>
          <a:prstGeom prst="rect">
            <a:avLst/>
          </a:prstGeom>
        </p:spPr>
      </p:pic>
      <p:sp>
        <p:nvSpPr>
          <p:cNvPr id="15" name="TEXT: 形成应用结论"/>
          <p:cNvSpPr txBox="1"/>
          <p:nvPr/>
        </p:nvSpPr>
        <p:spPr>
          <a:xfrm>
            <a:off x="8878824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形成应用结论</a:t>
            </a:r>
          </a:p>
        </p:txBody>
      </p:sp>
      <p:sp>
        <p:nvSpPr>
          <p:cNvPr id="16" name="TEXT: 哪些节点适合使用 怎样评估真实收益"/>
          <p:cNvSpPr txBox="1"/>
          <p:nvPr/>
        </p:nvSpPr>
        <p:spPr>
          <a:xfrm>
            <a:off x="8266175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哪些节点适合使用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怎样评估真实收益</a:t>
            </a:r>
          </a:p>
        </p:txBody>
      </p:sp>
      <p:sp>
        <p:nvSpPr>
          <p:cNvPr id="17" name="TEXT: 模型介绍 → 工作原理 → 支付对比 → 实测结论 · 2026.10.10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模型介绍 → 工作原理 → 支付对比 → 实测结论 · 2026.10.10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0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01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为什么需要决策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为什么需要决策模型</a:t>
            </a:r>
          </a:p>
        </p:txBody>
      </p:sp>
      <p:sp>
        <p:nvSpPr>
          <p:cNvPr id="3" name="TEXT: 软件流程，需要大量小而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软件流程，需要大量小而明确的判断</a:t>
            </a:r>
          </a:p>
        </p:txBody>
      </p:sp>
      <p:sp>
        <p:nvSpPr>
          <p:cNvPr id="4" name="TEXT: 选哪个队列？调用哪个工具？证据是否足够继续？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选哪个队列？调用哪个工具？证据是否足够继续？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7" name="TEXT: 接收请求"/>
          <p:cNvSpPr txBox="1"/>
          <p:nvPr/>
        </p:nvSpPr>
        <p:spPr>
          <a:xfrm>
            <a:off x="1207008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接收请求</a:t>
            </a:r>
          </a:p>
        </p:txBody>
      </p:sp>
      <p:sp>
        <p:nvSpPr>
          <p:cNvPr id="8" name="TEXT: 客户消息 / 当前状态"/>
          <p:cNvSpPr txBox="1"/>
          <p:nvPr/>
        </p:nvSpPr>
        <p:spPr>
          <a:xfrm>
            <a:off x="749808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/ 当前状态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96" y="2377440"/>
            <a:ext cx="347472" cy="347472"/>
          </a:xfrm>
          <a:prstGeom prst="rect">
            <a:avLst/>
          </a:prstGeom>
        </p:spPr>
      </p:pic>
      <p:sp>
        <p:nvSpPr>
          <p:cNvPr id="12" name="TEXT: 选择路径"/>
          <p:cNvSpPr txBox="1"/>
          <p:nvPr/>
        </p:nvSpPr>
        <p:spPr>
          <a:xfrm>
            <a:off x="4959096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选择路径</a:t>
            </a:r>
          </a:p>
        </p:txBody>
      </p:sp>
      <p:sp>
        <p:nvSpPr>
          <p:cNvPr id="13" name="TEXT: 队列 / 工具 / 下一步"/>
          <p:cNvSpPr txBox="1"/>
          <p:nvPr/>
        </p:nvSpPr>
        <p:spPr>
          <a:xfrm>
            <a:off x="4501896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 / 工具 / 下一步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984" y="2377440"/>
            <a:ext cx="347472" cy="347472"/>
          </a:xfrm>
          <a:prstGeom prst="rect">
            <a:avLst/>
          </a:prstGeom>
        </p:spPr>
      </p:pic>
      <p:sp>
        <p:nvSpPr>
          <p:cNvPr id="17" name="TEXT: 检查结果"/>
          <p:cNvSpPr txBox="1"/>
          <p:nvPr/>
        </p:nvSpPr>
        <p:spPr>
          <a:xfrm>
            <a:off x="8711184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8" name="TEXT: 是否完成 / 是否升级"/>
          <p:cNvSpPr txBox="1"/>
          <p:nvPr/>
        </p:nvSpPr>
        <p:spPr>
          <a:xfrm>
            <a:off x="8253984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是否完成 / 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416552"/>
            <a:ext cx="393192" cy="393192"/>
          </a:xfrm>
          <a:prstGeom prst="rect">
            <a:avLst/>
          </a:prstGeom>
        </p:spPr>
      </p:pic>
      <p:sp>
        <p:nvSpPr>
          <p:cNvPr id="21" name="TEXT: 这些判断的共同点"/>
          <p:cNvSpPr txBox="1"/>
          <p:nvPr/>
        </p:nvSpPr>
        <p:spPr>
          <a:xfrm>
            <a:off x="134416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这些判断的共同点</a:t>
            </a:r>
          </a:p>
        </p:txBody>
      </p:sp>
      <p:sp>
        <p:nvSpPr>
          <p:cNvPr id="22" name="TEXT: 候选明确、频繁调用、结果被代码消费"/>
          <p:cNvSpPr txBox="1"/>
          <p:nvPr/>
        </p:nvSpPr>
        <p:spPr>
          <a:xfrm>
            <a:off x="80467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候选明确、频繁调用、结果被代码消费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time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416552"/>
            <a:ext cx="393192" cy="393192"/>
          </a:xfrm>
          <a:prstGeom prst="rect">
            <a:avLst/>
          </a:prstGeom>
        </p:spPr>
      </p:pic>
      <p:sp>
        <p:nvSpPr>
          <p:cNvPr id="25" name="TEXT: 决策模型的目标"/>
          <p:cNvSpPr txBox="1"/>
          <p:nvPr/>
        </p:nvSpPr>
        <p:spPr>
          <a:xfrm>
            <a:off x="696772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决策模型的目标</a:t>
            </a:r>
          </a:p>
        </p:txBody>
      </p:sp>
      <p:sp>
        <p:nvSpPr>
          <p:cNvPr id="26" name="TEXT: 用受约束的输出，降低判断开销"/>
          <p:cNvSpPr txBox="1"/>
          <p:nvPr/>
        </p:nvSpPr>
        <p:spPr>
          <a:xfrm>
            <a:off x="642823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用受约束的输出，降低判断开销</a:t>
            </a:r>
          </a:p>
        </p:txBody>
      </p:sp>
      <p:sp>
        <p:nvSpPr>
          <p:cNvPr id="27" name="TEXT: 自然语言理解与路径选择交给模型；金额、权限与执行前提由代码核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自然语言理解与路径选择交给模型；金额、权限与执行前提由代码核验。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0" name="TEXT: 0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Decision Models · System One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Decision Models · System One</a:t>
            </a:r>
          </a:p>
        </p:txBody>
      </p:sp>
      <p:sp>
        <p:nvSpPr>
          <p:cNvPr id="3" name="TEXT: 决策模型：状态输入，类型化答案输出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决策模型：状态输入，类型化答案输出</a:t>
            </a:r>
          </a:p>
        </p:txBody>
      </p:sp>
      <p:sp>
        <p:nvSpPr>
          <p:cNvPr id="4" name="TEXT: 把一个复杂流程拆成明确问题，再在应用代码中组合答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把一个复杂流程拆成明确问题，再在应用代码中组合答案。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2029968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输入：业务状态 + 问题 + 候选或判断条件"/>
          <p:cNvSpPr txBox="1"/>
          <p:nvPr/>
        </p:nvSpPr>
        <p:spPr>
          <a:xfrm>
            <a:off x="1362456" y="2080260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共享输入：业务状态 + 问题 + 候选或判断条件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80360"/>
            <a:ext cx="393192" cy="393192"/>
          </a:xfrm>
          <a:prstGeom prst="rect">
            <a:avLst/>
          </a:prstGeom>
        </p:spPr>
      </p:pic>
      <p:sp>
        <p:nvSpPr>
          <p:cNvPr id="9" name="TEXT: Choice · 多选一"/>
          <p:cNvSpPr txBox="1"/>
          <p:nvPr/>
        </p:nvSpPr>
        <p:spPr>
          <a:xfrm>
            <a:off x="1344168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10" name="TEXT: 该交给哪个客服队列？  支付 / 退款 / 商户运营"/>
          <p:cNvSpPr txBox="1"/>
          <p:nvPr/>
        </p:nvSpPr>
        <p:spPr>
          <a:xfrm>
            <a:off x="804672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该交给哪个客服队列？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 / 退款 / 商户运营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393192" cy="393192"/>
          </a:xfrm>
          <a:prstGeom prst="rect">
            <a:avLst/>
          </a:prstGeom>
        </p:spPr>
      </p:pic>
      <p:sp>
        <p:nvSpPr>
          <p:cNvPr id="13" name="TEXT: Noul · 是 / 否"/>
          <p:cNvSpPr txBox="1"/>
          <p:nvPr/>
        </p:nvSpPr>
        <p:spPr>
          <a:xfrm>
            <a:off x="5120640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退款诉求？  返回 P(true)"/>
          <p:cNvSpPr txBox="1"/>
          <p:nvPr/>
        </p:nvSpPr>
        <p:spPr>
          <a:xfrm>
            <a:off x="4581144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是否表达了退款诉求？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 P(true)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hart-no-axes-combine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880360"/>
            <a:ext cx="393192" cy="393192"/>
          </a:xfrm>
          <a:prstGeom prst="rect">
            <a:avLst/>
          </a:prstGeom>
        </p:spPr>
      </p:pic>
      <p:sp>
        <p:nvSpPr>
          <p:cNvPr id="17" name="TEXT: Score · 有序评分"/>
          <p:cNvSpPr txBox="1"/>
          <p:nvPr/>
        </p:nvSpPr>
        <p:spPr>
          <a:xfrm>
            <a:off x="8897112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Score · 有序评分</a:t>
            </a:r>
          </a:p>
        </p:txBody>
      </p:sp>
      <p:sp>
        <p:nvSpPr>
          <p:cNvPr id="18" name="TEXT: 这条请求有多紧急？  在定义好的等级上评分"/>
          <p:cNvSpPr txBox="1"/>
          <p:nvPr/>
        </p:nvSpPr>
        <p:spPr>
          <a:xfrm>
            <a:off x="8357616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这条请求有多紧急？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在定义好的等级上评分</a:t>
            </a:r>
          </a:p>
        </p:txBody>
      </p:sp>
      <p:sp>
        <p:nvSpPr>
          <p:cNvPr id="19" name="TEXT: 输出类型受约束 ≠ 业务判断必然正确；概率与置信度需要结合业务数据验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输出类型受约束 ≠ 业务判断必然正确；概率与置信度需要结合业务数据验证。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2" name="TEXT: 0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代表性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代表性模型</a:t>
            </a:r>
          </a:p>
        </p:txBody>
      </p:sp>
      <p:sp>
        <p:nvSpPr>
          <p:cNvPr id="3" name="TEXT: Jev 与 Strands Decider：同一方向，两种实现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与 Strands Decider：同一方向，两种实现</a:t>
            </a:r>
          </a:p>
        </p:txBody>
      </p:sp>
      <p:sp>
        <p:nvSpPr>
          <p:cNvPr id="4" name="TEXT: 共同强调快速、结构化的判断，以及可供程序使用的概率信息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共同强调快速、结构化的判断，以及可供程序使用的概率信息。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5349240" cy="3017520"/>
          </a:xfrm>
          <a:prstGeom prst="roundRect">
            <a:avLst>
              <a:gd name="adj" fmla="val 13000"/>
            </a:avLst>
          </a:prstGeom>
          <a:solidFill>
            <a:srgbClr val="F3EEFA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brain-circui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87168"/>
            <a:ext cx="393192" cy="393192"/>
          </a:xfrm>
          <a:prstGeom prst="rect">
            <a:avLst/>
          </a:prstGeom>
        </p:spPr>
      </p:pic>
      <p:sp>
        <p:nvSpPr>
          <p:cNvPr id="7" name="TEXT: Jev / TypeSafe"/>
          <p:cNvSpPr txBox="1"/>
          <p:nvPr/>
        </p:nvSpPr>
        <p:spPr>
          <a:xfrm>
            <a:off x="1344168" y="2496312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/ TypeSafe</a:t>
            </a:r>
          </a:p>
        </p:txBody>
      </p:sp>
      <p:sp>
        <p:nvSpPr>
          <p:cNvPr id="8" name="TEXT: System One 模型 · 官方 API / SDK 强调校准决策训练（RLCD） 类型化输出与多问题并行评估"/>
          <p:cNvSpPr txBox="1"/>
          <p:nvPr/>
        </p:nvSpPr>
        <p:spPr>
          <a:xfrm>
            <a:off x="804672" y="3136392"/>
            <a:ext cx="4928616" cy="2084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System One 模型 · 官方 API / SDK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强调校准决策训练（RLCD）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类型化输出与多问题并行评估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49240" cy="30175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487168"/>
            <a:ext cx="393192" cy="393192"/>
          </a:xfrm>
          <a:prstGeom prst="rect">
            <a:avLst/>
          </a:prstGeom>
        </p:spPr>
      </p:pic>
      <p:sp>
        <p:nvSpPr>
          <p:cNvPr id="11" name="TEXT: Strands Decider / Strands Labs"/>
          <p:cNvSpPr txBox="1"/>
          <p:nvPr/>
        </p:nvSpPr>
        <p:spPr>
          <a:xfrm>
            <a:off x="6967728" y="2496312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/ Strands Labs</a:t>
            </a:r>
          </a:p>
        </p:txBody>
      </p:sp>
      <p:sp>
        <p:nvSpPr>
          <p:cNvPr id="12" name="TEXT: 开源 2B 决策模型 · 代码与权重公开 轻量模型主体 + Pointer Head 面向实验，可本地或自行部署"/>
          <p:cNvSpPr txBox="1"/>
          <p:nvPr/>
        </p:nvSpPr>
        <p:spPr>
          <a:xfrm>
            <a:off x="6428232" y="3136392"/>
            <a:ext cx="4928616" cy="2084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开源 2B 决策模型 · 代码与权重公开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轻量模型主体 + 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面向实验，可本地或自行部署</a:t>
            </a:r>
          </a:p>
        </p:txBody>
      </p:sp>
      <p:sp>
        <p:nvSpPr>
          <p:cNvPr id="13" name="TEXT: Jev 为产品背景介绍；本项目实测的是 Strands Decider 与 GPT，没有接入 Jev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为产品背景介绍；本项目实测的是 Strands Decider 与 GPT，没有接入 Jev。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6" name="TEXT: 0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模型原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模型原理</a:t>
            </a:r>
          </a:p>
        </p:txBody>
      </p:sp>
      <p:sp>
        <p:nvSpPr>
          <p:cNvPr id="3" name="TEXT: Strands Decider：用候选评分头完成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Decider：用候选评分头完成选择</a:t>
            </a:r>
          </a:p>
        </p:txBody>
      </p:sp>
      <p:sp>
        <p:nvSpPr>
          <p:cNvPr id="4" name="TEXT: 官方 v19：Qwen3.5-2B-Base + rank-16 LoRA + Pointer Head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v19：Qwen3.5-2B-Base + rank-16 LoRA + Pointer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96312"/>
            <a:ext cx="347472" cy="347472"/>
          </a:xfrm>
          <a:prstGeom prst="rect">
            <a:avLst/>
          </a:prstGeom>
        </p:spPr>
      </p:pic>
      <p:sp>
        <p:nvSpPr>
          <p:cNvPr id="7" name="TEXT: 输入业务"/>
          <p:cNvSpPr txBox="1"/>
          <p:nvPr/>
        </p:nvSpPr>
        <p:spPr>
          <a:xfrm>
            <a:off x="1207008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输入业务</a:t>
            </a:r>
          </a:p>
        </p:txBody>
      </p:sp>
      <p:sp>
        <p:nvSpPr>
          <p:cNvPr id="8" name="TEXT: state / question criteria / 候选"/>
          <p:cNvSpPr txBox="1"/>
          <p:nvPr/>
        </p:nvSpPr>
        <p:spPr>
          <a:xfrm>
            <a:off x="749808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criteria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496312"/>
            <a:ext cx="347472" cy="347472"/>
          </a:xfrm>
          <a:prstGeom prst="rect">
            <a:avLst/>
          </a:prstGeom>
        </p:spPr>
      </p:pic>
      <p:sp>
        <p:nvSpPr>
          <p:cNvPr id="12" name="TEXT: 模型主体"/>
          <p:cNvSpPr txBox="1"/>
          <p:nvPr/>
        </p:nvSpPr>
        <p:spPr>
          <a:xfrm>
            <a:off x="4021074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模型主体</a:t>
            </a:r>
          </a:p>
        </p:txBody>
      </p:sp>
      <p:sp>
        <p:nvSpPr>
          <p:cNvPr id="13" name="TEXT: Qwen3.5-2B LoRA 任务适配"/>
          <p:cNvSpPr txBox="1"/>
          <p:nvPr/>
        </p:nvSpPr>
        <p:spPr>
          <a:xfrm>
            <a:off x="3563874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任务适配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list-fil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496312"/>
            <a:ext cx="347472" cy="347472"/>
          </a:xfrm>
          <a:prstGeom prst="rect">
            <a:avLst/>
          </a:prstGeom>
        </p:spPr>
      </p:pic>
      <p:sp>
        <p:nvSpPr>
          <p:cNvPr id="17" name="TEXT: 候选评分"/>
          <p:cNvSpPr txBox="1"/>
          <p:nvPr/>
        </p:nvSpPr>
        <p:spPr>
          <a:xfrm>
            <a:off x="6835140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Pointer Head 候选位置 ↔ 答案位置"/>
          <p:cNvSpPr txBox="1"/>
          <p:nvPr/>
        </p:nvSpPr>
        <p:spPr>
          <a:xfrm>
            <a:off x="6377940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答案位置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496312"/>
            <a:ext cx="347472" cy="347472"/>
          </a:xfrm>
          <a:prstGeom prst="rect">
            <a:avLst/>
          </a:prstGeom>
        </p:spPr>
      </p:pic>
      <p:sp>
        <p:nvSpPr>
          <p:cNvPr id="22" name="TEXT: 输出决策"/>
          <p:cNvSpPr txBox="1"/>
          <p:nvPr/>
        </p:nvSpPr>
        <p:spPr>
          <a:xfrm>
            <a:off x="9649206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输出决策</a:t>
            </a:r>
          </a:p>
        </p:txBody>
      </p:sp>
      <p:sp>
        <p:nvSpPr>
          <p:cNvPr id="23" name="TEXT: 选择 / 分布 概率 / 置信信息"/>
          <p:cNvSpPr txBox="1"/>
          <p:nvPr/>
        </p:nvSpPr>
        <p:spPr>
          <a:xfrm>
            <a:off x="9192006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 / 置信信息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6736" y="459943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对当前候选直接评分，减少逐 token 文本生成"/>
          <p:cNvSpPr txBox="1"/>
          <p:nvPr/>
        </p:nvSpPr>
        <p:spPr>
          <a:xfrm>
            <a:off x="1362456" y="464972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对当前候选直接评分，减少逐 token 文本生成</a:t>
            </a:r>
          </a:p>
        </p:txBody>
      </p:sp>
      <p:sp>
        <p:nvSpPr>
          <p:cNvPr id="26" name="TEXT: 适合明确、聚焦的判断；开放式写作与复杂长链推理，需要不同模型能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适合明确、聚焦的判断；开放式写作与复杂长链推理，需要不同模型能力。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9" name="TEXT: 0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同样的候选，走两条决策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同样的候选，走两条决策路径</a:t>
            </a:r>
          </a:p>
        </p:txBody>
      </p:sp>
      <p:sp>
        <p:nvSpPr>
          <p:cNvPr id="4" name="TEXT: Decider 评分后取最高项；GPT 逐 token 生成候选 ID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评分后取最高项；GPT 逐 token 生成候选 ID。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1947672"/>
            <a:ext cx="777240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同输入：业务事实 + 问题 + 候选条件"/>
          <p:cNvSpPr txBox="1"/>
          <p:nvPr/>
        </p:nvSpPr>
        <p:spPr>
          <a:xfrm>
            <a:off x="2221991" y="1997964"/>
            <a:ext cx="76809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共同输入：业务事实 + 问题 + 候选条件</a:t>
            </a:r>
          </a:p>
        </p:txBody>
      </p:sp>
      <p:sp>
        <p:nvSpPr>
          <p:cNvPr id="7" name="TEXT: DECIDER"/>
          <p:cNvSpPr txBox="1"/>
          <p:nvPr/>
        </p:nvSpPr>
        <p:spPr>
          <a:xfrm>
            <a:off x="621792" y="2697480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642616"/>
            <a:ext cx="347472" cy="347472"/>
          </a:xfrm>
          <a:prstGeom prst="rect">
            <a:avLst/>
          </a:prstGeom>
        </p:spPr>
      </p:pic>
      <p:sp>
        <p:nvSpPr>
          <p:cNvPr id="10" name="TEXT: 编码输入"/>
          <p:cNvSpPr txBox="1"/>
          <p:nvPr/>
        </p:nvSpPr>
        <p:spPr>
          <a:xfrm>
            <a:off x="2761488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编码输入</a:t>
            </a:r>
          </a:p>
        </p:txBody>
      </p:sp>
      <p:sp>
        <p:nvSpPr>
          <p:cNvPr id="11" name="TEXT: 业务与候选表示"/>
          <p:cNvSpPr txBox="1"/>
          <p:nvPr/>
        </p:nvSpPr>
        <p:spPr>
          <a:xfrm>
            <a:off x="2304288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业务与候选表示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6736" y="315925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2768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216" y="2642616"/>
            <a:ext cx="347472" cy="347472"/>
          </a:xfrm>
          <a:prstGeom prst="rect">
            <a:avLst/>
          </a:prstGeom>
        </p:spPr>
      </p:pic>
      <p:sp>
        <p:nvSpPr>
          <p:cNvPr id="15" name="TEXT: Pointer Head"/>
          <p:cNvSpPr txBox="1"/>
          <p:nvPr/>
        </p:nvSpPr>
        <p:spPr>
          <a:xfrm>
            <a:off x="5995416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16" name="TEXT: 对候选计算分数"/>
          <p:cNvSpPr txBox="1"/>
          <p:nvPr/>
        </p:nvSpPr>
        <p:spPr>
          <a:xfrm>
            <a:off x="5538216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对候选计算分数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0663" y="3159252"/>
            <a:ext cx="219457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16696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144" y="2642616"/>
            <a:ext cx="347472" cy="347472"/>
          </a:xfrm>
          <a:prstGeom prst="rect">
            <a:avLst/>
          </a:prstGeom>
        </p:spPr>
      </p:pic>
      <p:sp>
        <p:nvSpPr>
          <p:cNvPr id="20" name="TEXT: 最高分候选"/>
          <p:cNvSpPr txBox="1"/>
          <p:nvPr/>
        </p:nvSpPr>
        <p:spPr>
          <a:xfrm>
            <a:off x="9229344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最高分候选</a:t>
            </a:r>
          </a:p>
        </p:txBody>
      </p:sp>
      <p:sp>
        <p:nvSpPr>
          <p:cNvPr id="21" name="TEXT: choice + 概率分布"/>
          <p:cNvSpPr txBox="1"/>
          <p:nvPr/>
        </p:nvSpPr>
        <p:spPr>
          <a:xfrm>
            <a:off x="8772144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+ 概率分布</a:t>
            </a:r>
          </a:p>
        </p:txBody>
      </p:sp>
      <p:sp>
        <p:nvSpPr>
          <p:cNvPr id="22" name="TEXT: GPT"/>
          <p:cNvSpPr txBox="1"/>
          <p:nvPr/>
        </p:nvSpPr>
        <p:spPr>
          <a:xfrm>
            <a:off x="621792" y="4498848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4425696"/>
            <a:ext cx="347472" cy="347472"/>
          </a:xfrm>
          <a:prstGeom prst="rect">
            <a:avLst/>
          </a:prstGeom>
        </p:spPr>
      </p:pic>
      <p:sp>
        <p:nvSpPr>
          <p:cNvPr id="25" name="TEXT: 读取提示"/>
          <p:cNvSpPr txBox="1"/>
          <p:nvPr/>
        </p:nvSpPr>
        <p:spPr>
          <a:xfrm>
            <a:off x="2761488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读取提示</a:t>
            </a:r>
          </a:p>
        </p:txBody>
      </p:sp>
      <p:sp>
        <p:nvSpPr>
          <p:cNvPr id="26" name="TEXT: 同一业务与候选"/>
          <p:cNvSpPr txBox="1"/>
          <p:nvPr/>
        </p:nvSpPr>
        <p:spPr>
          <a:xfrm>
            <a:off x="2304288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同一业务与候选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6736" y="4942331"/>
            <a:ext cx="219456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82768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216" y="4425696"/>
            <a:ext cx="347472" cy="347472"/>
          </a:xfrm>
          <a:prstGeom prst="rect">
            <a:avLst/>
          </a:prstGeom>
        </p:spPr>
      </p:pic>
      <p:sp>
        <p:nvSpPr>
          <p:cNvPr id="30" name="TEXT: 生成 token"/>
          <p:cNvSpPr txBox="1"/>
          <p:nvPr/>
        </p:nvSpPr>
        <p:spPr>
          <a:xfrm>
            <a:off x="5995416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 token</a:t>
            </a:r>
          </a:p>
        </p:txBody>
      </p:sp>
      <p:sp>
        <p:nvSpPr>
          <p:cNvPr id="31" name="TEXT: 结构化选择 JSON"/>
          <p:cNvSpPr txBox="1"/>
          <p:nvPr/>
        </p:nvSpPr>
        <p:spPr>
          <a:xfrm>
            <a:off x="5538216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结构化选择 JSON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60663" y="4942331"/>
            <a:ext cx="219457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16696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Lucide shield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144" y="4425696"/>
            <a:ext cx="347472" cy="347472"/>
          </a:xfrm>
          <a:prstGeom prst="rect">
            <a:avLst/>
          </a:prstGeom>
        </p:spPr>
      </p:pic>
      <p:sp>
        <p:nvSpPr>
          <p:cNvPr id="35" name="TEXT: 解析与校验"/>
          <p:cNvSpPr txBox="1"/>
          <p:nvPr/>
        </p:nvSpPr>
        <p:spPr>
          <a:xfrm>
            <a:off x="9229344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解析与校验</a:t>
            </a:r>
          </a:p>
        </p:txBody>
      </p:sp>
      <p:sp>
        <p:nvSpPr>
          <p:cNvPr id="36" name="TEXT: 有效候选 ID"/>
          <p:cNvSpPr txBox="1"/>
          <p:nvPr/>
        </p:nvSpPr>
        <p:spPr>
          <a:xfrm>
            <a:off x="8772144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有效候选 ID</a:t>
            </a:r>
          </a:p>
        </p:txBody>
      </p:sp>
      <p:sp>
        <p:nvSpPr>
          <p:cNvPr id="37" name="TEXT: 两条路径的输出都交给应用执行器；模型本身不执行转账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两条路径的输出都交给应用执行器；模型本身不执行转账。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0" name="TEXT: 06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07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从模型走向应用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从模型走向应用</a:t>
            </a:r>
          </a:p>
        </p:txBody>
      </p:sp>
      <p:sp>
        <p:nvSpPr>
          <p:cNvPr id="3" name="TEXT: 适用场景：候选清晰，结果可检查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适用场景：候选清晰，结果可检查</a:t>
            </a:r>
          </a:p>
        </p:txBody>
      </p:sp>
      <p:sp>
        <p:nvSpPr>
          <p:cNvPr id="4" name="TEXT: 从 Agent 路由与守卫，到客服、支付与运营判断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 Agent 路由与守卫，到客服、支付与运营判断。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0008"/>
            <a:ext cx="393192" cy="393192"/>
          </a:xfrm>
          <a:prstGeom prst="rect">
            <a:avLst/>
          </a:prstGeom>
        </p:spPr>
      </p:pic>
      <p:sp>
        <p:nvSpPr>
          <p:cNvPr id="7" name="TEXT: 模型与工具路由"/>
          <p:cNvSpPr txBox="1"/>
          <p:nvPr/>
        </p:nvSpPr>
        <p:spPr>
          <a:xfrm>
            <a:off x="1344168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模型与工具路由</a:t>
            </a:r>
          </a:p>
        </p:txBody>
      </p:sp>
      <p:sp>
        <p:nvSpPr>
          <p:cNvPr id="8" name="TEXT: 选择模型、工具或业务队列"/>
          <p:cNvSpPr txBox="1"/>
          <p:nvPr/>
        </p:nvSpPr>
        <p:spPr>
          <a:xfrm>
            <a:off x="804672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选择模型、工具或业务队列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shiel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50008"/>
            <a:ext cx="393192" cy="393192"/>
          </a:xfrm>
          <a:prstGeom prst="rect">
            <a:avLst/>
          </a:prstGeom>
        </p:spPr>
      </p:pic>
      <p:sp>
        <p:nvSpPr>
          <p:cNvPr id="11" name="TEXT: 工具调用检查"/>
          <p:cNvSpPr txBox="1"/>
          <p:nvPr/>
        </p:nvSpPr>
        <p:spPr>
          <a:xfrm>
            <a:off x="5120640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工具调用检查</a:t>
            </a:r>
          </a:p>
        </p:txBody>
      </p:sp>
      <p:sp>
        <p:nvSpPr>
          <p:cNvPr id="12" name="TEXT: 参数有无依据，是否需澄清"/>
          <p:cNvSpPr txBox="1"/>
          <p:nvPr/>
        </p:nvSpPr>
        <p:spPr>
          <a:xfrm>
            <a:off x="4581144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参数有无依据，是否需澄清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heads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50008"/>
            <a:ext cx="393192" cy="393192"/>
          </a:xfrm>
          <a:prstGeom prst="rect">
            <a:avLst/>
          </a:prstGeom>
        </p:spPr>
      </p:pic>
      <p:sp>
        <p:nvSpPr>
          <p:cNvPr id="15" name="TEXT: 客服分流与升级"/>
          <p:cNvSpPr txBox="1"/>
          <p:nvPr/>
        </p:nvSpPr>
        <p:spPr>
          <a:xfrm>
            <a:off x="8897112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客服分流与升级</a:t>
            </a:r>
          </a:p>
        </p:txBody>
      </p:sp>
      <p:sp>
        <p:nvSpPr>
          <p:cNvPr id="16" name="TEXT: 识别诉求，跟进或转人工"/>
          <p:cNvSpPr txBox="1"/>
          <p:nvPr/>
        </p:nvSpPr>
        <p:spPr>
          <a:xfrm>
            <a:off x="8357616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识别诉求，跟进或转人工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69080"/>
            <a:ext cx="393192" cy="393192"/>
          </a:xfrm>
          <a:prstGeom prst="rect">
            <a:avLst/>
          </a:prstGeom>
        </p:spPr>
      </p:pic>
      <p:sp>
        <p:nvSpPr>
          <p:cNvPr id="19" name="TEXT: 策略分类与审核"/>
          <p:cNvSpPr txBox="1"/>
          <p:nvPr/>
        </p:nvSpPr>
        <p:spPr>
          <a:xfrm>
            <a:off x="1344168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策略分类与审核</a:t>
            </a:r>
          </a:p>
        </p:txBody>
      </p:sp>
      <p:sp>
        <p:nvSpPr>
          <p:cNvPr id="20" name="TEXT: 将自然语言映射到策略"/>
          <p:cNvSpPr txBox="1"/>
          <p:nvPr/>
        </p:nvSpPr>
        <p:spPr>
          <a:xfrm>
            <a:off x="804672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将自然语言映射到策略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scan-ey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069080"/>
            <a:ext cx="393192" cy="393192"/>
          </a:xfrm>
          <a:prstGeom prst="rect">
            <a:avLst/>
          </a:prstGeom>
        </p:spPr>
      </p:pic>
      <p:sp>
        <p:nvSpPr>
          <p:cNvPr id="23" name="TEXT: RAG 与内容评估"/>
          <p:cNvSpPr txBox="1"/>
          <p:nvPr/>
        </p:nvSpPr>
        <p:spPr>
          <a:xfrm>
            <a:off x="5120640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RAG 与内容评估</a:t>
            </a:r>
          </a:p>
        </p:txBody>
      </p:sp>
      <p:sp>
        <p:nvSpPr>
          <p:cNvPr id="24" name="TEXT: 判断相关性、质量与覆盖"/>
          <p:cNvSpPr txBox="1"/>
          <p:nvPr/>
        </p:nvSpPr>
        <p:spPr>
          <a:xfrm>
            <a:off x="4581144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判断相关性、质量与覆盖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Lucide layer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069080"/>
            <a:ext cx="393192" cy="393192"/>
          </a:xfrm>
          <a:prstGeom prst="rect">
            <a:avLst/>
          </a:prstGeom>
        </p:spPr>
      </p:pic>
      <p:sp>
        <p:nvSpPr>
          <p:cNvPr id="27" name="TEXT: 记忆与上下文选择"/>
          <p:cNvSpPr txBox="1"/>
          <p:nvPr/>
        </p:nvSpPr>
        <p:spPr>
          <a:xfrm>
            <a:off x="8897112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记忆与上下文选择</a:t>
            </a:r>
          </a:p>
        </p:txBody>
      </p:sp>
      <p:sp>
        <p:nvSpPr>
          <p:cNvPr id="28" name="TEXT: 决定保留或检索哪些片段"/>
          <p:cNvSpPr txBox="1"/>
          <p:nvPr/>
        </p:nvSpPr>
        <p:spPr>
          <a:xfrm>
            <a:off x="8357616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决定保留或检索哪些片段</a:t>
            </a:r>
          </a:p>
        </p:txBody>
      </p:sp>
      <p:sp>
        <p:nvSpPr>
          <p:cNvPr id="29" name="TEXT: 接下来用支付业务，把「选择 → 执行 → 结果」放到同一条可观察流程中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接下来用支付业务，把「选择 → 执行 → 结果」放到同一条可观察流程中。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2" name="TEXT: 08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项目架构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项目架构</a:t>
            </a:r>
          </a:p>
        </p:txBody>
      </p:sp>
      <p:sp>
        <p:nvSpPr>
          <p:cNvPr id="3" name="TEXT: 一套业务后端，对接两种模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一套业务后端，对接两种模型</a:t>
            </a:r>
          </a:p>
        </p:txBody>
      </p:sp>
      <p:sp>
        <p:nvSpPr>
          <p:cNvPr id="4" name="TEXT: AWS us-east-1 · 私有前端源站 · 相同业务执行逻辑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us-east-1 · 私有前端源站 · 相同业务执行逻辑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18688"/>
            <a:ext cx="2212848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AWS cloudfron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401568"/>
            <a:ext cx="521207" cy="521207"/>
          </a:xfrm>
          <a:prstGeom prst="rect">
            <a:avLst/>
          </a:prstGeom>
        </p:spPr>
      </p:pic>
      <p:sp>
        <p:nvSpPr>
          <p:cNvPr id="7" name="TEXT: CloudFront"/>
          <p:cNvSpPr txBox="1"/>
          <p:nvPr/>
        </p:nvSpPr>
        <p:spPr>
          <a:xfrm>
            <a:off x="1417319" y="3392424"/>
            <a:ext cx="129844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8" name="TEXT: 页面入口 / API 路由"/>
          <p:cNvSpPr txBox="1"/>
          <p:nvPr/>
        </p:nvSpPr>
        <p:spPr>
          <a:xfrm>
            <a:off x="795528" y="3995928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页面入口 / API 路由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2212848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s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29968"/>
            <a:ext cx="521207" cy="521207"/>
          </a:xfrm>
          <a:prstGeom prst="rect">
            <a:avLst/>
          </a:prstGeom>
        </p:spPr>
      </p:pic>
      <p:sp>
        <p:nvSpPr>
          <p:cNvPr id="11" name="TEXT: Amazon S3"/>
          <p:cNvSpPr txBox="1"/>
          <p:nvPr/>
        </p:nvSpPr>
        <p:spPr>
          <a:xfrm>
            <a:off x="1417319" y="2020824"/>
            <a:ext cx="129844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2" name="TEXT: OAC · 禁止公开访问"/>
          <p:cNvSpPr txBox="1"/>
          <p:nvPr/>
        </p:nvSpPr>
        <p:spPr>
          <a:xfrm>
            <a:off x="795528" y="2624328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OAC · 禁止公开访问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737360" y="3054096"/>
            <a:ext cx="0" cy="100584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10128" y="2231136"/>
            <a:ext cx="3977639" cy="3410712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VPC / 私有业务服务"/>
          <p:cNvSpPr txBox="1"/>
          <p:nvPr/>
        </p:nvSpPr>
        <p:spPr>
          <a:xfrm>
            <a:off x="3502152" y="2404872"/>
            <a:ext cx="356616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/ 私有业务服务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1024" y="2770632"/>
            <a:ext cx="3328416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: AWS alb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953512"/>
            <a:ext cx="521207" cy="521207"/>
          </a:xfrm>
          <a:prstGeom prst="rect">
            <a:avLst/>
          </a:prstGeom>
        </p:spPr>
      </p:pic>
      <p:sp>
        <p:nvSpPr>
          <p:cNvPr id="18" name="TEXT: 内网 ALB"/>
          <p:cNvSpPr txBox="1"/>
          <p:nvPr/>
        </p:nvSpPr>
        <p:spPr>
          <a:xfrm>
            <a:off x="4398264" y="2944368"/>
            <a:ext cx="241401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19" name="TEXT: CloudFront VPC Origin"/>
          <p:cNvSpPr txBox="1"/>
          <p:nvPr/>
        </p:nvSpPr>
        <p:spPr>
          <a:xfrm>
            <a:off x="3776472" y="3547872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21024" y="4169663"/>
            <a:ext cx="3328416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AWS ecs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4352544"/>
            <a:ext cx="521207" cy="521207"/>
          </a:xfrm>
          <a:prstGeom prst="rect">
            <a:avLst/>
          </a:prstGeom>
        </p:spPr>
      </p:pic>
      <p:sp>
        <p:nvSpPr>
          <p:cNvPr id="22" name="TEXT: ECS Fargate"/>
          <p:cNvSpPr txBox="1"/>
          <p:nvPr/>
        </p:nvSpPr>
        <p:spPr>
          <a:xfrm>
            <a:off x="4398264" y="4343400"/>
            <a:ext cx="241401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3" name="TEXT: FastAPI · 决策 / 执行 / 反馈"/>
          <p:cNvSpPr txBox="1"/>
          <p:nvPr/>
        </p:nvSpPr>
        <p:spPr>
          <a:xfrm>
            <a:off x="3776472" y="4946903"/>
            <a:ext cx="30175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FastAPI · 决策 / 执行 / 反馈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98648" y="3813048"/>
            <a:ext cx="246888" cy="0"/>
          </a:xfrm>
          <a:prstGeom prst="line">
            <a:avLst/>
          </a:prstGeom>
          <a:ln w="2286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145536" y="3355848"/>
            <a:ext cx="0" cy="457200"/>
          </a:xfrm>
          <a:prstGeom prst="line">
            <a:avLst/>
          </a:prstGeom>
          <a:ln w="2286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45536" y="3355848"/>
            <a:ext cx="420624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03520" y="3968496"/>
            <a:ext cx="0" cy="146304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57616" y="1993392"/>
            <a:ext cx="3200400" cy="117043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AWS sagemak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2176272"/>
            <a:ext cx="521207" cy="521207"/>
          </a:xfrm>
          <a:prstGeom prst="rect">
            <a:avLst/>
          </a:prstGeom>
        </p:spPr>
      </p:pic>
      <p:sp>
        <p:nvSpPr>
          <p:cNvPr id="30" name="TEXT: SageMaker"/>
          <p:cNvSpPr txBox="1"/>
          <p:nvPr/>
        </p:nvSpPr>
        <p:spPr>
          <a:xfrm>
            <a:off x="9134856" y="2167128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SageMaker</a:t>
            </a:r>
          </a:p>
        </p:txBody>
      </p:sp>
      <p:sp>
        <p:nvSpPr>
          <p:cNvPr id="31" name="TEXT: Decider v19"/>
          <p:cNvSpPr txBox="1"/>
          <p:nvPr/>
        </p:nvSpPr>
        <p:spPr>
          <a:xfrm>
            <a:off x="8513064" y="2770632"/>
            <a:ext cx="28895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57616" y="3401568"/>
            <a:ext cx="3200400" cy="1170432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: AWS bedro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3584448"/>
            <a:ext cx="521207" cy="521207"/>
          </a:xfrm>
          <a:prstGeom prst="rect">
            <a:avLst/>
          </a:prstGeom>
        </p:spPr>
      </p:pic>
      <p:sp>
        <p:nvSpPr>
          <p:cNvPr id="34" name="TEXT: Bedrock"/>
          <p:cNvSpPr txBox="1"/>
          <p:nvPr/>
        </p:nvSpPr>
        <p:spPr>
          <a:xfrm>
            <a:off x="9134856" y="3575304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</a:t>
            </a:r>
          </a:p>
        </p:txBody>
      </p:sp>
      <p:sp>
        <p:nvSpPr>
          <p:cNvPr id="35" name="TEXT: GPT-6.1 Sol"/>
          <p:cNvSpPr txBox="1"/>
          <p:nvPr/>
        </p:nvSpPr>
        <p:spPr>
          <a:xfrm>
            <a:off x="8513064" y="4178808"/>
            <a:ext cx="28895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57616" y="4809744"/>
            <a:ext cx="3200400" cy="11704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AWS dynamodb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4992624"/>
            <a:ext cx="521207" cy="521207"/>
          </a:xfrm>
          <a:prstGeom prst="rect">
            <a:avLst/>
          </a:prstGeom>
        </p:spPr>
      </p:pic>
      <p:sp>
        <p:nvSpPr>
          <p:cNvPr id="38" name="TEXT: DynamoDB"/>
          <p:cNvSpPr txBox="1"/>
          <p:nvPr/>
        </p:nvSpPr>
        <p:spPr>
          <a:xfrm>
            <a:off x="9134856" y="4983480"/>
            <a:ext cx="228600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9" name="TEXT: 用户 / 会话"/>
          <p:cNvSpPr txBox="1"/>
          <p:nvPr/>
        </p:nvSpPr>
        <p:spPr>
          <a:xfrm>
            <a:off x="8513064" y="5586983"/>
            <a:ext cx="288950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 / 会话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95160" y="4745736"/>
            <a:ext cx="74066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735824" y="2578608"/>
            <a:ext cx="0" cy="2167128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35824" y="2578608"/>
            <a:ext cx="548640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95160" y="4745736"/>
            <a:ext cx="74066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735824" y="3986784"/>
            <a:ext cx="0" cy="758952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735824" y="3986784"/>
            <a:ext cx="548640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995160" y="4745736"/>
            <a:ext cx="74066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35824" y="4745736"/>
            <a:ext cx="0" cy="649224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735824" y="5394960"/>
            <a:ext cx="548640" cy="0"/>
          </a:xfrm>
          <a:prstGeom prst="line">
            <a:avLst/>
          </a:prstGeom>
          <a:ln w="22860">
            <a:solidFill>
              <a:srgbClr val="6478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: 后端调用相应服务；订单、工单与模拟账本用于演示，不广播链上交易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后端调用相应服务；订单、工单与模拟账本用于演示，不广播链上交易。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52" name="TEXT: 09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 和 GPT。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8" name="TEXT: 10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支付对比设计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支付对比设计</a:t>
            </a:r>
          </a:p>
        </p:txBody>
      </p:sp>
      <p:sp>
        <p:nvSpPr>
          <p:cNvPr id="3" name="TEXT: 比较方法：同一业务输入，独立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比较方法：同一业务输入，独立执行</a:t>
            </a:r>
          </a:p>
        </p:txBody>
      </p:sp>
      <p:sp>
        <p:nvSpPr>
          <p:cNvPr id="4" name="TEXT: 候选与条件相同；保留两模型的原始选择、耗时和实际业务结果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候选与条件相同；保留两模型的原始选择、耗时和实际业务结果。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199339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同一业务快照 + 同一问题 + 同一候选条件"/>
          <p:cNvSpPr txBox="1"/>
          <p:nvPr/>
        </p:nvSpPr>
        <p:spPr>
          <a:xfrm>
            <a:off x="1362456" y="204368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同一业务快照 + 同一问题 + 同一候选条件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88336"/>
            <a:ext cx="5349240" cy="19568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89504"/>
            <a:ext cx="393192" cy="393192"/>
          </a:xfrm>
          <a:prstGeom prst="rect">
            <a:avLst/>
          </a:prstGeom>
        </p:spPr>
      </p:pic>
      <p:sp>
        <p:nvSpPr>
          <p:cNvPr id="9" name="TEXT: Decider / SageMaker"/>
          <p:cNvSpPr txBox="1"/>
          <p:nvPr/>
        </p:nvSpPr>
        <p:spPr>
          <a:xfrm>
            <a:off x="1344168" y="2898648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/ SageMaker</a:t>
            </a:r>
          </a:p>
        </p:txBody>
      </p:sp>
      <p:sp>
        <p:nvSpPr>
          <p:cNvPr id="10" name="TEXT: 返回选择、分布与置信信息 记录后端决策耗时，独立执行"/>
          <p:cNvSpPr txBox="1"/>
          <p:nvPr/>
        </p:nvSpPr>
        <p:spPr>
          <a:xfrm>
            <a:off x="804672" y="3538728"/>
            <a:ext cx="4928616" cy="10241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返回选择、分布与置信信息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记录后端决策耗时，独立执行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88336"/>
            <a:ext cx="5349240" cy="19568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ode-xm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889504"/>
            <a:ext cx="393192" cy="393192"/>
          </a:xfrm>
          <a:prstGeom prst="rect">
            <a:avLst/>
          </a:prstGeom>
        </p:spPr>
      </p:pic>
      <p:sp>
        <p:nvSpPr>
          <p:cNvPr id="13" name="TEXT: GPT / Bedrock"/>
          <p:cNvSpPr txBox="1"/>
          <p:nvPr/>
        </p:nvSpPr>
        <p:spPr>
          <a:xfrm>
            <a:off x="6967728" y="2898648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/ Bedrock</a:t>
            </a:r>
          </a:p>
        </p:txBody>
      </p:sp>
      <p:sp>
        <p:nvSpPr>
          <p:cNvPr id="14" name="TEXT: 返回候选 ID JSON，校验结果 记录后端决策耗时，独立执行"/>
          <p:cNvSpPr txBox="1"/>
          <p:nvPr/>
        </p:nvSpPr>
        <p:spPr>
          <a:xfrm>
            <a:off x="6428232" y="3538728"/>
            <a:ext cx="4928616" cy="10241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返回候选 ID JSON，校验结果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记录后端决策耗时，独立执行</a:t>
            </a:r>
          </a:p>
        </p:txBody>
      </p:sp>
      <p:pic>
        <p:nvPicPr>
          <p:cNvPr id="15" name="ICON: Lucide rout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84648"/>
            <a:ext cx="356616" cy="356616"/>
          </a:xfrm>
          <a:prstGeom prst="rect">
            <a:avLst/>
          </a:prstGeom>
        </p:spPr>
      </p:pic>
      <p:sp>
        <p:nvSpPr>
          <p:cNvPr id="16" name="TEXT: 选择有何差异"/>
          <p:cNvSpPr txBox="1"/>
          <p:nvPr/>
        </p:nvSpPr>
        <p:spPr>
          <a:xfrm>
            <a:off x="1298448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选择有何差异</a:t>
            </a:r>
          </a:p>
        </p:txBody>
      </p:sp>
      <p:pic>
        <p:nvPicPr>
          <p:cNvPr id="17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5184648"/>
            <a:ext cx="356616" cy="356616"/>
          </a:xfrm>
          <a:prstGeom prst="rect">
            <a:avLst/>
          </a:prstGeom>
        </p:spPr>
      </p:pic>
      <p:sp>
        <p:nvSpPr>
          <p:cNvPr id="18" name="TEXT: 每步与累计多快"/>
          <p:cNvSpPr txBox="1"/>
          <p:nvPr/>
        </p:nvSpPr>
        <p:spPr>
          <a:xfrm>
            <a:off x="5120640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每步与累计多快</a:t>
            </a:r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5184648"/>
            <a:ext cx="356616" cy="356616"/>
          </a:xfrm>
          <a:prstGeom prst="rect">
            <a:avLst/>
          </a:prstGeom>
        </p:spPr>
      </p:pic>
      <p:sp>
        <p:nvSpPr>
          <p:cNvPr id="20" name="TEXT: 业务是否完成"/>
          <p:cNvSpPr txBox="1"/>
          <p:nvPr/>
        </p:nvSpPr>
        <p:spPr>
          <a:xfrm>
            <a:off x="8915400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业务是否完成</a:t>
            </a:r>
          </a:p>
        </p:txBody>
      </p:sp>
      <p:sp>
        <p:nvSpPr>
          <p:cNvPr id="21" name="TEXT: 速度主统计使用成功同输入配对；反馈执行结果单独观察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速度主统计使用成功同输入配对；反馈执行结果单独观察。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4" name="TEXT: 1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过程</a:t>
            </a:r>
          </a:p>
        </p:txBody>
      </p:sp>
      <p:sp>
        <p:nvSpPr>
          <p:cNvPr id="3" name="TEXT: 真实界面：同一输入，输出与耗时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真实界面：同一输入，输出与耗时并排看</a:t>
            </a:r>
          </a:p>
        </p:txBody>
      </p:sp>
      <p:sp>
        <p:nvSpPr>
          <p:cNvPr id="4" name="TEXT: USDC 未到账 · 客服受理：两模型都选择「支付客服」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未到账 · 客服受理：两模型都选择「支付客服」。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265752"/>
            <a:ext cx="11027664" cy="332319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turn-1-crop.png" descr="fixed-turn-1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93184"/>
            <a:ext cx="10972800" cy="3268326"/>
          </a:xfrm>
          <a:prstGeom prst="rect">
            <a:avLst/>
          </a:prstGeom>
        </p:spPr>
      </p:pic>
      <p:sp>
        <p:nvSpPr>
          <p:cNvPr id="7" name="TEXT: 线上原始截图 · 2026-10-10 · 每轮保留输入、原始选择、实际动作和耗时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线上原始截图 · 2026-10-10 · 每轮保留输入、原始选择、实际动作和耗时。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0" name="TEXT: 1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USDC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USDC</a:t>
            </a:r>
          </a:p>
        </p:txBody>
      </p:sp>
      <p:sp>
        <p:nvSpPr>
          <p:cNvPr id="3" name="TEXT: 五步对照：耗时差异贯穿每次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五步对照：耗时差异贯穿每次选择</a:t>
            </a:r>
          </a:p>
        </p:txBody>
      </p:sp>
      <p:sp>
        <p:nvSpPr>
          <p:cNvPr id="4" name="TEXT: 确认数 3 / 12，固定事实保持不变；审批节点出现选择差异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 3 / 12，固定事实保持不变；审批节点出现选择差异。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66543"/>
            <a:ext cx="1545336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节点"/>
          <p:cNvSpPr txBox="1"/>
          <p:nvPr/>
        </p:nvSpPr>
        <p:spPr>
          <a:xfrm>
            <a:off x="694944" y="2157984"/>
            <a:ext cx="133502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066543"/>
            <a:ext cx="472744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267712" y="2157984"/>
            <a:ext cx="451713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066543"/>
            <a:ext cx="468172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7022592" y="2157984"/>
            <a:ext cx="447141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578608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客服受理"/>
          <p:cNvSpPr txBox="1"/>
          <p:nvPr/>
        </p:nvSpPr>
        <p:spPr>
          <a:xfrm>
            <a:off x="694944" y="2697479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578608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支付客服 · 91.8 ms"/>
          <p:cNvSpPr txBox="1"/>
          <p:nvPr/>
        </p:nvSpPr>
        <p:spPr>
          <a:xfrm>
            <a:off x="2267712" y="2697479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支付客服 · 91.8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578608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1.17 s"/>
          <p:cNvSpPr txBox="1"/>
          <p:nvPr/>
        </p:nvSpPr>
        <p:spPr>
          <a:xfrm>
            <a:off x="7022592" y="2697479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支付客服 · 1.17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136391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交易核验"/>
          <p:cNvSpPr txBox="1"/>
          <p:nvPr/>
        </p:nvSpPr>
        <p:spPr>
          <a:xfrm>
            <a:off x="694944" y="3255263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136391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等待链上确认 · 94.9 ms"/>
          <p:cNvSpPr txBox="1"/>
          <p:nvPr/>
        </p:nvSpPr>
        <p:spPr>
          <a:xfrm>
            <a:off x="2267712" y="3255263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等待链上确认 · 94.9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136391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等待链上确认 · 1.33 s"/>
          <p:cNvSpPr txBox="1"/>
          <p:nvPr/>
        </p:nvSpPr>
        <p:spPr>
          <a:xfrm>
            <a:off x="7022592" y="3255263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等待链上确认 · 1.33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1545336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风控审批"/>
          <p:cNvSpPr txBox="1"/>
          <p:nvPr/>
        </p:nvSpPr>
        <p:spPr>
          <a:xfrm>
            <a:off x="694944" y="3813048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694176"/>
            <a:ext cx="472744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人工审批 · 87.4 ms"/>
          <p:cNvSpPr txBox="1"/>
          <p:nvPr/>
        </p:nvSpPr>
        <p:spPr>
          <a:xfrm>
            <a:off x="2267712" y="3813048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等待人工审批 · 87.4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694176"/>
            <a:ext cx="468172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规则检查通过 · 3.77 s"/>
          <p:cNvSpPr txBox="1"/>
          <p:nvPr/>
        </p:nvSpPr>
        <p:spPr>
          <a:xfrm>
            <a:off x="7022592" y="3813048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规则检查通过 · 3.77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4251960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业务处置"/>
          <p:cNvSpPr txBox="1"/>
          <p:nvPr/>
        </p:nvSpPr>
        <p:spPr>
          <a:xfrm>
            <a:off x="694944" y="4370832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251960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挂起并跟进 · 91.0 ms"/>
          <p:cNvSpPr txBox="1"/>
          <p:nvPr/>
        </p:nvSpPr>
        <p:spPr>
          <a:xfrm>
            <a:off x="2267712" y="4370832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挂起并跟进 · 91.0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251960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挂起并跟进 · 0.70 s"/>
          <p:cNvSpPr txBox="1"/>
          <p:nvPr/>
        </p:nvSpPr>
        <p:spPr>
          <a:xfrm>
            <a:off x="7022592" y="4370832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挂起并跟进 · 0.70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4809744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回复结案"/>
          <p:cNvSpPr txBox="1"/>
          <p:nvPr/>
        </p:nvSpPr>
        <p:spPr>
          <a:xfrm>
            <a:off x="694944" y="4928616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809744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回复并持续跟进 · 93.2 ms"/>
          <p:cNvSpPr txBox="1"/>
          <p:nvPr/>
        </p:nvSpPr>
        <p:spPr>
          <a:xfrm>
            <a:off x="2267712" y="4928616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回复并持续跟进 · 93.2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809744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回复并持续跟进 · 0.82 s"/>
          <p:cNvSpPr txBox="1"/>
          <p:nvPr/>
        </p:nvSpPr>
        <p:spPr>
          <a:xfrm>
            <a:off x="7022592" y="4928616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回复并持续跟进 · 0.82 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12848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累计 0.458 s"/>
          <p:cNvSpPr txBox="1"/>
          <p:nvPr/>
        </p:nvSpPr>
        <p:spPr>
          <a:xfrm>
            <a:off x="2258568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累计 0.458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累计 7.792 s"/>
          <p:cNvSpPr txBox="1"/>
          <p:nvPr/>
        </p:nvSpPr>
        <p:spPr>
          <a:xfrm>
            <a:off x="7040880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累计 7.792 s</a:t>
            </a:r>
          </a:p>
        </p:txBody>
      </p:sp>
      <p:sp>
        <p:nvSpPr>
          <p:cNvPr id="45" name="TEXT: 累计差约 17.00×；这是该案例 5 次成功同输入决策的单次观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累计差约 17.00×；这是该案例 5 次成功同输入决策的单次观测。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8" name="TEXT: 1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决策差异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决策差异</a:t>
            </a:r>
          </a:p>
        </p:txBody>
      </p:sp>
      <p:sp>
        <p:nvSpPr>
          <p:cNvPr id="3" name="TEXT: 同一审批问题，为什么选择不一样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同一审批问题，为什么选择不一样？</a:t>
            </a:r>
          </a:p>
        </p:txBody>
      </p:sp>
      <p:sp>
        <p:nvSpPr>
          <p:cNvPr id="4" name="TEXT: 观察候选评分与输出；不把评分解释成程序规则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观察候选评分与输出；不把评分解释成程序规则。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84248"/>
            <a:ext cx="10991088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同一输入：无风险标记 / 收款场景 / 审批候选条件"/>
          <p:cNvSpPr txBox="1"/>
          <p:nvPr/>
        </p:nvSpPr>
        <p:spPr>
          <a:xfrm>
            <a:off x="640080" y="2034540"/>
            <a:ext cx="108996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同一输入：无风险标记 / 收款场景 / 审批候选条件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42616"/>
            <a:ext cx="5340096" cy="290779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43784"/>
            <a:ext cx="393192" cy="393192"/>
          </a:xfrm>
          <a:prstGeom prst="rect">
            <a:avLst/>
          </a:prstGeom>
        </p:spPr>
      </p:pic>
      <p:sp>
        <p:nvSpPr>
          <p:cNvPr id="9" name="TEXT: Decider · 87.4 ms"/>
          <p:cNvSpPr txBox="1"/>
          <p:nvPr/>
        </p:nvSpPr>
        <p:spPr>
          <a:xfrm>
            <a:off x="1344168" y="2852928"/>
            <a:ext cx="4407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87.4 ms</a:t>
            </a:r>
          </a:p>
        </p:txBody>
      </p:sp>
      <p:sp>
        <p:nvSpPr>
          <p:cNvPr id="10" name="TEXT: 等待人工审批"/>
          <p:cNvSpPr txBox="1"/>
          <p:nvPr/>
        </p:nvSpPr>
        <p:spPr>
          <a:xfrm>
            <a:off x="850392" y="3429000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等待人工审批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3502152"/>
            <a:ext cx="1113402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58.5%"/>
          <p:cNvSpPr txBox="1"/>
          <p:nvPr/>
        </p:nvSpPr>
        <p:spPr>
          <a:xfrm>
            <a:off x="4800600" y="3429000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58.5%</a:t>
            </a:r>
          </a:p>
        </p:txBody>
      </p:sp>
      <p:sp>
        <p:nvSpPr>
          <p:cNvPr id="13" name="TEXT: 规则检查通过"/>
          <p:cNvSpPr txBox="1"/>
          <p:nvPr/>
        </p:nvSpPr>
        <p:spPr>
          <a:xfrm>
            <a:off x="850392" y="3867912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规则检查通过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7208" y="3941064"/>
            <a:ext cx="351670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18.5%"/>
          <p:cNvSpPr txBox="1"/>
          <p:nvPr/>
        </p:nvSpPr>
        <p:spPr>
          <a:xfrm>
            <a:off x="4800600" y="3867912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18.5%</a:t>
            </a:r>
          </a:p>
        </p:txBody>
      </p:sp>
      <p:sp>
        <p:nvSpPr>
          <p:cNvPr id="16" name="TEXT: 风险复核"/>
          <p:cNvSpPr txBox="1"/>
          <p:nvPr/>
        </p:nvSpPr>
        <p:spPr>
          <a:xfrm>
            <a:off x="850392" y="4306824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风险复核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07208" y="4379976"/>
            <a:ext cx="308116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16.2%"/>
          <p:cNvSpPr txBox="1"/>
          <p:nvPr/>
        </p:nvSpPr>
        <p:spPr>
          <a:xfrm>
            <a:off x="4800600" y="4306824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16.2%</a:t>
            </a:r>
          </a:p>
        </p:txBody>
      </p:sp>
      <p:sp>
        <p:nvSpPr>
          <p:cNvPr id="19" name="TEXT: 验证退款地址"/>
          <p:cNvSpPr txBox="1"/>
          <p:nvPr/>
        </p:nvSpPr>
        <p:spPr>
          <a:xfrm>
            <a:off x="850392" y="4745736"/>
            <a:ext cx="190195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验证退款地址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7208" y="4818888"/>
            <a:ext cx="128952" cy="12801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6.8%"/>
          <p:cNvSpPr txBox="1"/>
          <p:nvPr/>
        </p:nvSpPr>
        <p:spPr>
          <a:xfrm>
            <a:off x="4800600" y="4745736"/>
            <a:ext cx="8503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6.8%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642616"/>
            <a:ext cx="5340096" cy="2907792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: Lucide code-xm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843784"/>
            <a:ext cx="393192" cy="393192"/>
          </a:xfrm>
          <a:prstGeom prst="rect">
            <a:avLst/>
          </a:prstGeom>
        </p:spPr>
      </p:pic>
      <p:sp>
        <p:nvSpPr>
          <p:cNvPr id="24" name="TEXT: GPT · 3,771.8 ms"/>
          <p:cNvSpPr txBox="1"/>
          <p:nvPr/>
        </p:nvSpPr>
        <p:spPr>
          <a:xfrm>
            <a:off x="6958584" y="2852928"/>
            <a:ext cx="440740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3,771.8 ms</a:t>
            </a:r>
          </a:p>
        </p:txBody>
      </p:sp>
      <p:sp>
        <p:nvSpPr>
          <p:cNvPr id="25" name="TEXT: 输出候选 ID {&quot;choice&quot;: &quot;approved&quot;} → 规则检查通过"/>
          <p:cNvSpPr txBox="1"/>
          <p:nvPr/>
        </p:nvSpPr>
        <p:spPr>
          <a:xfrm>
            <a:off x="6419088" y="3493008"/>
            <a:ext cx="4919472" cy="197510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输出候选 ID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→ 规则检查通过</a:t>
            </a:r>
          </a:p>
        </p:txBody>
      </p:sp>
      <p:sp>
        <p:nvSpPr>
          <p:cNvPr id="26" name="TEXT: 演示参考为「规则检查通过」；参考符合度不是通用准确率，概率也不是正确率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演示参考为「规则检查通过」；参考符合度不是通用准确率，概率也不是正确率。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9" name="TEXT: 1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结果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结果</a:t>
            </a:r>
          </a:p>
        </p:txBody>
      </p:sp>
      <p:sp>
        <p:nvSpPr>
          <p:cNvPr id="3" name="TEXT: 处理 5/5 步，资金仍在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处理 5/5 步，资金仍在等待确认</a:t>
            </a:r>
          </a:p>
        </p:txBody>
      </p:sp>
      <p:sp>
        <p:nvSpPr>
          <p:cNvPr id="4" name="TEXT: 两模型最终都挂起并跟进；确认条件尚未满足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两模型最终都挂起并跟进；确认条件尚未满足。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49424"/>
            <a:ext cx="347472" cy="347472"/>
          </a:xfrm>
          <a:prstGeom prst="rect">
            <a:avLst/>
          </a:prstGeom>
        </p:spPr>
      </p:pic>
      <p:sp>
        <p:nvSpPr>
          <p:cNvPr id="7" name="TEXT: 完成选择"/>
          <p:cNvSpPr txBox="1"/>
          <p:nvPr/>
        </p:nvSpPr>
        <p:spPr>
          <a:xfrm>
            <a:off x="1207008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完成选择</a:t>
            </a:r>
          </a:p>
        </p:txBody>
      </p:sp>
      <p:sp>
        <p:nvSpPr>
          <p:cNvPr id="8" name="TEXT: 各返回 5 个动作"/>
          <p:cNvSpPr txBox="1"/>
          <p:nvPr/>
        </p:nvSpPr>
        <p:spPr>
          <a:xfrm>
            <a:off x="749808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各返回 5 个动作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249424"/>
            <a:ext cx="347472" cy="347472"/>
          </a:xfrm>
          <a:prstGeom prst="rect">
            <a:avLst/>
          </a:prstGeom>
        </p:spPr>
      </p:pic>
      <p:sp>
        <p:nvSpPr>
          <p:cNvPr id="12" name="TEXT: 挂起资金"/>
          <p:cNvSpPr txBox="1"/>
          <p:nvPr/>
        </p:nvSpPr>
        <p:spPr>
          <a:xfrm>
            <a:off x="4959096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挂起资金</a:t>
            </a:r>
          </a:p>
        </p:txBody>
      </p:sp>
      <p:sp>
        <p:nvSpPr>
          <p:cNvPr id="13" name="TEXT: 确认数仍为 3 / 12"/>
          <p:cNvSpPr txBox="1"/>
          <p:nvPr/>
        </p:nvSpPr>
        <p:spPr>
          <a:xfrm>
            <a:off x="4501896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确认数仍为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heads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2249424"/>
            <a:ext cx="347472" cy="347472"/>
          </a:xfrm>
          <a:prstGeom prst="rect">
            <a:avLst/>
          </a:prstGeom>
        </p:spPr>
      </p:pic>
      <p:sp>
        <p:nvSpPr>
          <p:cNvPr id="17" name="TEXT: 持续跟进"/>
          <p:cNvSpPr txBox="1"/>
          <p:nvPr/>
        </p:nvSpPr>
        <p:spPr>
          <a:xfrm>
            <a:off x="8711184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持续跟进</a:t>
            </a:r>
          </a:p>
        </p:txBody>
      </p:sp>
      <p:sp>
        <p:nvSpPr>
          <p:cNvPr id="18" name="TEXT: 工单未结案"/>
          <p:cNvSpPr txBox="1"/>
          <p:nvPr/>
        </p:nvSpPr>
        <p:spPr>
          <a:xfrm>
            <a:off x="8253984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工单未结案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3719849"/>
            <a:ext cx="11027664" cy="14391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fixed-final.png" descr="fixed-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47281"/>
            <a:ext cx="10972800" cy="13842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344168" y="5458968"/>
            <a:ext cx="94640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完成标准：目标订单 + 对应账本 + 工单结案"/>
          <p:cNvSpPr txBox="1"/>
          <p:nvPr/>
        </p:nvSpPr>
        <p:spPr>
          <a:xfrm>
            <a:off x="1389888" y="5509259"/>
            <a:ext cx="93726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完成标准：目标订单 + 对应账本 + 工单结案</a:t>
            </a:r>
          </a:p>
        </p:txBody>
      </p:sp>
      <p:sp>
        <p:nvSpPr>
          <p:cNvPr id="23" name="TEXT: 下一步需要外部证据更新；反复调用模型不会增加链上确认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下一步需要外部证据更新；反复调用模型不会增加链上确认数。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6" name="TEXT: 1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退款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退款</a:t>
            </a:r>
          </a:p>
        </p:txBody>
      </p:sp>
      <p:sp>
        <p:nvSpPr>
          <p:cNvPr id="3" name="TEXT: 退款差异：模型想执行，条件是否允许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退款差异：模型想执行，条件是否允许？</a:t>
            </a:r>
          </a:p>
        </p:txBody>
      </p:sp>
      <p:sp>
        <p:nvSpPr>
          <p:cNvPr id="4" name="TEXT: 地址未验证、审批待完成：两模型建议不同，实际资金动作都挂起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地址未验证、审批待完成：两模型建议不同，实际资金动作都挂起。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2098548"/>
            <a:ext cx="11027664" cy="36210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execute-crop.png" descr="refund-execut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25980"/>
            <a:ext cx="10972800" cy="3566160"/>
          </a:xfrm>
          <a:prstGeom prst="rect">
            <a:avLst/>
          </a:prstGeom>
        </p:spPr>
      </p:pic>
      <p:sp>
        <p:nvSpPr>
          <p:cNvPr id="7" name="TEXT: Decider：提交模拟退款 → 应用挂起；GPT：直接挂起。执行保护不能计作模型判断正确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Decider：提交模拟退款 → 应用挂起；GPT：直接挂起。执行保护不能计作模型判断正确。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0" name="TEXT: 16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反馈执行 · 1 / 2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反馈执行 · 1 / 2</a:t>
            </a:r>
          </a:p>
        </p:txBody>
      </p:sp>
      <p:sp>
        <p:nvSpPr>
          <p:cNvPr id="3" name="TEXT: 继续推进：证据更新后，再判断与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继续推进：证据更新后，再判断与执行</a:t>
            </a:r>
          </a:p>
        </p:txBody>
      </p:sp>
      <p:sp>
        <p:nvSpPr>
          <p:cNvPr id="4" name="TEXT: 条件不足时等待；把最新事实和执行结果交给下一次决策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条件不足时等待；把最新事实和执行结果交给下一次决策。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31720"/>
            <a:ext cx="347472" cy="347472"/>
          </a:xfrm>
          <a:prstGeom prst="rect">
            <a:avLst/>
          </a:prstGeom>
        </p:spPr>
      </p:pic>
      <p:sp>
        <p:nvSpPr>
          <p:cNvPr id="7" name="TEXT: 读取状态"/>
          <p:cNvSpPr txBox="1"/>
          <p:nvPr/>
        </p:nvSpPr>
        <p:spPr>
          <a:xfrm>
            <a:off x="1207008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8" name="TEXT: 事实 + 上轮反馈"/>
          <p:cNvSpPr txBox="1"/>
          <p:nvPr/>
        </p:nvSpPr>
        <p:spPr>
          <a:xfrm>
            <a:off x="749808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 + 上轮反馈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331720"/>
            <a:ext cx="347472" cy="347472"/>
          </a:xfrm>
          <a:prstGeom prst="rect">
            <a:avLst/>
          </a:prstGeom>
        </p:spPr>
      </p:pic>
      <p:sp>
        <p:nvSpPr>
          <p:cNvPr id="12" name="TEXT: 选择动作"/>
          <p:cNvSpPr txBox="1"/>
          <p:nvPr/>
        </p:nvSpPr>
        <p:spPr>
          <a:xfrm>
            <a:off x="4021074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选择动作</a:t>
            </a:r>
          </a:p>
        </p:txBody>
      </p:sp>
      <p:sp>
        <p:nvSpPr>
          <p:cNvPr id="13" name="TEXT: Decider 或 GPT"/>
          <p:cNvSpPr txBox="1"/>
          <p:nvPr/>
        </p:nvSpPr>
        <p:spPr>
          <a:xfrm>
            <a:off x="3563874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workfl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331720"/>
            <a:ext cx="347472" cy="347472"/>
          </a:xfrm>
          <a:prstGeom prst="rect">
            <a:avLst/>
          </a:prstGeom>
        </p:spPr>
      </p:pic>
      <p:sp>
        <p:nvSpPr>
          <p:cNvPr id="17" name="TEXT: 实际执行"/>
          <p:cNvSpPr txBox="1"/>
          <p:nvPr/>
        </p:nvSpPr>
        <p:spPr>
          <a:xfrm>
            <a:off x="6835140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实际执行</a:t>
            </a:r>
          </a:p>
        </p:txBody>
      </p:sp>
      <p:sp>
        <p:nvSpPr>
          <p:cNvPr id="18" name="TEXT: 更新订单与账本"/>
          <p:cNvSpPr txBox="1"/>
          <p:nvPr/>
        </p:nvSpPr>
        <p:spPr>
          <a:xfrm>
            <a:off x="6377940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更新订单与账本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331720"/>
            <a:ext cx="347472" cy="347472"/>
          </a:xfrm>
          <a:prstGeom prst="rect">
            <a:avLst/>
          </a:prstGeom>
        </p:spPr>
      </p:pic>
      <p:sp>
        <p:nvSpPr>
          <p:cNvPr id="22" name="TEXT: 检查结果"/>
          <p:cNvSpPr txBox="1"/>
          <p:nvPr/>
        </p:nvSpPr>
        <p:spPr>
          <a:xfrm>
            <a:off x="9649206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23" name="TEXT: 完成 / 等待 / 再判"/>
          <p:cNvSpPr txBox="1"/>
          <p:nvPr/>
        </p:nvSpPr>
        <p:spPr>
          <a:xfrm>
            <a:off x="9192006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 / 等待 / 再判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86416" y="3602736"/>
            <a:ext cx="0" cy="393192"/>
          </a:xfrm>
          <a:prstGeom prst="line">
            <a:avLst/>
          </a:prstGeom>
          <a:ln w="2286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36776" y="3995928"/>
            <a:ext cx="8549640" cy="0"/>
          </a:xfrm>
          <a:prstGeom prst="line">
            <a:avLst/>
          </a:prstGeom>
          <a:ln w="2286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36776" y="3602736"/>
            <a:ext cx="0" cy="393192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24528" y="3785615"/>
            <a:ext cx="3831336" cy="3657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最新证据 + 执行反馈"/>
          <p:cNvSpPr txBox="1"/>
          <p:nvPr/>
        </p:nvSpPr>
        <p:spPr>
          <a:xfrm>
            <a:off x="4242816" y="3840480"/>
            <a:ext cx="3767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最新证据 + 执行反馈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526280"/>
            <a:ext cx="534924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USDC 未到账"/>
          <p:cNvSpPr txBox="1"/>
          <p:nvPr/>
        </p:nvSpPr>
        <p:spPr>
          <a:xfrm>
            <a:off x="804672" y="4736592"/>
            <a:ext cx="495604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1" name="TEXT: 模拟确认数：3 / 12 → 12 / 12"/>
          <p:cNvSpPr txBox="1"/>
          <p:nvPr/>
        </p:nvSpPr>
        <p:spPr>
          <a:xfrm>
            <a:off x="804672" y="5376672"/>
            <a:ext cx="4928616" cy="3291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模拟确认数：3 / 12 → 12 /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26280"/>
            <a:ext cx="534924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稳定币退款"/>
          <p:cNvSpPr txBox="1"/>
          <p:nvPr/>
        </p:nvSpPr>
        <p:spPr>
          <a:xfrm>
            <a:off x="6428232" y="4736592"/>
            <a:ext cx="495604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4" name="TEXT: 模拟验证地址 → 模拟审批通过"/>
          <p:cNvSpPr txBox="1"/>
          <p:nvPr/>
        </p:nvSpPr>
        <p:spPr>
          <a:xfrm>
            <a:off x="6428232" y="5376672"/>
            <a:ext cx="4928616" cy="3291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模拟验证地址 → 模拟审批通过</a:t>
            </a:r>
          </a:p>
        </p:txBody>
      </p:sp>
      <p:sp>
        <p:nvSpPr>
          <p:cNvPr id="35" name="TEXT: 同一套机制，各侧独立推进；外部事件由模拟器更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同一套机制，各侧独立推进；外部事件由模拟器更新。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8" name="TEXT: 17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反馈执行 · 2 / 2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反馈执行 · 2 / 2</a:t>
            </a:r>
          </a:p>
        </p:txBody>
      </p:sp>
      <p:sp>
        <p:nvSpPr>
          <p:cNvPr id="3" name="TEXT: 执行结果：两组业务，双方均完成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执行结果：两组业务，双方均完成</a:t>
            </a:r>
          </a:p>
        </p:txBody>
      </p:sp>
      <p:sp>
        <p:nvSpPr>
          <p:cNvPr id="4" name="TEXT: 完成标准：目标订单、对应账本与工单结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完成标准：目标订单、对应账本与工单结案。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75688"/>
            <a:ext cx="2249424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场景"/>
          <p:cNvSpPr txBox="1"/>
          <p:nvPr/>
        </p:nvSpPr>
        <p:spPr>
          <a:xfrm>
            <a:off x="704088" y="2176272"/>
            <a:ext cx="20665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075688"/>
            <a:ext cx="2130552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990088" y="2176272"/>
            <a:ext cx="19476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2075688"/>
            <a:ext cx="2130552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5157216" y="2176272"/>
            <a:ext cx="19476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14616" y="2075688"/>
            <a:ext cx="2112264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每侧决策数"/>
          <p:cNvSpPr txBox="1"/>
          <p:nvPr/>
        </p:nvSpPr>
        <p:spPr>
          <a:xfrm>
            <a:off x="7324344" y="2176272"/>
            <a:ext cx="19293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每侧决策数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63456" y="2075688"/>
            <a:ext cx="2185416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业务结果"/>
          <p:cNvSpPr txBox="1"/>
          <p:nvPr/>
        </p:nvSpPr>
        <p:spPr>
          <a:xfrm>
            <a:off x="9473184" y="2176272"/>
            <a:ext cx="200253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224942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USDC 未到账"/>
          <p:cNvSpPr txBox="1"/>
          <p:nvPr/>
        </p:nvSpPr>
        <p:spPr>
          <a:xfrm>
            <a:off x="704088" y="2743200"/>
            <a:ext cx="2066543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587752"/>
            <a:ext cx="2130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0.570 s"/>
          <p:cNvSpPr txBox="1"/>
          <p:nvPr/>
        </p:nvSpPr>
        <p:spPr>
          <a:xfrm>
            <a:off x="2990088" y="274320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0.570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2587752"/>
            <a:ext cx="2130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7.269 s"/>
          <p:cNvSpPr txBox="1"/>
          <p:nvPr/>
        </p:nvSpPr>
        <p:spPr>
          <a:xfrm>
            <a:off x="5157216" y="274320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7.269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2587752"/>
            <a:ext cx="211226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6 次"/>
          <p:cNvSpPr txBox="1"/>
          <p:nvPr/>
        </p:nvSpPr>
        <p:spPr>
          <a:xfrm>
            <a:off x="7324344" y="2743200"/>
            <a:ext cx="192938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 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3456" y="2587752"/>
            <a:ext cx="2185416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双方完成"/>
          <p:cNvSpPr txBox="1"/>
          <p:nvPr/>
        </p:nvSpPr>
        <p:spPr>
          <a:xfrm>
            <a:off x="9473184" y="2743200"/>
            <a:ext cx="200253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227832"/>
            <a:ext cx="2249424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稳定币退款"/>
          <p:cNvSpPr txBox="1"/>
          <p:nvPr/>
        </p:nvSpPr>
        <p:spPr>
          <a:xfrm>
            <a:off x="704088" y="3383280"/>
            <a:ext cx="2066543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227832"/>
            <a:ext cx="2130552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0.897 s"/>
          <p:cNvSpPr txBox="1"/>
          <p:nvPr/>
        </p:nvSpPr>
        <p:spPr>
          <a:xfrm>
            <a:off x="2990088" y="338328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0.897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7488" y="3227832"/>
            <a:ext cx="2130552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10.542 s"/>
          <p:cNvSpPr txBox="1"/>
          <p:nvPr/>
        </p:nvSpPr>
        <p:spPr>
          <a:xfrm>
            <a:off x="5157216" y="338328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10.542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4616" y="3227832"/>
            <a:ext cx="2112264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9 次"/>
          <p:cNvSpPr txBox="1"/>
          <p:nvPr/>
        </p:nvSpPr>
        <p:spPr>
          <a:xfrm>
            <a:off x="7324344" y="3383280"/>
            <a:ext cx="192938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 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3456" y="3227832"/>
            <a:ext cx="2185416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双方完成"/>
          <p:cNvSpPr txBox="1"/>
          <p:nvPr/>
        </p:nvSpPr>
        <p:spPr>
          <a:xfrm>
            <a:off x="9473184" y="3383280"/>
            <a:ext cx="200253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35" name="TEXT: 退款案例 · 实际执行结果"/>
          <p:cNvSpPr txBox="1"/>
          <p:nvPr/>
        </p:nvSpPr>
        <p:spPr>
          <a:xfrm>
            <a:off x="621792" y="3904487"/>
            <a:ext cx="1094536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退款案例 · 实际执行结果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183351"/>
            <a:ext cx="11000232" cy="14356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: refund-loop-final.png" descr="refund-loop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10783"/>
            <a:ext cx="10945368" cy="1380800"/>
          </a:xfrm>
          <a:prstGeom prst="rect">
            <a:avLst/>
          </a:prstGeom>
        </p:spPr>
      </p:pic>
      <p:sp>
        <p:nvSpPr>
          <p:cNvPr id="38" name="TEXT: 后端累计决策耗时，不含外部事件等待；两侧后续输入可能不同，不计入同输入速度基准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后端累计决策耗时，不含外部事件等待；两侧后续输入可能不同，不计入同输入速度基准。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1" name="TEXT: 18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总览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速度对比 / 总览</a:t>
            </a:r>
          </a:p>
        </p:txBody>
      </p:sp>
      <p:sp>
        <p:nvSpPr>
          <p:cNvPr id="3" name="TEXT: 19 组成功配对，累计决策耗时相差 12.20×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19 组成功配对，累计决策耗时相差 12.20×</a:t>
            </a:r>
          </a:p>
        </p:txBody>
      </p:sp>
      <p:sp>
        <p:nvSpPr>
          <p:cNvPr id="4" name="TEXT: 同一批业务输入与候选 · 每侧 20 次尝试，其中 19 组成功配对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同一批业务输入与候选 · 每侧 20 次尝试，其中 19 组成功配对</a:t>
            </a:r>
          </a:p>
        </p:txBody>
      </p:sp>
      <p:sp>
        <p:nvSpPr>
          <p:cNvPr id="5" name="TEXT: 1.810 s"/>
          <p:cNvSpPr txBox="1"/>
          <p:nvPr/>
        </p:nvSpPr>
        <p:spPr>
          <a:xfrm>
            <a:off x="640080" y="2249424"/>
            <a:ext cx="475488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1.810 s</a:t>
            </a:r>
          </a:p>
        </p:txBody>
      </p:sp>
      <p:sp>
        <p:nvSpPr>
          <p:cNvPr id="6" name="TEXT: Decider · 19 次累计"/>
          <p:cNvSpPr txBox="1"/>
          <p:nvPr/>
        </p:nvSpPr>
        <p:spPr>
          <a:xfrm>
            <a:off x="658368" y="3063240"/>
            <a:ext cx="47548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Decider · 19 次累计</a:t>
            </a:r>
          </a:p>
        </p:txBody>
      </p:sp>
      <p:sp>
        <p:nvSpPr>
          <p:cNvPr id="7" name="TEXT: 22.068 s"/>
          <p:cNvSpPr txBox="1"/>
          <p:nvPr/>
        </p:nvSpPr>
        <p:spPr>
          <a:xfrm>
            <a:off x="6446520" y="2249424"/>
            <a:ext cx="48463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A6B9FF"/>
                </a:solidFill>
                <a:latin typeface="Noto Sans CJK SC"/>
                <a:ea typeface="Noto Sans CJK SC"/>
                <a:cs typeface="Noto Sans CJK SC"/>
              </a:rPr>
              <a:t>22.068 s</a:t>
            </a:r>
          </a:p>
        </p:txBody>
      </p:sp>
      <p:sp>
        <p:nvSpPr>
          <p:cNvPr id="8" name="TEXT: GPT · 19 次累计"/>
          <p:cNvSpPr txBox="1"/>
          <p:nvPr/>
        </p:nvSpPr>
        <p:spPr>
          <a:xfrm>
            <a:off x="6464807" y="3063240"/>
            <a:ext cx="484632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GPT · 19 次累计</a:t>
            </a:r>
          </a:p>
        </p:txBody>
      </p:sp>
      <p:sp>
        <p:nvSpPr>
          <p:cNvPr id="9" name="TEXT: Decider"/>
          <p:cNvSpPr txBox="1"/>
          <p:nvPr/>
        </p:nvSpPr>
        <p:spPr>
          <a:xfrm>
            <a:off x="658368" y="4142231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3976" y="4206240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3976" y="4206240"/>
            <a:ext cx="708570" cy="219456"/>
          </a:xfrm>
          <a:prstGeom prst="roundRect">
            <a:avLst>
              <a:gd name="adj" fmla="val 13000"/>
            </a:avLst>
          </a:prstGeom>
          <a:solidFill>
            <a:srgbClr val="86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658368" y="4754879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A6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单次观测；另有 1 次 GPT 读取超时，未计入成功耗时。不是全程用时或稳定性能保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单次观测；另有 1 次 GPT 读取超时，未计入成功耗时。不是全程用时或稳定性能保证。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8" name="TEXT: 19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四类场景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四类场景</a:t>
            </a:r>
          </a:p>
        </p:txBody>
      </p:sp>
      <p:sp>
        <p:nvSpPr>
          <p:cNvPr id="3" name="TEXT: 按场景比较：相同输入下的累计耗时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按场景比较：相同输入下的累计耗时</a:t>
            </a:r>
          </a:p>
        </p:txBody>
      </p:sp>
      <p:sp>
        <p:nvSpPr>
          <p:cNvPr id="4" name="TEXT: 同一场景中，两侧使用完全相同的成功配对子集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同一场景中，两侧使用完全相同的成功配对子集。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103120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153412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103120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153412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USDC 未到账 5 组配对"/>
          <p:cNvSpPr txBox="1"/>
          <p:nvPr/>
        </p:nvSpPr>
        <p:spPr>
          <a:xfrm>
            <a:off x="621792" y="2642615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61518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615184"/>
            <a:ext cx="404668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0.458 s"/>
          <p:cNvSpPr txBox="1"/>
          <p:nvPr/>
        </p:nvSpPr>
        <p:spPr>
          <a:xfrm>
            <a:off x="9930384" y="25740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0.458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85292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852928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7.792 s"/>
          <p:cNvSpPr txBox="1"/>
          <p:nvPr/>
        </p:nvSpPr>
        <p:spPr>
          <a:xfrm>
            <a:off x="9930384" y="281178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7.792 s</a:t>
            </a:r>
          </a:p>
        </p:txBody>
      </p:sp>
      <p:sp>
        <p:nvSpPr>
          <p:cNvPr id="16" name="TEXT: USDT 少付 5 组配对"/>
          <p:cNvSpPr txBox="1"/>
          <p:nvPr/>
        </p:nvSpPr>
        <p:spPr>
          <a:xfrm>
            <a:off x="621792" y="340156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37413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374136"/>
            <a:ext cx="39954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.453 s"/>
          <p:cNvSpPr txBox="1"/>
          <p:nvPr/>
        </p:nvSpPr>
        <p:spPr>
          <a:xfrm>
            <a:off x="9930384" y="333298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0.453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6118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611880"/>
            <a:ext cx="4828869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5.469 s"/>
          <p:cNvSpPr txBox="1"/>
          <p:nvPr/>
        </p:nvSpPr>
        <p:spPr>
          <a:xfrm>
            <a:off x="9930384" y="35707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5.469 s</a:t>
            </a:r>
          </a:p>
        </p:txBody>
      </p:sp>
      <p:sp>
        <p:nvSpPr>
          <p:cNvPr id="23" name="TEXT: 稳定币退款 5 组配对"/>
          <p:cNvSpPr txBox="1"/>
          <p:nvPr/>
        </p:nvSpPr>
        <p:spPr>
          <a:xfrm>
            <a:off x="621792" y="41605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133087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4133087"/>
            <a:ext cx="46032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0.521 s"/>
          <p:cNvSpPr txBox="1"/>
          <p:nvPr/>
        </p:nvSpPr>
        <p:spPr>
          <a:xfrm>
            <a:off x="9930384" y="4091939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0.521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370831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370831"/>
            <a:ext cx="377525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.276 s"/>
          <p:cNvSpPr txBox="1"/>
          <p:nvPr/>
        </p:nvSpPr>
        <p:spPr>
          <a:xfrm>
            <a:off x="9930384" y="4329683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4.276 s</a:t>
            </a:r>
          </a:p>
        </p:txBody>
      </p:sp>
      <p:sp>
        <p:nvSpPr>
          <p:cNvPr id="30" name="TEXT: 商户结算 4 组配对"/>
          <p:cNvSpPr txBox="1"/>
          <p:nvPr/>
        </p:nvSpPr>
        <p:spPr>
          <a:xfrm>
            <a:off x="621792" y="491947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 组配对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89204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892040"/>
            <a:ext cx="33325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0.377 s"/>
          <p:cNvSpPr txBox="1"/>
          <p:nvPr/>
        </p:nvSpPr>
        <p:spPr>
          <a:xfrm>
            <a:off x="9930384" y="485089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0.377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5129783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5129783"/>
            <a:ext cx="400119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.532 s"/>
          <p:cNvSpPr txBox="1"/>
          <p:nvPr/>
        </p:nvSpPr>
        <p:spPr>
          <a:xfrm>
            <a:off x="9930384" y="50886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4.532 s</a:t>
            </a:r>
          </a:p>
        </p:txBody>
      </p:sp>
      <p:sp>
        <p:nvSpPr>
          <p:cNvPr id="37" name="TEXT: 结算仅含 4 对成功请求，不能当作完整五步运行耗时；跨场景比较需留意请求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结算仅含 4 对成功请求，不能当作完整五步运行耗时；跨场景比较需留意请求数。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0" name="TEXT: 20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业务节点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业务节点</a:t>
            </a:r>
          </a:p>
        </p:txBody>
      </p:sp>
      <p:sp>
        <p:nvSpPr>
          <p:cNvPr id="3" name="TEXT: 按节点比较：每次判断平均花多久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按节点比较：每次判断平均花多久</a:t>
            </a:r>
          </a:p>
        </p:txBody>
      </p:sp>
      <p:sp>
        <p:nvSpPr>
          <p:cNvPr id="4" name="TEXT: 每个节点仅统计成功同输入配对，横轴为平均毫秒数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每个节点仅统计成功同输入配对，横轴为平均毫秒数。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020824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071116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020824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071116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客服受理 · n=4"/>
          <p:cNvSpPr txBox="1"/>
          <p:nvPr/>
        </p:nvSpPr>
        <p:spPr>
          <a:xfrm>
            <a:off x="621792" y="25603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 · n=4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3288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532888"/>
            <a:ext cx="32437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94.1 ms"/>
          <p:cNvSpPr txBox="1"/>
          <p:nvPr/>
        </p:nvSpPr>
        <p:spPr>
          <a:xfrm>
            <a:off x="9930384" y="249174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94.1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77063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770632"/>
            <a:ext cx="317366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921.2 ms"/>
          <p:cNvSpPr txBox="1"/>
          <p:nvPr/>
        </p:nvSpPr>
        <p:spPr>
          <a:xfrm>
            <a:off x="9930384" y="272948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921.2 ms</a:t>
            </a:r>
          </a:p>
        </p:txBody>
      </p:sp>
      <p:sp>
        <p:nvSpPr>
          <p:cNvPr id="16" name="TEXT: 交易核验 · n=4"/>
          <p:cNvSpPr txBox="1"/>
          <p:nvPr/>
        </p:nvSpPr>
        <p:spPr>
          <a:xfrm>
            <a:off x="621792" y="318211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 · n=4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1546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154680"/>
            <a:ext cx="31529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91.5 ms"/>
          <p:cNvSpPr txBox="1"/>
          <p:nvPr/>
        </p:nvSpPr>
        <p:spPr>
          <a:xfrm>
            <a:off x="9930384" y="31135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91.5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9242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392424"/>
            <a:ext cx="3420823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992.9 ms"/>
          <p:cNvSpPr txBox="1"/>
          <p:nvPr/>
        </p:nvSpPr>
        <p:spPr>
          <a:xfrm>
            <a:off x="9930384" y="335127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992.9 ms</a:t>
            </a:r>
          </a:p>
        </p:txBody>
      </p:sp>
      <p:sp>
        <p:nvSpPr>
          <p:cNvPr id="23" name="TEXT: 风控审批 · n=4"/>
          <p:cNvSpPr txBox="1"/>
          <p:nvPr/>
        </p:nvSpPr>
        <p:spPr>
          <a:xfrm>
            <a:off x="621792" y="3803904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 · n=4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77647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3776472"/>
            <a:ext cx="308606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89.6 ms"/>
          <p:cNvSpPr txBox="1"/>
          <p:nvPr/>
        </p:nvSpPr>
        <p:spPr>
          <a:xfrm>
            <a:off x="9930384" y="373532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89.6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014215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014215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,996.9 ms"/>
          <p:cNvSpPr txBox="1"/>
          <p:nvPr/>
        </p:nvSpPr>
        <p:spPr>
          <a:xfrm>
            <a:off x="9930384" y="397306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1,996.9 ms</a:t>
            </a:r>
          </a:p>
        </p:txBody>
      </p:sp>
      <p:sp>
        <p:nvSpPr>
          <p:cNvPr id="30" name="TEXT: 业务处置 · n=3"/>
          <p:cNvSpPr txBox="1"/>
          <p:nvPr/>
        </p:nvSpPr>
        <p:spPr>
          <a:xfrm>
            <a:off x="621792" y="4425696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 · n=3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39826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398264"/>
            <a:ext cx="380311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10.4 ms"/>
          <p:cNvSpPr txBox="1"/>
          <p:nvPr/>
        </p:nvSpPr>
        <p:spPr>
          <a:xfrm>
            <a:off x="9930384" y="435711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110.4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463600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4636008"/>
            <a:ext cx="302689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878.6 ms"/>
          <p:cNvSpPr txBox="1"/>
          <p:nvPr/>
        </p:nvSpPr>
        <p:spPr>
          <a:xfrm>
            <a:off x="9930384" y="459486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878.6 ms</a:t>
            </a:r>
          </a:p>
        </p:txBody>
      </p:sp>
      <p:sp>
        <p:nvSpPr>
          <p:cNvPr id="37" name="TEXT: 回复结案 · n=4"/>
          <p:cNvSpPr txBox="1"/>
          <p:nvPr/>
        </p:nvSpPr>
        <p:spPr>
          <a:xfrm>
            <a:off x="621792" y="504748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 · n=4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02005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60320" y="5020056"/>
            <a:ext cx="32514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94.4 ms"/>
          <p:cNvSpPr txBox="1"/>
          <p:nvPr/>
        </p:nvSpPr>
        <p:spPr>
          <a:xfrm>
            <a:off x="9930384" y="497890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94.4 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525780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60320" y="5257800"/>
            <a:ext cx="326337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947.2 ms"/>
          <p:cNvSpPr txBox="1"/>
          <p:nvPr/>
        </p:nvSpPr>
        <p:spPr>
          <a:xfrm>
            <a:off x="9930384" y="521665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947.2 ms</a:t>
            </a:r>
          </a:p>
        </p:txBody>
      </p:sp>
      <p:sp>
        <p:nvSpPr>
          <p:cNvPr id="44" name="TEXT: 业务处置仅 3 组成功配对；商户结算的 GPT 处置请求超时。条形均从 0 起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业务处置仅 3 组成功配对；商户结算的 GPT 处置请求超时。条形均从 0 起。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7" name="TEXT: 21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4 / 如何理解测试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04 / 如何理解测试结果</a:t>
            </a:r>
          </a:p>
        </p:txBody>
      </p:sp>
      <p:sp>
        <p:nvSpPr>
          <p:cNvPr id="3" name="TEXT: 本轮对比：速度、规则选择与实际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本轮对比：速度、规则选择与实际执行</a:t>
            </a:r>
          </a:p>
        </p:txBody>
      </p:sp>
      <p:sp>
        <p:nvSpPr>
          <p:cNvPr id="4" name="TEXT: 四个案例 × 五个步骤，每侧调用 20 次；各项数字衡量不同的事情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四个案例 × 五个步骤，每侧调用 20 次；各项数字衡量不同的事情。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65960"/>
            <a:ext cx="211226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比较什么"/>
          <p:cNvSpPr txBox="1"/>
          <p:nvPr/>
        </p:nvSpPr>
        <p:spPr>
          <a:xfrm>
            <a:off x="704088" y="2057400"/>
            <a:ext cx="19293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比较什么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202082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852928" y="2057400"/>
            <a:ext cx="18379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965960"/>
            <a:ext cx="202082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4910328" y="2057400"/>
            <a:ext cx="18379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965960"/>
            <a:ext cx="4690872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怎么理解"/>
          <p:cNvSpPr txBox="1"/>
          <p:nvPr/>
        </p:nvSpPr>
        <p:spPr>
          <a:xfrm>
            <a:off x="6967728" y="2057400"/>
            <a:ext cx="45079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怎么理解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50591"/>
            <a:ext cx="211226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累计决策耗时"/>
          <p:cNvSpPr txBox="1"/>
          <p:nvPr/>
        </p:nvSpPr>
        <p:spPr>
          <a:xfrm>
            <a:off x="704088" y="2532887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累计决策耗时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450591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1.810 秒"/>
          <p:cNvSpPr txBox="1"/>
          <p:nvPr/>
        </p:nvSpPr>
        <p:spPr>
          <a:xfrm>
            <a:off x="2852928" y="2532887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1.810 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450591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22.068 秒"/>
          <p:cNvSpPr txBox="1"/>
          <p:nvPr/>
        </p:nvSpPr>
        <p:spPr>
          <a:xfrm>
            <a:off x="4910328" y="2532887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22.068 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450591"/>
            <a:ext cx="4690872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19 组同输入成功配对的累计时间 失败等待未计入这两个数字"/>
          <p:cNvSpPr txBox="1"/>
          <p:nvPr/>
        </p:nvSpPr>
        <p:spPr>
          <a:xfrm>
            <a:off x="6967728" y="2532887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 组同输入成功配对的累计时间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失败等待未计入这两个数字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72384"/>
            <a:ext cx="211226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调用是否成功"/>
          <p:cNvSpPr txBox="1"/>
          <p:nvPr/>
        </p:nvSpPr>
        <p:spPr>
          <a:xfrm>
            <a:off x="704088" y="3154679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调用是否成功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072384"/>
            <a:ext cx="202082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20 / 20 次"/>
          <p:cNvSpPr txBox="1"/>
          <p:nvPr/>
        </p:nvSpPr>
        <p:spPr>
          <a:xfrm>
            <a:off x="2852928" y="3154679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20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072384"/>
            <a:ext cx="202082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9 / 20 次"/>
          <p:cNvSpPr txBox="1"/>
          <p:nvPr/>
        </p:nvSpPr>
        <p:spPr>
          <a:xfrm>
            <a:off x="4910328" y="3154679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20 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072384"/>
            <a:ext cx="4690872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GPT 有 1 次读取超时 返回了选择，不代表业务已经完成"/>
          <p:cNvSpPr txBox="1"/>
          <p:nvPr/>
        </p:nvSpPr>
        <p:spPr>
          <a:xfrm>
            <a:off x="6967728" y="3154679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 有 1 次读取超时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返回了选择，不代表业务已经完成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694176"/>
            <a:ext cx="211226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与业务规则一致"/>
          <p:cNvSpPr txBox="1"/>
          <p:nvPr/>
        </p:nvSpPr>
        <p:spPr>
          <a:xfrm>
            <a:off x="704088" y="3776472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与业务规则一致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694176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13 / 19 次"/>
          <p:cNvSpPr txBox="1"/>
          <p:nvPr/>
        </p:nvSpPr>
        <p:spPr>
          <a:xfrm>
            <a:off x="2852928" y="3776472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19 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694176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19 / 19 次"/>
          <p:cNvSpPr txBox="1"/>
          <p:nvPr/>
        </p:nvSpPr>
        <p:spPr>
          <a:xfrm>
            <a:off x="4910328" y="3776472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19 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694176"/>
            <a:ext cx="4690872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选择与开发者预设规则一致的次数 这不是通用准确率"/>
          <p:cNvSpPr txBox="1"/>
          <p:nvPr/>
        </p:nvSpPr>
        <p:spPr>
          <a:xfrm>
            <a:off x="6967728" y="3776472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选择与开发者预设规则一致的次数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这不是通用准确率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315968"/>
            <a:ext cx="211226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商户结算执行"/>
          <p:cNvSpPr txBox="1"/>
          <p:nvPr/>
        </p:nvSpPr>
        <p:spPr>
          <a:xfrm>
            <a:off x="704088" y="4398264"/>
            <a:ext cx="1929384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商户结算执行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315968"/>
            <a:ext cx="202082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处理完 5 步 结算仍待跟进"/>
          <p:cNvSpPr txBox="1"/>
          <p:nvPr/>
        </p:nvSpPr>
        <p:spPr>
          <a:xfrm>
            <a:off x="2852928" y="4398264"/>
            <a:ext cx="1837943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处理完 5 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结算仍待跟进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4315968"/>
            <a:ext cx="202082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方案未执行 处置步骤超时"/>
          <p:cNvSpPr txBox="1"/>
          <p:nvPr/>
        </p:nvSpPr>
        <p:spPr>
          <a:xfrm>
            <a:off x="4910328" y="4398264"/>
            <a:ext cx="1837943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方案未执行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处置步骤超时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4315968"/>
            <a:ext cx="4690872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GPT 其余 4 步虽返回选择 但缺少完整方案，本次未进入沙盒执行"/>
          <p:cNvSpPr txBox="1"/>
          <p:nvPr/>
        </p:nvSpPr>
        <p:spPr>
          <a:xfrm>
            <a:off x="6967728" y="4398264"/>
            <a:ext cx="4507992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 其余 4 步虽返回选择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但缺少完整方案，本次未进入沙盒执行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175504"/>
            <a:ext cx="10972800" cy="384048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为什么比 19 组？20 组尝试 − 1 组 GPT 超时；双方使用同一组有效记录。"/>
          <p:cNvSpPr txBox="1"/>
          <p:nvPr/>
        </p:nvSpPr>
        <p:spPr>
          <a:xfrm>
            <a:off x="731520" y="5257800"/>
            <a:ext cx="106984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为什么比 19 组？20 组尝试 − 1 组 GPT 超时；双方使用同一组有效记录。</a:t>
            </a:r>
          </a:p>
        </p:txBody>
      </p:sp>
      <p:sp>
        <p:nvSpPr>
          <p:cNvPr id="47" name="TEXT: 规则例：普通收款无风险标记，应选「检查通过」；Decider 那次选「等待人工审批」，GPT 选「检查通过」。"/>
          <p:cNvSpPr txBox="1"/>
          <p:nvPr/>
        </p:nvSpPr>
        <p:spPr>
          <a:xfrm>
            <a:off x="612648" y="5669280"/>
            <a:ext cx="10954512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规则例：普通收款无风险标记，应选「检查通过」；Decider 那次选「等待人工审批」，GPT 选「检查通过」。</a:t>
            </a:r>
          </a:p>
        </p:txBody>
      </p:sp>
      <p:sp>
        <p:nvSpPr>
          <p:cNvPr id="48" name="TEXT: 仅描述本轮测试；决策速度、规则符合度和业务完成是不同指标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仅描述本轮测试；决策速度、规则符合度和业务完成是不同指标。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51" name="TEXT: 22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适用方式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适用方式</a:t>
            </a:r>
          </a:p>
        </p:txBody>
      </p:sp>
      <p:sp>
        <p:nvSpPr>
          <p:cNvPr id="3" name="TEXT: 在支付流程中，按任务分工组合使用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在支付流程中，按任务分工组合使用</a:t>
            </a:r>
          </a:p>
        </p:txBody>
      </p:sp>
      <p:sp>
        <p:nvSpPr>
          <p:cNvPr id="4" name="TEXT: 以本次观测为起点，继续按真实业务分布评测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以本次观测为起点，继续按真实业务分布评测。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86000"/>
            <a:ext cx="347472" cy="347472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207008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当前事实"/>
          <p:cNvSpPr txBox="1"/>
          <p:nvPr/>
        </p:nvSpPr>
        <p:spPr>
          <a:xfrm>
            <a:off x="749808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当前事实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2286000"/>
            <a:ext cx="347472" cy="347472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4021074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范围 / 复杂度 / 风险"/>
          <p:cNvSpPr txBox="1"/>
          <p:nvPr/>
        </p:nvSpPr>
        <p:spPr>
          <a:xfrm>
            <a:off x="3563874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范围 / 复杂度 / 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286000"/>
            <a:ext cx="347472" cy="347472"/>
          </a:xfrm>
          <a:prstGeom prst="rect">
            <a:avLst/>
          </a:prstGeom>
        </p:spPr>
      </p:pic>
      <p:sp>
        <p:nvSpPr>
          <p:cNvPr id="17" name="TEXT: 模型建议"/>
          <p:cNvSpPr txBox="1"/>
          <p:nvPr/>
        </p:nvSpPr>
        <p:spPr>
          <a:xfrm>
            <a:off x="6835140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模型建议</a:t>
            </a:r>
          </a:p>
        </p:txBody>
      </p:sp>
      <p:sp>
        <p:nvSpPr>
          <p:cNvPr id="18" name="TEXT: Decider 或 GPT"/>
          <p:cNvSpPr txBox="1"/>
          <p:nvPr/>
        </p:nvSpPr>
        <p:spPr>
          <a:xfrm>
            <a:off x="6377940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006" y="2286000"/>
            <a:ext cx="347472" cy="347472"/>
          </a:xfrm>
          <a:prstGeom prst="rect">
            <a:avLst/>
          </a:prstGeom>
        </p:spPr>
      </p:pic>
      <p:sp>
        <p:nvSpPr>
          <p:cNvPr id="22" name="TEXT: 执行系统"/>
          <p:cNvSpPr txBox="1"/>
          <p:nvPr/>
        </p:nvSpPr>
        <p:spPr>
          <a:xfrm>
            <a:off x="9649206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23" name="TEXT: 校验与落实动作"/>
          <p:cNvSpPr txBox="1"/>
          <p:nvPr/>
        </p:nvSpPr>
        <p:spPr>
          <a:xfrm>
            <a:off x="9192006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校验与落实动作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370831"/>
            <a:ext cx="393192" cy="393192"/>
          </a:xfrm>
          <a:prstGeom prst="rect">
            <a:avLst/>
          </a:prstGeom>
        </p:spPr>
      </p:pic>
      <p:sp>
        <p:nvSpPr>
          <p:cNvPr id="26" name="TEXT: Decider"/>
          <p:cNvSpPr txBox="1"/>
          <p:nvPr/>
        </p:nvSpPr>
        <p:spPr>
          <a:xfrm>
            <a:off x="134416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27" name="TEXT: 队列路由、受限候选、高频下一步选择"/>
          <p:cNvSpPr txBox="1"/>
          <p:nvPr/>
        </p:nvSpPr>
        <p:spPr>
          <a:xfrm>
            <a:off x="80467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队列路由、受限候选、高频下一步选择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brain-circui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70831"/>
            <a:ext cx="393192" cy="393192"/>
          </a:xfrm>
          <a:prstGeom prst="rect">
            <a:avLst/>
          </a:prstGeom>
        </p:spPr>
      </p:pic>
      <p:sp>
        <p:nvSpPr>
          <p:cNvPr id="30" name="TEXT: GPT"/>
          <p:cNvSpPr txBox="1"/>
          <p:nvPr/>
        </p:nvSpPr>
        <p:spPr>
          <a:xfrm>
            <a:off x="696772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31" name="TEXT: 复杂语义、开放式内容、异常分析"/>
          <p:cNvSpPr txBox="1"/>
          <p:nvPr/>
        </p:nvSpPr>
        <p:spPr>
          <a:xfrm>
            <a:off x="642823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复杂语义、开放式内容、异常分析</a:t>
            </a:r>
          </a:p>
        </p:txBody>
      </p:sp>
      <p:sp>
        <p:nvSpPr>
          <p:cNvPr id="32" name="TEXT: 组合方案为应用建议；当前演示以两模型并排对比为主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组合方案为应用建议；当前演示以两模型并排对比为主。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5" name="TEXT: 23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5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05 / 结论</a:t>
            </a:r>
          </a:p>
        </p:txBody>
      </p:sp>
      <p:sp>
        <p:nvSpPr>
          <p:cNvPr id="3" name="TEXT: 总结：用合适的模型，完成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总结：用合适的模型，完成明确的判断</a:t>
            </a:r>
          </a:p>
        </p:txBody>
      </p:sp>
      <p:sp>
        <p:nvSpPr>
          <p:cNvPr id="4" name="TEXT: 从 Jev 与 Decider 的模型方向，回到本项目的真实观察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从 Jev 与 Decider 的模型方向，回到本项目的真实观察。</a:t>
            </a:r>
          </a:p>
        </p:txBody>
      </p:sp>
      <p:pic>
        <p:nvPicPr>
          <p:cNvPr id="5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530352" cy="530352"/>
          </a:xfrm>
          <a:prstGeom prst="rect">
            <a:avLst/>
          </a:prstGeom>
        </p:spPr>
      </p:pic>
      <p:sp>
        <p:nvSpPr>
          <p:cNvPr id="6" name="TEXT: 模型方向"/>
          <p:cNvSpPr txBox="1"/>
          <p:nvPr/>
        </p:nvSpPr>
        <p:spPr>
          <a:xfrm>
            <a:off x="640080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模型方向</a:t>
            </a:r>
          </a:p>
        </p:txBody>
      </p:sp>
      <p:sp>
        <p:nvSpPr>
          <p:cNvPr id="7" name="TEXT: 有限输出，聚焦判断 Jev 与 Decider 的共同方向"/>
          <p:cNvSpPr txBox="1"/>
          <p:nvPr/>
        </p:nvSpPr>
        <p:spPr>
          <a:xfrm>
            <a:off x="640080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有限输出，聚焦判断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Jev 与 Decider 的共同方向</a:t>
            </a:r>
          </a:p>
        </p:txBody>
      </p:sp>
      <p:pic>
        <p:nvPicPr>
          <p:cNvPr id="8" name="ICON: Lucide 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532888"/>
            <a:ext cx="530352" cy="530352"/>
          </a:xfrm>
          <a:prstGeom prst="rect">
            <a:avLst/>
          </a:prstGeom>
        </p:spPr>
      </p:pic>
      <p:sp>
        <p:nvSpPr>
          <p:cNvPr id="9" name="TEXT: 本次实测"/>
          <p:cNvSpPr txBox="1"/>
          <p:nvPr/>
        </p:nvSpPr>
        <p:spPr>
          <a:xfrm>
            <a:off x="4453128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本次实测</a:t>
            </a:r>
          </a:p>
        </p:txBody>
      </p:sp>
      <p:sp>
        <p:nvSpPr>
          <p:cNvPr id="10" name="TEXT: Decider 决策更快 选择差异与失败同样可见"/>
          <p:cNvSpPr txBox="1"/>
          <p:nvPr/>
        </p:nvSpPr>
        <p:spPr>
          <a:xfrm>
            <a:off x="4453128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Decider 决策更快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选择差异与失败同样可见</a:t>
            </a:r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2532888"/>
            <a:ext cx="530352" cy="530352"/>
          </a:xfrm>
          <a:prstGeom prst="rect">
            <a:avLst/>
          </a:prstGeom>
        </p:spPr>
      </p:pic>
      <p:sp>
        <p:nvSpPr>
          <p:cNvPr id="12" name="TEXT: 应用落地"/>
          <p:cNvSpPr txBox="1"/>
          <p:nvPr/>
        </p:nvSpPr>
        <p:spPr>
          <a:xfrm>
            <a:off x="8266175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应用落地</a:t>
            </a:r>
          </a:p>
        </p:txBody>
      </p:sp>
      <p:sp>
        <p:nvSpPr>
          <p:cNvPr id="13" name="TEXT: 模型给建议，系统做校验 以真实业务结果检验收益"/>
          <p:cNvSpPr txBox="1"/>
          <p:nvPr/>
        </p:nvSpPr>
        <p:spPr>
          <a:xfrm>
            <a:off x="8266175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模型给建议，系统做校验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以真实业务结果检验收益</a:t>
            </a:r>
          </a:p>
        </p:txBody>
      </p:sp>
      <p:sp>
        <p:nvSpPr>
          <p:cNvPr id="14" name="TEXT: 下一步：业务数据、重复采样、概率校准、吞吐与整体成本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下一步：业务数据、重复采样、概率校准、吞吐与整体成本。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7" name="TEXT: 24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5 / 演示与复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05 / 演示与复现</a:t>
            </a:r>
          </a:p>
        </p:txBody>
      </p:sp>
      <p:sp>
        <p:nvSpPr>
          <p:cNvPr id="3" name="TEXT: 打开 Demo，查看代码与实测记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打开 Demo，查看代码与实测记录</a:t>
            </a:r>
          </a:p>
        </p:txBody>
      </p:sp>
      <p:sp>
        <p:nvSpPr>
          <p:cNvPr id="4" name="TEXT: 从同一业务输入开始，观察两模型的选择、速度与执行结果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从同一业务输入开始，观察两模型的选择、速度与执行结果。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10972800" cy="15910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orkflo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13432"/>
            <a:ext cx="420624" cy="420624"/>
          </a:xfrm>
          <a:prstGeom prst="rect">
            <a:avLst/>
          </a:prstGeom>
        </p:spPr>
      </p:pic>
      <p:sp>
        <p:nvSpPr>
          <p:cNvPr id="7" name="TEXT: 在线 Demo"/>
          <p:cNvSpPr txBox="1"/>
          <p:nvPr/>
        </p:nvSpPr>
        <p:spPr>
          <a:xfrm>
            <a:off x="1426464" y="2295144"/>
            <a:ext cx="74797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 Demo</a:t>
            </a:r>
          </a:p>
        </p:txBody>
      </p:sp>
      <p:sp>
        <p:nvSpPr>
          <p:cNvPr id="8" name="TEXT: https://d3i7ogfx5ml7dc.cloudfront.net/#crypto"/>
          <p:cNvSpPr txBox="1"/>
          <p:nvPr/>
        </p:nvSpPr>
        <p:spPr>
          <a:xfrm>
            <a:off x="859536" y="2852927"/>
            <a:ext cx="8887968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https://d3i7ogfx5ml7dc.cloudfront.net/#crypto</a:t>
            </a:r>
          </a:p>
        </p:txBody>
      </p:sp>
      <p:sp>
        <p:nvSpPr>
          <p:cNvPr id="9" name="TEXT: 加密支付业务台 · 使用现有账号登录"/>
          <p:cNvSpPr txBox="1"/>
          <p:nvPr/>
        </p:nvSpPr>
        <p:spPr>
          <a:xfrm>
            <a:off x="859536" y="3328415"/>
            <a:ext cx="88879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加密支付业务台 · 使用现有账号登录</a:t>
            </a:r>
          </a:p>
        </p:txBody>
      </p:sp>
      <p:pic>
        <p:nvPicPr>
          <p:cNvPr id="10" name="QR: 在线 Demo" descr="demo-qr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212848"/>
            <a:ext cx="1371600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3968496"/>
            <a:ext cx="10972800" cy="15910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178808"/>
            <a:ext cx="420624" cy="420624"/>
          </a:xfrm>
          <a:prstGeom prst="rect">
            <a:avLst/>
          </a:prstGeom>
        </p:spPr>
      </p:pic>
      <p:sp>
        <p:nvSpPr>
          <p:cNvPr id="13" name="TEXT: GitHub Repo"/>
          <p:cNvSpPr txBox="1"/>
          <p:nvPr/>
        </p:nvSpPr>
        <p:spPr>
          <a:xfrm>
            <a:off x="1426464" y="4160520"/>
            <a:ext cx="74797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GitHub Repo</a:t>
            </a:r>
          </a:p>
        </p:txBody>
      </p:sp>
      <p:sp>
        <p:nvSpPr>
          <p:cNvPr id="14" name="TEXT: https://github.com/milan9527/StrandsDecider"/>
          <p:cNvSpPr txBox="1"/>
          <p:nvPr/>
        </p:nvSpPr>
        <p:spPr>
          <a:xfrm>
            <a:off x="859536" y="4718304"/>
            <a:ext cx="8887968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https://github.com/milan9527/StrandsDecider</a:t>
            </a:r>
          </a:p>
        </p:txBody>
      </p:sp>
      <p:sp>
        <p:nvSpPr>
          <p:cNvPr id="15" name="TEXT: 架构、代码、演示资料与实测记录 · 需仓库权限"/>
          <p:cNvSpPr txBox="1"/>
          <p:nvPr/>
        </p:nvSpPr>
        <p:spPr>
          <a:xfrm>
            <a:off x="859536" y="5193792"/>
            <a:ext cx="88879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架构、代码、演示资料与实测记录 · 需仓库权限</a:t>
            </a:r>
          </a:p>
        </p:txBody>
      </p:sp>
      <p:pic>
        <p:nvPicPr>
          <p:cNvPr id="16" name="QR: GitHub Repo" descr="repo-qr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4078224"/>
            <a:ext cx="1371600" cy="1371600"/>
          </a:xfrm>
          <a:prstGeom prst="rect">
            <a:avLst/>
          </a:prstGeom>
        </p:spPr>
      </p:pic>
      <p:sp>
        <p:nvSpPr>
          <p:cNvPr id="17" name="TEXT: 官方来源：Strands Decider 博客 / TypeSafe System One 文档 · 详见逐页讲稿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官方来源：Strands Decider 博客 / TypeSafe System One 文档 · 详见逐页讲稿。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25 / 25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&amp; Jev · 决策模型与支付业务演示 · 25页</dc:title>
  <dc:subject>决策模型介绍、Decider与GPT实测、执行结果与应用结论</dc:subject>
  <dc:creator>Strands Decider Demo</dc:creator>
  <cp:keywords>Strands Decider, AWS, SageMaker, Bedrock, 加密支付, 真实模型对比</cp:keywords>
  <dc:description>Reorganized from the original 25-slide deck. Jev is background only, not benchmarked. Two feedback slides. Dated production evidence; clickable demo and repository links.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